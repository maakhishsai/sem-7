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10.jpg" ContentType="image/jpg"/>
  <Override PartName="/ppt/media/image11.jpg" ContentType="image/jpg"/>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media/image35.jpg" ContentType="image/jpg"/>
  <Override PartName="/ppt/media/image36.jpg" ContentType="image/jpg"/>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47"/>
  </p:notesMasterIdLst>
  <p:sldIdLst>
    <p:sldId id="256" r:id="rId2"/>
    <p:sldId id="257" r:id="rId3"/>
    <p:sldId id="337" r:id="rId4"/>
    <p:sldId id="305" r:id="rId5"/>
    <p:sldId id="258" r:id="rId6"/>
    <p:sldId id="259" r:id="rId7"/>
    <p:sldId id="340" r:id="rId8"/>
    <p:sldId id="338" r:id="rId9"/>
    <p:sldId id="339" r:id="rId10"/>
    <p:sldId id="260" r:id="rId11"/>
    <p:sldId id="261" r:id="rId12"/>
    <p:sldId id="262" r:id="rId13"/>
    <p:sldId id="317" r:id="rId14"/>
    <p:sldId id="318" r:id="rId15"/>
    <p:sldId id="319" r:id="rId16"/>
    <p:sldId id="313" r:id="rId17"/>
    <p:sldId id="315" r:id="rId18"/>
    <p:sldId id="306" r:id="rId19"/>
    <p:sldId id="307" r:id="rId20"/>
    <p:sldId id="325" r:id="rId21"/>
    <p:sldId id="320" r:id="rId22"/>
    <p:sldId id="321" r:id="rId23"/>
    <p:sldId id="263" r:id="rId24"/>
    <p:sldId id="341" r:id="rId25"/>
    <p:sldId id="354" r:id="rId26"/>
    <p:sldId id="342" r:id="rId27"/>
    <p:sldId id="343" r:id="rId28"/>
    <p:sldId id="344" r:id="rId29"/>
    <p:sldId id="345" r:id="rId30"/>
    <p:sldId id="346" r:id="rId31"/>
    <p:sldId id="347" r:id="rId32"/>
    <p:sldId id="348" r:id="rId33"/>
    <p:sldId id="349" r:id="rId34"/>
    <p:sldId id="350" r:id="rId35"/>
    <p:sldId id="351" r:id="rId36"/>
    <p:sldId id="352" r:id="rId37"/>
    <p:sldId id="353" r:id="rId38"/>
    <p:sldId id="271" r:id="rId39"/>
    <p:sldId id="272" r:id="rId40"/>
    <p:sldId id="273" r:id="rId41"/>
    <p:sldId id="275" r:id="rId42"/>
    <p:sldId id="328" r:id="rId43"/>
    <p:sldId id="322" r:id="rId44"/>
    <p:sldId id="276" r:id="rId45"/>
    <p:sldId id="324" r:id="rId46"/>
  </p:sldIdLst>
  <p:sldSz cx="9144000" cy="5143500" type="screen16x9"/>
  <p:notesSz cx="6858000" cy="9144000"/>
  <p:embeddedFontLst>
    <p:embeddedFont>
      <p:font typeface="Roboto" panose="020B0604020202020204" charset="0"/>
      <p:regular r:id="rId48"/>
      <p:bold r:id="rId49"/>
      <p:italic r:id="rId50"/>
      <p:boldItalic r:id="rId51"/>
    </p:embeddedFont>
    <p:embeddedFont>
      <p:font typeface="Microsoft Sans Serif" panose="020B0604020202020204" pitchFamily="34" charset="0"/>
      <p:regular r:id="rId52"/>
    </p:embeddedFont>
    <p:embeddedFont>
      <p:font typeface="Tahoma" panose="020B0604030504040204" pitchFamily="34" charset="0"/>
      <p:regular r:id="rId53"/>
      <p:bold r:id="rId54"/>
    </p:embeddedFont>
    <p:embeddedFont>
      <p:font typeface="Helvetica" panose="020B0604020202020204" pitchFamily="34" charset="0"/>
      <p:regular r:id="rId55"/>
      <p:bold r:id="rId56"/>
      <p:italic r:id="rId57"/>
      <p:boldItalic r:id="rId58"/>
    </p:embeddedFont>
    <p:embeddedFont>
      <p:font typeface="Calibri Light" panose="020F0302020204030204" pitchFamily="34" charset="0"/>
      <p:regular r:id="rId59"/>
      <p:italic r:id="rId60"/>
    </p:embeddedFont>
    <p:embeddedFont>
      <p:font typeface="Lucida Sans Unicode" panose="020B0602030504020204" pitchFamily="34" charset="0"/>
      <p:regular r:id="rId61"/>
    </p:embeddedFont>
    <p:embeddedFont>
      <p:font typeface="Proxima Nova Semibold" panose="020B0604020202020204" charset="0"/>
      <p:regular r:id="rId62"/>
      <p:bold r:id="rId63"/>
      <p:boldItalic r:id="rId64"/>
    </p:embeddedFont>
    <p:embeddedFont>
      <p:font typeface="Roboto Medium" panose="020B0604020202020204" charset="0"/>
      <p:regular r:id="rId65"/>
      <p:bold r:id="rId66"/>
      <p:italic r:id="rId67"/>
      <p:boldItalic r:id="rId68"/>
    </p:embeddedFont>
    <p:embeddedFont>
      <p:font typeface="Trebuchet MS" panose="020B0603020202020204" pitchFamily="34" charset="0"/>
      <p:regular r:id="rId69"/>
      <p:bold r:id="rId70"/>
      <p:italic r:id="rId71"/>
      <p:boldItalic r:id="rId72"/>
    </p:embeddedFont>
    <p:embeddedFont>
      <p:font typeface="Calibri" panose="020F0502020204030204" pitchFamily="3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notesMaster" Target="notesMasters/notesMaster1.xml"/><Relationship Id="rId63" Type="http://schemas.openxmlformats.org/officeDocument/2006/relationships/font" Target="fonts/font16.fntdata"/><Relationship Id="rId68" Type="http://schemas.openxmlformats.org/officeDocument/2006/relationships/font" Target="fonts/font2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font" Target="fonts/font19.fntdata"/><Relationship Id="rId74" Type="http://schemas.openxmlformats.org/officeDocument/2006/relationships/font" Target="fonts/font27.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font" Target="fonts/font22.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4.fntdata"/><Relationship Id="rId72" Type="http://schemas.openxmlformats.org/officeDocument/2006/relationships/font" Target="fonts/font25.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67"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 Id="rId70" Type="http://schemas.openxmlformats.org/officeDocument/2006/relationships/font" Target="fonts/font23.fntdata"/><Relationship Id="rId75" Type="http://schemas.openxmlformats.org/officeDocument/2006/relationships/font" Target="fonts/font2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73" Type="http://schemas.openxmlformats.org/officeDocument/2006/relationships/font" Target="fonts/font26.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3.fntdata"/><Relationship Id="rId55" Type="http://schemas.openxmlformats.org/officeDocument/2006/relationships/font" Target="fonts/font8.fntdata"/><Relationship Id="rId76" Type="http://schemas.openxmlformats.org/officeDocument/2006/relationships/font" Target="fonts/font29.fntdata"/><Relationship Id="rId7" Type="http://schemas.openxmlformats.org/officeDocument/2006/relationships/slide" Target="slides/slide6.xml"/><Relationship Id="rId71" Type="http://schemas.openxmlformats.org/officeDocument/2006/relationships/font" Target="fonts/font2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228769e9f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1228769e9f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2794541d1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g12794541d1a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12794541d1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g12794541d1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2794541d1a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12794541d1a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72772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2794541d1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12794541d1a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2794541d1a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12794541d1a_0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2794541d1a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12794541d1a_0_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5AC3081-5483-4294-BFCE-C45FC060453E}" type="slidenum">
              <a:rPr lang="en-US" altLang="en-US"/>
              <a:pPr/>
              <a:t>13</a:t>
            </a:fld>
            <a:endParaRPr lang="en-US" altLang="en-US"/>
          </a:p>
        </p:txBody>
      </p:sp>
      <p:sp>
        <p:nvSpPr>
          <p:cNvPr id="34818" name="Slide Image Placeholder 1"/>
          <p:cNvSpPr>
            <a:spLocks noGrp="1" noRot="1" noChangeAspect="1" noTextEdit="1"/>
          </p:cNvSpPr>
          <p:nvPr>
            <p:ph type="sldImg"/>
          </p:nvPr>
        </p:nvSpPr>
        <p:spPr>
          <a:xfrm>
            <a:off x="384175" y="685800"/>
            <a:ext cx="6091238" cy="3427413"/>
          </a:xfrm>
          <a:ln/>
        </p:spPr>
      </p:sp>
      <p:sp>
        <p:nvSpPr>
          <p:cNvPr id="34819" name="Notes Placeholder 2"/>
          <p:cNvSpPr>
            <a:spLocks noGrp="1"/>
          </p:cNvSpPr>
          <p:nvPr>
            <p:ph type="body" idx="1"/>
          </p:nvPr>
        </p:nvSpPr>
        <p:spPr>
          <a:xfrm>
            <a:off x="914400" y="4343400"/>
            <a:ext cx="5029200" cy="4114800"/>
          </a:xfrm>
        </p:spPr>
        <p:txBody>
          <a:bodyPr/>
          <a:lstStyle/>
          <a:p>
            <a:endParaRPr lang="en-US" altLang="en-US"/>
          </a:p>
        </p:txBody>
      </p:sp>
      <p:sp>
        <p:nvSpPr>
          <p:cNvPr id="34820" name="Slide Number Placeholder 3"/>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fld id="{B352F741-11CA-4A78-B8CF-D54F03EDB178}" type="slidenum">
              <a:rPr lang="en-US" altLang="en-US" sz="1200" b="0">
                <a:latin typeface="Times New Roman" panose="02020603050405020304" pitchFamily="18" charset="0"/>
              </a:rPr>
              <a:pPr algn="r"/>
              <a:t>13</a:t>
            </a:fld>
            <a:endParaRPr lang="en-US" altLang="en-US" sz="1200" b="0">
              <a:latin typeface="Times New Roman" panose="02020603050405020304" pitchFamily="18" charset="0"/>
            </a:endParaRPr>
          </a:p>
        </p:txBody>
      </p:sp>
    </p:spTree>
    <p:extLst>
      <p:ext uri="{BB962C8B-B14F-4D97-AF65-F5344CB8AC3E}">
        <p14:creationId xmlns:p14="http://schemas.microsoft.com/office/powerpoint/2010/main" val="1234072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kern="1200" dirty="0">
                <a:solidFill>
                  <a:schemeClr val="tx1"/>
                </a:solidFill>
                <a:effectLst/>
                <a:latin typeface="Trebuchet MS" pitchFamily="34" charset="0"/>
                <a:ea typeface="+mn-ea"/>
                <a:cs typeface="+mn-cs"/>
              </a:rPr>
              <a:t>With children, we expose them to lots of data, and help them learn by supplying the correct answer. A very popular learning technique is “Trail and Error”, where students make a prediction on what is the correct answer, and if they’re wrong, adjust their approach. It turns out that deep learning is very much like this. </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14</a:t>
            </a:fld>
            <a:endParaRPr lang="en-US" dirty="0"/>
          </a:p>
        </p:txBody>
      </p:sp>
    </p:spTree>
    <p:extLst>
      <p:ext uri="{BB962C8B-B14F-4D97-AF65-F5344CB8AC3E}">
        <p14:creationId xmlns:p14="http://schemas.microsoft.com/office/powerpoint/2010/main" val="2140758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794541d1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794541d1a_0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277d2e505f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1277d2e505f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277d2e505f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1277d2e505f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277d2e505f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1277d2e505f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277d2e505f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1277d2e505f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1228769e9fa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g1228769e9fa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extLst>
      <p:ext uri="{BB962C8B-B14F-4D97-AF65-F5344CB8AC3E}">
        <p14:creationId xmlns:p14="http://schemas.microsoft.com/office/powerpoint/2010/main" val="3155414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277d2e505f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1277d2e505f_0_1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Introduction to ML</a:t>
            </a:r>
            <a:endParaRPr lang="en-US" dirty="0"/>
          </a:p>
        </p:txBody>
      </p:sp>
      <p:sp>
        <p:nvSpPr>
          <p:cNvPr id="6" name="Slide Number Placeholder 5"/>
          <p:cNvSpPr>
            <a:spLocks noGrp="1"/>
          </p:cNvSpPr>
          <p:nvPr>
            <p:ph type="sldNum" sz="quarter" idx="12"/>
          </p:nvPr>
        </p:nvSpPr>
        <p:spPr>
          <a:xfrm>
            <a:off x="4361688" y="769779"/>
            <a:ext cx="457200" cy="330994"/>
          </a:xfrm>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301752" y="1145286"/>
            <a:ext cx="8503920" cy="3429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6868388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5290" y="434341"/>
            <a:ext cx="8313420" cy="492443"/>
          </a:xfrm>
        </p:spPr>
        <p:txBody>
          <a:bodyPr/>
          <a:lstStyle>
            <a:lvl1pPr algn="ctr">
              <a:defRPr sz="1750"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30625" y="1752530"/>
            <a:ext cx="8290560" cy="3099104"/>
          </a:xfrm>
        </p:spPr>
        <p:txBody>
          <a:bodyPr/>
          <a:lstStyle>
            <a:lvl1pPr marL="0" indent="0">
              <a:buClr>
                <a:schemeClr val="bg2"/>
              </a:buClr>
              <a:buSzPct val="100000"/>
              <a:buFontTx/>
              <a:buNone/>
              <a:defRPr sz="875">
                <a:solidFill>
                  <a:schemeClr val="accent4"/>
                </a:solidFill>
              </a:defRPr>
            </a:lvl1pPr>
            <a:lvl2pPr marL="357173" indent="0">
              <a:buClr>
                <a:schemeClr val="bg2"/>
              </a:buClr>
              <a:buSzPct val="100000"/>
              <a:buFontTx/>
              <a:buNone/>
              <a:defRPr sz="750">
                <a:solidFill>
                  <a:schemeClr val="accent4"/>
                </a:solidFill>
              </a:defRPr>
            </a:lvl2pPr>
            <a:lvl3pPr marL="680614" indent="0">
              <a:buClr>
                <a:schemeClr val="bg2"/>
              </a:buClr>
              <a:buSzPct val="100000"/>
              <a:buFontTx/>
              <a:buNone/>
              <a:defRPr sz="688">
                <a:solidFill>
                  <a:schemeClr val="accent4"/>
                </a:solidFill>
              </a:defRPr>
            </a:lvl3pPr>
            <a:lvl4pPr marL="1109222" indent="-142869">
              <a:buClr>
                <a:schemeClr val="bg2"/>
              </a:buClr>
              <a:buFont typeface="Wingdings" panose="05000000000000000000" pitchFamily="2" charset="2"/>
              <a:buChar char="§"/>
              <a:defRPr sz="1125">
                <a:solidFill>
                  <a:schemeClr val="tx1"/>
                </a:solidFill>
              </a:defRPr>
            </a:lvl4pPr>
            <a:lvl5pPr marL="1323525" indent="-142869">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415290" y="906780"/>
            <a:ext cx="8313420" cy="437886"/>
          </a:xfrm>
        </p:spPr>
        <p:txBody>
          <a:bodyPr/>
          <a:lstStyle>
            <a:lvl1pPr marL="0" indent="0" algn="ctr">
              <a:buFontTx/>
              <a:buNone/>
              <a:defRPr sz="1125" b="0">
                <a:solidFill>
                  <a:schemeClr val="tx2"/>
                </a:solidFill>
                <a:latin typeface="Trebuchet MS" panose="020B0603020202020204" pitchFamily="34" charset="0"/>
              </a:defRPr>
            </a:lvl1pPr>
            <a:lvl2pPr marL="357173" indent="0" algn="ctr">
              <a:buFontTx/>
              <a:buNone/>
              <a:defRPr sz="1750">
                <a:solidFill>
                  <a:schemeClr val="tx2"/>
                </a:solidFill>
                <a:latin typeface="Trebuchet MS" panose="020B0603020202020204" pitchFamily="34" charset="0"/>
              </a:defRPr>
            </a:lvl2pPr>
            <a:lvl3pPr marL="680614" indent="0" algn="ctr">
              <a:buFontTx/>
              <a:buNone/>
              <a:defRPr sz="1750">
                <a:solidFill>
                  <a:schemeClr val="tx2"/>
                </a:solidFill>
                <a:latin typeface="Trebuchet MS" panose="020B0603020202020204" pitchFamily="34" charset="0"/>
              </a:defRPr>
            </a:lvl3pPr>
            <a:lvl4pPr marL="966352" indent="0" algn="ctr">
              <a:buFontTx/>
              <a:buNone/>
              <a:defRPr sz="1750">
                <a:solidFill>
                  <a:schemeClr val="tx2"/>
                </a:solidFill>
                <a:latin typeface="Trebuchet MS" panose="020B0603020202020204" pitchFamily="34" charset="0"/>
              </a:defRPr>
            </a:lvl4pPr>
            <a:lvl5pPr marL="1180656" indent="0" algn="ctr">
              <a:buFontTx/>
              <a:buNone/>
              <a:defRPr sz="175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761852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1" r:id="rId11"/>
    <p:sldLayoutId id="2147483662" r:id="rId12"/>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a:off x="4348125" y="1491176"/>
            <a:ext cx="4723850" cy="2769375"/>
          </a:xfrm>
          <a:prstGeom prst="rect">
            <a:avLst/>
          </a:prstGeom>
          <a:noFill/>
          <a:ln>
            <a:noFill/>
          </a:ln>
        </p:spPr>
      </p:pic>
      <p:sp>
        <p:nvSpPr>
          <p:cNvPr id="64" name="Google Shape;64;p14"/>
          <p:cNvSpPr txBox="1"/>
          <p:nvPr/>
        </p:nvSpPr>
        <p:spPr>
          <a:xfrm>
            <a:off x="1601363" y="334825"/>
            <a:ext cx="6798358" cy="86943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450" b="1" dirty="0" smtClean="0">
                <a:solidFill>
                  <a:srgbClr val="585656"/>
                </a:solidFill>
                <a:highlight>
                  <a:srgbClr val="FFFFFF"/>
                </a:highlight>
              </a:rPr>
              <a:t>Introduction to ML</a:t>
            </a:r>
            <a:endParaRPr sz="4450" b="1" dirty="0">
              <a:solidFill>
                <a:srgbClr val="585656"/>
              </a:solidFill>
              <a:highlight>
                <a:srgbClr val="FFFFFF"/>
              </a:highlight>
            </a:endParaRPr>
          </a:p>
        </p:txBody>
      </p:sp>
      <p:sp>
        <p:nvSpPr>
          <p:cNvPr id="65" name="Google Shape;65;p14"/>
          <p:cNvSpPr txBox="1"/>
          <p:nvPr/>
        </p:nvSpPr>
        <p:spPr>
          <a:xfrm>
            <a:off x="324175" y="2225950"/>
            <a:ext cx="3976500" cy="1736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2000" b="1" dirty="0">
                <a:solidFill>
                  <a:srgbClr val="FF0000"/>
                </a:solidFill>
              </a:rPr>
              <a:t>Dr. Jayaraj P. B </a:t>
            </a:r>
            <a:br>
              <a:rPr lang="en" sz="2000" b="1" dirty="0">
                <a:solidFill>
                  <a:srgbClr val="FF0000"/>
                </a:solidFill>
              </a:rPr>
            </a:br>
            <a:r>
              <a:rPr lang="en" sz="2000" b="1" dirty="0" smtClean="0">
                <a:solidFill>
                  <a:schemeClr val="dk1"/>
                </a:solidFill>
              </a:rPr>
              <a:t>Associate </a:t>
            </a:r>
            <a:r>
              <a:rPr lang="en" sz="2000" b="1" dirty="0">
                <a:solidFill>
                  <a:schemeClr val="dk1"/>
                </a:solidFill>
              </a:rPr>
              <a:t>Professor</a:t>
            </a:r>
            <a:r>
              <a:rPr lang="en" sz="2400" dirty="0">
                <a:solidFill>
                  <a:schemeClr val="dk1"/>
                </a:solidFill>
              </a:rPr>
              <a:t/>
            </a:r>
            <a:br>
              <a:rPr lang="en" sz="2400" dirty="0">
                <a:solidFill>
                  <a:schemeClr val="dk1"/>
                </a:solidFill>
              </a:rPr>
            </a:br>
            <a:r>
              <a:rPr lang="en" sz="1800" b="1" dirty="0">
                <a:solidFill>
                  <a:schemeClr val="dk1"/>
                </a:solidFill>
              </a:rPr>
              <a:t>Department of Computer Science &amp; Engineering,</a:t>
            </a:r>
            <a:br>
              <a:rPr lang="en" sz="1800" b="1" dirty="0">
                <a:solidFill>
                  <a:schemeClr val="dk1"/>
                </a:solidFill>
              </a:rPr>
            </a:br>
            <a:r>
              <a:rPr lang="en" sz="1800" b="1" dirty="0">
                <a:solidFill>
                  <a:schemeClr val="dk1"/>
                </a:solidFill>
              </a:rPr>
              <a:t>National Institute of Technology Calicut, India</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3" name="Google Shape;73;p15"/>
          <p:cNvPicPr preferRelativeResize="0"/>
          <p:nvPr/>
        </p:nvPicPr>
        <p:blipFill rotWithShape="1">
          <a:blip r:embed="rId3">
            <a:alphaModFix/>
          </a:blip>
          <a:srcRect/>
          <a:stretch/>
        </p:blipFill>
        <p:spPr>
          <a:xfrm>
            <a:off x="1681025" y="653125"/>
            <a:ext cx="5307806" cy="3464719"/>
          </a:xfrm>
          <a:prstGeom prst="rect">
            <a:avLst/>
          </a:prstGeom>
          <a:noFill/>
          <a:ln>
            <a:noFill/>
          </a:ln>
        </p:spPr>
      </p:pic>
      <p:sp>
        <p:nvSpPr>
          <p:cNvPr id="74" name="Google Shape;74;p15"/>
          <p:cNvSpPr txBox="1"/>
          <p:nvPr/>
        </p:nvSpPr>
        <p:spPr>
          <a:xfrm>
            <a:off x="278370" y="4117844"/>
            <a:ext cx="8612100" cy="64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solidFill>
                  <a:schemeClr val="dk1"/>
                </a:solidFill>
                <a:latin typeface="Times New Roman"/>
                <a:ea typeface="Times New Roman"/>
                <a:cs typeface="Times New Roman"/>
                <a:sym typeface="Times New Roman"/>
              </a:rPr>
              <a:t>We can only see a short distance ahead, but we can see plenty there that needs to be done                                                                                							-Alan Turing, 1950</a:t>
            </a:r>
            <a:endParaRPr sz="13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4157" y="1060547"/>
            <a:ext cx="3136606" cy="2677656"/>
          </a:xfrm>
          <a:prstGeom prst="rect">
            <a:avLst/>
          </a:prstGeom>
        </p:spPr>
        <p:txBody>
          <a:bodyPr wrap="square">
            <a:spAutoFit/>
          </a:bodyPr>
          <a:lstStyle/>
          <a:p>
            <a:pPr algn="just"/>
            <a:r>
              <a:rPr lang="en-US" dirty="0"/>
              <a:t>In 1950, </a:t>
            </a:r>
            <a:r>
              <a:rPr lang="en-US" b="1" dirty="0"/>
              <a:t>Alan Turing</a:t>
            </a:r>
            <a:r>
              <a:rPr lang="en-US" dirty="0"/>
              <a:t> introduced the Turing Test in his paper </a:t>
            </a:r>
            <a:r>
              <a:rPr lang="en-US" i="1" dirty="0"/>
              <a:t>Computing Machinery and Intelligence</a:t>
            </a:r>
            <a:r>
              <a:rPr lang="en-US" dirty="0"/>
              <a:t> to explore the question, “Can machines think</a:t>
            </a:r>
            <a:r>
              <a:rPr lang="en-US" dirty="0" smtClean="0"/>
              <a:t>?”</a:t>
            </a:r>
          </a:p>
          <a:p>
            <a:pPr algn="just"/>
            <a:r>
              <a:rPr lang="en-US" dirty="0"/>
              <a:t> </a:t>
            </a:r>
            <a:endParaRPr lang="en-US" dirty="0" smtClean="0"/>
          </a:p>
          <a:p>
            <a:pPr algn="just"/>
            <a:r>
              <a:rPr lang="en-US" dirty="0" smtClean="0"/>
              <a:t>He </a:t>
            </a:r>
            <a:r>
              <a:rPr lang="en-US" dirty="0"/>
              <a:t>proposed a way to answer this question through what we now call the Turing Test. This test evaluates whether a machine can mimic human responses so convincingly that a human judge cannot reliably distinguish between the two.</a:t>
            </a:r>
            <a:endParaRPr lang="en-IN" sz="1800" dirty="0"/>
          </a:p>
        </p:txBody>
      </p:sp>
      <p:pic>
        <p:nvPicPr>
          <p:cNvPr id="1028" name="Picture 4" descr="What is the Turing Test? | Definition from TechTarg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3296" y="713449"/>
            <a:ext cx="4953000" cy="337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980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FA888-6E6D-4685-BFD4-981DDCEF0C68}"/>
              </a:ext>
            </a:extLst>
          </p:cNvPr>
          <p:cNvSpPr>
            <a:spLocks noGrp="1"/>
          </p:cNvSpPr>
          <p:nvPr>
            <p:ph type="title"/>
          </p:nvPr>
        </p:nvSpPr>
        <p:spPr>
          <a:xfrm>
            <a:off x="2675710" y="95242"/>
            <a:ext cx="4554429" cy="723465"/>
          </a:xfrm>
        </p:spPr>
        <p:txBody>
          <a:bodyPr anchor="b">
            <a:normAutofit/>
          </a:bodyPr>
          <a:lstStyle/>
          <a:p>
            <a:r>
              <a:rPr lang="en-IN" sz="2306" dirty="0">
                <a:solidFill>
                  <a:srgbClr val="1F16DA"/>
                </a:solidFill>
              </a:rPr>
              <a:t>What is Artificial Intelligence </a:t>
            </a:r>
            <a:r>
              <a:rPr lang="en-IN" sz="2306" dirty="0"/>
              <a:t>?</a:t>
            </a:r>
            <a:endParaRPr lang="en-IN" sz="2306" dirty="0">
              <a:cs typeface="Calibri Light"/>
            </a:endParaRPr>
          </a:p>
        </p:txBody>
      </p:sp>
      <p:sp>
        <p:nvSpPr>
          <p:cNvPr id="3" name="Content Placeholder 2">
            <a:extLst>
              <a:ext uri="{FF2B5EF4-FFF2-40B4-BE49-F238E27FC236}">
                <a16:creationId xmlns:a16="http://schemas.microsoft.com/office/drawing/2014/main" id="{F045F43E-9279-4FEE-B821-5263FF7CFD54}"/>
              </a:ext>
            </a:extLst>
          </p:cNvPr>
          <p:cNvSpPr>
            <a:spLocks noGrp="1"/>
          </p:cNvSpPr>
          <p:nvPr>
            <p:ph idx="1"/>
          </p:nvPr>
        </p:nvSpPr>
        <p:spPr>
          <a:xfrm>
            <a:off x="4034791" y="1442534"/>
            <a:ext cx="3918362" cy="3331485"/>
          </a:xfrm>
        </p:spPr>
        <p:txBody>
          <a:bodyPr>
            <a:normAutofit lnSpcReduction="10000"/>
          </a:bodyPr>
          <a:lstStyle/>
          <a:p>
            <a:pPr algn="just"/>
            <a:r>
              <a:rPr lang="en-US" dirty="0"/>
              <a:t>Artificial intelligence (AI) refers to the simulation of human intelligence in machines that are programmed to make machines to </a:t>
            </a:r>
            <a:r>
              <a:rPr lang="en-US" b="1" dirty="0">
                <a:solidFill>
                  <a:srgbClr val="7030A0"/>
                </a:solidFill>
              </a:rPr>
              <a:t>think like humans </a:t>
            </a:r>
            <a:r>
              <a:rPr lang="en-US" dirty="0">
                <a:solidFill>
                  <a:srgbClr val="7030A0"/>
                </a:solidFill>
              </a:rPr>
              <a:t>and </a:t>
            </a:r>
            <a:r>
              <a:rPr lang="en-US" b="1" dirty="0">
                <a:solidFill>
                  <a:srgbClr val="7030A0"/>
                </a:solidFill>
              </a:rPr>
              <a:t>mimic their actions</a:t>
            </a:r>
            <a:r>
              <a:rPr lang="en-US" dirty="0"/>
              <a:t>.</a:t>
            </a:r>
          </a:p>
          <a:p>
            <a:pPr algn="just"/>
            <a:endParaRPr lang="en-US" dirty="0"/>
          </a:p>
          <a:p>
            <a:pPr algn="just"/>
            <a:r>
              <a:rPr lang="en-US" dirty="0"/>
              <a:t>Or Simply make Machines mimic Human Behavior or Actions</a:t>
            </a:r>
            <a:endParaRPr lang="en-IN" dirty="0"/>
          </a:p>
        </p:txBody>
      </p:sp>
      <p:pic>
        <p:nvPicPr>
          <p:cNvPr id="5" name="Picture 4" descr="Cute yellow robot">
            <a:extLst>
              <a:ext uri="{FF2B5EF4-FFF2-40B4-BE49-F238E27FC236}">
                <a16:creationId xmlns:a16="http://schemas.microsoft.com/office/drawing/2014/main" id="{44B65EC1-C542-4215-BAF9-4AC035E64126}"/>
              </a:ext>
            </a:extLst>
          </p:cNvPr>
          <p:cNvPicPr>
            <a:picLocks noChangeAspect="1"/>
          </p:cNvPicPr>
          <p:nvPr/>
        </p:nvPicPr>
        <p:blipFill rotWithShape="1">
          <a:blip r:embed="rId2"/>
          <a:srcRect l="50323" r="4561" b="4"/>
          <a:stretch/>
        </p:blipFill>
        <p:spPr>
          <a:xfrm>
            <a:off x="1383671" y="818707"/>
            <a:ext cx="2772350" cy="4101491"/>
          </a:xfrm>
          <a:prstGeom prst="rect">
            <a:avLst/>
          </a:prstGeom>
          <a:effectLst/>
        </p:spPr>
      </p:pic>
      <p:sp>
        <p:nvSpPr>
          <p:cNvPr id="6" name="Footer Placeholder 5"/>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21611553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2" name="Google Shape;82;p16"/>
          <p:cNvSpPr txBox="1"/>
          <p:nvPr/>
        </p:nvSpPr>
        <p:spPr>
          <a:xfrm>
            <a:off x="904300" y="1535250"/>
            <a:ext cx="7928100" cy="1828675"/>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375"/>
              </a:spcBef>
              <a:spcAft>
                <a:spcPts val="0"/>
              </a:spcAft>
              <a:buSzPts val="1800"/>
              <a:buFont typeface="Times New Roman"/>
              <a:buChar char="●"/>
            </a:pPr>
            <a:r>
              <a:rPr lang="en" sz="1800" dirty="0">
                <a:solidFill>
                  <a:schemeClr val="dk1"/>
                </a:solidFill>
                <a:latin typeface="Times New Roman"/>
                <a:ea typeface="Times New Roman"/>
                <a:cs typeface="Times New Roman"/>
                <a:sym typeface="Times New Roman"/>
              </a:rPr>
              <a:t>AI is termed as</a:t>
            </a:r>
            <a:r>
              <a:rPr lang="en" sz="1800" dirty="0">
                <a:solidFill>
                  <a:schemeClr val="accent6"/>
                </a:solidFill>
                <a:latin typeface="Times New Roman"/>
                <a:ea typeface="Times New Roman"/>
                <a:cs typeface="Times New Roman"/>
                <a:sym typeface="Times New Roman"/>
              </a:rPr>
              <a:t> </a:t>
            </a:r>
            <a:r>
              <a:rPr lang="en" sz="1800" dirty="0">
                <a:solidFill>
                  <a:srgbClr val="FF9900"/>
                </a:solidFill>
                <a:latin typeface="Times New Roman"/>
                <a:ea typeface="Times New Roman"/>
                <a:cs typeface="Times New Roman"/>
                <a:sym typeface="Times New Roman"/>
              </a:rPr>
              <a:t>‘the new Electricity’</a:t>
            </a:r>
            <a:endParaRPr sz="1800" dirty="0">
              <a:solidFill>
                <a:schemeClr val="accent6"/>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 sz="1800" dirty="0">
                <a:solidFill>
                  <a:srgbClr val="FF9900"/>
                </a:solidFill>
                <a:latin typeface="Times New Roman"/>
                <a:ea typeface="Times New Roman"/>
                <a:cs typeface="Times New Roman"/>
                <a:sym typeface="Times New Roman"/>
              </a:rPr>
              <a:t> The main goal: </a:t>
            </a:r>
            <a:r>
              <a:rPr lang="en" sz="1800" dirty="0">
                <a:solidFill>
                  <a:schemeClr val="accent6"/>
                </a:solidFill>
                <a:latin typeface="Times New Roman"/>
                <a:ea typeface="Times New Roman"/>
                <a:cs typeface="Times New Roman"/>
                <a:sym typeface="Times New Roman"/>
              </a:rPr>
              <a:t> </a:t>
            </a:r>
            <a:r>
              <a:rPr lang="en" sz="1800" dirty="0">
                <a:solidFill>
                  <a:schemeClr val="dk1"/>
                </a:solidFill>
                <a:latin typeface="Times New Roman"/>
                <a:ea typeface="Times New Roman"/>
                <a:cs typeface="Times New Roman"/>
                <a:sym typeface="Times New Roman"/>
              </a:rPr>
              <a:t>To make computers more useful by letting them take over dangerous or tedious tasks from human</a:t>
            </a:r>
            <a:endParaRPr sz="1800" dirty="0">
              <a:solidFill>
                <a:schemeClr val="dk2"/>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 sz="1800" dirty="0">
                <a:solidFill>
                  <a:srgbClr val="FF9900"/>
                </a:solidFill>
                <a:latin typeface="Times New Roman"/>
                <a:ea typeface="Times New Roman"/>
                <a:cs typeface="Times New Roman"/>
                <a:sym typeface="Times New Roman"/>
              </a:rPr>
              <a:t>Computer vision –</a:t>
            </a:r>
            <a:r>
              <a:rPr lang="en" sz="1800" dirty="0">
                <a:solidFill>
                  <a:schemeClr val="accent6"/>
                </a:solidFill>
                <a:latin typeface="Times New Roman"/>
                <a:ea typeface="Times New Roman"/>
                <a:cs typeface="Times New Roman"/>
                <a:sym typeface="Times New Roman"/>
              </a:rPr>
              <a:t> </a:t>
            </a:r>
            <a:r>
              <a:rPr lang="en" sz="1800" dirty="0">
                <a:solidFill>
                  <a:schemeClr val="dk1"/>
                </a:solidFill>
                <a:latin typeface="Times New Roman"/>
                <a:ea typeface="Times New Roman"/>
                <a:cs typeface="Times New Roman"/>
                <a:sym typeface="Times New Roman"/>
              </a:rPr>
              <a:t>a subfield of computer science that applies mathematical techniques to understanding images and videos. </a:t>
            </a:r>
            <a:endParaRPr sz="1800" dirty="0">
              <a:solidFill>
                <a:schemeClr val="dk2"/>
              </a:solidFill>
              <a:latin typeface="Times New Roman"/>
              <a:ea typeface="Times New Roman"/>
              <a:cs typeface="Times New Roman"/>
              <a:sym typeface="Times New Roman"/>
            </a:endParaRPr>
          </a:p>
        </p:txBody>
      </p:sp>
      <p:sp>
        <p:nvSpPr>
          <p:cNvPr id="83" name="Google Shape;83;p16"/>
          <p:cNvSpPr txBox="1"/>
          <p:nvPr/>
        </p:nvSpPr>
        <p:spPr>
          <a:xfrm>
            <a:off x="2787875" y="312875"/>
            <a:ext cx="4782506" cy="683234"/>
          </a:xfrm>
          <a:prstGeom prst="rect">
            <a:avLst/>
          </a:prstGeom>
          <a:noFill/>
          <a:ln>
            <a:noFill/>
          </a:ln>
        </p:spPr>
        <p:txBody>
          <a:bodyPr spcFirstLastPara="1" wrap="square" lIns="91425" tIns="91425" rIns="91425" bIns="91425" anchor="t" anchorCtr="0">
            <a:spAutoFit/>
          </a:bodyPr>
          <a:lstStyle/>
          <a:p>
            <a:pPr marL="7984" marR="3361" lvl="0" indent="0" algn="ctr" rtl="0">
              <a:lnSpc>
                <a:spcPct val="90000"/>
              </a:lnSpc>
              <a:spcBef>
                <a:spcPts val="0"/>
              </a:spcBef>
              <a:spcAft>
                <a:spcPts val="0"/>
              </a:spcAft>
              <a:buNone/>
            </a:pPr>
            <a:r>
              <a:rPr lang="en" sz="3600" dirty="0" smtClean="0">
                <a:solidFill>
                  <a:schemeClr val="dk1"/>
                </a:solidFill>
                <a:latin typeface="Times New Roman"/>
                <a:ea typeface="Times New Roman"/>
                <a:cs typeface="Times New Roman"/>
                <a:sym typeface="Times New Roman"/>
              </a:rPr>
              <a:t>AI </a:t>
            </a:r>
            <a:endParaRPr sz="36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1" name="Google Shape;91;p17"/>
          <p:cNvSpPr txBox="1"/>
          <p:nvPr/>
        </p:nvSpPr>
        <p:spPr>
          <a:xfrm>
            <a:off x="2420450" y="397925"/>
            <a:ext cx="4344000" cy="62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200" b="1">
                <a:solidFill>
                  <a:schemeClr val="dk1"/>
                </a:solidFill>
                <a:latin typeface="Times New Roman"/>
                <a:ea typeface="Times New Roman"/>
                <a:cs typeface="Times New Roman"/>
                <a:sym typeface="Times New Roman"/>
              </a:rPr>
              <a:t>Artificial Intelligence</a:t>
            </a:r>
            <a:endParaRPr sz="3200">
              <a:solidFill>
                <a:schemeClr val="dk1"/>
              </a:solidFill>
              <a:latin typeface="Times New Roman"/>
              <a:ea typeface="Times New Roman"/>
              <a:cs typeface="Times New Roman"/>
              <a:sym typeface="Times New Roman"/>
            </a:endParaRPr>
          </a:p>
        </p:txBody>
      </p:sp>
      <p:sp>
        <p:nvSpPr>
          <p:cNvPr id="92" name="Google Shape;92;p17"/>
          <p:cNvSpPr txBox="1"/>
          <p:nvPr/>
        </p:nvSpPr>
        <p:spPr>
          <a:xfrm>
            <a:off x="657200" y="1475525"/>
            <a:ext cx="6679800" cy="2569904"/>
          </a:xfrm>
          <a:prstGeom prst="rect">
            <a:avLst/>
          </a:prstGeom>
          <a:noFill/>
          <a:ln>
            <a:noFill/>
          </a:ln>
        </p:spPr>
        <p:txBody>
          <a:bodyPr spcFirstLastPara="1" wrap="square" lIns="91425" tIns="91425" rIns="91425" bIns="91425" anchor="t" anchorCtr="0">
            <a:spAutoFit/>
          </a:bodyPr>
          <a:lstStyle/>
          <a:p>
            <a:pPr marL="171450" lvl="0" indent="-171450" algn="just" rtl="0">
              <a:lnSpc>
                <a:spcPct val="15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It is the science and engineering of making intelligent machines, especially intelligent computer programs.           </a:t>
            </a:r>
            <a:r>
              <a:rPr lang="en" sz="1800" dirty="0">
                <a:solidFill>
                  <a:srgbClr val="FF0000"/>
                </a:solidFill>
                <a:latin typeface="Times New Roman"/>
                <a:ea typeface="Times New Roman"/>
                <a:cs typeface="Times New Roman"/>
                <a:sym typeface="Times New Roman"/>
              </a:rPr>
              <a:t>(</a:t>
            </a:r>
            <a:r>
              <a:rPr lang="en" sz="1800" b="1" dirty="0">
                <a:solidFill>
                  <a:srgbClr val="FF0000"/>
                </a:solidFill>
                <a:latin typeface="Times New Roman"/>
                <a:ea typeface="Times New Roman"/>
                <a:cs typeface="Times New Roman"/>
                <a:sym typeface="Times New Roman"/>
              </a:rPr>
              <a:t>John McCarthy)  </a:t>
            </a:r>
            <a:endParaRPr sz="1800" b="1" dirty="0">
              <a:solidFill>
                <a:srgbClr val="FF0000"/>
              </a:solidFill>
              <a:latin typeface="Times New Roman"/>
              <a:ea typeface="Times New Roman"/>
              <a:cs typeface="Times New Roman"/>
              <a:sym typeface="Times New Roman"/>
            </a:endParaRPr>
          </a:p>
          <a:p>
            <a:pPr marL="0" lvl="0" indent="0" algn="just" rtl="0">
              <a:lnSpc>
                <a:spcPct val="150000"/>
              </a:lnSpc>
              <a:spcBef>
                <a:spcPts val="750"/>
              </a:spcBef>
              <a:spcAft>
                <a:spcPts val="0"/>
              </a:spcAft>
              <a:buNone/>
            </a:pPr>
            <a:r>
              <a:rPr lang="en" sz="1800" b="1" dirty="0">
                <a:solidFill>
                  <a:srgbClr val="FF0000"/>
                </a:solidFill>
                <a:latin typeface="Times New Roman"/>
                <a:ea typeface="Times New Roman"/>
                <a:cs typeface="Times New Roman"/>
                <a:sym typeface="Times New Roman"/>
              </a:rPr>
              <a:t>                                      </a:t>
            </a:r>
            <a:endParaRPr sz="1800" dirty="0">
              <a:solidFill>
                <a:schemeClr val="dk2"/>
              </a:solidFill>
              <a:latin typeface="Times New Roman"/>
              <a:ea typeface="Times New Roman"/>
              <a:cs typeface="Times New Roman"/>
              <a:sym typeface="Times New Roman"/>
            </a:endParaRPr>
          </a:p>
          <a:p>
            <a:pPr marL="171450" lvl="0" indent="-171450" algn="just">
              <a:lnSpc>
                <a:spcPct val="150000"/>
              </a:lnSpc>
              <a:spcBef>
                <a:spcPts val="750"/>
              </a:spcBef>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 </a:t>
            </a:r>
            <a:r>
              <a:rPr lang="en-US" sz="1800" dirty="0">
                <a:solidFill>
                  <a:schemeClr val="dk2"/>
                </a:solidFill>
                <a:latin typeface="Times New Roman"/>
                <a:ea typeface="Times New Roman"/>
                <a:cs typeface="Times New Roman"/>
                <a:sym typeface="Times New Roman"/>
              </a:rPr>
              <a:t>The science of making machines that can perform tasks that would require intelligence if done by </a:t>
            </a:r>
            <a:r>
              <a:rPr lang="en-US" sz="1800" dirty="0" smtClean="0">
                <a:solidFill>
                  <a:schemeClr val="dk2"/>
                </a:solidFill>
                <a:latin typeface="Times New Roman"/>
                <a:ea typeface="Times New Roman"/>
                <a:cs typeface="Times New Roman"/>
                <a:sym typeface="Times New Roman"/>
              </a:rPr>
              <a:t>humans                (</a:t>
            </a:r>
            <a:r>
              <a:rPr lang="en-US" sz="1800" b="1" dirty="0" smtClean="0">
                <a:solidFill>
                  <a:srgbClr val="FF0000"/>
                </a:solidFill>
                <a:latin typeface="Times New Roman"/>
                <a:ea typeface="Times New Roman"/>
                <a:cs typeface="Times New Roman"/>
                <a:sym typeface="Times New Roman"/>
              </a:rPr>
              <a:t>Geffrey Hinton</a:t>
            </a:r>
            <a:r>
              <a:rPr lang="en-US" sz="1800" dirty="0" smtClean="0">
                <a:solidFill>
                  <a:schemeClr val="dk2"/>
                </a:solidFill>
                <a:latin typeface="Times New Roman"/>
                <a:ea typeface="Times New Roman"/>
                <a:cs typeface="Times New Roman"/>
                <a:sym typeface="Times New Roman"/>
              </a:rPr>
              <a:t>)</a:t>
            </a:r>
            <a:endParaRPr sz="1800" dirty="0">
              <a:latin typeface="Times New Roman"/>
              <a:ea typeface="Times New Roman"/>
              <a:cs typeface="Times New Roman"/>
              <a:sym typeface="Times New Roman"/>
            </a:endParaRPr>
          </a:p>
        </p:txBody>
      </p:sp>
      <p:pic>
        <p:nvPicPr>
          <p:cNvPr id="93" name="Google Shape;93;p17" descr="jmccolor"/>
          <p:cNvPicPr preferRelativeResize="0"/>
          <p:nvPr/>
        </p:nvPicPr>
        <p:blipFill rotWithShape="1">
          <a:blip r:embed="rId3">
            <a:alphaModFix/>
          </a:blip>
          <a:srcRect/>
          <a:stretch/>
        </p:blipFill>
        <p:spPr>
          <a:xfrm>
            <a:off x="7640862" y="1475525"/>
            <a:ext cx="978694" cy="135493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7320" y="1284311"/>
            <a:ext cx="4369982" cy="2308324"/>
          </a:xfrm>
          <a:prstGeom prst="rect">
            <a:avLst/>
          </a:prstGeom>
        </p:spPr>
        <p:txBody>
          <a:bodyPr wrap="square">
            <a:spAutoFit/>
          </a:bodyPr>
          <a:lstStyle/>
          <a:p>
            <a:pPr algn="just"/>
            <a:r>
              <a:rPr lang="en-US" sz="1600" dirty="0">
                <a:latin typeface="D-DINExp"/>
              </a:rPr>
              <a:t>John McCarthy is widely regarded as the father of Artificial Intelligence. He was an American computer scientist who co-authored the document that coined the term "artificial intelligence." His work laid the foundation for the field, significantly influencing its development and direction. His contributions are central to the understanding and advancement of AI as we know it today.</a:t>
            </a:r>
            <a:endParaRPr lang="en-IN" sz="1600" dirty="0"/>
          </a:p>
        </p:txBody>
      </p:sp>
      <p:sp>
        <p:nvSpPr>
          <p:cNvPr id="5" name="Title 1"/>
          <p:cNvSpPr>
            <a:spLocks noGrp="1"/>
          </p:cNvSpPr>
          <p:nvPr>
            <p:ph type="title"/>
          </p:nvPr>
        </p:nvSpPr>
        <p:spPr>
          <a:xfrm>
            <a:off x="258538" y="300785"/>
            <a:ext cx="5748857" cy="841800"/>
          </a:xfrm>
        </p:spPr>
        <p:txBody>
          <a:bodyPr/>
          <a:lstStyle/>
          <a:p>
            <a:r>
              <a:rPr lang="en-IN" dirty="0" smtClean="0"/>
              <a:t>Father of AI</a:t>
            </a:r>
            <a:endParaRPr lang="en-IN" dirty="0"/>
          </a:p>
        </p:txBody>
      </p:sp>
      <p:pic>
        <p:nvPicPr>
          <p:cNvPr id="5124" name="Picture 4" descr="https://media.wired.com/photos/59327c782a990b06268ab0b1/master/pass/john-mccarth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0684" y="300785"/>
            <a:ext cx="2991662" cy="279295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95423" y="3734361"/>
            <a:ext cx="3923415" cy="1323439"/>
          </a:xfrm>
          <a:prstGeom prst="rect">
            <a:avLst/>
          </a:prstGeom>
        </p:spPr>
        <p:txBody>
          <a:bodyPr wrap="square">
            <a:spAutoFit/>
          </a:bodyPr>
          <a:lstStyle/>
          <a:p>
            <a:pPr algn="just"/>
            <a:r>
              <a:rPr lang="en-US" sz="1600" dirty="0">
                <a:solidFill>
                  <a:srgbClr val="545D7E"/>
                </a:solidFill>
                <a:latin typeface="Arial" panose="020B0604020202020204" pitchFamily="34" charset="0"/>
              </a:rPr>
              <a:t>He made significant contributions to the development of AI, including the invention of the Lisp programming language, which became a cornerstone for AI research</a:t>
            </a:r>
            <a:endParaRPr lang="en-IN" sz="1600" dirty="0"/>
          </a:p>
        </p:txBody>
      </p:sp>
      <p:sp>
        <p:nvSpPr>
          <p:cNvPr id="7" name="Rectangle 6"/>
          <p:cNvSpPr/>
          <p:nvPr/>
        </p:nvSpPr>
        <p:spPr>
          <a:xfrm>
            <a:off x="4997302" y="3734361"/>
            <a:ext cx="3748960" cy="954107"/>
          </a:xfrm>
          <a:prstGeom prst="rect">
            <a:avLst/>
          </a:prstGeom>
        </p:spPr>
        <p:txBody>
          <a:bodyPr wrap="square">
            <a:spAutoFit/>
          </a:bodyPr>
          <a:lstStyle/>
          <a:p>
            <a:r>
              <a:rPr lang="en-US" dirty="0">
                <a:solidFill>
                  <a:srgbClr val="545D7E"/>
                </a:solidFill>
                <a:latin typeface="Arial" panose="020B0604020202020204" pitchFamily="34" charset="0"/>
              </a:rPr>
              <a:t>McCarthy envisioned machines that could think and reason like humans, and his work laid the foundation for many core concepts in AI. </a:t>
            </a:r>
            <a:endParaRPr lang="en-IN" dirty="0"/>
          </a:p>
        </p:txBody>
      </p:sp>
    </p:spTree>
    <p:extLst>
      <p:ext uri="{BB962C8B-B14F-4D97-AF65-F5344CB8AC3E}">
        <p14:creationId xmlns:p14="http://schemas.microsoft.com/office/powerpoint/2010/main" val="12125547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538" y="300785"/>
            <a:ext cx="8520600" cy="841800"/>
          </a:xfrm>
        </p:spPr>
        <p:txBody>
          <a:bodyPr/>
          <a:lstStyle/>
          <a:p>
            <a:r>
              <a:rPr lang="en-IN" dirty="0" smtClean="0"/>
              <a:t>God Father of AI</a:t>
            </a:r>
            <a:endParaRPr lang="en-IN" dirty="0"/>
          </a:p>
        </p:txBody>
      </p:sp>
      <p:pic>
        <p:nvPicPr>
          <p:cNvPr id="2050" name="Picture 2" descr="Godfather of AI' shortens odds of the technology wiping out humanity over  next 30 years | Artificial intelligence (AI) | The Guardi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4" y="1142585"/>
            <a:ext cx="2762250" cy="16573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46158" y="1460282"/>
            <a:ext cx="3636334" cy="2308324"/>
          </a:xfrm>
          <a:prstGeom prst="rect">
            <a:avLst/>
          </a:prstGeom>
        </p:spPr>
        <p:txBody>
          <a:bodyPr wrap="square">
            <a:spAutoFit/>
          </a:bodyPr>
          <a:lstStyle/>
          <a:p>
            <a:pPr marL="285750" indent="-285750" algn="just">
              <a:buFont typeface="Arial" panose="020B0604020202020204" pitchFamily="34" charset="0"/>
              <a:buChar char="•"/>
            </a:pPr>
            <a:r>
              <a:rPr lang="en-US" sz="1600" dirty="0">
                <a:solidFill>
                  <a:srgbClr val="001D35"/>
                </a:solidFill>
                <a:latin typeface="Google Sans"/>
              </a:rPr>
              <a:t>Geoffrey Hinton is widely known as the "Godfather of AI" due to his groundbreaking work in the field of artificial neural networks and deep learning. His contributions have been foundational to the development of modern AI technologies</a:t>
            </a:r>
            <a:r>
              <a:rPr lang="en-US" sz="1600" dirty="0" smtClean="0">
                <a:solidFill>
                  <a:srgbClr val="001D35"/>
                </a:solidFill>
                <a:latin typeface="Google Sans"/>
              </a:rPr>
              <a:t>.</a:t>
            </a:r>
          </a:p>
          <a:p>
            <a:pPr marL="285750" indent="-285750">
              <a:buFont typeface="Arial" panose="020B0604020202020204" pitchFamily="34" charset="0"/>
              <a:buChar char="•"/>
            </a:pPr>
            <a:endParaRPr lang="en-IN" sz="1600" dirty="0"/>
          </a:p>
        </p:txBody>
      </p:sp>
      <p:sp>
        <p:nvSpPr>
          <p:cNvPr id="7" name="Rectangle 6"/>
          <p:cNvSpPr/>
          <p:nvPr/>
        </p:nvSpPr>
        <p:spPr>
          <a:xfrm>
            <a:off x="577515" y="2975569"/>
            <a:ext cx="4887620" cy="1815882"/>
          </a:xfrm>
          <a:prstGeom prst="rect">
            <a:avLst/>
          </a:prstGeom>
        </p:spPr>
        <p:txBody>
          <a:bodyPr wrap="square">
            <a:spAutoFit/>
          </a:bodyPr>
          <a:lstStyle/>
          <a:p>
            <a:pPr marL="285750" indent="-285750" fontAlgn="base">
              <a:buFont typeface="Arial" panose="020B0604020202020204" pitchFamily="34" charset="0"/>
              <a:buChar char="•"/>
            </a:pPr>
            <a:r>
              <a:rPr lang="en-US" sz="1600" dirty="0">
                <a:solidFill>
                  <a:srgbClr val="2E2A25"/>
                </a:solidFill>
                <a:latin typeface="Alfred Serif"/>
              </a:rPr>
              <a:t>Geoffrey Hinton</a:t>
            </a:r>
            <a:br>
              <a:rPr lang="en-US" sz="1600" dirty="0">
                <a:solidFill>
                  <a:srgbClr val="2E2A25"/>
                </a:solidFill>
                <a:latin typeface="Alfred Serif"/>
              </a:rPr>
            </a:br>
            <a:r>
              <a:rPr lang="en-US" sz="1600" dirty="0">
                <a:solidFill>
                  <a:srgbClr val="2E2A25"/>
                </a:solidFill>
                <a:latin typeface="Alfred Serif"/>
              </a:rPr>
              <a:t>Nobel Prize in Physics 2024</a:t>
            </a:r>
          </a:p>
          <a:p>
            <a:pPr marL="285750" indent="-285750" fontAlgn="base">
              <a:buFont typeface="Arial" panose="020B0604020202020204" pitchFamily="34" charset="0"/>
              <a:buChar char="•"/>
            </a:pPr>
            <a:r>
              <a:rPr lang="en-US" sz="1600" dirty="0">
                <a:solidFill>
                  <a:srgbClr val="2E2A25"/>
                </a:solidFill>
                <a:latin typeface="Alfred Serif"/>
              </a:rPr>
              <a:t>Born: 6 December 1947, London, United Kingdom</a:t>
            </a:r>
          </a:p>
          <a:p>
            <a:pPr marL="285750" indent="-285750" fontAlgn="base">
              <a:buFont typeface="Arial" panose="020B0604020202020204" pitchFamily="34" charset="0"/>
              <a:buChar char="•"/>
            </a:pPr>
            <a:r>
              <a:rPr lang="en-US" sz="1600" dirty="0" smtClean="0">
                <a:solidFill>
                  <a:srgbClr val="2E2A25"/>
                </a:solidFill>
                <a:latin typeface="Alfred Serif"/>
              </a:rPr>
              <a:t>Prize </a:t>
            </a:r>
            <a:r>
              <a:rPr lang="en-US" sz="1600" dirty="0">
                <a:solidFill>
                  <a:srgbClr val="2E2A25"/>
                </a:solidFill>
                <a:latin typeface="Alfred Serif"/>
              </a:rPr>
              <a:t>motivation: “for foundational discoveries and inventions that enable machine learning with artificial neural networks”</a:t>
            </a:r>
          </a:p>
        </p:txBody>
      </p:sp>
    </p:spTree>
    <p:extLst>
      <p:ext uri="{BB962C8B-B14F-4D97-AF65-F5344CB8AC3E}">
        <p14:creationId xmlns:p14="http://schemas.microsoft.com/office/powerpoint/2010/main" val="5610998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71206" y="1357143"/>
            <a:ext cx="6001588" cy="2429214"/>
          </a:xfrm>
          <a:prstGeom prst="rect">
            <a:avLst/>
          </a:prstGeom>
        </p:spPr>
      </p:pic>
      <p:sp>
        <p:nvSpPr>
          <p:cNvPr id="5" name="Rectangle 4"/>
          <p:cNvSpPr/>
          <p:nvPr/>
        </p:nvSpPr>
        <p:spPr>
          <a:xfrm>
            <a:off x="3745856" y="514634"/>
            <a:ext cx="2747868" cy="400110"/>
          </a:xfrm>
          <a:prstGeom prst="rect">
            <a:avLst/>
          </a:prstGeom>
        </p:spPr>
        <p:txBody>
          <a:bodyPr wrap="none">
            <a:spAutoFit/>
          </a:bodyPr>
          <a:lstStyle/>
          <a:p>
            <a:r>
              <a:rPr lang="en-IN" sz="2000" b="1" dirty="0"/>
              <a:t>Fathers of Modern </a:t>
            </a:r>
            <a:r>
              <a:rPr lang="en-IN" sz="2000" b="1" dirty="0" smtClean="0"/>
              <a:t>AI</a:t>
            </a:r>
            <a:endParaRPr lang="en-IN" sz="2000" b="1" dirty="0"/>
          </a:p>
        </p:txBody>
      </p:sp>
    </p:spTree>
    <p:extLst>
      <p:ext uri="{BB962C8B-B14F-4D97-AF65-F5344CB8AC3E}">
        <p14:creationId xmlns:p14="http://schemas.microsoft.com/office/powerpoint/2010/main" val="26249748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1" name="Google Shape;101;p18"/>
          <p:cNvSpPr txBox="1"/>
          <p:nvPr/>
        </p:nvSpPr>
        <p:spPr>
          <a:xfrm>
            <a:off x="3002663" y="283350"/>
            <a:ext cx="3000000" cy="62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200" b="1">
                <a:solidFill>
                  <a:schemeClr val="dk1"/>
                </a:solidFill>
                <a:latin typeface="Times New Roman"/>
                <a:ea typeface="Times New Roman"/>
                <a:cs typeface="Times New Roman"/>
                <a:sym typeface="Times New Roman"/>
              </a:rPr>
              <a:t>History of AI</a:t>
            </a:r>
            <a:endParaRPr sz="3200" b="1">
              <a:solidFill>
                <a:schemeClr val="dk1"/>
              </a:solidFill>
              <a:latin typeface="Times New Roman"/>
              <a:ea typeface="Times New Roman"/>
              <a:cs typeface="Times New Roman"/>
              <a:sym typeface="Times New Roman"/>
            </a:endParaRPr>
          </a:p>
        </p:txBody>
      </p:sp>
      <p:sp>
        <p:nvSpPr>
          <p:cNvPr id="102" name="Google Shape;102;p18"/>
          <p:cNvSpPr txBox="1"/>
          <p:nvPr/>
        </p:nvSpPr>
        <p:spPr>
          <a:xfrm>
            <a:off x="1091375" y="1025825"/>
            <a:ext cx="6818400" cy="3649200"/>
          </a:xfrm>
          <a:prstGeom prst="rect">
            <a:avLst/>
          </a:prstGeom>
          <a:noFill/>
          <a:ln>
            <a:noFill/>
          </a:ln>
        </p:spPr>
        <p:txBody>
          <a:bodyPr spcFirstLastPara="1" wrap="square" lIns="91425" tIns="91425" rIns="91425" bIns="91425" anchor="t" anchorCtr="0">
            <a:spAutoFit/>
          </a:bodyPr>
          <a:lstStyle/>
          <a:p>
            <a:pPr marL="171450" lvl="0" indent="-167005" algn="l" rtl="0">
              <a:lnSpc>
                <a:spcPct val="90000"/>
              </a:lnSpc>
              <a:spcBef>
                <a:spcPts val="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McCulloch and Pitts (1943)</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rgbClr val="FF0000"/>
              </a:buClr>
              <a:buSzPts val="1800"/>
              <a:buFont typeface="Times New Roman"/>
              <a:buChar char="○"/>
            </a:pPr>
            <a:r>
              <a:rPr lang="en" sz="1800">
                <a:solidFill>
                  <a:srgbClr val="FF0000"/>
                </a:solidFill>
                <a:latin typeface="Times New Roman"/>
                <a:ea typeface="Times New Roman"/>
                <a:cs typeface="Times New Roman"/>
                <a:sym typeface="Times New Roman"/>
              </a:rPr>
              <a:t>Neural networks </a:t>
            </a:r>
            <a:r>
              <a:rPr lang="en" sz="1800">
                <a:solidFill>
                  <a:schemeClr val="dk2"/>
                </a:solidFill>
                <a:latin typeface="Times New Roman"/>
                <a:ea typeface="Times New Roman"/>
                <a:cs typeface="Times New Roman"/>
                <a:sym typeface="Times New Roman"/>
              </a:rPr>
              <a:t>that learn</a:t>
            </a:r>
            <a:endParaRPr sz="180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Minsky (1951)</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Built a </a:t>
            </a:r>
            <a:r>
              <a:rPr lang="en" sz="1800">
                <a:solidFill>
                  <a:srgbClr val="FF0000"/>
                </a:solidFill>
                <a:latin typeface="Times New Roman"/>
                <a:ea typeface="Times New Roman"/>
                <a:cs typeface="Times New Roman"/>
                <a:sym typeface="Times New Roman"/>
              </a:rPr>
              <a:t>neural net </a:t>
            </a:r>
            <a:r>
              <a:rPr lang="en" sz="1800">
                <a:solidFill>
                  <a:schemeClr val="dk2"/>
                </a:solidFill>
                <a:latin typeface="Times New Roman"/>
                <a:ea typeface="Times New Roman"/>
                <a:cs typeface="Times New Roman"/>
                <a:sym typeface="Times New Roman"/>
              </a:rPr>
              <a:t>computer</a:t>
            </a:r>
            <a:endParaRPr sz="180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Darmouth conference (1956):</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McCarthy, Minsky, Newell, Simon met,</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The name “</a:t>
            </a:r>
            <a:r>
              <a:rPr lang="en" sz="1800">
                <a:solidFill>
                  <a:srgbClr val="FF0000"/>
                </a:solidFill>
                <a:latin typeface="Times New Roman"/>
                <a:ea typeface="Times New Roman"/>
                <a:cs typeface="Times New Roman"/>
                <a:sym typeface="Times New Roman"/>
              </a:rPr>
              <a:t>Artficial Intelligence</a:t>
            </a:r>
            <a:r>
              <a:rPr lang="en" sz="1800">
                <a:solidFill>
                  <a:schemeClr val="dk2"/>
                </a:solidFill>
                <a:latin typeface="Times New Roman"/>
                <a:ea typeface="Times New Roman"/>
                <a:cs typeface="Times New Roman"/>
                <a:sym typeface="Times New Roman"/>
              </a:rPr>
              <a:t>” was coined.</a:t>
            </a:r>
            <a:endParaRPr sz="180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1952-1969</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McCarthy - </a:t>
            </a:r>
            <a:r>
              <a:rPr lang="en" sz="1800">
                <a:solidFill>
                  <a:srgbClr val="FF0000"/>
                </a:solidFill>
                <a:latin typeface="Times New Roman"/>
                <a:ea typeface="Times New Roman"/>
                <a:cs typeface="Times New Roman"/>
                <a:sym typeface="Times New Roman"/>
              </a:rPr>
              <a:t>Lisp</a:t>
            </a:r>
            <a:r>
              <a:rPr lang="en" sz="1800">
                <a:solidFill>
                  <a:schemeClr val="dk2"/>
                </a:solidFill>
                <a:latin typeface="Times New Roman"/>
                <a:ea typeface="Times New Roman"/>
                <a:cs typeface="Times New Roman"/>
                <a:sym typeface="Times New Roman"/>
              </a:rPr>
              <a:t> (1958)</a:t>
            </a:r>
            <a:endParaRPr sz="1800">
              <a:solidFill>
                <a:schemeClr val="dk2"/>
              </a:solidFill>
              <a:latin typeface="Times New Roman"/>
              <a:ea typeface="Times New Roman"/>
              <a:cs typeface="Times New Roman"/>
              <a:sym typeface="Times New Roman"/>
            </a:endParaRPr>
          </a:p>
          <a:p>
            <a:pPr marL="171450" lvl="0" indent="-171450"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1957 - </a:t>
            </a:r>
            <a:r>
              <a:rPr lang="en" sz="1800">
                <a:solidFill>
                  <a:srgbClr val="FF0000"/>
                </a:solidFill>
                <a:latin typeface="Times New Roman"/>
                <a:ea typeface="Times New Roman"/>
                <a:cs typeface="Times New Roman"/>
                <a:sym typeface="Times New Roman"/>
              </a:rPr>
              <a:t>Perceptron</a:t>
            </a:r>
            <a:r>
              <a:rPr lang="en" sz="1800">
                <a:solidFill>
                  <a:schemeClr val="dk2"/>
                </a:solidFill>
                <a:latin typeface="Times New Roman"/>
                <a:ea typeface="Times New Roman"/>
                <a:cs typeface="Times New Roman"/>
                <a:sym typeface="Times New Roman"/>
              </a:rPr>
              <a:t> was first used by Frank Rosenblatt</a:t>
            </a:r>
            <a:endParaRPr sz="1800">
              <a:solidFill>
                <a:schemeClr val="dk2"/>
              </a:solidFill>
              <a:latin typeface="Times New Roman"/>
              <a:ea typeface="Times New Roman"/>
              <a:cs typeface="Times New Roman"/>
              <a:sym typeface="Times New Roman"/>
            </a:endParaRPr>
          </a:p>
          <a:p>
            <a:pPr marL="171450" lvl="0" indent="-171450"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1965 – Multilevel Perceptron </a:t>
            </a:r>
            <a:r>
              <a:rPr lang="en" sz="1800">
                <a:solidFill>
                  <a:srgbClr val="FF0000"/>
                </a:solidFill>
                <a:latin typeface="Times New Roman"/>
                <a:ea typeface="Times New Roman"/>
                <a:cs typeface="Times New Roman"/>
                <a:sym typeface="Times New Roman"/>
              </a:rPr>
              <a:t>(MLP) </a:t>
            </a:r>
            <a:r>
              <a:rPr lang="en" sz="1800">
                <a:solidFill>
                  <a:schemeClr val="dk2"/>
                </a:solidFill>
                <a:latin typeface="Times New Roman"/>
                <a:ea typeface="Times New Roman"/>
                <a:cs typeface="Times New Roman"/>
                <a:sym typeface="Times New Roman"/>
              </a:rPr>
              <a:t>was invented</a:t>
            </a:r>
            <a:endParaRPr sz="1800">
              <a:solidFill>
                <a:schemeClr val="dk2"/>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0" name="Google Shape;110;p19"/>
          <p:cNvSpPr txBox="1"/>
          <p:nvPr/>
        </p:nvSpPr>
        <p:spPr>
          <a:xfrm>
            <a:off x="921289" y="500750"/>
            <a:ext cx="7301400" cy="4004143"/>
          </a:xfrm>
          <a:prstGeom prst="rect">
            <a:avLst/>
          </a:prstGeom>
          <a:noFill/>
          <a:ln>
            <a:noFill/>
          </a:ln>
        </p:spPr>
        <p:txBody>
          <a:bodyPr spcFirstLastPara="1" wrap="square" lIns="91425" tIns="91425" rIns="91425" bIns="91425" anchor="t" anchorCtr="0">
            <a:spAutoFit/>
          </a:bodyPr>
          <a:lstStyle/>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1986-present: return to neural networks</a:t>
            </a:r>
            <a:endParaRPr sz="1800" dirty="0">
              <a:solidFill>
                <a:schemeClr val="dk2"/>
              </a:solidFill>
              <a:latin typeface="Times New Roman"/>
              <a:ea typeface="Times New Roman"/>
              <a:cs typeface="Times New Roman"/>
              <a:sym typeface="Times New Roman"/>
            </a:endParaRPr>
          </a:p>
          <a:p>
            <a:pPr marL="514350" lvl="1" indent="-183197" algn="l" rtl="0">
              <a:lnSpc>
                <a:spcPct val="90000"/>
              </a:lnSpc>
              <a:spcBef>
                <a:spcPts val="375"/>
              </a:spcBef>
              <a:spcAft>
                <a:spcPts val="0"/>
              </a:spcAft>
              <a:buClr>
                <a:srgbClr val="FF0000"/>
              </a:buClr>
              <a:buSzPts val="1800"/>
              <a:buFont typeface="Times New Roman"/>
              <a:buChar char="○"/>
            </a:pPr>
            <a:r>
              <a:rPr lang="en" sz="1800" dirty="0">
                <a:solidFill>
                  <a:srgbClr val="FF0000"/>
                </a:solidFill>
                <a:latin typeface="Times New Roman"/>
                <a:ea typeface="Times New Roman"/>
                <a:cs typeface="Times New Roman"/>
                <a:sym typeface="Times New Roman"/>
              </a:rPr>
              <a:t>Back Propagation </a:t>
            </a:r>
            <a:r>
              <a:rPr lang="en" sz="1800" dirty="0">
                <a:solidFill>
                  <a:schemeClr val="dk2"/>
                </a:solidFill>
                <a:latin typeface="Times New Roman"/>
                <a:ea typeface="Times New Roman"/>
                <a:cs typeface="Times New Roman"/>
                <a:sym typeface="Times New Roman"/>
              </a:rPr>
              <a:t>algorithm was found</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1989 – Convolutional Neural Networks (</a:t>
            </a:r>
            <a:r>
              <a:rPr lang="en" sz="1800" dirty="0">
                <a:solidFill>
                  <a:srgbClr val="FF0000"/>
                </a:solidFill>
                <a:latin typeface="Times New Roman"/>
                <a:ea typeface="Times New Roman"/>
                <a:cs typeface="Times New Roman"/>
                <a:sym typeface="Times New Roman"/>
              </a:rPr>
              <a:t>CNN</a:t>
            </a:r>
            <a:r>
              <a:rPr lang="en" sz="1800" dirty="0">
                <a:solidFill>
                  <a:schemeClr val="dk2"/>
                </a:solidFill>
                <a:latin typeface="Times New Roman"/>
                <a:ea typeface="Times New Roman"/>
                <a:cs typeface="Times New Roman"/>
                <a:sym typeface="Times New Roman"/>
              </a:rPr>
              <a:t>) were found</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1991 – Recurrent Neural Networks (</a:t>
            </a:r>
            <a:r>
              <a:rPr lang="en" sz="1800" dirty="0">
                <a:solidFill>
                  <a:srgbClr val="FF0000"/>
                </a:solidFill>
                <a:latin typeface="Times New Roman"/>
                <a:ea typeface="Times New Roman"/>
                <a:cs typeface="Times New Roman"/>
                <a:sym typeface="Times New Roman"/>
              </a:rPr>
              <a:t>RNN</a:t>
            </a:r>
            <a:r>
              <a:rPr lang="en" sz="1800" dirty="0">
                <a:solidFill>
                  <a:schemeClr val="dk2"/>
                </a:solidFill>
                <a:latin typeface="Times New Roman"/>
                <a:ea typeface="Times New Roman"/>
                <a:cs typeface="Times New Roman"/>
                <a:sym typeface="Times New Roman"/>
              </a:rPr>
              <a:t>)</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1997 – </a:t>
            </a:r>
            <a:r>
              <a:rPr lang="en" sz="1800" dirty="0">
                <a:solidFill>
                  <a:srgbClr val="FF0000"/>
                </a:solidFill>
                <a:latin typeface="Times New Roman"/>
                <a:ea typeface="Times New Roman"/>
                <a:cs typeface="Times New Roman"/>
                <a:sym typeface="Times New Roman"/>
              </a:rPr>
              <a:t>LSTM</a:t>
            </a:r>
            <a:r>
              <a:rPr lang="en" sz="1800" dirty="0">
                <a:solidFill>
                  <a:schemeClr val="dk2"/>
                </a:solidFill>
                <a:latin typeface="Times New Roman"/>
                <a:ea typeface="Times New Roman"/>
                <a:cs typeface="Times New Roman"/>
                <a:sym typeface="Times New Roman"/>
              </a:rPr>
              <a:t> (Long Short Term Memory)</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2007 – </a:t>
            </a:r>
            <a:r>
              <a:rPr lang="en" sz="1800" dirty="0">
                <a:solidFill>
                  <a:srgbClr val="FF0000"/>
                </a:solidFill>
                <a:latin typeface="Times New Roman"/>
                <a:ea typeface="Times New Roman"/>
                <a:cs typeface="Times New Roman"/>
                <a:sym typeface="Times New Roman"/>
              </a:rPr>
              <a:t>GPUs</a:t>
            </a:r>
            <a:r>
              <a:rPr lang="en" sz="1800" dirty="0">
                <a:solidFill>
                  <a:schemeClr val="dk2"/>
                </a:solidFill>
                <a:latin typeface="Times New Roman"/>
                <a:ea typeface="Times New Roman"/>
                <a:cs typeface="Times New Roman"/>
                <a:sym typeface="Times New Roman"/>
              </a:rPr>
              <a:t> and </a:t>
            </a:r>
            <a:r>
              <a:rPr lang="en" sz="1800" dirty="0">
                <a:solidFill>
                  <a:srgbClr val="FF0000"/>
                </a:solidFill>
                <a:latin typeface="Times New Roman"/>
                <a:ea typeface="Times New Roman"/>
                <a:cs typeface="Times New Roman"/>
                <a:sym typeface="Times New Roman"/>
              </a:rPr>
              <a:t>CUDA</a:t>
            </a:r>
            <a:r>
              <a:rPr lang="en" sz="1800" dirty="0">
                <a:solidFill>
                  <a:schemeClr val="dk2"/>
                </a:solidFill>
                <a:latin typeface="Times New Roman"/>
                <a:ea typeface="Times New Roman"/>
                <a:cs typeface="Times New Roman"/>
                <a:sym typeface="Times New Roman"/>
              </a:rPr>
              <a:t> frameworks were invented</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2012 – Adam Optimizer </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2014 – Ian Goodfellow invented the </a:t>
            </a:r>
            <a:r>
              <a:rPr lang="en" sz="1800" dirty="0">
                <a:solidFill>
                  <a:srgbClr val="FF0000"/>
                </a:solidFill>
                <a:latin typeface="Times New Roman"/>
                <a:ea typeface="Times New Roman"/>
                <a:cs typeface="Times New Roman"/>
                <a:sym typeface="Times New Roman"/>
              </a:rPr>
              <a:t>GAN</a:t>
            </a:r>
            <a:r>
              <a:rPr lang="en" sz="1800" dirty="0">
                <a:solidFill>
                  <a:schemeClr val="dk2"/>
                </a:solidFill>
                <a:latin typeface="Times New Roman"/>
                <a:ea typeface="Times New Roman"/>
                <a:cs typeface="Times New Roman"/>
                <a:sym typeface="Times New Roman"/>
              </a:rPr>
              <a:t> network</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2016 – </a:t>
            </a:r>
            <a:r>
              <a:rPr lang="en" sz="1800" dirty="0">
                <a:solidFill>
                  <a:srgbClr val="FF0000"/>
                </a:solidFill>
                <a:latin typeface="Times New Roman"/>
                <a:ea typeface="Times New Roman"/>
                <a:cs typeface="Times New Roman"/>
                <a:sym typeface="Times New Roman"/>
              </a:rPr>
              <a:t>Pascal GPUs </a:t>
            </a:r>
            <a:r>
              <a:rPr lang="en" sz="1800" dirty="0">
                <a:solidFill>
                  <a:schemeClr val="dk2"/>
                </a:solidFill>
                <a:latin typeface="Times New Roman"/>
                <a:ea typeface="Times New Roman"/>
                <a:cs typeface="Times New Roman"/>
                <a:sym typeface="Times New Roman"/>
              </a:rPr>
              <a:t>(with unified memory) were released </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2017 – </a:t>
            </a:r>
            <a:r>
              <a:rPr lang="en" sz="1800" dirty="0">
                <a:solidFill>
                  <a:srgbClr val="FF0000"/>
                </a:solidFill>
                <a:latin typeface="Times New Roman"/>
                <a:ea typeface="Times New Roman"/>
                <a:cs typeface="Times New Roman"/>
                <a:sym typeface="Times New Roman"/>
              </a:rPr>
              <a:t>Transformers</a:t>
            </a:r>
            <a:r>
              <a:rPr lang="en" sz="1800" dirty="0">
                <a:solidFill>
                  <a:schemeClr val="dk2"/>
                </a:solidFill>
                <a:latin typeface="Times New Roman"/>
                <a:ea typeface="Times New Roman"/>
                <a:cs typeface="Times New Roman"/>
                <a:sym typeface="Times New Roman"/>
              </a:rPr>
              <a:t> were </a:t>
            </a:r>
            <a:r>
              <a:rPr lang="en" sz="1800" dirty="0" smtClean="0">
                <a:solidFill>
                  <a:schemeClr val="dk2"/>
                </a:solidFill>
                <a:latin typeface="Times New Roman"/>
                <a:ea typeface="Times New Roman"/>
                <a:cs typeface="Times New Roman"/>
                <a:sym typeface="Times New Roman"/>
              </a:rPr>
              <a:t>invented</a:t>
            </a:r>
          </a:p>
          <a:p>
            <a:pPr marL="171450" lvl="0" indent="-167005" algn="l" rtl="0">
              <a:lnSpc>
                <a:spcPct val="90000"/>
              </a:lnSpc>
              <a:spcBef>
                <a:spcPts val="750"/>
              </a:spcBef>
              <a:spcAft>
                <a:spcPts val="0"/>
              </a:spcAft>
              <a:buClr>
                <a:schemeClr val="dk1"/>
              </a:buClr>
              <a:buSzPts val="1800"/>
              <a:buFont typeface="Times New Roman"/>
              <a:buChar char="●"/>
            </a:pPr>
            <a:r>
              <a:rPr lang="en" sz="1800" dirty="0" smtClean="0">
                <a:solidFill>
                  <a:schemeClr val="dk2"/>
                </a:solidFill>
                <a:latin typeface="Times New Roman"/>
                <a:cs typeface="Times New Roman"/>
                <a:sym typeface="Times New Roman"/>
              </a:rPr>
              <a:t>2022 - ChatGPT</a:t>
            </a:r>
            <a:endParaRP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8" name="Google Shape;118;p20"/>
          <p:cNvSpPr txBox="1"/>
          <p:nvPr/>
        </p:nvSpPr>
        <p:spPr>
          <a:xfrm>
            <a:off x="1125000" y="443325"/>
            <a:ext cx="6894000" cy="53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2500" b="1">
                <a:solidFill>
                  <a:schemeClr val="dk1"/>
                </a:solidFill>
                <a:latin typeface="Times New Roman"/>
                <a:ea typeface="Times New Roman"/>
                <a:cs typeface="Times New Roman"/>
                <a:sym typeface="Times New Roman"/>
              </a:rPr>
              <a:t>The Birthplace of “</a:t>
            </a:r>
            <a:r>
              <a:rPr lang="en" sz="2500" b="1">
                <a:solidFill>
                  <a:srgbClr val="FF0000"/>
                </a:solidFill>
                <a:latin typeface="Times New Roman"/>
                <a:ea typeface="Times New Roman"/>
                <a:cs typeface="Times New Roman"/>
                <a:sym typeface="Times New Roman"/>
              </a:rPr>
              <a:t>Artificial Intelligence</a:t>
            </a:r>
            <a:r>
              <a:rPr lang="en" sz="2500" b="1">
                <a:solidFill>
                  <a:schemeClr val="dk1"/>
                </a:solidFill>
                <a:latin typeface="Times New Roman"/>
                <a:ea typeface="Times New Roman"/>
                <a:cs typeface="Times New Roman"/>
                <a:sym typeface="Times New Roman"/>
              </a:rPr>
              <a:t>”, </a:t>
            </a:r>
            <a:r>
              <a:rPr lang="en" sz="2500" b="1">
                <a:solidFill>
                  <a:srgbClr val="FF0000"/>
                </a:solidFill>
                <a:latin typeface="Times New Roman"/>
                <a:ea typeface="Times New Roman"/>
                <a:cs typeface="Times New Roman"/>
                <a:sym typeface="Times New Roman"/>
              </a:rPr>
              <a:t>1956</a:t>
            </a:r>
            <a:endParaRPr sz="2100">
              <a:solidFill>
                <a:schemeClr val="dk1"/>
              </a:solidFill>
            </a:endParaRPr>
          </a:p>
        </p:txBody>
      </p:sp>
      <p:sp>
        <p:nvSpPr>
          <p:cNvPr id="119" name="Google Shape;119;p20"/>
          <p:cNvSpPr txBox="1"/>
          <p:nvPr/>
        </p:nvSpPr>
        <p:spPr>
          <a:xfrm>
            <a:off x="680750" y="1537150"/>
            <a:ext cx="8151600" cy="2371800"/>
          </a:xfrm>
          <a:prstGeom prst="rect">
            <a:avLst/>
          </a:prstGeom>
          <a:noFill/>
          <a:ln>
            <a:noFill/>
          </a:ln>
        </p:spPr>
        <p:txBody>
          <a:bodyPr spcFirstLastPara="1" wrap="square" lIns="91425" tIns="91425" rIns="91425" bIns="91425" anchor="t" anchorCtr="0">
            <a:spAutoFit/>
          </a:bodyPr>
          <a:lstStyle/>
          <a:p>
            <a:pPr marL="171450" lvl="0" indent="-146050" algn="l" rtl="0">
              <a:lnSpc>
                <a:spcPct val="8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Dartmouth workshop, 1956: historical meeting of the perceived founders of AI met: </a:t>
            </a:r>
            <a:r>
              <a:rPr lang="en" sz="1800">
                <a:solidFill>
                  <a:srgbClr val="FF0000"/>
                </a:solidFill>
                <a:latin typeface="Times New Roman"/>
                <a:ea typeface="Times New Roman"/>
                <a:cs typeface="Times New Roman"/>
                <a:sym typeface="Times New Roman"/>
              </a:rPr>
              <a:t>John McCarthy</a:t>
            </a: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 Marvin Minsky</a:t>
            </a: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 Alan Newell</a:t>
            </a: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 </a:t>
            </a:r>
            <a:r>
              <a:rPr lang="en" sz="1800">
                <a:solidFill>
                  <a:schemeClr val="dk2"/>
                </a:solidFill>
                <a:latin typeface="Times New Roman"/>
                <a:ea typeface="Times New Roman"/>
                <a:cs typeface="Times New Roman"/>
                <a:sym typeface="Times New Roman"/>
              </a:rPr>
              <a:t>and</a:t>
            </a:r>
            <a:r>
              <a:rPr lang="en" sz="1800">
                <a:solidFill>
                  <a:srgbClr val="FF0000"/>
                </a:solidFill>
                <a:latin typeface="Times New Roman"/>
                <a:ea typeface="Times New Roman"/>
                <a:cs typeface="Times New Roman"/>
                <a:sym typeface="Times New Roman"/>
              </a:rPr>
              <a:t> Herbert Simon</a:t>
            </a:r>
            <a:r>
              <a:rPr lang="en"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a:p>
            <a:pPr marL="171450" lvl="0" indent="-146050" algn="l" rtl="0">
              <a:lnSpc>
                <a:spcPct val="8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A Proposal for the Dartmouth Summer Research Project on Artificial Intelligence. </a:t>
            </a:r>
            <a:endParaRPr sz="1800">
              <a:solidFill>
                <a:schemeClr val="dk2"/>
              </a:solidFill>
              <a:latin typeface="Times New Roman"/>
              <a:ea typeface="Times New Roman"/>
              <a:cs typeface="Times New Roman"/>
              <a:sym typeface="Times New Roman"/>
            </a:endParaRPr>
          </a:p>
          <a:p>
            <a:pPr marL="0" lvl="0" indent="0" algn="l" rtl="0">
              <a:lnSpc>
                <a:spcPct val="80000"/>
              </a:lnSpc>
              <a:spcBef>
                <a:spcPts val="750"/>
              </a:spcBef>
              <a:spcAft>
                <a:spcPts val="0"/>
              </a:spcAft>
              <a:buNone/>
            </a:pP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We propose that a 2 month, 10 man study of artificial intelligence be carried out during the summer of 1956 at Dartmouth College in Hanover, New Hampshire. The study is to proceed on the basis of the conjecture that every aspect of learning or any other feature of intelligence can in principle be so precisely described that a machine can be made to simulate it." And this marks the debut of the term "artificial intelligence</a:t>
            </a:r>
            <a:r>
              <a:rPr lang="en" sz="1800">
                <a:solidFill>
                  <a:schemeClr val="dk2"/>
                </a:solidFill>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txBox="1">
            <a:spLocks noGrp="1"/>
          </p:cNvSpPr>
          <p:nvPr/>
        </p:nvSpPr>
        <p:spPr bwMode="auto">
          <a:xfrm>
            <a:off x="6343650" y="4800600"/>
            <a:ext cx="14287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fld id="{2E6B24B3-A8CA-4821-B684-2DE2946B61F0}" type="slidenum">
              <a:rPr lang="en-US" altLang="en-US" sz="900">
                <a:latin typeface="Helvetica" panose="020B0604020202020204" pitchFamily="34" charset="0"/>
              </a:rPr>
              <a:pPr algn="r"/>
              <a:t>13</a:t>
            </a:fld>
            <a:endParaRPr lang="en-US" altLang="en-US" sz="900">
              <a:latin typeface="Times New Roman" panose="02020603050405020304" pitchFamily="18" charset="0"/>
            </a:endParaRPr>
          </a:p>
        </p:txBody>
      </p:sp>
      <p:sp>
        <p:nvSpPr>
          <p:cNvPr id="32771" name="Rectangle 2"/>
          <p:cNvSpPr>
            <a:spLocks noGrp="1" noChangeArrowheads="1"/>
          </p:cNvSpPr>
          <p:nvPr>
            <p:ph type="title" idx="4294967295"/>
          </p:nvPr>
        </p:nvSpPr>
        <p:spPr/>
        <p:txBody>
          <a:bodyPr>
            <a:normAutofit fontScale="90000"/>
          </a:bodyPr>
          <a:lstStyle/>
          <a:p>
            <a:r>
              <a:rPr lang="en-US" altLang="en-US"/>
              <a:t>What is Learning?</a:t>
            </a:r>
          </a:p>
        </p:txBody>
      </p:sp>
      <p:sp>
        <p:nvSpPr>
          <p:cNvPr id="32772" name="Rectangle 3"/>
          <p:cNvSpPr>
            <a:spLocks noGrp="1" noChangeArrowheads="1"/>
          </p:cNvSpPr>
          <p:nvPr>
            <p:ph type="body" idx="4294967295"/>
          </p:nvPr>
        </p:nvSpPr>
        <p:spPr/>
        <p:txBody>
          <a:bodyPr>
            <a:normAutofit/>
          </a:bodyPr>
          <a:lstStyle/>
          <a:p>
            <a:pPr>
              <a:lnSpc>
                <a:spcPct val="90000"/>
              </a:lnSpc>
            </a:pPr>
            <a:r>
              <a:rPr lang="en-US" altLang="en-US" dirty="0"/>
              <a:t>Herbert Simon: “Learning is any process by which a system improves performance from experience.”</a:t>
            </a:r>
          </a:p>
          <a:p>
            <a:pPr>
              <a:lnSpc>
                <a:spcPct val="90000"/>
              </a:lnSpc>
            </a:pPr>
            <a:endParaRPr lang="en-US" altLang="en-US" dirty="0"/>
          </a:p>
          <a:p>
            <a:pPr>
              <a:lnSpc>
                <a:spcPct val="90000"/>
              </a:lnSpc>
            </a:pPr>
            <a:r>
              <a:rPr lang="en-US" altLang="en-US" dirty="0"/>
              <a:t>“A computer program is said to </a:t>
            </a:r>
            <a:r>
              <a:rPr lang="en-US" altLang="en-US" b="1" dirty="0"/>
              <a:t>learn</a:t>
            </a:r>
            <a:r>
              <a:rPr lang="en-US" altLang="en-US" dirty="0"/>
              <a:t> from experience E with respect to some class of tasks T and performance measure P, if its performance at tasks in T, as measured by P, improves with experience E.” </a:t>
            </a:r>
          </a:p>
          <a:p>
            <a:pPr>
              <a:lnSpc>
                <a:spcPct val="90000"/>
              </a:lnSpc>
              <a:buFontTx/>
              <a:buNone/>
            </a:pPr>
            <a:r>
              <a:rPr lang="en-US" altLang="en-US" dirty="0"/>
              <a:t>					– Tom Mitchell</a:t>
            </a:r>
          </a:p>
        </p:txBody>
      </p:sp>
      <p:sp>
        <p:nvSpPr>
          <p:cNvPr id="3" name="Footer Placeholder 2"/>
          <p:cNvSpPr>
            <a:spLocks noGrp="1"/>
          </p:cNvSpPr>
          <p:nvPr>
            <p:ph type="ftr" sz="quarter" idx="4294967295"/>
          </p:nvPr>
        </p:nvSpPr>
        <p:spPr>
          <a:xfrm>
            <a:off x="1371600" y="4808136"/>
            <a:ext cx="3200400" cy="274320"/>
          </a:xfrm>
        </p:spPr>
        <p:txBody>
          <a:bodyPr/>
          <a:lstStyle/>
          <a:p>
            <a:r>
              <a:rPr lang="en-US" smtClean="0"/>
              <a:t>Introduction to ML</a:t>
            </a:r>
            <a:endParaRPr lang="en-US" dirty="0"/>
          </a:p>
        </p:txBody>
      </p:sp>
    </p:spTree>
    <p:extLst>
      <p:ext uri="{BB962C8B-B14F-4D97-AF65-F5344CB8AC3E}">
        <p14:creationId xmlns:p14="http://schemas.microsoft.com/office/powerpoint/2010/main" val="6952623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fontScale="90000"/>
          </a:bodyPr>
          <a:lstStyle/>
          <a:p>
            <a:r>
              <a:rPr lang="en-US" sz="2700" dirty="0">
                <a:solidFill>
                  <a:srgbClr val="FF0000"/>
                </a:solidFill>
              </a:rPr>
              <a:t>How Do Children Learn?</a:t>
            </a:r>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idx="1"/>
          </p:nvPr>
        </p:nvSpPr>
        <p:spPr>
          <a:xfrm>
            <a:off x="4446839" y="2037253"/>
            <a:ext cx="3242695" cy="1803645"/>
          </a:xfrm>
        </p:spPr>
        <p:txBody>
          <a:bodyPr/>
          <a:lstStyle/>
          <a:p>
            <a:pPr>
              <a:buClr>
                <a:schemeClr val="bg1"/>
              </a:buClr>
            </a:pPr>
            <a:r>
              <a:rPr lang="en-US" sz="1625" dirty="0">
                <a:solidFill>
                  <a:schemeClr val="tx1"/>
                </a:solidFill>
              </a:rPr>
              <a:t>- Expose them to lots of data</a:t>
            </a:r>
          </a:p>
          <a:p>
            <a:pPr>
              <a:buClr>
                <a:schemeClr val="bg1"/>
              </a:buClr>
            </a:pPr>
            <a:r>
              <a:rPr lang="en-US" sz="1625" dirty="0">
                <a:solidFill>
                  <a:schemeClr val="tx1"/>
                </a:solidFill>
              </a:rPr>
              <a:t>- Give them the “correct answer”</a:t>
            </a:r>
          </a:p>
          <a:p>
            <a:pPr>
              <a:buClr>
                <a:schemeClr val="bg1"/>
              </a:buClr>
            </a:pPr>
            <a:r>
              <a:rPr lang="en-US" sz="1625" dirty="0">
                <a:solidFill>
                  <a:schemeClr val="tx1"/>
                </a:solidFill>
              </a:rPr>
              <a:t>- They will pick up the important</a:t>
            </a:r>
          </a:p>
          <a:p>
            <a:pPr>
              <a:buClr>
                <a:schemeClr val="bg1"/>
              </a:buClr>
            </a:pPr>
            <a:r>
              <a:rPr lang="en-US" sz="1625" dirty="0">
                <a:solidFill>
                  <a:schemeClr val="tx1"/>
                </a:solidFill>
              </a:rPr>
              <a:t>   patterns on their own</a:t>
            </a:r>
          </a:p>
          <a:p>
            <a:pPr marL="214304" indent="-214304">
              <a:buFontTx/>
              <a:buChar char="-"/>
            </a:pPr>
            <a:endParaRPr lang="en-US" dirty="0">
              <a:solidFill>
                <a:srgbClr val="FF0000"/>
              </a:solidFill>
            </a:endParaRPr>
          </a:p>
          <a:p>
            <a:pPr marL="214304" indent="-214304">
              <a:buFontTx/>
              <a:buChar char="-"/>
            </a:pPr>
            <a:endParaRPr lang="en-US" dirty="0">
              <a:solidFill>
                <a:srgbClr val="FF0000"/>
              </a:solidFill>
            </a:endParaRPr>
          </a:p>
        </p:txBody>
      </p:sp>
      <p:pic>
        <p:nvPicPr>
          <p:cNvPr id="7" name="Picture 6" descr="Aspirations to be an astronaut">
            <a:extLst>
              <a:ext uri="{FF2B5EF4-FFF2-40B4-BE49-F238E27FC236}">
                <a16:creationId xmlns:a16="http://schemas.microsoft.com/office/drawing/2014/main" id="{DAFCC191-D8C2-43FB-93C3-BBADAEB17108}"/>
              </a:ext>
            </a:extLst>
          </p:cNvPr>
          <p:cNvPicPr>
            <a:picLocks noChangeAspect="1"/>
          </p:cNvPicPr>
          <p:nvPr/>
        </p:nvPicPr>
        <p:blipFill>
          <a:blip r:embed="rId3"/>
          <a:stretch>
            <a:fillRect/>
          </a:stretch>
        </p:blipFill>
        <p:spPr>
          <a:xfrm>
            <a:off x="415290" y="1640246"/>
            <a:ext cx="3780363" cy="2519627"/>
          </a:xfrm>
          <a:prstGeom prst="rect">
            <a:avLst/>
          </a:prstGeom>
          <a:ln w="38100">
            <a:solidFill>
              <a:schemeClr val="tx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8800841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Machine Learning</a:t>
            </a:r>
            <a:endParaRPr lang="en-IN" dirty="0">
              <a:solidFill>
                <a:srgbClr val="FF0000"/>
              </a:solidFill>
            </a:endParaRPr>
          </a:p>
        </p:txBody>
      </p:sp>
      <p:pic>
        <p:nvPicPr>
          <p:cNvPr id="7" name="object 4"/>
          <p:cNvPicPr>
            <a:picLocks noGrp="1"/>
          </p:cNvPicPr>
          <p:nvPr>
            <p:ph sz="quarter" idx="1"/>
          </p:nvPr>
        </p:nvPicPr>
        <p:blipFill>
          <a:blip r:embed="rId2" cstate="print"/>
          <a:stretch>
            <a:fillRect/>
          </a:stretch>
        </p:blipFill>
        <p:spPr>
          <a:xfrm>
            <a:off x="1510308" y="1145381"/>
            <a:ext cx="6096000" cy="3429000"/>
          </a:xfrm>
          <a:prstGeom prst="rect">
            <a:avLst/>
          </a:prstGeom>
        </p:spPr>
      </p:pic>
      <p:sp>
        <p:nvSpPr>
          <p:cNvPr id="4" name="Footer Placeholder 3">
            <a:extLst>
              <a:ext uri="{FF2B5EF4-FFF2-40B4-BE49-F238E27FC236}">
                <a16:creationId xmlns:a16="http://schemas.microsoft.com/office/drawing/2014/main" id="{63A9D313-63CD-44F6-9FCC-81F690C48904}"/>
              </a:ext>
            </a:extLst>
          </p:cNvPr>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32566008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228" y="293288"/>
            <a:ext cx="6400800" cy="735413"/>
          </a:xfrm>
        </p:spPr>
        <p:txBody>
          <a:bodyPr>
            <a:normAutofit fontScale="90000"/>
          </a:bodyPr>
          <a:lstStyle/>
          <a:p>
            <a:r>
              <a:rPr lang="en-US" b="1" dirty="0">
                <a:solidFill>
                  <a:srgbClr val="7030A0"/>
                </a:solidFill>
              </a:rPr>
              <a:t>Supervised vs Unsupervised Machine Learning</a:t>
            </a:r>
          </a:p>
        </p:txBody>
      </p:sp>
      <p:sp>
        <p:nvSpPr>
          <p:cNvPr id="3" name="Content Placeholder 2"/>
          <p:cNvSpPr>
            <a:spLocks noGrp="1"/>
          </p:cNvSpPr>
          <p:nvPr>
            <p:ph idx="1"/>
          </p:nvPr>
        </p:nvSpPr>
        <p:spPr>
          <a:xfrm>
            <a:off x="1369314" y="1028701"/>
            <a:ext cx="6400800" cy="3714749"/>
          </a:xfrm>
        </p:spPr>
        <p:txBody>
          <a:bodyPr>
            <a:normAutofit fontScale="92500"/>
          </a:bodyPr>
          <a:lstStyle/>
          <a:p>
            <a:r>
              <a:rPr lang="en-US" dirty="0"/>
              <a:t>When the data we have is </a:t>
            </a:r>
            <a:r>
              <a:rPr lang="en-US" dirty="0">
                <a:solidFill>
                  <a:srgbClr val="1F16DA"/>
                </a:solidFill>
              </a:rPr>
              <a:t>labelled</a:t>
            </a:r>
            <a:r>
              <a:rPr lang="en-US" dirty="0"/>
              <a:t> and use it to train a ML model it is called </a:t>
            </a:r>
            <a:r>
              <a:rPr lang="en-US" dirty="0">
                <a:solidFill>
                  <a:srgbClr val="C00000"/>
                </a:solidFill>
              </a:rPr>
              <a:t>supervised</a:t>
            </a:r>
            <a:r>
              <a:rPr lang="en-US" dirty="0"/>
              <a:t> machine learning</a:t>
            </a:r>
          </a:p>
          <a:p>
            <a:pPr lvl="1"/>
            <a:r>
              <a:rPr lang="en-US" dirty="0"/>
              <a:t>Examples </a:t>
            </a:r>
          </a:p>
          <a:p>
            <a:pPr lvl="2"/>
            <a:r>
              <a:rPr lang="en-US" dirty="0">
                <a:solidFill>
                  <a:srgbClr val="1F16DA"/>
                </a:solidFill>
              </a:rPr>
              <a:t>Classification Problems</a:t>
            </a:r>
          </a:p>
          <a:p>
            <a:pPr lvl="3"/>
            <a:r>
              <a:rPr lang="en-US" dirty="0"/>
              <a:t>You have 1000s of labelled images of cats and dogs and train a ML model to classify a new image as cat or dog </a:t>
            </a:r>
          </a:p>
          <a:p>
            <a:r>
              <a:rPr lang="en-US" dirty="0"/>
              <a:t>When the data we have is </a:t>
            </a:r>
            <a:r>
              <a:rPr lang="en-US" dirty="0">
                <a:solidFill>
                  <a:srgbClr val="1F16DA"/>
                </a:solidFill>
              </a:rPr>
              <a:t>unlabeled</a:t>
            </a:r>
            <a:r>
              <a:rPr lang="en-US" dirty="0"/>
              <a:t> and use it to train a ML model it is called </a:t>
            </a:r>
            <a:r>
              <a:rPr lang="en-US" dirty="0">
                <a:solidFill>
                  <a:srgbClr val="C00000"/>
                </a:solidFill>
              </a:rPr>
              <a:t>unsupervised</a:t>
            </a:r>
            <a:r>
              <a:rPr lang="en-US" dirty="0"/>
              <a:t> machine learning</a:t>
            </a:r>
          </a:p>
          <a:p>
            <a:pPr lvl="1"/>
            <a:r>
              <a:rPr lang="en-US" dirty="0"/>
              <a:t>Examples</a:t>
            </a:r>
          </a:p>
          <a:p>
            <a:pPr lvl="2"/>
            <a:r>
              <a:rPr lang="en-US" dirty="0">
                <a:solidFill>
                  <a:srgbClr val="1F16DA"/>
                </a:solidFill>
              </a:rPr>
              <a:t>Clustering Problems</a:t>
            </a:r>
          </a:p>
          <a:p>
            <a:pPr lvl="3"/>
            <a:r>
              <a:rPr lang="en-US" dirty="0"/>
              <a:t>You have a data of customers and want to segment them into groups but don’t know which criteria to select, a clustering model can help cluster your customers into segments.</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5745318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71851" y="228601"/>
            <a:ext cx="2238602" cy="345946"/>
          </a:xfrm>
          <a:prstGeom prst="rect">
            <a:avLst/>
          </a:prstGeom>
        </p:spPr>
        <p:txBody>
          <a:bodyPr vert="horz" wrap="square" lIns="0" tIns="25481" rIns="0" bIns="0" rtlCol="0">
            <a:spAutoFit/>
          </a:bodyPr>
          <a:lstStyle/>
          <a:p>
            <a:pPr marL="18876">
              <a:spcBef>
                <a:spcPts val="201"/>
              </a:spcBef>
            </a:pPr>
            <a:r>
              <a:rPr sz="2081" spc="-82" dirty="0">
                <a:solidFill>
                  <a:srgbClr val="FF0000"/>
                </a:solidFill>
                <a:latin typeface="Tahoma"/>
                <a:cs typeface="Tahoma"/>
              </a:rPr>
              <a:t>Supervised</a:t>
            </a:r>
            <a:r>
              <a:rPr sz="2081" spc="-8" dirty="0">
                <a:solidFill>
                  <a:srgbClr val="FF0000"/>
                </a:solidFill>
                <a:latin typeface="Tahoma"/>
                <a:cs typeface="Tahoma"/>
              </a:rPr>
              <a:t> </a:t>
            </a:r>
            <a:r>
              <a:rPr sz="2081" spc="-74" dirty="0">
                <a:solidFill>
                  <a:srgbClr val="FF0000"/>
                </a:solidFill>
                <a:latin typeface="Tahoma"/>
                <a:cs typeface="Tahoma"/>
              </a:rPr>
              <a:t>Learning</a:t>
            </a:r>
            <a:endParaRPr sz="2081" dirty="0">
              <a:solidFill>
                <a:srgbClr val="FF0000"/>
              </a:solidFill>
              <a:latin typeface="Tahoma"/>
              <a:cs typeface="Tahoma"/>
            </a:endParaRPr>
          </a:p>
        </p:txBody>
      </p:sp>
      <p:pic>
        <p:nvPicPr>
          <p:cNvPr id="4" name="object 4"/>
          <p:cNvPicPr/>
          <p:nvPr/>
        </p:nvPicPr>
        <p:blipFill>
          <a:blip r:embed="rId2" cstate="print"/>
          <a:stretch>
            <a:fillRect/>
          </a:stretch>
        </p:blipFill>
        <p:spPr>
          <a:xfrm>
            <a:off x="2035375" y="1166550"/>
            <a:ext cx="5222675" cy="3114983"/>
          </a:xfrm>
          <a:prstGeom prst="rect">
            <a:avLst/>
          </a:prstGeom>
        </p:spPr>
      </p:pic>
      <p:sp>
        <p:nvSpPr>
          <p:cNvPr id="5" name="object 5"/>
          <p:cNvSpPr txBox="1"/>
          <p:nvPr/>
        </p:nvSpPr>
        <p:spPr>
          <a:xfrm>
            <a:off x="2035375" y="4281533"/>
            <a:ext cx="5071775" cy="246952"/>
          </a:xfrm>
          <a:prstGeom prst="rect">
            <a:avLst/>
          </a:prstGeom>
        </p:spPr>
        <p:txBody>
          <a:bodyPr vert="horz" wrap="square" lIns="0" tIns="17932" rIns="0" bIns="0" rtlCol="0">
            <a:spAutoFit/>
          </a:bodyPr>
          <a:lstStyle/>
          <a:p>
            <a:pPr marL="18876">
              <a:spcBef>
                <a:spcPts val="141"/>
              </a:spcBef>
            </a:pPr>
            <a:r>
              <a:rPr sz="1487" spc="-52" dirty="0">
                <a:solidFill>
                  <a:srgbClr val="35495F"/>
                </a:solidFill>
                <a:latin typeface="Microsoft Sans Serif"/>
                <a:cs typeface="Microsoft Sans Serif"/>
              </a:rPr>
              <a:t>Figure:</a:t>
            </a:r>
            <a:r>
              <a:rPr sz="1487" spc="97" dirty="0">
                <a:solidFill>
                  <a:srgbClr val="35495F"/>
                </a:solidFill>
                <a:latin typeface="Microsoft Sans Serif"/>
                <a:cs typeface="Microsoft Sans Serif"/>
              </a:rPr>
              <a:t> </a:t>
            </a:r>
            <a:r>
              <a:rPr sz="1487" spc="-89" dirty="0">
                <a:latin typeface="Microsoft Sans Serif"/>
                <a:cs typeface="Microsoft Sans Serif"/>
              </a:rPr>
              <a:t>Supervised</a:t>
            </a:r>
            <a:r>
              <a:rPr sz="1487" spc="104" dirty="0">
                <a:latin typeface="Microsoft Sans Serif"/>
                <a:cs typeface="Microsoft Sans Serif"/>
              </a:rPr>
              <a:t> </a:t>
            </a:r>
            <a:r>
              <a:rPr sz="1487" spc="-74" dirty="0">
                <a:latin typeface="Microsoft Sans Serif"/>
                <a:cs typeface="Microsoft Sans Serif"/>
              </a:rPr>
              <a:t>Learning</a:t>
            </a:r>
            <a:r>
              <a:rPr sz="1487" spc="97" dirty="0">
                <a:latin typeface="Microsoft Sans Serif"/>
                <a:cs typeface="Microsoft Sans Serif"/>
              </a:rPr>
              <a:t> </a:t>
            </a:r>
            <a:r>
              <a:rPr sz="1487" spc="-67" dirty="0">
                <a:latin typeface="Microsoft Sans Serif"/>
                <a:cs typeface="Microsoft Sans Serif"/>
              </a:rPr>
              <a:t>(Source:</a:t>
            </a:r>
            <a:r>
              <a:rPr sz="1487" spc="268" dirty="0">
                <a:latin typeface="Microsoft Sans Serif"/>
                <a:cs typeface="Microsoft Sans Serif"/>
              </a:rPr>
              <a:t> </a:t>
            </a:r>
            <a:r>
              <a:rPr sz="1487" spc="-74" dirty="0">
                <a:latin typeface="Microsoft Sans Serif"/>
                <a:cs typeface="Microsoft Sans Serif"/>
              </a:rPr>
              <a:t>TowardsDataScience.com)</a:t>
            </a:r>
            <a:endParaRPr sz="1487" dirty="0">
              <a:latin typeface="Microsoft Sans Serif"/>
              <a:cs typeface="Microsoft Sans Serif"/>
            </a:endParaRPr>
          </a:p>
        </p:txBody>
      </p:sp>
      <p:sp>
        <p:nvSpPr>
          <p:cNvPr id="6" name="Footer Placeholder 5"/>
          <p:cNvSpPr>
            <a:spLocks noGrp="1"/>
          </p:cNvSpPr>
          <p:nvPr>
            <p:ph type="ftr" sz="quarter" idx="4294967295"/>
          </p:nvPr>
        </p:nvSpPr>
        <p:spPr/>
        <p:txBody>
          <a:bodyPr/>
          <a:lstStyle/>
          <a:p>
            <a:r>
              <a:rPr lang="en-US" smtClean="0"/>
              <a:t>Introduction to ML</a:t>
            </a:r>
            <a:endParaRPr lang="en-US" dirty="0"/>
          </a:p>
        </p:txBody>
      </p:sp>
    </p:spTree>
    <p:extLst>
      <p:ext uri="{BB962C8B-B14F-4D97-AF65-F5344CB8AC3E}">
        <p14:creationId xmlns:p14="http://schemas.microsoft.com/office/powerpoint/2010/main" val="174246257"/>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4D09C-A353-43BE-8B5D-1C72525CA501}"/>
              </a:ext>
            </a:extLst>
          </p:cNvPr>
          <p:cNvSpPr>
            <a:spLocks noGrp="1"/>
          </p:cNvSpPr>
          <p:nvPr>
            <p:ph type="title"/>
          </p:nvPr>
        </p:nvSpPr>
        <p:spPr/>
        <p:txBody>
          <a:bodyPr>
            <a:normAutofit fontScale="90000"/>
          </a:bodyPr>
          <a:lstStyle/>
          <a:p>
            <a:r>
              <a:rPr lang="en-IN" dirty="0" smtClean="0">
                <a:solidFill>
                  <a:schemeClr val="tx1"/>
                </a:solidFill>
              </a:rPr>
              <a:t>Typical Training process of a ML Model</a:t>
            </a:r>
            <a:endParaRPr lang="en-IN" dirty="0">
              <a:solidFill>
                <a:schemeClr val="tx1"/>
              </a:solidFill>
            </a:endParaRPr>
          </a:p>
        </p:txBody>
      </p:sp>
      <p:sp>
        <p:nvSpPr>
          <p:cNvPr id="4" name="Footer Placeholder 3">
            <a:extLst>
              <a:ext uri="{FF2B5EF4-FFF2-40B4-BE49-F238E27FC236}">
                <a16:creationId xmlns:a16="http://schemas.microsoft.com/office/drawing/2014/main" id="{7CFB3FF8-934E-4C4F-ABB9-E834D32DDDB3}"/>
              </a:ext>
            </a:extLst>
          </p:cNvPr>
          <p:cNvSpPr>
            <a:spLocks noGrp="1"/>
          </p:cNvSpPr>
          <p:nvPr>
            <p:ph type="ftr" sz="quarter" idx="11"/>
          </p:nvPr>
        </p:nvSpPr>
        <p:spPr/>
        <p:txBody>
          <a:bodyPr/>
          <a:lstStyle/>
          <a:p>
            <a:r>
              <a:rPr lang="en-US" smtClean="0"/>
              <a:t>Introduction to ML</a:t>
            </a:r>
            <a:endParaRPr lang="en-US" dirty="0"/>
          </a:p>
        </p:txBody>
      </p:sp>
      <p:pic>
        <p:nvPicPr>
          <p:cNvPr id="7" name="Content Placeholder 6">
            <a:extLst>
              <a:ext uri="{FF2B5EF4-FFF2-40B4-BE49-F238E27FC236}">
                <a16:creationId xmlns:a16="http://schemas.microsoft.com/office/drawing/2014/main" id="{6618691D-FF6D-46B1-AC20-E778EB9CD0E7}"/>
              </a:ext>
            </a:extLst>
          </p:cNvPr>
          <p:cNvPicPr>
            <a:picLocks noGrp="1" noChangeAspect="1"/>
          </p:cNvPicPr>
          <p:nvPr>
            <p:ph sz="quarter" idx="1"/>
          </p:nvPr>
        </p:nvPicPr>
        <p:blipFill>
          <a:blip r:embed="rId2"/>
          <a:stretch>
            <a:fillRect/>
          </a:stretch>
        </p:blipFill>
        <p:spPr>
          <a:xfrm>
            <a:off x="1462537" y="1623938"/>
            <a:ext cx="5798302" cy="3060896"/>
          </a:xfrm>
          <a:prstGeom prst="rect">
            <a:avLst/>
          </a:prstGeom>
        </p:spPr>
      </p:pic>
    </p:spTree>
    <p:extLst>
      <p:ext uri="{BB962C8B-B14F-4D97-AF65-F5344CB8AC3E}">
        <p14:creationId xmlns:p14="http://schemas.microsoft.com/office/powerpoint/2010/main" val="4337655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AF942-193B-4DC3-8FD5-08BA0230550E}"/>
              </a:ext>
            </a:extLst>
          </p:cNvPr>
          <p:cNvSpPr>
            <a:spLocks noGrp="1"/>
          </p:cNvSpPr>
          <p:nvPr>
            <p:ph type="title"/>
          </p:nvPr>
        </p:nvSpPr>
        <p:spPr/>
        <p:txBody>
          <a:bodyPr>
            <a:normAutofit fontScale="90000"/>
          </a:bodyPr>
          <a:lstStyle/>
          <a:p>
            <a:r>
              <a:rPr lang="en-US" dirty="0"/>
              <a:t>Train – test splitting</a:t>
            </a:r>
            <a:endParaRPr lang="en-IN" dirty="0"/>
          </a:p>
        </p:txBody>
      </p:sp>
      <p:sp>
        <p:nvSpPr>
          <p:cNvPr id="4" name="Footer Placeholder 3">
            <a:extLst>
              <a:ext uri="{FF2B5EF4-FFF2-40B4-BE49-F238E27FC236}">
                <a16:creationId xmlns:a16="http://schemas.microsoft.com/office/drawing/2014/main" id="{FE6D2008-C815-4054-99D0-5BC0B78F6415}"/>
              </a:ext>
            </a:extLst>
          </p:cNvPr>
          <p:cNvSpPr>
            <a:spLocks noGrp="1"/>
          </p:cNvSpPr>
          <p:nvPr>
            <p:ph type="ftr" sz="quarter" idx="11"/>
          </p:nvPr>
        </p:nvSpPr>
        <p:spPr/>
        <p:txBody>
          <a:bodyPr/>
          <a:lstStyle/>
          <a:p>
            <a:r>
              <a:rPr lang="en-US" smtClean="0"/>
              <a:t>Introduction to ML</a:t>
            </a:r>
            <a:endParaRPr lang="en-US" dirty="0"/>
          </a:p>
        </p:txBody>
      </p:sp>
      <p:pic>
        <p:nvPicPr>
          <p:cNvPr id="7" name="Content Placeholder 6">
            <a:extLst>
              <a:ext uri="{FF2B5EF4-FFF2-40B4-BE49-F238E27FC236}">
                <a16:creationId xmlns:a16="http://schemas.microsoft.com/office/drawing/2014/main" id="{D1C67AA6-8F84-4761-A32C-929D6A7EB487}"/>
              </a:ext>
            </a:extLst>
          </p:cNvPr>
          <p:cNvPicPr>
            <a:picLocks noGrp="1" noChangeAspect="1"/>
          </p:cNvPicPr>
          <p:nvPr>
            <p:ph sz="quarter" idx="1"/>
          </p:nvPr>
        </p:nvPicPr>
        <p:blipFill>
          <a:blip r:embed="rId2"/>
          <a:stretch>
            <a:fillRect/>
          </a:stretch>
        </p:blipFill>
        <p:spPr>
          <a:xfrm>
            <a:off x="1233377" y="1565935"/>
            <a:ext cx="5563422" cy="2869170"/>
          </a:xfrm>
          <a:prstGeom prst="rect">
            <a:avLst/>
          </a:prstGeom>
        </p:spPr>
      </p:pic>
    </p:spTree>
    <p:extLst>
      <p:ext uri="{BB962C8B-B14F-4D97-AF65-F5344CB8AC3E}">
        <p14:creationId xmlns:p14="http://schemas.microsoft.com/office/powerpoint/2010/main" val="26176449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763312" y="2071847"/>
            <a:ext cx="1340891" cy="942638"/>
          </a:xfrm>
          <a:custGeom>
            <a:avLst/>
            <a:gdLst/>
            <a:ahLst/>
            <a:cxnLst/>
            <a:rect l="l" t="t" r="r" b="b"/>
            <a:pathLst>
              <a:path w="2948304" h="2072640">
                <a:moveTo>
                  <a:pt x="2947958" y="0"/>
                </a:moveTo>
                <a:lnTo>
                  <a:pt x="0" y="0"/>
                </a:lnTo>
                <a:lnTo>
                  <a:pt x="0" y="2072522"/>
                </a:lnTo>
                <a:lnTo>
                  <a:pt x="2947958" y="2072522"/>
                </a:lnTo>
                <a:lnTo>
                  <a:pt x="2947958" y="0"/>
                </a:lnTo>
                <a:close/>
              </a:path>
            </a:pathLst>
          </a:custGeom>
          <a:solidFill>
            <a:srgbClr val="F0B500"/>
          </a:solidFill>
        </p:spPr>
        <p:txBody>
          <a:bodyPr wrap="square" lIns="0" tIns="0" rIns="0" bIns="0" rtlCol="0"/>
          <a:lstStyle/>
          <a:p>
            <a:endParaRPr sz="637"/>
          </a:p>
        </p:txBody>
      </p:sp>
      <p:sp>
        <p:nvSpPr>
          <p:cNvPr id="5" name="object 5"/>
          <p:cNvSpPr txBox="1"/>
          <p:nvPr/>
        </p:nvSpPr>
        <p:spPr>
          <a:xfrm>
            <a:off x="3199319" y="2444187"/>
            <a:ext cx="468720" cy="189783"/>
          </a:xfrm>
          <a:prstGeom prst="rect">
            <a:avLst/>
          </a:prstGeom>
        </p:spPr>
        <p:txBody>
          <a:bodyPr vert="horz" wrap="square" lIns="0" tIns="7798" rIns="0" bIns="0" rtlCol="0">
            <a:spAutoFit/>
          </a:bodyPr>
          <a:lstStyle/>
          <a:p>
            <a:pPr marL="5776">
              <a:spcBef>
                <a:spcPts val="61"/>
              </a:spcBef>
            </a:pPr>
            <a:r>
              <a:rPr sz="1182" spc="-5" dirty="0">
                <a:solidFill>
                  <a:srgbClr val="FFFFFF"/>
                </a:solidFill>
                <a:latin typeface="Courier New"/>
                <a:cs typeface="Courier New"/>
              </a:rPr>
              <a:t>Model</a:t>
            </a:r>
            <a:endParaRPr sz="1182">
              <a:latin typeface="Courier New"/>
              <a:cs typeface="Courier New"/>
            </a:endParaRPr>
          </a:p>
        </p:txBody>
      </p:sp>
      <p:sp>
        <p:nvSpPr>
          <p:cNvPr id="6" name="object 6"/>
          <p:cNvSpPr/>
          <p:nvPr/>
        </p:nvSpPr>
        <p:spPr>
          <a:xfrm>
            <a:off x="759257" y="3368555"/>
            <a:ext cx="1644418" cy="780333"/>
          </a:xfrm>
          <a:custGeom>
            <a:avLst/>
            <a:gdLst/>
            <a:ahLst/>
            <a:cxnLst/>
            <a:rect l="l" t="t" r="r" b="b"/>
            <a:pathLst>
              <a:path w="3615690" h="1715770">
                <a:moveTo>
                  <a:pt x="3615274" y="0"/>
                </a:moveTo>
                <a:lnTo>
                  <a:pt x="776436" y="0"/>
                </a:lnTo>
                <a:lnTo>
                  <a:pt x="0" y="1715560"/>
                </a:lnTo>
                <a:lnTo>
                  <a:pt x="2838837" y="1715560"/>
                </a:lnTo>
                <a:lnTo>
                  <a:pt x="3615274" y="0"/>
                </a:lnTo>
                <a:close/>
              </a:path>
            </a:pathLst>
          </a:custGeom>
          <a:solidFill>
            <a:srgbClr val="2CA14A"/>
          </a:solidFill>
        </p:spPr>
        <p:txBody>
          <a:bodyPr wrap="square" lIns="0" tIns="0" rIns="0" bIns="0" rtlCol="0"/>
          <a:lstStyle/>
          <a:p>
            <a:endParaRPr sz="637"/>
          </a:p>
        </p:txBody>
      </p:sp>
      <p:sp>
        <p:nvSpPr>
          <p:cNvPr id="7" name="object 7"/>
          <p:cNvSpPr txBox="1"/>
          <p:nvPr/>
        </p:nvSpPr>
        <p:spPr>
          <a:xfrm>
            <a:off x="1255391" y="3657557"/>
            <a:ext cx="651818" cy="189783"/>
          </a:xfrm>
          <a:prstGeom prst="rect">
            <a:avLst/>
          </a:prstGeom>
        </p:spPr>
        <p:txBody>
          <a:bodyPr vert="horz" wrap="square" lIns="0" tIns="7798" rIns="0" bIns="0" rtlCol="0">
            <a:spAutoFit/>
          </a:bodyPr>
          <a:lstStyle/>
          <a:p>
            <a:pPr marL="5776">
              <a:spcBef>
                <a:spcPts val="61"/>
              </a:spcBef>
            </a:pPr>
            <a:r>
              <a:rPr sz="1182" spc="-5" dirty="0">
                <a:solidFill>
                  <a:srgbClr val="FFFFFF"/>
                </a:solidFill>
                <a:latin typeface="Courier New"/>
                <a:cs typeface="Courier New"/>
              </a:rPr>
              <a:t>Dataset</a:t>
            </a:r>
            <a:endParaRPr sz="1182">
              <a:latin typeface="Courier New"/>
              <a:cs typeface="Courier New"/>
            </a:endParaRPr>
          </a:p>
        </p:txBody>
      </p:sp>
      <p:grpSp>
        <p:nvGrpSpPr>
          <p:cNvPr id="8" name="object 8"/>
          <p:cNvGrpSpPr/>
          <p:nvPr/>
        </p:nvGrpSpPr>
        <p:grpSpPr>
          <a:xfrm>
            <a:off x="1576610" y="2520280"/>
            <a:ext cx="978738" cy="686763"/>
            <a:chOff x="3465889" y="5541506"/>
            <a:chExt cx="2152015" cy="1510030"/>
          </a:xfrm>
        </p:grpSpPr>
        <p:sp>
          <p:nvSpPr>
            <p:cNvPr id="9" name="object 9"/>
            <p:cNvSpPr/>
            <p:nvPr/>
          </p:nvSpPr>
          <p:spPr>
            <a:xfrm>
              <a:off x="3479613" y="5591766"/>
              <a:ext cx="2047875" cy="0"/>
            </a:xfrm>
            <a:custGeom>
              <a:avLst/>
              <a:gdLst/>
              <a:ahLst/>
              <a:cxnLst/>
              <a:rect l="l" t="t" r="r" b="b"/>
              <a:pathLst>
                <a:path w="2047875">
                  <a:moveTo>
                    <a:pt x="0" y="0"/>
                  </a:moveTo>
                  <a:lnTo>
                    <a:pt x="2037228" y="0"/>
                  </a:lnTo>
                  <a:lnTo>
                    <a:pt x="2047698" y="0"/>
                  </a:lnTo>
                </a:path>
              </a:pathLst>
            </a:custGeom>
            <a:ln w="20941">
              <a:solidFill>
                <a:srgbClr val="000000"/>
              </a:solidFill>
            </a:ln>
          </p:spPr>
          <p:txBody>
            <a:bodyPr wrap="square" lIns="0" tIns="0" rIns="0" bIns="0" rtlCol="0"/>
            <a:lstStyle/>
            <a:p>
              <a:endParaRPr sz="637"/>
            </a:p>
          </p:txBody>
        </p:sp>
        <p:sp>
          <p:nvSpPr>
            <p:cNvPr id="10" name="object 10"/>
            <p:cNvSpPr/>
            <p:nvPr/>
          </p:nvSpPr>
          <p:spPr>
            <a:xfrm>
              <a:off x="5516841" y="5541506"/>
              <a:ext cx="100965" cy="100965"/>
            </a:xfrm>
            <a:custGeom>
              <a:avLst/>
              <a:gdLst/>
              <a:ahLst/>
              <a:cxnLst/>
              <a:rect l="l" t="t" r="r" b="b"/>
              <a:pathLst>
                <a:path w="100964" h="100964">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sp>
          <p:nvSpPr>
            <p:cNvPr id="11" name="object 11"/>
            <p:cNvSpPr/>
            <p:nvPr/>
          </p:nvSpPr>
          <p:spPr>
            <a:xfrm>
              <a:off x="3476360" y="5585265"/>
              <a:ext cx="0" cy="1466215"/>
            </a:xfrm>
            <a:custGeom>
              <a:avLst/>
              <a:gdLst/>
              <a:ahLst/>
              <a:cxnLst/>
              <a:rect l="l" t="t" r="r" b="b"/>
              <a:pathLst>
                <a:path h="1466215">
                  <a:moveTo>
                    <a:pt x="0" y="1465923"/>
                  </a:moveTo>
                  <a:lnTo>
                    <a:pt x="0" y="0"/>
                  </a:lnTo>
                </a:path>
              </a:pathLst>
            </a:custGeom>
            <a:ln w="20941">
              <a:solidFill>
                <a:srgbClr val="000000"/>
              </a:solidFill>
            </a:ln>
          </p:spPr>
          <p:txBody>
            <a:bodyPr wrap="square" lIns="0" tIns="0" rIns="0" bIns="0" rtlCol="0"/>
            <a:lstStyle/>
            <a:p>
              <a:endParaRPr sz="637"/>
            </a:p>
          </p:txBody>
        </p:sp>
      </p:grpSp>
      <p:grpSp>
        <p:nvGrpSpPr>
          <p:cNvPr id="12" name="object 12"/>
          <p:cNvGrpSpPr/>
          <p:nvPr/>
        </p:nvGrpSpPr>
        <p:grpSpPr>
          <a:xfrm>
            <a:off x="4314271" y="2520281"/>
            <a:ext cx="732682" cy="45919"/>
            <a:chOff x="9485364" y="5541506"/>
            <a:chExt cx="1610995" cy="100965"/>
          </a:xfrm>
        </p:grpSpPr>
        <p:sp>
          <p:nvSpPr>
            <p:cNvPr id="13" name="object 13"/>
            <p:cNvSpPr/>
            <p:nvPr/>
          </p:nvSpPr>
          <p:spPr>
            <a:xfrm>
              <a:off x="9485364" y="5591766"/>
              <a:ext cx="1521460" cy="0"/>
            </a:xfrm>
            <a:custGeom>
              <a:avLst/>
              <a:gdLst/>
              <a:ahLst/>
              <a:cxnLst/>
              <a:rect l="l" t="t" r="r" b="b"/>
              <a:pathLst>
                <a:path w="1521459">
                  <a:moveTo>
                    <a:pt x="0" y="0"/>
                  </a:moveTo>
                  <a:lnTo>
                    <a:pt x="1510482" y="0"/>
                  </a:lnTo>
                  <a:lnTo>
                    <a:pt x="1520953" y="0"/>
                  </a:lnTo>
                </a:path>
              </a:pathLst>
            </a:custGeom>
            <a:ln w="20941">
              <a:solidFill>
                <a:srgbClr val="000000"/>
              </a:solidFill>
            </a:ln>
          </p:spPr>
          <p:txBody>
            <a:bodyPr wrap="square" lIns="0" tIns="0" rIns="0" bIns="0" rtlCol="0"/>
            <a:lstStyle/>
            <a:p>
              <a:endParaRPr sz="637"/>
            </a:p>
          </p:txBody>
        </p:sp>
        <p:sp>
          <p:nvSpPr>
            <p:cNvPr id="14" name="object 14"/>
            <p:cNvSpPr/>
            <p:nvPr/>
          </p:nvSpPr>
          <p:spPr>
            <a:xfrm>
              <a:off x="10995842" y="5541506"/>
              <a:ext cx="100965" cy="100965"/>
            </a:xfrm>
            <a:custGeom>
              <a:avLst/>
              <a:gdLst/>
              <a:ahLst/>
              <a:cxnLst/>
              <a:rect l="l" t="t" r="r" b="b"/>
              <a:pathLst>
                <a:path w="100965" h="100964">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grpSp>
      <p:sp>
        <p:nvSpPr>
          <p:cNvPr id="15" name="object 15"/>
          <p:cNvSpPr/>
          <p:nvPr/>
        </p:nvSpPr>
        <p:spPr>
          <a:xfrm>
            <a:off x="5126973" y="2305031"/>
            <a:ext cx="1128624" cy="476229"/>
          </a:xfrm>
          <a:custGeom>
            <a:avLst/>
            <a:gdLst/>
            <a:ahLst/>
            <a:cxnLst/>
            <a:rect l="l" t="t" r="r" b="b"/>
            <a:pathLst>
              <a:path w="2481580" h="1047114">
                <a:moveTo>
                  <a:pt x="2241073" y="0"/>
                </a:moveTo>
                <a:lnTo>
                  <a:pt x="240097" y="0"/>
                </a:lnTo>
                <a:lnTo>
                  <a:pt x="192318" y="183"/>
                </a:lnTo>
                <a:lnTo>
                  <a:pt x="153787" y="1470"/>
                </a:lnTo>
                <a:lnTo>
                  <a:pt x="99180" y="11766"/>
                </a:lnTo>
                <a:lnTo>
                  <a:pt x="45778" y="45785"/>
                </a:lnTo>
                <a:lnTo>
                  <a:pt x="11758" y="99184"/>
                </a:lnTo>
                <a:lnTo>
                  <a:pt x="1469" y="153788"/>
                </a:lnTo>
                <a:lnTo>
                  <a:pt x="183" y="192319"/>
                </a:lnTo>
                <a:lnTo>
                  <a:pt x="0" y="240097"/>
                </a:lnTo>
                <a:lnTo>
                  <a:pt x="0" y="806992"/>
                </a:lnTo>
                <a:lnTo>
                  <a:pt x="183" y="854769"/>
                </a:lnTo>
                <a:lnTo>
                  <a:pt x="1469" y="893300"/>
                </a:lnTo>
                <a:lnTo>
                  <a:pt x="11758" y="947904"/>
                </a:lnTo>
                <a:lnTo>
                  <a:pt x="45778" y="1001303"/>
                </a:lnTo>
                <a:lnTo>
                  <a:pt x="99180" y="1035323"/>
                </a:lnTo>
                <a:lnTo>
                  <a:pt x="153787" y="1045617"/>
                </a:lnTo>
                <a:lnTo>
                  <a:pt x="192318" y="1046904"/>
                </a:lnTo>
                <a:lnTo>
                  <a:pt x="240097" y="1047088"/>
                </a:lnTo>
                <a:lnTo>
                  <a:pt x="2241073" y="1047088"/>
                </a:lnTo>
                <a:lnTo>
                  <a:pt x="2288847" y="1046904"/>
                </a:lnTo>
                <a:lnTo>
                  <a:pt x="2327378" y="1045617"/>
                </a:lnTo>
                <a:lnTo>
                  <a:pt x="2381979" y="1035323"/>
                </a:lnTo>
                <a:lnTo>
                  <a:pt x="2435381" y="1001303"/>
                </a:lnTo>
                <a:lnTo>
                  <a:pt x="2469401" y="947904"/>
                </a:lnTo>
                <a:lnTo>
                  <a:pt x="2479699" y="893300"/>
                </a:lnTo>
                <a:lnTo>
                  <a:pt x="2480986" y="854769"/>
                </a:lnTo>
                <a:lnTo>
                  <a:pt x="2481170" y="806992"/>
                </a:lnTo>
                <a:lnTo>
                  <a:pt x="2481170" y="240097"/>
                </a:lnTo>
                <a:lnTo>
                  <a:pt x="2480986" y="192319"/>
                </a:lnTo>
                <a:lnTo>
                  <a:pt x="2479699" y="153788"/>
                </a:lnTo>
                <a:lnTo>
                  <a:pt x="2469401" y="99184"/>
                </a:lnTo>
                <a:lnTo>
                  <a:pt x="2435381" y="45785"/>
                </a:lnTo>
                <a:lnTo>
                  <a:pt x="2381979" y="11766"/>
                </a:lnTo>
                <a:lnTo>
                  <a:pt x="2327378" y="1470"/>
                </a:lnTo>
                <a:lnTo>
                  <a:pt x="2288847" y="183"/>
                </a:lnTo>
                <a:lnTo>
                  <a:pt x="2241073" y="0"/>
                </a:lnTo>
                <a:close/>
              </a:path>
            </a:pathLst>
          </a:custGeom>
          <a:solidFill>
            <a:srgbClr val="929292"/>
          </a:solidFill>
        </p:spPr>
        <p:txBody>
          <a:bodyPr wrap="square" lIns="0" tIns="0" rIns="0" bIns="0" rtlCol="0"/>
          <a:lstStyle/>
          <a:p>
            <a:endParaRPr sz="637"/>
          </a:p>
        </p:txBody>
      </p:sp>
      <p:sp>
        <p:nvSpPr>
          <p:cNvPr id="16" name="object 16"/>
          <p:cNvSpPr txBox="1"/>
          <p:nvPr/>
        </p:nvSpPr>
        <p:spPr>
          <a:xfrm>
            <a:off x="5228270" y="2441904"/>
            <a:ext cx="925888" cy="189783"/>
          </a:xfrm>
          <a:prstGeom prst="rect">
            <a:avLst/>
          </a:prstGeom>
        </p:spPr>
        <p:txBody>
          <a:bodyPr vert="horz" wrap="square" lIns="0" tIns="7798" rIns="0" bIns="0" rtlCol="0">
            <a:spAutoFit/>
          </a:bodyPr>
          <a:lstStyle/>
          <a:p>
            <a:pPr marL="5776">
              <a:spcBef>
                <a:spcPts val="61"/>
              </a:spcBef>
            </a:pPr>
            <a:r>
              <a:rPr sz="1182" spc="-5" dirty="0">
                <a:solidFill>
                  <a:srgbClr val="FFFFFF"/>
                </a:solidFill>
                <a:latin typeface="Courier New"/>
                <a:cs typeface="Courier New"/>
              </a:rPr>
              <a:t>Prediction</a:t>
            </a:r>
            <a:endParaRPr sz="1182">
              <a:latin typeface="Courier New"/>
              <a:cs typeface="Courier New"/>
            </a:endParaRPr>
          </a:p>
        </p:txBody>
      </p:sp>
      <p:grpSp>
        <p:nvGrpSpPr>
          <p:cNvPr id="17" name="object 17"/>
          <p:cNvGrpSpPr/>
          <p:nvPr/>
        </p:nvGrpSpPr>
        <p:grpSpPr>
          <a:xfrm>
            <a:off x="2332151" y="3874534"/>
            <a:ext cx="2700843" cy="45919"/>
            <a:chOff x="5127148" y="8519190"/>
            <a:chExt cx="5938520" cy="100965"/>
          </a:xfrm>
        </p:grpSpPr>
        <p:sp>
          <p:nvSpPr>
            <p:cNvPr id="18" name="object 18"/>
            <p:cNvSpPr/>
            <p:nvPr/>
          </p:nvSpPr>
          <p:spPr>
            <a:xfrm>
              <a:off x="5127148" y="8569450"/>
              <a:ext cx="5848350" cy="0"/>
            </a:xfrm>
            <a:custGeom>
              <a:avLst/>
              <a:gdLst/>
              <a:ahLst/>
              <a:cxnLst/>
              <a:rect l="l" t="t" r="r" b="b"/>
              <a:pathLst>
                <a:path w="5848350">
                  <a:moveTo>
                    <a:pt x="0" y="0"/>
                  </a:moveTo>
                  <a:lnTo>
                    <a:pt x="5837834" y="0"/>
                  </a:lnTo>
                  <a:lnTo>
                    <a:pt x="5848305" y="0"/>
                  </a:lnTo>
                </a:path>
              </a:pathLst>
            </a:custGeom>
            <a:ln w="20941">
              <a:solidFill>
                <a:srgbClr val="000000"/>
              </a:solidFill>
            </a:ln>
          </p:spPr>
          <p:txBody>
            <a:bodyPr wrap="square" lIns="0" tIns="0" rIns="0" bIns="0" rtlCol="0"/>
            <a:lstStyle/>
            <a:p>
              <a:endParaRPr sz="637"/>
            </a:p>
          </p:txBody>
        </p:sp>
        <p:sp>
          <p:nvSpPr>
            <p:cNvPr id="19" name="object 19"/>
            <p:cNvSpPr/>
            <p:nvPr/>
          </p:nvSpPr>
          <p:spPr>
            <a:xfrm>
              <a:off x="10964985" y="8519190"/>
              <a:ext cx="100965" cy="100965"/>
            </a:xfrm>
            <a:custGeom>
              <a:avLst/>
              <a:gdLst/>
              <a:ahLst/>
              <a:cxnLst/>
              <a:rect l="l" t="t" r="r" b="b"/>
              <a:pathLst>
                <a:path w="100965" h="100965">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grpSp>
      <p:sp>
        <p:nvSpPr>
          <p:cNvPr id="20" name="object 20"/>
          <p:cNvSpPr/>
          <p:nvPr/>
        </p:nvSpPr>
        <p:spPr>
          <a:xfrm>
            <a:off x="5205064" y="3426099"/>
            <a:ext cx="972384" cy="942638"/>
          </a:xfrm>
          <a:custGeom>
            <a:avLst/>
            <a:gdLst/>
            <a:ahLst/>
            <a:cxnLst/>
            <a:rect l="l" t="t" r="r" b="b"/>
            <a:pathLst>
              <a:path w="2138044" h="2072640">
                <a:moveTo>
                  <a:pt x="1068875" y="0"/>
                </a:moveTo>
                <a:lnTo>
                  <a:pt x="1023295" y="936"/>
                </a:lnTo>
                <a:lnTo>
                  <a:pt x="977781" y="3747"/>
                </a:lnTo>
                <a:lnTo>
                  <a:pt x="932401" y="8430"/>
                </a:lnTo>
                <a:lnTo>
                  <a:pt x="887221" y="14988"/>
                </a:lnTo>
                <a:lnTo>
                  <a:pt x="842307" y="23419"/>
                </a:lnTo>
                <a:lnTo>
                  <a:pt x="797727" y="33723"/>
                </a:lnTo>
                <a:lnTo>
                  <a:pt x="753548" y="45901"/>
                </a:lnTo>
                <a:lnTo>
                  <a:pt x="709835" y="59953"/>
                </a:lnTo>
                <a:lnTo>
                  <a:pt x="666656" y="75878"/>
                </a:lnTo>
                <a:lnTo>
                  <a:pt x="624078" y="93677"/>
                </a:lnTo>
                <a:lnTo>
                  <a:pt x="582166" y="113349"/>
                </a:lnTo>
                <a:lnTo>
                  <a:pt x="540988" y="134895"/>
                </a:lnTo>
                <a:lnTo>
                  <a:pt x="500611" y="158314"/>
                </a:lnTo>
                <a:lnTo>
                  <a:pt x="461101" y="183607"/>
                </a:lnTo>
                <a:lnTo>
                  <a:pt x="422524" y="210773"/>
                </a:lnTo>
                <a:lnTo>
                  <a:pt x="384949" y="239813"/>
                </a:lnTo>
                <a:lnTo>
                  <a:pt x="348440" y="270726"/>
                </a:lnTo>
                <a:lnTo>
                  <a:pt x="313066" y="303513"/>
                </a:lnTo>
                <a:lnTo>
                  <a:pt x="279247" y="337808"/>
                </a:lnTo>
                <a:lnTo>
                  <a:pt x="247361" y="373203"/>
                </a:lnTo>
                <a:lnTo>
                  <a:pt x="217407" y="409632"/>
                </a:lnTo>
                <a:lnTo>
                  <a:pt x="189385" y="447031"/>
                </a:lnTo>
                <a:lnTo>
                  <a:pt x="163296" y="485336"/>
                </a:lnTo>
                <a:lnTo>
                  <a:pt x="139140" y="524481"/>
                </a:lnTo>
                <a:lnTo>
                  <a:pt x="116916" y="564402"/>
                </a:lnTo>
                <a:lnTo>
                  <a:pt x="96625" y="605035"/>
                </a:lnTo>
                <a:lnTo>
                  <a:pt x="78266" y="646315"/>
                </a:lnTo>
                <a:lnTo>
                  <a:pt x="61840" y="688176"/>
                </a:lnTo>
                <a:lnTo>
                  <a:pt x="47346" y="730555"/>
                </a:lnTo>
                <a:lnTo>
                  <a:pt x="34785" y="773386"/>
                </a:lnTo>
                <a:lnTo>
                  <a:pt x="24156" y="816606"/>
                </a:lnTo>
                <a:lnTo>
                  <a:pt x="15460" y="860149"/>
                </a:lnTo>
                <a:lnTo>
                  <a:pt x="8696" y="903950"/>
                </a:lnTo>
                <a:lnTo>
                  <a:pt x="3865" y="947946"/>
                </a:lnTo>
                <a:lnTo>
                  <a:pt x="966" y="992071"/>
                </a:lnTo>
                <a:lnTo>
                  <a:pt x="0" y="1036261"/>
                </a:lnTo>
                <a:lnTo>
                  <a:pt x="966" y="1080450"/>
                </a:lnTo>
                <a:lnTo>
                  <a:pt x="3865" y="1124575"/>
                </a:lnTo>
                <a:lnTo>
                  <a:pt x="8696" y="1168571"/>
                </a:lnTo>
                <a:lnTo>
                  <a:pt x="15460" y="1212372"/>
                </a:lnTo>
                <a:lnTo>
                  <a:pt x="24156" y="1255915"/>
                </a:lnTo>
                <a:lnTo>
                  <a:pt x="34785" y="1299135"/>
                </a:lnTo>
                <a:lnTo>
                  <a:pt x="47346" y="1341966"/>
                </a:lnTo>
                <a:lnTo>
                  <a:pt x="61840" y="1384345"/>
                </a:lnTo>
                <a:lnTo>
                  <a:pt x="78266" y="1426207"/>
                </a:lnTo>
                <a:lnTo>
                  <a:pt x="96625" y="1467486"/>
                </a:lnTo>
                <a:lnTo>
                  <a:pt x="116916" y="1508119"/>
                </a:lnTo>
                <a:lnTo>
                  <a:pt x="139140" y="1548040"/>
                </a:lnTo>
                <a:lnTo>
                  <a:pt x="163296" y="1587186"/>
                </a:lnTo>
                <a:lnTo>
                  <a:pt x="189385" y="1625490"/>
                </a:lnTo>
                <a:lnTo>
                  <a:pt x="217407" y="1662889"/>
                </a:lnTo>
                <a:lnTo>
                  <a:pt x="247361" y="1699319"/>
                </a:lnTo>
                <a:lnTo>
                  <a:pt x="279247" y="1734713"/>
                </a:lnTo>
                <a:lnTo>
                  <a:pt x="313066" y="1769008"/>
                </a:lnTo>
                <a:lnTo>
                  <a:pt x="348440" y="1801795"/>
                </a:lnTo>
                <a:lnTo>
                  <a:pt x="384949" y="1832708"/>
                </a:lnTo>
                <a:lnTo>
                  <a:pt x="422524" y="1861748"/>
                </a:lnTo>
                <a:lnTo>
                  <a:pt x="461101" y="1888915"/>
                </a:lnTo>
                <a:lnTo>
                  <a:pt x="500611" y="1914207"/>
                </a:lnTo>
                <a:lnTo>
                  <a:pt x="540988" y="1937627"/>
                </a:lnTo>
                <a:lnTo>
                  <a:pt x="582166" y="1959172"/>
                </a:lnTo>
                <a:lnTo>
                  <a:pt x="624078" y="1978845"/>
                </a:lnTo>
                <a:lnTo>
                  <a:pt x="666656" y="1996643"/>
                </a:lnTo>
                <a:lnTo>
                  <a:pt x="709835" y="2012568"/>
                </a:lnTo>
                <a:lnTo>
                  <a:pt x="753548" y="2026620"/>
                </a:lnTo>
                <a:lnTo>
                  <a:pt x="797727" y="2038798"/>
                </a:lnTo>
                <a:lnTo>
                  <a:pt x="842307" y="2049102"/>
                </a:lnTo>
                <a:lnTo>
                  <a:pt x="887221" y="2057533"/>
                </a:lnTo>
                <a:lnTo>
                  <a:pt x="932401" y="2064091"/>
                </a:lnTo>
                <a:lnTo>
                  <a:pt x="977781" y="2068775"/>
                </a:lnTo>
                <a:lnTo>
                  <a:pt x="1023295" y="2071585"/>
                </a:lnTo>
                <a:lnTo>
                  <a:pt x="1068875" y="2072522"/>
                </a:lnTo>
                <a:lnTo>
                  <a:pt x="1114456" y="2071585"/>
                </a:lnTo>
                <a:lnTo>
                  <a:pt x="1159969" y="2068775"/>
                </a:lnTo>
                <a:lnTo>
                  <a:pt x="1205350" y="2064091"/>
                </a:lnTo>
                <a:lnTo>
                  <a:pt x="1250530" y="2057533"/>
                </a:lnTo>
                <a:lnTo>
                  <a:pt x="1295443" y="2049102"/>
                </a:lnTo>
                <a:lnTo>
                  <a:pt x="1340023" y="2038798"/>
                </a:lnTo>
                <a:lnTo>
                  <a:pt x="1384203" y="2026620"/>
                </a:lnTo>
                <a:lnTo>
                  <a:pt x="1427915" y="2012568"/>
                </a:lnTo>
                <a:lnTo>
                  <a:pt x="1471094" y="1996643"/>
                </a:lnTo>
                <a:lnTo>
                  <a:pt x="1513673" y="1978845"/>
                </a:lnTo>
                <a:lnTo>
                  <a:pt x="1555585" y="1959172"/>
                </a:lnTo>
                <a:lnTo>
                  <a:pt x="1596762" y="1937627"/>
                </a:lnTo>
                <a:lnTo>
                  <a:pt x="1637140" y="1914207"/>
                </a:lnTo>
                <a:lnTo>
                  <a:pt x="1676650" y="1888915"/>
                </a:lnTo>
                <a:lnTo>
                  <a:pt x="1715226" y="1861748"/>
                </a:lnTo>
                <a:lnTo>
                  <a:pt x="1752802" y="1832708"/>
                </a:lnTo>
                <a:lnTo>
                  <a:pt x="1789310" y="1801795"/>
                </a:lnTo>
                <a:lnTo>
                  <a:pt x="1824685" y="1769008"/>
                </a:lnTo>
                <a:lnTo>
                  <a:pt x="1858504" y="1734713"/>
                </a:lnTo>
                <a:lnTo>
                  <a:pt x="1890390" y="1699319"/>
                </a:lnTo>
                <a:lnTo>
                  <a:pt x="1920344" y="1662889"/>
                </a:lnTo>
                <a:lnTo>
                  <a:pt x="1948365" y="1625490"/>
                </a:lnTo>
                <a:lnTo>
                  <a:pt x="1974454" y="1587186"/>
                </a:lnTo>
                <a:lnTo>
                  <a:pt x="1998611" y="1548040"/>
                </a:lnTo>
                <a:lnTo>
                  <a:pt x="2020834" y="1508119"/>
                </a:lnTo>
                <a:lnTo>
                  <a:pt x="2041126" y="1467486"/>
                </a:lnTo>
                <a:lnTo>
                  <a:pt x="2059485" y="1426207"/>
                </a:lnTo>
                <a:lnTo>
                  <a:pt x="2075911" y="1384345"/>
                </a:lnTo>
                <a:lnTo>
                  <a:pt x="2090405" y="1341966"/>
                </a:lnTo>
                <a:lnTo>
                  <a:pt x="2102966" y="1299135"/>
                </a:lnTo>
                <a:lnTo>
                  <a:pt x="2113595" y="1255915"/>
                </a:lnTo>
                <a:lnTo>
                  <a:pt x="2122291" y="1212372"/>
                </a:lnTo>
                <a:lnTo>
                  <a:pt x="2129055" y="1168571"/>
                </a:lnTo>
                <a:lnTo>
                  <a:pt x="2133886" y="1124575"/>
                </a:lnTo>
                <a:lnTo>
                  <a:pt x="2136785" y="1080450"/>
                </a:lnTo>
                <a:lnTo>
                  <a:pt x="2137751" y="1036261"/>
                </a:lnTo>
                <a:lnTo>
                  <a:pt x="2136785" y="992071"/>
                </a:lnTo>
                <a:lnTo>
                  <a:pt x="2133886" y="947946"/>
                </a:lnTo>
                <a:lnTo>
                  <a:pt x="2129055" y="903950"/>
                </a:lnTo>
                <a:lnTo>
                  <a:pt x="2122291" y="860149"/>
                </a:lnTo>
                <a:lnTo>
                  <a:pt x="2113595" y="816606"/>
                </a:lnTo>
                <a:lnTo>
                  <a:pt x="2102966" y="773386"/>
                </a:lnTo>
                <a:lnTo>
                  <a:pt x="2090405" y="730555"/>
                </a:lnTo>
                <a:lnTo>
                  <a:pt x="2075911" y="688176"/>
                </a:lnTo>
                <a:lnTo>
                  <a:pt x="2059485" y="646315"/>
                </a:lnTo>
                <a:lnTo>
                  <a:pt x="2041126" y="605035"/>
                </a:lnTo>
                <a:lnTo>
                  <a:pt x="2020834" y="564402"/>
                </a:lnTo>
                <a:lnTo>
                  <a:pt x="1998611" y="524481"/>
                </a:lnTo>
                <a:lnTo>
                  <a:pt x="1974454" y="485336"/>
                </a:lnTo>
                <a:lnTo>
                  <a:pt x="1948365" y="447031"/>
                </a:lnTo>
                <a:lnTo>
                  <a:pt x="1920344" y="409632"/>
                </a:lnTo>
                <a:lnTo>
                  <a:pt x="1890390" y="373203"/>
                </a:lnTo>
                <a:lnTo>
                  <a:pt x="1858504" y="337808"/>
                </a:lnTo>
                <a:lnTo>
                  <a:pt x="1824685" y="303513"/>
                </a:lnTo>
                <a:lnTo>
                  <a:pt x="1789310" y="270726"/>
                </a:lnTo>
                <a:lnTo>
                  <a:pt x="1752802" y="239813"/>
                </a:lnTo>
                <a:lnTo>
                  <a:pt x="1715226" y="210773"/>
                </a:lnTo>
                <a:lnTo>
                  <a:pt x="1676650" y="183607"/>
                </a:lnTo>
                <a:lnTo>
                  <a:pt x="1637140" y="158314"/>
                </a:lnTo>
                <a:lnTo>
                  <a:pt x="1596762" y="134895"/>
                </a:lnTo>
                <a:lnTo>
                  <a:pt x="1555585" y="113349"/>
                </a:lnTo>
                <a:lnTo>
                  <a:pt x="1513673" y="93677"/>
                </a:lnTo>
                <a:lnTo>
                  <a:pt x="1471094" y="75878"/>
                </a:lnTo>
                <a:lnTo>
                  <a:pt x="1427915" y="59953"/>
                </a:lnTo>
                <a:lnTo>
                  <a:pt x="1384203" y="45901"/>
                </a:lnTo>
                <a:lnTo>
                  <a:pt x="1340023" y="33723"/>
                </a:lnTo>
                <a:lnTo>
                  <a:pt x="1295443" y="23419"/>
                </a:lnTo>
                <a:lnTo>
                  <a:pt x="1250530" y="14988"/>
                </a:lnTo>
                <a:lnTo>
                  <a:pt x="1205350" y="8430"/>
                </a:lnTo>
                <a:lnTo>
                  <a:pt x="1159969" y="3747"/>
                </a:lnTo>
                <a:lnTo>
                  <a:pt x="1114456" y="936"/>
                </a:lnTo>
                <a:lnTo>
                  <a:pt x="1068875" y="0"/>
                </a:lnTo>
                <a:close/>
              </a:path>
            </a:pathLst>
          </a:custGeom>
          <a:solidFill>
            <a:srgbClr val="E23F2A"/>
          </a:solidFill>
        </p:spPr>
        <p:txBody>
          <a:bodyPr wrap="square" lIns="0" tIns="0" rIns="0" bIns="0" rtlCol="0"/>
          <a:lstStyle/>
          <a:p>
            <a:endParaRPr sz="637"/>
          </a:p>
        </p:txBody>
      </p:sp>
      <p:sp>
        <p:nvSpPr>
          <p:cNvPr id="21" name="object 21"/>
          <p:cNvSpPr txBox="1"/>
          <p:nvPr/>
        </p:nvSpPr>
        <p:spPr>
          <a:xfrm>
            <a:off x="5319670" y="3673849"/>
            <a:ext cx="743078" cy="419978"/>
          </a:xfrm>
          <a:prstGeom prst="rect">
            <a:avLst/>
          </a:prstGeom>
        </p:spPr>
        <p:txBody>
          <a:bodyPr vert="horz" wrap="square" lIns="0" tIns="5198" rIns="0" bIns="0" rtlCol="0">
            <a:spAutoFit/>
          </a:bodyPr>
          <a:lstStyle/>
          <a:p>
            <a:pPr marL="5776" marR="2310" indent="182809">
              <a:lnSpc>
                <a:spcPct val="113599"/>
              </a:lnSpc>
              <a:spcBef>
                <a:spcPts val="41"/>
              </a:spcBef>
            </a:pPr>
            <a:r>
              <a:rPr sz="1182" spc="-9" dirty="0">
                <a:solidFill>
                  <a:srgbClr val="FFFFFF"/>
                </a:solidFill>
                <a:latin typeface="Courier New"/>
                <a:cs typeface="Courier New"/>
              </a:rPr>
              <a:t>Loss </a:t>
            </a:r>
            <a:r>
              <a:rPr sz="1182" spc="-5" dirty="0">
                <a:solidFill>
                  <a:srgbClr val="FFFFFF"/>
                </a:solidFill>
                <a:latin typeface="Courier New"/>
                <a:cs typeface="Courier New"/>
              </a:rPr>
              <a:t>Function</a:t>
            </a:r>
            <a:endParaRPr sz="1182">
              <a:latin typeface="Courier New"/>
              <a:cs typeface="Courier New"/>
            </a:endParaRPr>
          </a:p>
        </p:txBody>
      </p:sp>
      <p:grpSp>
        <p:nvGrpSpPr>
          <p:cNvPr id="22" name="object 22"/>
          <p:cNvGrpSpPr/>
          <p:nvPr/>
        </p:nvGrpSpPr>
        <p:grpSpPr>
          <a:xfrm>
            <a:off x="5668332" y="2896519"/>
            <a:ext cx="45919" cy="414426"/>
            <a:chOff x="12462626" y="6368766"/>
            <a:chExt cx="100965" cy="911225"/>
          </a:xfrm>
        </p:grpSpPr>
        <p:sp>
          <p:nvSpPr>
            <p:cNvPr id="23" name="object 23"/>
            <p:cNvSpPr/>
            <p:nvPr/>
          </p:nvSpPr>
          <p:spPr>
            <a:xfrm>
              <a:off x="12512886" y="6368766"/>
              <a:ext cx="0" cy="821055"/>
            </a:xfrm>
            <a:custGeom>
              <a:avLst/>
              <a:gdLst/>
              <a:ahLst/>
              <a:cxnLst/>
              <a:rect l="l" t="t" r="r" b="b"/>
              <a:pathLst>
                <a:path h="821054">
                  <a:moveTo>
                    <a:pt x="0" y="0"/>
                  </a:moveTo>
                  <a:lnTo>
                    <a:pt x="0" y="810446"/>
                  </a:lnTo>
                  <a:lnTo>
                    <a:pt x="0" y="820917"/>
                  </a:lnTo>
                </a:path>
              </a:pathLst>
            </a:custGeom>
            <a:ln w="20941">
              <a:solidFill>
                <a:srgbClr val="000000"/>
              </a:solidFill>
            </a:ln>
          </p:spPr>
          <p:txBody>
            <a:bodyPr wrap="square" lIns="0" tIns="0" rIns="0" bIns="0" rtlCol="0"/>
            <a:lstStyle/>
            <a:p>
              <a:endParaRPr sz="637"/>
            </a:p>
          </p:txBody>
        </p:sp>
        <p:sp>
          <p:nvSpPr>
            <p:cNvPr id="24" name="object 24"/>
            <p:cNvSpPr/>
            <p:nvPr/>
          </p:nvSpPr>
          <p:spPr>
            <a:xfrm>
              <a:off x="12462626" y="7179212"/>
              <a:ext cx="100965" cy="100965"/>
            </a:xfrm>
            <a:custGeom>
              <a:avLst/>
              <a:gdLst/>
              <a:ahLst/>
              <a:cxnLst/>
              <a:rect l="l" t="t" r="r" b="b"/>
              <a:pathLst>
                <a:path w="100965" h="100965">
                  <a:moveTo>
                    <a:pt x="100520" y="0"/>
                  </a:moveTo>
                  <a:lnTo>
                    <a:pt x="0" y="0"/>
                  </a:lnTo>
                  <a:lnTo>
                    <a:pt x="50260" y="100520"/>
                  </a:lnTo>
                  <a:lnTo>
                    <a:pt x="100520" y="0"/>
                  </a:lnTo>
                  <a:close/>
                </a:path>
              </a:pathLst>
            </a:custGeom>
            <a:solidFill>
              <a:srgbClr val="000000"/>
            </a:solidFill>
          </p:spPr>
          <p:txBody>
            <a:bodyPr wrap="square" lIns="0" tIns="0" rIns="0" bIns="0" rtlCol="0"/>
            <a:lstStyle/>
            <a:p>
              <a:endParaRPr sz="637"/>
            </a:p>
          </p:txBody>
        </p:sp>
      </p:grpSp>
      <p:grpSp>
        <p:nvGrpSpPr>
          <p:cNvPr id="25" name="object 25"/>
          <p:cNvGrpSpPr/>
          <p:nvPr/>
        </p:nvGrpSpPr>
        <p:grpSpPr>
          <a:xfrm>
            <a:off x="6349459" y="3874534"/>
            <a:ext cx="734703" cy="45919"/>
            <a:chOff x="13960265" y="8519190"/>
            <a:chExt cx="1615440" cy="100965"/>
          </a:xfrm>
        </p:grpSpPr>
        <p:sp>
          <p:nvSpPr>
            <p:cNvPr id="26" name="object 26"/>
            <p:cNvSpPr/>
            <p:nvPr/>
          </p:nvSpPr>
          <p:spPr>
            <a:xfrm>
              <a:off x="13960265" y="8569450"/>
              <a:ext cx="1525905" cy="0"/>
            </a:xfrm>
            <a:custGeom>
              <a:avLst/>
              <a:gdLst/>
              <a:ahLst/>
              <a:cxnLst/>
              <a:rect l="l" t="t" r="r" b="b"/>
              <a:pathLst>
                <a:path w="1525905">
                  <a:moveTo>
                    <a:pt x="0" y="0"/>
                  </a:moveTo>
                  <a:lnTo>
                    <a:pt x="1514909" y="0"/>
                  </a:lnTo>
                  <a:lnTo>
                    <a:pt x="1525380" y="0"/>
                  </a:lnTo>
                </a:path>
              </a:pathLst>
            </a:custGeom>
            <a:ln w="20941">
              <a:solidFill>
                <a:srgbClr val="000000"/>
              </a:solidFill>
            </a:ln>
          </p:spPr>
          <p:txBody>
            <a:bodyPr wrap="square" lIns="0" tIns="0" rIns="0" bIns="0" rtlCol="0"/>
            <a:lstStyle/>
            <a:p>
              <a:endParaRPr sz="637"/>
            </a:p>
          </p:txBody>
        </p:sp>
        <p:sp>
          <p:nvSpPr>
            <p:cNvPr id="27" name="object 27"/>
            <p:cNvSpPr/>
            <p:nvPr/>
          </p:nvSpPr>
          <p:spPr>
            <a:xfrm>
              <a:off x="15475182" y="8519190"/>
              <a:ext cx="100965" cy="100965"/>
            </a:xfrm>
            <a:custGeom>
              <a:avLst/>
              <a:gdLst/>
              <a:ahLst/>
              <a:cxnLst/>
              <a:rect l="l" t="t" r="r" b="b"/>
              <a:pathLst>
                <a:path w="100965" h="100965">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grpSp>
      <p:sp>
        <p:nvSpPr>
          <p:cNvPr id="28" name="object 28"/>
          <p:cNvSpPr/>
          <p:nvPr/>
        </p:nvSpPr>
        <p:spPr>
          <a:xfrm>
            <a:off x="7256305" y="3659283"/>
            <a:ext cx="1128624" cy="476229"/>
          </a:xfrm>
          <a:custGeom>
            <a:avLst/>
            <a:gdLst/>
            <a:ahLst/>
            <a:cxnLst/>
            <a:rect l="l" t="t" r="r" b="b"/>
            <a:pathLst>
              <a:path w="2481580" h="1047115">
                <a:moveTo>
                  <a:pt x="2241073" y="0"/>
                </a:moveTo>
                <a:lnTo>
                  <a:pt x="240097" y="0"/>
                </a:lnTo>
                <a:lnTo>
                  <a:pt x="192318" y="183"/>
                </a:lnTo>
                <a:lnTo>
                  <a:pt x="153788" y="1470"/>
                </a:lnTo>
                <a:lnTo>
                  <a:pt x="99190" y="11766"/>
                </a:lnTo>
                <a:lnTo>
                  <a:pt x="45789" y="45785"/>
                </a:lnTo>
                <a:lnTo>
                  <a:pt x="11769" y="99184"/>
                </a:lnTo>
                <a:lnTo>
                  <a:pt x="1471" y="153788"/>
                </a:lnTo>
                <a:lnTo>
                  <a:pt x="183" y="192319"/>
                </a:lnTo>
                <a:lnTo>
                  <a:pt x="0" y="240097"/>
                </a:lnTo>
                <a:lnTo>
                  <a:pt x="0" y="806991"/>
                </a:lnTo>
                <a:lnTo>
                  <a:pt x="183" y="854769"/>
                </a:lnTo>
                <a:lnTo>
                  <a:pt x="1471" y="893300"/>
                </a:lnTo>
                <a:lnTo>
                  <a:pt x="11769" y="947904"/>
                </a:lnTo>
                <a:lnTo>
                  <a:pt x="45789" y="1001303"/>
                </a:lnTo>
                <a:lnTo>
                  <a:pt x="99190" y="1035322"/>
                </a:lnTo>
                <a:lnTo>
                  <a:pt x="153788" y="1045617"/>
                </a:lnTo>
                <a:lnTo>
                  <a:pt x="192318" y="1046904"/>
                </a:lnTo>
                <a:lnTo>
                  <a:pt x="240097" y="1047088"/>
                </a:lnTo>
                <a:lnTo>
                  <a:pt x="2241073" y="1047088"/>
                </a:lnTo>
                <a:lnTo>
                  <a:pt x="2288852" y="1046904"/>
                </a:lnTo>
                <a:lnTo>
                  <a:pt x="2327383" y="1045617"/>
                </a:lnTo>
                <a:lnTo>
                  <a:pt x="2381990" y="1035322"/>
                </a:lnTo>
                <a:lnTo>
                  <a:pt x="2435386" y="1001303"/>
                </a:lnTo>
                <a:lnTo>
                  <a:pt x="2469401" y="947904"/>
                </a:lnTo>
                <a:lnTo>
                  <a:pt x="2479699" y="893300"/>
                </a:lnTo>
                <a:lnTo>
                  <a:pt x="2480986" y="854769"/>
                </a:lnTo>
                <a:lnTo>
                  <a:pt x="2481170" y="806991"/>
                </a:lnTo>
                <a:lnTo>
                  <a:pt x="2481170" y="240097"/>
                </a:lnTo>
                <a:lnTo>
                  <a:pt x="2480986" y="192319"/>
                </a:lnTo>
                <a:lnTo>
                  <a:pt x="2479699" y="153788"/>
                </a:lnTo>
                <a:lnTo>
                  <a:pt x="2469401" y="99184"/>
                </a:lnTo>
                <a:lnTo>
                  <a:pt x="2435386" y="45785"/>
                </a:lnTo>
                <a:lnTo>
                  <a:pt x="2381990" y="11766"/>
                </a:lnTo>
                <a:lnTo>
                  <a:pt x="2327383" y="1470"/>
                </a:lnTo>
                <a:lnTo>
                  <a:pt x="2288852" y="183"/>
                </a:lnTo>
                <a:lnTo>
                  <a:pt x="2241073" y="0"/>
                </a:lnTo>
                <a:close/>
              </a:path>
            </a:pathLst>
          </a:custGeom>
          <a:solidFill>
            <a:srgbClr val="929292"/>
          </a:solidFill>
        </p:spPr>
        <p:txBody>
          <a:bodyPr wrap="square" lIns="0" tIns="0" rIns="0" bIns="0" rtlCol="0"/>
          <a:lstStyle/>
          <a:p>
            <a:endParaRPr sz="637"/>
          </a:p>
        </p:txBody>
      </p:sp>
      <p:sp>
        <p:nvSpPr>
          <p:cNvPr id="29" name="object 29"/>
          <p:cNvSpPr txBox="1"/>
          <p:nvPr/>
        </p:nvSpPr>
        <p:spPr>
          <a:xfrm>
            <a:off x="7631902" y="3795896"/>
            <a:ext cx="377459" cy="189783"/>
          </a:xfrm>
          <a:prstGeom prst="rect">
            <a:avLst/>
          </a:prstGeom>
        </p:spPr>
        <p:txBody>
          <a:bodyPr vert="horz" wrap="square" lIns="0" tIns="7798" rIns="0" bIns="0" rtlCol="0">
            <a:spAutoFit/>
          </a:bodyPr>
          <a:lstStyle/>
          <a:p>
            <a:pPr marL="5776">
              <a:spcBef>
                <a:spcPts val="61"/>
              </a:spcBef>
            </a:pPr>
            <a:r>
              <a:rPr sz="1182" spc="-9" dirty="0">
                <a:solidFill>
                  <a:srgbClr val="FFFFFF"/>
                </a:solidFill>
                <a:latin typeface="Courier New"/>
                <a:cs typeface="Courier New"/>
              </a:rPr>
              <a:t>Loss</a:t>
            </a:r>
            <a:endParaRPr sz="1182">
              <a:latin typeface="Courier New"/>
              <a:cs typeface="Courier New"/>
            </a:endParaRPr>
          </a:p>
        </p:txBody>
      </p:sp>
      <p:grpSp>
        <p:nvGrpSpPr>
          <p:cNvPr id="30" name="object 30"/>
          <p:cNvGrpSpPr/>
          <p:nvPr/>
        </p:nvGrpSpPr>
        <p:grpSpPr>
          <a:xfrm>
            <a:off x="3340300" y="1074019"/>
            <a:ext cx="4476664" cy="2432260"/>
            <a:chOff x="7343830" y="2361515"/>
            <a:chExt cx="9843135" cy="5347970"/>
          </a:xfrm>
        </p:grpSpPr>
        <p:sp>
          <p:nvSpPr>
            <p:cNvPr id="31" name="object 31"/>
            <p:cNvSpPr/>
            <p:nvPr/>
          </p:nvSpPr>
          <p:spPr>
            <a:xfrm>
              <a:off x="17173382" y="2883624"/>
              <a:ext cx="0" cy="4826000"/>
            </a:xfrm>
            <a:custGeom>
              <a:avLst/>
              <a:gdLst/>
              <a:ahLst/>
              <a:cxnLst/>
              <a:rect l="l" t="t" r="r" b="b"/>
              <a:pathLst>
                <a:path h="4826000">
                  <a:moveTo>
                    <a:pt x="0" y="4825475"/>
                  </a:moveTo>
                  <a:lnTo>
                    <a:pt x="0" y="0"/>
                  </a:lnTo>
                </a:path>
              </a:pathLst>
            </a:custGeom>
            <a:ln w="20941">
              <a:solidFill>
                <a:srgbClr val="000000"/>
              </a:solidFill>
            </a:ln>
          </p:spPr>
          <p:txBody>
            <a:bodyPr wrap="square" lIns="0" tIns="0" rIns="0" bIns="0" rtlCol="0"/>
            <a:lstStyle/>
            <a:p>
              <a:endParaRPr sz="637"/>
            </a:p>
          </p:txBody>
        </p:sp>
        <p:sp>
          <p:nvSpPr>
            <p:cNvPr id="32" name="object 32"/>
            <p:cNvSpPr/>
            <p:nvPr/>
          </p:nvSpPr>
          <p:spPr>
            <a:xfrm>
              <a:off x="7403754" y="2885059"/>
              <a:ext cx="9783445" cy="0"/>
            </a:xfrm>
            <a:custGeom>
              <a:avLst/>
              <a:gdLst/>
              <a:ahLst/>
              <a:cxnLst/>
              <a:rect l="l" t="t" r="r" b="b"/>
              <a:pathLst>
                <a:path w="9783444">
                  <a:moveTo>
                    <a:pt x="0" y="0"/>
                  </a:moveTo>
                  <a:lnTo>
                    <a:pt x="9782875" y="0"/>
                  </a:lnTo>
                </a:path>
              </a:pathLst>
            </a:custGeom>
            <a:ln w="20941">
              <a:solidFill>
                <a:srgbClr val="000000"/>
              </a:solidFill>
            </a:ln>
          </p:spPr>
          <p:txBody>
            <a:bodyPr wrap="square" lIns="0" tIns="0" rIns="0" bIns="0" rtlCol="0"/>
            <a:lstStyle/>
            <a:p>
              <a:endParaRPr sz="637"/>
            </a:p>
          </p:txBody>
        </p:sp>
        <p:sp>
          <p:nvSpPr>
            <p:cNvPr id="33" name="object 33"/>
            <p:cNvSpPr/>
            <p:nvPr/>
          </p:nvSpPr>
          <p:spPr>
            <a:xfrm>
              <a:off x="7394091" y="2873660"/>
              <a:ext cx="0" cy="1376045"/>
            </a:xfrm>
            <a:custGeom>
              <a:avLst/>
              <a:gdLst/>
              <a:ahLst/>
              <a:cxnLst/>
              <a:rect l="l" t="t" r="r" b="b"/>
              <a:pathLst>
                <a:path h="1376045">
                  <a:moveTo>
                    <a:pt x="0" y="0"/>
                  </a:moveTo>
                  <a:lnTo>
                    <a:pt x="0" y="1365403"/>
                  </a:lnTo>
                  <a:lnTo>
                    <a:pt x="0" y="1375874"/>
                  </a:lnTo>
                </a:path>
              </a:pathLst>
            </a:custGeom>
            <a:ln w="20941">
              <a:solidFill>
                <a:srgbClr val="000000"/>
              </a:solidFill>
            </a:ln>
          </p:spPr>
          <p:txBody>
            <a:bodyPr wrap="square" lIns="0" tIns="0" rIns="0" bIns="0" rtlCol="0"/>
            <a:lstStyle/>
            <a:p>
              <a:endParaRPr sz="637"/>
            </a:p>
          </p:txBody>
        </p:sp>
        <p:sp>
          <p:nvSpPr>
            <p:cNvPr id="34" name="object 34"/>
            <p:cNvSpPr/>
            <p:nvPr/>
          </p:nvSpPr>
          <p:spPr>
            <a:xfrm>
              <a:off x="7343830" y="4239063"/>
              <a:ext cx="100965" cy="100965"/>
            </a:xfrm>
            <a:custGeom>
              <a:avLst/>
              <a:gdLst/>
              <a:ahLst/>
              <a:cxnLst/>
              <a:rect l="l" t="t" r="r" b="b"/>
              <a:pathLst>
                <a:path w="100965" h="100964">
                  <a:moveTo>
                    <a:pt x="100520" y="0"/>
                  </a:moveTo>
                  <a:lnTo>
                    <a:pt x="0" y="0"/>
                  </a:lnTo>
                  <a:lnTo>
                    <a:pt x="50260" y="100520"/>
                  </a:lnTo>
                  <a:lnTo>
                    <a:pt x="100520" y="0"/>
                  </a:lnTo>
                  <a:close/>
                </a:path>
              </a:pathLst>
            </a:custGeom>
            <a:solidFill>
              <a:srgbClr val="000000"/>
            </a:solidFill>
          </p:spPr>
          <p:txBody>
            <a:bodyPr wrap="square" lIns="0" tIns="0" rIns="0" bIns="0" rtlCol="0"/>
            <a:lstStyle/>
            <a:p>
              <a:endParaRPr sz="637"/>
            </a:p>
          </p:txBody>
        </p:sp>
        <p:sp>
          <p:nvSpPr>
            <p:cNvPr id="35" name="object 35"/>
            <p:cNvSpPr/>
            <p:nvPr/>
          </p:nvSpPr>
          <p:spPr>
            <a:xfrm>
              <a:off x="11515429" y="2361515"/>
              <a:ext cx="4317365" cy="1047115"/>
            </a:xfrm>
            <a:custGeom>
              <a:avLst/>
              <a:gdLst/>
              <a:ahLst/>
              <a:cxnLst/>
              <a:rect l="l" t="t" r="r" b="b"/>
              <a:pathLst>
                <a:path w="4317365" h="1047114">
                  <a:moveTo>
                    <a:pt x="4076922" y="0"/>
                  </a:moveTo>
                  <a:lnTo>
                    <a:pt x="240097" y="0"/>
                  </a:lnTo>
                  <a:lnTo>
                    <a:pt x="192318" y="183"/>
                  </a:lnTo>
                  <a:lnTo>
                    <a:pt x="153787" y="1470"/>
                  </a:lnTo>
                  <a:lnTo>
                    <a:pt x="99180" y="11765"/>
                  </a:lnTo>
                  <a:lnTo>
                    <a:pt x="45778" y="45784"/>
                  </a:lnTo>
                  <a:lnTo>
                    <a:pt x="11758" y="99184"/>
                  </a:lnTo>
                  <a:lnTo>
                    <a:pt x="1469" y="153787"/>
                  </a:lnTo>
                  <a:lnTo>
                    <a:pt x="183" y="192318"/>
                  </a:lnTo>
                  <a:lnTo>
                    <a:pt x="0" y="240096"/>
                  </a:lnTo>
                  <a:lnTo>
                    <a:pt x="0" y="806991"/>
                  </a:lnTo>
                  <a:lnTo>
                    <a:pt x="183" y="854769"/>
                  </a:lnTo>
                  <a:lnTo>
                    <a:pt x="1469" y="893299"/>
                  </a:lnTo>
                  <a:lnTo>
                    <a:pt x="11758" y="947903"/>
                  </a:lnTo>
                  <a:lnTo>
                    <a:pt x="45778" y="1001303"/>
                  </a:lnTo>
                  <a:lnTo>
                    <a:pt x="99180" y="1035322"/>
                  </a:lnTo>
                  <a:lnTo>
                    <a:pt x="153787" y="1045617"/>
                  </a:lnTo>
                  <a:lnTo>
                    <a:pt x="192318" y="1046904"/>
                  </a:lnTo>
                  <a:lnTo>
                    <a:pt x="240097" y="1047088"/>
                  </a:lnTo>
                  <a:lnTo>
                    <a:pt x="4076922" y="1047088"/>
                  </a:lnTo>
                  <a:lnTo>
                    <a:pt x="4124701" y="1046904"/>
                  </a:lnTo>
                  <a:lnTo>
                    <a:pt x="4163231" y="1045617"/>
                  </a:lnTo>
                  <a:lnTo>
                    <a:pt x="4217829" y="1035322"/>
                  </a:lnTo>
                  <a:lnTo>
                    <a:pt x="4271235" y="1001303"/>
                  </a:lnTo>
                  <a:lnTo>
                    <a:pt x="4305251" y="947903"/>
                  </a:lnTo>
                  <a:lnTo>
                    <a:pt x="4315549" y="893299"/>
                  </a:lnTo>
                  <a:lnTo>
                    <a:pt x="4316836" y="854769"/>
                  </a:lnTo>
                  <a:lnTo>
                    <a:pt x="4317020" y="806991"/>
                  </a:lnTo>
                  <a:lnTo>
                    <a:pt x="4317020" y="240096"/>
                  </a:lnTo>
                  <a:lnTo>
                    <a:pt x="4316836" y="192318"/>
                  </a:lnTo>
                  <a:lnTo>
                    <a:pt x="4315549" y="153787"/>
                  </a:lnTo>
                  <a:lnTo>
                    <a:pt x="4305251" y="99184"/>
                  </a:lnTo>
                  <a:lnTo>
                    <a:pt x="4271235" y="45784"/>
                  </a:lnTo>
                  <a:lnTo>
                    <a:pt x="4217829" y="11765"/>
                  </a:lnTo>
                  <a:lnTo>
                    <a:pt x="4163231" y="1470"/>
                  </a:lnTo>
                  <a:lnTo>
                    <a:pt x="4124701" y="183"/>
                  </a:lnTo>
                  <a:lnTo>
                    <a:pt x="4076922" y="0"/>
                  </a:lnTo>
                  <a:close/>
                </a:path>
              </a:pathLst>
            </a:custGeom>
            <a:solidFill>
              <a:srgbClr val="3C7DEC"/>
            </a:solidFill>
          </p:spPr>
          <p:txBody>
            <a:bodyPr wrap="square" lIns="0" tIns="0" rIns="0" bIns="0" rtlCol="0"/>
            <a:lstStyle/>
            <a:p>
              <a:endParaRPr sz="637"/>
            </a:p>
          </p:txBody>
        </p:sp>
      </p:grpSp>
      <p:sp>
        <p:nvSpPr>
          <p:cNvPr id="36" name="object 36"/>
          <p:cNvSpPr txBox="1"/>
          <p:nvPr/>
        </p:nvSpPr>
        <p:spPr>
          <a:xfrm>
            <a:off x="5436262" y="1210631"/>
            <a:ext cx="1566153" cy="189783"/>
          </a:xfrm>
          <a:prstGeom prst="rect">
            <a:avLst/>
          </a:prstGeom>
        </p:spPr>
        <p:txBody>
          <a:bodyPr vert="horz" wrap="square" lIns="0" tIns="7798" rIns="0" bIns="0" rtlCol="0">
            <a:spAutoFit/>
          </a:bodyPr>
          <a:lstStyle/>
          <a:p>
            <a:pPr marL="5776">
              <a:spcBef>
                <a:spcPts val="61"/>
              </a:spcBef>
            </a:pPr>
            <a:r>
              <a:rPr sz="1182" dirty="0">
                <a:solidFill>
                  <a:srgbClr val="FFFFFF"/>
                </a:solidFill>
                <a:latin typeface="Courier New"/>
                <a:cs typeface="Courier New"/>
              </a:rPr>
              <a:t>Optimization</a:t>
            </a:r>
            <a:r>
              <a:rPr sz="1182" spc="93" dirty="0">
                <a:solidFill>
                  <a:srgbClr val="FFFFFF"/>
                </a:solidFill>
                <a:latin typeface="Courier New"/>
                <a:cs typeface="Courier New"/>
              </a:rPr>
              <a:t> </a:t>
            </a:r>
            <a:r>
              <a:rPr sz="1182" spc="-9" dirty="0">
                <a:solidFill>
                  <a:srgbClr val="FFFFFF"/>
                </a:solidFill>
                <a:latin typeface="Courier New"/>
                <a:cs typeface="Courier New"/>
              </a:rPr>
              <a:t>Algo</a:t>
            </a:r>
            <a:endParaRPr sz="1182">
              <a:latin typeface="Courier New"/>
              <a:cs typeface="Courier New"/>
            </a:endParaRPr>
          </a:p>
        </p:txBody>
      </p:sp>
      <p:sp>
        <p:nvSpPr>
          <p:cNvPr id="37" name="object 37"/>
          <p:cNvSpPr txBox="1"/>
          <p:nvPr/>
        </p:nvSpPr>
        <p:spPr>
          <a:xfrm>
            <a:off x="1698392" y="2328247"/>
            <a:ext cx="354644" cy="143803"/>
          </a:xfrm>
          <a:prstGeom prst="rect">
            <a:avLst/>
          </a:prstGeom>
        </p:spPr>
        <p:txBody>
          <a:bodyPr vert="horz" wrap="square" lIns="0" tIns="7220" rIns="0" bIns="0" rtlCol="0">
            <a:spAutoFit/>
          </a:bodyPr>
          <a:lstStyle/>
          <a:p>
            <a:pPr marL="5776">
              <a:spcBef>
                <a:spcPts val="57"/>
              </a:spcBef>
            </a:pPr>
            <a:r>
              <a:rPr sz="887" spc="-5" dirty="0">
                <a:latin typeface="Courier New"/>
                <a:cs typeface="Courier New"/>
              </a:rPr>
              <a:t>input</a:t>
            </a:r>
            <a:endParaRPr sz="887">
              <a:latin typeface="Courier New"/>
              <a:cs typeface="Courier New"/>
            </a:endParaRPr>
          </a:p>
        </p:txBody>
      </p:sp>
      <p:sp>
        <p:nvSpPr>
          <p:cNvPr id="38" name="object 38"/>
          <p:cNvSpPr txBox="1"/>
          <p:nvPr/>
        </p:nvSpPr>
        <p:spPr>
          <a:xfrm>
            <a:off x="3284185" y="3678131"/>
            <a:ext cx="1040252" cy="143803"/>
          </a:xfrm>
          <a:prstGeom prst="rect">
            <a:avLst/>
          </a:prstGeom>
        </p:spPr>
        <p:txBody>
          <a:bodyPr vert="horz" wrap="square" lIns="0" tIns="7220" rIns="0" bIns="0" rtlCol="0">
            <a:spAutoFit/>
          </a:bodyPr>
          <a:lstStyle/>
          <a:p>
            <a:pPr marL="5776">
              <a:spcBef>
                <a:spcPts val="57"/>
              </a:spcBef>
            </a:pPr>
            <a:r>
              <a:rPr sz="887" dirty="0">
                <a:latin typeface="Courier New"/>
                <a:cs typeface="Courier New"/>
              </a:rPr>
              <a:t>expected</a:t>
            </a:r>
            <a:r>
              <a:rPr sz="887" spc="48" dirty="0">
                <a:latin typeface="Courier New"/>
                <a:cs typeface="Courier New"/>
              </a:rPr>
              <a:t> </a:t>
            </a:r>
            <a:r>
              <a:rPr sz="887" spc="-5" dirty="0">
                <a:latin typeface="Courier New"/>
                <a:cs typeface="Courier New"/>
              </a:rPr>
              <a:t>output</a:t>
            </a:r>
            <a:endParaRPr sz="887">
              <a:latin typeface="Courier New"/>
              <a:cs typeface="Courier New"/>
            </a:endParaRPr>
          </a:p>
        </p:txBody>
      </p:sp>
      <p:sp>
        <p:nvSpPr>
          <p:cNvPr id="39" name="Title 38"/>
          <p:cNvSpPr>
            <a:spLocks noGrp="1"/>
          </p:cNvSpPr>
          <p:nvPr>
            <p:ph type="title"/>
          </p:nvPr>
        </p:nvSpPr>
        <p:spPr>
          <a:xfrm>
            <a:off x="64137" y="265405"/>
            <a:ext cx="8520600" cy="572700"/>
          </a:xfrm>
        </p:spPr>
        <p:txBody>
          <a:bodyPr>
            <a:normAutofit fontScale="90000"/>
          </a:bodyPr>
          <a:lstStyle/>
          <a:p>
            <a:r>
              <a:rPr lang="en-IN" dirty="0" smtClean="0"/>
              <a:t>Anatomy of Supervised Learning Algorithm</a:t>
            </a:r>
            <a:endParaRPr lang="en-IN" dirty="0"/>
          </a:p>
        </p:txBody>
      </p:sp>
      <p:sp>
        <p:nvSpPr>
          <p:cNvPr id="40" name="Footer Placeholder 39"/>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25848663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F6105-1C30-4FAB-A719-28BA210AD29A}"/>
              </a:ext>
            </a:extLst>
          </p:cNvPr>
          <p:cNvSpPr>
            <a:spLocks noGrp="1"/>
          </p:cNvSpPr>
          <p:nvPr>
            <p:ph type="title"/>
          </p:nvPr>
        </p:nvSpPr>
        <p:spPr/>
        <p:txBody>
          <a:bodyPr>
            <a:normAutofit fontScale="90000"/>
          </a:bodyPr>
          <a:lstStyle/>
          <a:p>
            <a:r>
              <a:rPr lang="en-US" dirty="0">
                <a:solidFill>
                  <a:srgbClr val="FF0000"/>
                </a:solidFill>
              </a:rPr>
              <a:t>Predictive AI </a:t>
            </a:r>
            <a:r>
              <a:rPr lang="en-US" dirty="0">
                <a:solidFill>
                  <a:schemeClr val="tx1"/>
                </a:solidFill>
              </a:rPr>
              <a:t>Vs</a:t>
            </a:r>
            <a:r>
              <a:rPr lang="en-US" dirty="0">
                <a:solidFill>
                  <a:srgbClr val="FF0000"/>
                </a:solidFill>
              </a:rPr>
              <a:t> Generative AI</a:t>
            </a:r>
            <a:endParaRPr lang="en-IN" dirty="0">
              <a:solidFill>
                <a:srgbClr val="FF0000"/>
              </a:solidFill>
            </a:endParaRPr>
          </a:p>
        </p:txBody>
      </p:sp>
      <p:sp>
        <p:nvSpPr>
          <p:cNvPr id="6" name="Content Placeholder 5">
            <a:extLst>
              <a:ext uri="{FF2B5EF4-FFF2-40B4-BE49-F238E27FC236}">
                <a16:creationId xmlns:a16="http://schemas.microsoft.com/office/drawing/2014/main" id="{BD6D9932-4892-4107-812F-DCCB2CE9C8BD}"/>
              </a:ext>
            </a:extLst>
          </p:cNvPr>
          <p:cNvSpPr>
            <a:spLocks noGrp="1"/>
          </p:cNvSpPr>
          <p:nvPr>
            <p:ph sz="quarter" idx="1"/>
          </p:nvPr>
        </p:nvSpPr>
        <p:spPr>
          <a:xfrm>
            <a:off x="1369314" y="1145286"/>
            <a:ext cx="6377940" cy="3429000"/>
          </a:xfrm>
        </p:spPr>
        <p:txBody>
          <a:bodyPr/>
          <a:lstStyle/>
          <a:p>
            <a:r>
              <a:rPr lang="en-US" dirty="0"/>
              <a:t>Predictive AI uses statistical algorithms and Machine Learning to forecast trends, behavior, patterns, and predictions from large data sources.</a:t>
            </a:r>
            <a:endParaRPr lang="en-IN" dirty="0"/>
          </a:p>
        </p:txBody>
      </p:sp>
      <p:pic>
        <p:nvPicPr>
          <p:cNvPr id="10" name="Picture 9">
            <a:extLst>
              <a:ext uri="{FF2B5EF4-FFF2-40B4-BE49-F238E27FC236}">
                <a16:creationId xmlns:a16="http://schemas.microsoft.com/office/drawing/2014/main" id="{419BFFE4-21B1-4CF0-9F62-4ED98FA22B8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00251" y="2286001"/>
            <a:ext cx="4800600" cy="2288285"/>
          </a:xfrm>
          <a:prstGeom prst="rect">
            <a:avLst/>
          </a:prstGeom>
          <a:noFill/>
          <a:ln>
            <a:noFill/>
          </a:ln>
        </p:spPr>
      </p:pic>
      <p:sp>
        <p:nvSpPr>
          <p:cNvPr id="7" name="Footer Placeholder 6"/>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23798156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DED9B-AF6F-4262-BB76-57687572C512}"/>
              </a:ext>
            </a:extLst>
          </p:cNvPr>
          <p:cNvSpPr>
            <a:spLocks noGrp="1"/>
          </p:cNvSpPr>
          <p:nvPr>
            <p:ph type="title"/>
          </p:nvPr>
        </p:nvSpPr>
        <p:spPr/>
        <p:txBody>
          <a:bodyPr>
            <a:normAutofit fontScale="90000"/>
          </a:bodyPr>
          <a:lstStyle/>
          <a:p>
            <a:r>
              <a:rPr lang="en-IN" dirty="0">
                <a:solidFill>
                  <a:srgbClr val="FF0000"/>
                </a:solidFill>
              </a:rPr>
              <a:t>Generative AI</a:t>
            </a:r>
          </a:p>
        </p:txBody>
      </p:sp>
      <p:sp>
        <p:nvSpPr>
          <p:cNvPr id="4" name="Footer Placeholder 3">
            <a:extLst>
              <a:ext uri="{FF2B5EF4-FFF2-40B4-BE49-F238E27FC236}">
                <a16:creationId xmlns:a16="http://schemas.microsoft.com/office/drawing/2014/main" id="{DDC5AF86-08D0-4B70-A9B7-637E0EA44AC5}"/>
              </a:ext>
            </a:extLst>
          </p:cNvPr>
          <p:cNvSpPr>
            <a:spLocks noGrp="1"/>
          </p:cNvSpPr>
          <p:nvPr>
            <p:ph type="ftr" sz="quarter" idx="11"/>
          </p:nvPr>
        </p:nvSpPr>
        <p:spPr>
          <a:xfrm>
            <a:off x="1371600" y="4808136"/>
            <a:ext cx="3771900" cy="274320"/>
          </a:xfrm>
        </p:spPr>
        <p:txBody>
          <a:bodyPr/>
          <a:lstStyle/>
          <a:p>
            <a:r>
              <a:rPr lang="en-US" dirty="0" smtClean="0"/>
              <a:t>Introduction to ML</a:t>
            </a:r>
            <a:endParaRPr lang="en-US" dirty="0"/>
          </a:p>
        </p:txBody>
      </p:sp>
      <p:sp>
        <p:nvSpPr>
          <p:cNvPr id="6" name="Content Placeholder 5">
            <a:extLst>
              <a:ext uri="{FF2B5EF4-FFF2-40B4-BE49-F238E27FC236}">
                <a16:creationId xmlns:a16="http://schemas.microsoft.com/office/drawing/2014/main" id="{BAE48743-9FB2-48C7-B688-12543337D300}"/>
              </a:ext>
            </a:extLst>
          </p:cNvPr>
          <p:cNvSpPr>
            <a:spLocks noGrp="1"/>
          </p:cNvSpPr>
          <p:nvPr>
            <p:ph sz="quarter" idx="1"/>
          </p:nvPr>
        </p:nvSpPr>
        <p:spPr/>
        <p:txBody>
          <a:bodyPr/>
          <a:lstStyle/>
          <a:p>
            <a:r>
              <a:rPr lang="en-US" dirty="0"/>
              <a:t>Generative AI  is an advanced form of ML that generates new content from scratch. It takes raw data and creates something novel but also recognizable </a:t>
            </a:r>
            <a:endParaRPr lang="en-IN" dirty="0"/>
          </a:p>
        </p:txBody>
      </p:sp>
      <p:pic>
        <p:nvPicPr>
          <p:cNvPr id="7" name="Picture 6">
            <a:extLst>
              <a:ext uri="{FF2B5EF4-FFF2-40B4-BE49-F238E27FC236}">
                <a16:creationId xmlns:a16="http://schemas.microsoft.com/office/drawing/2014/main" id="{1C65FBF6-65E2-4EDF-84A0-6BFDE17485D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885950" y="2571751"/>
            <a:ext cx="5257800" cy="2047049"/>
          </a:xfrm>
          <a:prstGeom prst="rect">
            <a:avLst/>
          </a:prstGeom>
          <a:noFill/>
          <a:ln>
            <a:noFill/>
          </a:ln>
        </p:spPr>
      </p:pic>
    </p:spTree>
    <p:extLst>
      <p:ext uri="{BB962C8B-B14F-4D97-AF65-F5344CB8AC3E}">
        <p14:creationId xmlns:p14="http://schemas.microsoft.com/office/powerpoint/2010/main" val="1918294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7" name="Google Shape;127;p21"/>
          <p:cNvSpPr txBox="1"/>
          <p:nvPr/>
        </p:nvSpPr>
        <p:spPr>
          <a:xfrm>
            <a:off x="1565627" y="334825"/>
            <a:ext cx="6535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Times New Roman"/>
                <a:ea typeface="Times New Roman"/>
                <a:cs typeface="Times New Roman"/>
                <a:sym typeface="Times New Roman"/>
              </a:rPr>
              <a:t>Areas of AI and Some Dependencies</a:t>
            </a:r>
            <a:endParaRPr sz="3000">
              <a:solidFill>
                <a:schemeClr val="dk1"/>
              </a:solidFill>
              <a:latin typeface="Times New Roman"/>
              <a:ea typeface="Times New Roman"/>
              <a:cs typeface="Times New Roman"/>
              <a:sym typeface="Times New Roman"/>
            </a:endParaRPr>
          </a:p>
        </p:txBody>
      </p:sp>
      <p:sp>
        <p:nvSpPr>
          <p:cNvPr id="128" name="Google Shape;128;p21"/>
          <p:cNvSpPr txBox="1"/>
          <p:nvPr/>
        </p:nvSpPr>
        <p:spPr>
          <a:xfrm>
            <a:off x="1134791" y="1611925"/>
            <a:ext cx="1082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p:txBody>
      </p:sp>
      <p:sp>
        <p:nvSpPr>
          <p:cNvPr id="129" name="Google Shape;129;p21"/>
          <p:cNvSpPr txBox="1"/>
          <p:nvPr/>
        </p:nvSpPr>
        <p:spPr>
          <a:xfrm>
            <a:off x="1074466" y="1359513"/>
            <a:ext cx="12192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Search</a:t>
            </a:r>
            <a:endParaRPr/>
          </a:p>
        </p:txBody>
      </p:sp>
      <p:sp>
        <p:nvSpPr>
          <p:cNvPr id="130" name="Google Shape;130;p21"/>
          <p:cNvSpPr txBox="1"/>
          <p:nvPr/>
        </p:nvSpPr>
        <p:spPr>
          <a:xfrm>
            <a:off x="3055666" y="3874113"/>
            <a:ext cx="11430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Vision</a:t>
            </a:r>
            <a:endParaRPr/>
          </a:p>
        </p:txBody>
      </p:sp>
      <p:sp>
        <p:nvSpPr>
          <p:cNvPr id="131" name="Google Shape;131;p21"/>
          <p:cNvSpPr txBox="1"/>
          <p:nvPr/>
        </p:nvSpPr>
        <p:spPr>
          <a:xfrm>
            <a:off x="5036866" y="2559663"/>
            <a:ext cx="15240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Planning</a:t>
            </a:r>
            <a:endParaRPr/>
          </a:p>
        </p:txBody>
      </p:sp>
      <p:sp>
        <p:nvSpPr>
          <p:cNvPr id="132" name="Google Shape;132;p21"/>
          <p:cNvSpPr txBox="1"/>
          <p:nvPr/>
        </p:nvSpPr>
        <p:spPr>
          <a:xfrm>
            <a:off x="2446066" y="2388213"/>
            <a:ext cx="1524000" cy="954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rgbClr val="FF0000"/>
                </a:solidFill>
                <a:latin typeface="Times New Roman"/>
                <a:ea typeface="Times New Roman"/>
                <a:cs typeface="Times New Roman"/>
                <a:sym typeface="Times New Roman"/>
              </a:rPr>
              <a:t>Machine Learning</a:t>
            </a:r>
            <a:endParaRPr/>
          </a:p>
        </p:txBody>
      </p:sp>
      <p:sp>
        <p:nvSpPr>
          <p:cNvPr id="133" name="Google Shape;133;p21"/>
          <p:cNvSpPr txBox="1"/>
          <p:nvPr/>
        </p:nvSpPr>
        <p:spPr>
          <a:xfrm>
            <a:off x="5875066" y="1130913"/>
            <a:ext cx="2362200" cy="954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Knowledge Representation</a:t>
            </a:r>
            <a:endParaRPr/>
          </a:p>
        </p:txBody>
      </p:sp>
      <p:sp>
        <p:nvSpPr>
          <p:cNvPr id="134" name="Google Shape;134;p21"/>
          <p:cNvSpPr txBox="1"/>
          <p:nvPr/>
        </p:nvSpPr>
        <p:spPr>
          <a:xfrm>
            <a:off x="3665266" y="1359513"/>
            <a:ext cx="10668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Logic</a:t>
            </a:r>
            <a:endParaRPr/>
          </a:p>
        </p:txBody>
      </p:sp>
      <p:sp>
        <p:nvSpPr>
          <p:cNvPr id="135" name="Google Shape;135;p21"/>
          <p:cNvSpPr txBox="1"/>
          <p:nvPr/>
        </p:nvSpPr>
        <p:spPr>
          <a:xfrm>
            <a:off x="7018066" y="3645513"/>
            <a:ext cx="1524000" cy="954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Expert Systems</a:t>
            </a:r>
            <a:endParaRPr/>
          </a:p>
        </p:txBody>
      </p:sp>
      <p:sp>
        <p:nvSpPr>
          <p:cNvPr id="136" name="Google Shape;136;p21"/>
          <p:cNvSpPr txBox="1"/>
          <p:nvPr/>
        </p:nvSpPr>
        <p:spPr>
          <a:xfrm>
            <a:off x="4732066" y="3874113"/>
            <a:ext cx="16002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Robotics</a:t>
            </a:r>
            <a:endParaRPr/>
          </a:p>
        </p:txBody>
      </p:sp>
      <p:sp>
        <p:nvSpPr>
          <p:cNvPr id="137" name="Google Shape;137;p21"/>
          <p:cNvSpPr txBox="1"/>
          <p:nvPr/>
        </p:nvSpPr>
        <p:spPr>
          <a:xfrm>
            <a:off x="1074466" y="3874113"/>
            <a:ext cx="9906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NLP</a:t>
            </a:r>
            <a:endParaRPr/>
          </a:p>
        </p:txBody>
      </p:sp>
      <p:cxnSp>
        <p:nvCxnSpPr>
          <p:cNvPr id="138" name="Google Shape;138;p21"/>
          <p:cNvCxnSpPr/>
          <p:nvPr/>
        </p:nvCxnSpPr>
        <p:spPr>
          <a:xfrm>
            <a:off x="1531666" y="1759563"/>
            <a:ext cx="0" cy="2114700"/>
          </a:xfrm>
          <a:prstGeom prst="straightConnector1">
            <a:avLst/>
          </a:prstGeom>
          <a:noFill/>
          <a:ln w="9525" cap="flat" cmpd="sng">
            <a:solidFill>
              <a:schemeClr val="dk1"/>
            </a:solidFill>
            <a:prstDash val="solid"/>
            <a:round/>
            <a:headEnd type="none" w="med" len="med"/>
            <a:tailEnd type="triangle" w="med" len="med"/>
          </a:ln>
        </p:spPr>
      </p:cxnSp>
      <p:cxnSp>
        <p:nvCxnSpPr>
          <p:cNvPr id="139" name="Google Shape;139;p21"/>
          <p:cNvCxnSpPr/>
          <p:nvPr/>
        </p:nvCxnSpPr>
        <p:spPr>
          <a:xfrm>
            <a:off x="2293666" y="1588113"/>
            <a:ext cx="1371600" cy="0"/>
          </a:xfrm>
          <a:prstGeom prst="straightConnector1">
            <a:avLst/>
          </a:prstGeom>
          <a:noFill/>
          <a:ln w="9525" cap="flat" cmpd="sng">
            <a:solidFill>
              <a:schemeClr val="dk1"/>
            </a:solidFill>
            <a:prstDash val="solid"/>
            <a:round/>
            <a:headEnd type="none" w="med" len="med"/>
            <a:tailEnd type="triangle" w="med" len="med"/>
          </a:ln>
        </p:spPr>
      </p:cxnSp>
      <p:cxnSp>
        <p:nvCxnSpPr>
          <p:cNvPr id="140" name="Google Shape;140;p21"/>
          <p:cNvCxnSpPr/>
          <p:nvPr/>
        </p:nvCxnSpPr>
        <p:spPr>
          <a:xfrm>
            <a:off x="2293666" y="1759563"/>
            <a:ext cx="2743200" cy="800100"/>
          </a:xfrm>
          <a:prstGeom prst="straightConnector1">
            <a:avLst/>
          </a:prstGeom>
          <a:noFill/>
          <a:ln w="9525" cap="flat" cmpd="sng">
            <a:solidFill>
              <a:schemeClr val="dk1"/>
            </a:solidFill>
            <a:prstDash val="solid"/>
            <a:round/>
            <a:headEnd type="none" w="med" len="med"/>
            <a:tailEnd type="triangle" w="med" len="med"/>
          </a:ln>
        </p:spPr>
      </p:cxnSp>
      <p:cxnSp>
        <p:nvCxnSpPr>
          <p:cNvPr id="141" name="Google Shape;141;p21"/>
          <p:cNvCxnSpPr/>
          <p:nvPr/>
        </p:nvCxnSpPr>
        <p:spPr>
          <a:xfrm>
            <a:off x="1912666" y="1759563"/>
            <a:ext cx="1447800" cy="628800"/>
          </a:xfrm>
          <a:prstGeom prst="straightConnector1">
            <a:avLst/>
          </a:prstGeom>
          <a:noFill/>
          <a:ln w="9525" cap="flat" cmpd="sng">
            <a:solidFill>
              <a:schemeClr val="dk1"/>
            </a:solidFill>
            <a:prstDash val="solid"/>
            <a:round/>
            <a:headEnd type="none" w="med" len="med"/>
            <a:tailEnd type="triangle" w="med" len="med"/>
          </a:ln>
        </p:spPr>
      </p:cxnSp>
      <p:sp>
        <p:nvSpPr>
          <p:cNvPr id="142" name="Google Shape;142;p21"/>
          <p:cNvSpPr/>
          <p:nvPr/>
        </p:nvSpPr>
        <p:spPr>
          <a:xfrm>
            <a:off x="2293666" y="1076144"/>
            <a:ext cx="3505200" cy="283369"/>
          </a:xfrm>
          <a:custGeom>
            <a:avLst/>
            <a:gdLst/>
            <a:ahLst/>
            <a:cxnLst/>
            <a:rect l="l" t="t" r="r" b="b"/>
            <a:pathLst>
              <a:path w="2208" h="238" extrusionOk="0">
                <a:moveTo>
                  <a:pt x="0" y="238"/>
                </a:moveTo>
                <a:cubicBezTo>
                  <a:pt x="178" y="201"/>
                  <a:pt x="702" y="32"/>
                  <a:pt x="1070" y="16"/>
                </a:cubicBezTo>
                <a:cubicBezTo>
                  <a:pt x="1438" y="0"/>
                  <a:pt x="1971" y="116"/>
                  <a:pt x="2208" y="142"/>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1"/>
          <p:cNvSpPr/>
          <p:nvPr/>
        </p:nvSpPr>
        <p:spPr>
          <a:xfrm>
            <a:off x="1684066" y="1759563"/>
            <a:ext cx="1371600" cy="2286000"/>
          </a:xfrm>
          <a:custGeom>
            <a:avLst/>
            <a:gdLst/>
            <a:ahLst/>
            <a:cxnLst/>
            <a:rect l="l" t="t" r="r" b="b"/>
            <a:pathLst>
              <a:path w="864" h="1920" extrusionOk="0">
                <a:moveTo>
                  <a:pt x="0" y="0"/>
                </a:moveTo>
                <a:cubicBezTo>
                  <a:pt x="72" y="536"/>
                  <a:pt x="144" y="1072"/>
                  <a:pt x="288" y="1392"/>
                </a:cubicBezTo>
                <a:cubicBezTo>
                  <a:pt x="432" y="1712"/>
                  <a:pt x="648" y="1816"/>
                  <a:pt x="864" y="192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44" name="Google Shape;144;p21"/>
          <p:cNvCxnSpPr/>
          <p:nvPr/>
        </p:nvCxnSpPr>
        <p:spPr>
          <a:xfrm>
            <a:off x="4732066" y="1759563"/>
            <a:ext cx="914400" cy="800100"/>
          </a:xfrm>
          <a:prstGeom prst="straightConnector1">
            <a:avLst/>
          </a:prstGeom>
          <a:noFill/>
          <a:ln w="9525" cap="flat" cmpd="sng">
            <a:solidFill>
              <a:schemeClr val="dk1"/>
            </a:solidFill>
            <a:prstDash val="solid"/>
            <a:round/>
            <a:headEnd type="none" w="med" len="med"/>
            <a:tailEnd type="triangle" w="med" len="med"/>
          </a:ln>
        </p:spPr>
      </p:cxnSp>
      <p:sp>
        <p:nvSpPr>
          <p:cNvPr id="145" name="Google Shape;145;p21"/>
          <p:cNvSpPr/>
          <p:nvPr/>
        </p:nvSpPr>
        <p:spPr>
          <a:xfrm>
            <a:off x="642666" y="1759563"/>
            <a:ext cx="3022600" cy="2114550"/>
          </a:xfrm>
          <a:custGeom>
            <a:avLst/>
            <a:gdLst/>
            <a:ahLst/>
            <a:cxnLst/>
            <a:rect l="l" t="t" r="r" b="b"/>
            <a:pathLst>
              <a:path w="1904" h="1776" extrusionOk="0">
                <a:moveTo>
                  <a:pt x="1904" y="0"/>
                </a:moveTo>
                <a:cubicBezTo>
                  <a:pt x="1224" y="212"/>
                  <a:pt x="544" y="424"/>
                  <a:pt x="272" y="720"/>
                </a:cubicBezTo>
                <a:cubicBezTo>
                  <a:pt x="0" y="1016"/>
                  <a:pt x="136" y="1396"/>
                  <a:pt x="272" y="1776"/>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1"/>
          <p:cNvSpPr/>
          <p:nvPr/>
        </p:nvSpPr>
        <p:spPr>
          <a:xfrm>
            <a:off x="4732066" y="1759563"/>
            <a:ext cx="4000500" cy="1885950"/>
          </a:xfrm>
          <a:custGeom>
            <a:avLst/>
            <a:gdLst/>
            <a:ahLst/>
            <a:cxnLst/>
            <a:rect l="l" t="t" r="r" b="b"/>
            <a:pathLst>
              <a:path w="2520" h="1584" extrusionOk="0">
                <a:moveTo>
                  <a:pt x="0" y="0"/>
                </a:moveTo>
                <a:cubicBezTo>
                  <a:pt x="356" y="87"/>
                  <a:pt x="1752" y="256"/>
                  <a:pt x="2136" y="520"/>
                </a:cubicBezTo>
                <a:cubicBezTo>
                  <a:pt x="2520" y="784"/>
                  <a:pt x="2269" y="1362"/>
                  <a:pt x="2304" y="1584"/>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47" name="Google Shape;147;p21"/>
          <p:cNvCxnSpPr/>
          <p:nvPr/>
        </p:nvCxnSpPr>
        <p:spPr>
          <a:xfrm>
            <a:off x="7475266" y="1873863"/>
            <a:ext cx="0" cy="1771800"/>
          </a:xfrm>
          <a:prstGeom prst="straightConnector1">
            <a:avLst/>
          </a:prstGeom>
          <a:noFill/>
          <a:ln w="9525" cap="flat" cmpd="sng">
            <a:solidFill>
              <a:schemeClr val="dk1"/>
            </a:solidFill>
            <a:prstDash val="solid"/>
            <a:round/>
            <a:headEnd type="none" w="med" len="med"/>
            <a:tailEnd type="triangle" w="med" len="med"/>
          </a:ln>
        </p:spPr>
      </p:cxnSp>
      <p:cxnSp>
        <p:nvCxnSpPr>
          <p:cNvPr id="148" name="Google Shape;148;p21"/>
          <p:cNvCxnSpPr/>
          <p:nvPr/>
        </p:nvCxnSpPr>
        <p:spPr>
          <a:xfrm>
            <a:off x="3436666" y="3131163"/>
            <a:ext cx="0" cy="743100"/>
          </a:xfrm>
          <a:prstGeom prst="straightConnector1">
            <a:avLst/>
          </a:prstGeom>
          <a:noFill/>
          <a:ln w="9525" cap="flat" cmpd="sng">
            <a:solidFill>
              <a:schemeClr val="dk1"/>
            </a:solidFill>
            <a:prstDash val="solid"/>
            <a:round/>
            <a:headEnd type="none" w="med" len="med"/>
            <a:tailEnd type="triangle" w="med" len="med"/>
          </a:ln>
        </p:spPr>
      </p:cxnSp>
      <p:cxnSp>
        <p:nvCxnSpPr>
          <p:cNvPr id="149" name="Google Shape;149;p21"/>
          <p:cNvCxnSpPr/>
          <p:nvPr/>
        </p:nvCxnSpPr>
        <p:spPr>
          <a:xfrm>
            <a:off x="5722666" y="2959713"/>
            <a:ext cx="0" cy="914400"/>
          </a:xfrm>
          <a:prstGeom prst="straightConnector1">
            <a:avLst/>
          </a:prstGeom>
          <a:noFill/>
          <a:ln w="9525" cap="flat" cmpd="sng">
            <a:solidFill>
              <a:schemeClr val="dk1"/>
            </a:solidFill>
            <a:prstDash val="solid"/>
            <a:round/>
            <a:headEnd type="none" w="med" len="med"/>
            <a:tailEnd type="triangle" w="med" len="med"/>
          </a:ln>
        </p:spPr>
      </p:cxnSp>
      <p:sp>
        <p:nvSpPr>
          <p:cNvPr id="150" name="Google Shape;150;p21"/>
          <p:cNvSpPr/>
          <p:nvPr/>
        </p:nvSpPr>
        <p:spPr>
          <a:xfrm>
            <a:off x="2065066" y="1873863"/>
            <a:ext cx="3810000" cy="2000250"/>
          </a:xfrm>
          <a:custGeom>
            <a:avLst/>
            <a:gdLst/>
            <a:ahLst/>
            <a:cxnLst/>
            <a:rect l="l" t="t" r="r" b="b"/>
            <a:pathLst>
              <a:path w="2400" h="1680" extrusionOk="0">
                <a:moveTo>
                  <a:pt x="2400" y="0"/>
                </a:moveTo>
                <a:cubicBezTo>
                  <a:pt x="2276" y="96"/>
                  <a:pt x="1845" y="359"/>
                  <a:pt x="1656" y="576"/>
                </a:cubicBezTo>
                <a:cubicBezTo>
                  <a:pt x="1467" y="793"/>
                  <a:pt x="1540" y="1120"/>
                  <a:pt x="1264" y="1304"/>
                </a:cubicBezTo>
                <a:cubicBezTo>
                  <a:pt x="988" y="1488"/>
                  <a:pt x="263" y="1602"/>
                  <a:pt x="0" y="168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57200" y="1201479"/>
            <a:ext cx="4245582" cy="3416847"/>
          </a:xfrm>
          <a:prstGeom prst="rect">
            <a:avLst/>
          </a:prstGeom>
        </p:spPr>
        <p:txBody>
          <a:bodyPr vert="horz" wrap="square" lIns="0" tIns="4332" rIns="0" bIns="0" rtlCol="0">
            <a:spAutoFit/>
          </a:bodyPr>
          <a:lstStyle/>
          <a:p>
            <a:pPr marL="212050" marR="1733" indent="-207935">
              <a:lnSpc>
                <a:spcPct val="132400"/>
              </a:lnSpc>
              <a:spcBef>
                <a:spcPts val="34"/>
              </a:spcBef>
              <a:buClr>
                <a:srgbClr val="5E5E5E"/>
              </a:buClr>
              <a:buAutoNum type="arabicPeriod"/>
              <a:tabLst>
                <a:tab pos="212483" algn="l"/>
              </a:tabLst>
            </a:pPr>
            <a:r>
              <a:rPr b="1" dirty="0">
                <a:solidFill>
                  <a:srgbClr val="3C7DEC"/>
                </a:solidFill>
                <a:latin typeface="Courier New"/>
                <a:cs typeface="Courier New"/>
              </a:rPr>
              <a:t>Linear</a:t>
            </a:r>
            <a:r>
              <a:rPr b="1" spc="-2" dirty="0">
                <a:solidFill>
                  <a:srgbClr val="3C7DEC"/>
                </a:solidFill>
                <a:latin typeface="Courier New"/>
                <a:cs typeface="Courier New"/>
              </a:rPr>
              <a:t> </a:t>
            </a:r>
            <a:r>
              <a:rPr b="1" dirty="0">
                <a:solidFill>
                  <a:srgbClr val="3C7DEC"/>
                </a:solidFill>
                <a:latin typeface="Courier New"/>
                <a:cs typeface="Courier New"/>
              </a:rPr>
              <a:t>Regression</a:t>
            </a:r>
            <a:r>
              <a:rPr b="1" spc="-2" dirty="0">
                <a:solidFill>
                  <a:srgbClr val="3C7DEC"/>
                </a:solidFill>
                <a:latin typeface="Courier New"/>
                <a:cs typeface="Courier New"/>
              </a:rPr>
              <a:t> </a:t>
            </a:r>
            <a:r>
              <a:rPr b="1" dirty="0">
                <a:solidFill>
                  <a:srgbClr val="5E5E5E"/>
                </a:solidFill>
                <a:latin typeface="Courier New"/>
                <a:cs typeface="Courier New"/>
              </a:rPr>
              <a:t>is</a:t>
            </a:r>
            <a:r>
              <a:rPr b="1" spc="-2" dirty="0">
                <a:solidFill>
                  <a:srgbClr val="5E5E5E"/>
                </a:solidFill>
                <a:latin typeface="Courier New"/>
                <a:cs typeface="Courier New"/>
              </a:rPr>
              <a:t> </a:t>
            </a:r>
            <a:r>
              <a:rPr b="1" dirty="0">
                <a:solidFill>
                  <a:srgbClr val="5E5E5E"/>
                </a:solidFill>
                <a:latin typeface="Courier New"/>
                <a:cs typeface="Courier New"/>
              </a:rPr>
              <a:t>a</a:t>
            </a:r>
            <a:r>
              <a:rPr b="1" spc="-2" dirty="0">
                <a:solidFill>
                  <a:srgbClr val="5E5E5E"/>
                </a:solidFill>
                <a:latin typeface="Courier New"/>
                <a:cs typeface="Courier New"/>
              </a:rPr>
              <a:t> </a:t>
            </a:r>
            <a:r>
              <a:rPr b="1" dirty="0">
                <a:solidFill>
                  <a:srgbClr val="5E5E5E"/>
                </a:solidFill>
                <a:latin typeface="Courier New"/>
                <a:cs typeface="Courier New"/>
              </a:rPr>
              <a:t>method</a:t>
            </a:r>
            <a:r>
              <a:rPr b="1" spc="-2" dirty="0">
                <a:solidFill>
                  <a:srgbClr val="5E5E5E"/>
                </a:solidFill>
                <a:latin typeface="Courier New"/>
                <a:cs typeface="Courier New"/>
              </a:rPr>
              <a:t> </a:t>
            </a:r>
            <a:r>
              <a:rPr b="1" spc="-8" dirty="0">
                <a:solidFill>
                  <a:srgbClr val="5E5E5E"/>
                </a:solidFill>
                <a:latin typeface="Courier New"/>
                <a:cs typeface="Courier New"/>
              </a:rPr>
              <a:t>in </a:t>
            </a:r>
            <a:r>
              <a:rPr b="1" dirty="0">
                <a:solidFill>
                  <a:srgbClr val="5E5E5E"/>
                </a:solidFill>
                <a:latin typeface="Courier New"/>
                <a:cs typeface="Courier New"/>
              </a:rPr>
              <a:t>statistics</a:t>
            </a:r>
            <a:r>
              <a:rPr b="1" spc="-2" dirty="0">
                <a:solidFill>
                  <a:srgbClr val="5E5E5E"/>
                </a:solidFill>
                <a:latin typeface="Courier New"/>
                <a:cs typeface="Courier New"/>
              </a:rPr>
              <a:t> </a:t>
            </a:r>
            <a:r>
              <a:rPr b="1" dirty="0">
                <a:solidFill>
                  <a:srgbClr val="5E5E5E"/>
                </a:solidFill>
                <a:latin typeface="Courier New"/>
                <a:cs typeface="Courier New"/>
              </a:rPr>
              <a:t>used</a:t>
            </a:r>
            <a:r>
              <a:rPr b="1" spc="-2" dirty="0">
                <a:solidFill>
                  <a:srgbClr val="5E5E5E"/>
                </a:solidFill>
                <a:latin typeface="Courier New"/>
                <a:cs typeface="Courier New"/>
              </a:rPr>
              <a:t> </a:t>
            </a:r>
            <a:r>
              <a:rPr b="1" dirty="0">
                <a:solidFill>
                  <a:srgbClr val="5E5E5E"/>
                </a:solidFill>
                <a:latin typeface="Courier New"/>
                <a:cs typeface="Courier New"/>
              </a:rPr>
              <a:t>to</a:t>
            </a:r>
            <a:r>
              <a:rPr b="1" spc="-2" dirty="0">
                <a:solidFill>
                  <a:srgbClr val="5E5E5E"/>
                </a:solidFill>
                <a:latin typeface="Courier New"/>
                <a:cs typeface="Courier New"/>
              </a:rPr>
              <a:t> </a:t>
            </a:r>
            <a:r>
              <a:rPr b="1" dirty="0">
                <a:solidFill>
                  <a:srgbClr val="5E5E5E"/>
                </a:solidFill>
                <a:latin typeface="Courier New"/>
                <a:cs typeface="Courier New"/>
              </a:rPr>
              <a:t>predict</a:t>
            </a:r>
            <a:r>
              <a:rPr b="1" spc="-2" dirty="0">
                <a:solidFill>
                  <a:srgbClr val="5E5E5E"/>
                </a:solidFill>
                <a:latin typeface="Courier New"/>
                <a:cs typeface="Courier New"/>
              </a:rPr>
              <a:t> </a:t>
            </a:r>
            <a:r>
              <a:rPr b="1" spc="-8" dirty="0">
                <a:solidFill>
                  <a:srgbClr val="5E5E5E"/>
                </a:solidFill>
                <a:latin typeface="Courier New"/>
                <a:cs typeface="Courier New"/>
              </a:rPr>
              <a:t>the </a:t>
            </a:r>
            <a:r>
              <a:rPr b="1" dirty="0">
                <a:solidFill>
                  <a:srgbClr val="5E5E5E"/>
                </a:solidFill>
                <a:latin typeface="Courier New"/>
                <a:cs typeface="Courier New"/>
              </a:rPr>
              <a:t>value</a:t>
            </a:r>
            <a:r>
              <a:rPr b="1" spc="-2" dirty="0">
                <a:solidFill>
                  <a:srgbClr val="5E5E5E"/>
                </a:solidFill>
                <a:latin typeface="Courier New"/>
                <a:cs typeface="Courier New"/>
              </a:rPr>
              <a:t> </a:t>
            </a:r>
            <a:r>
              <a:rPr b="1" dirty="0">
                <a:solidFill>
                  <a:srgbClr val="5E5E5E"/>
                </a:solidFill>
                <a:latin typeface="Courier New"/>
                <a:cs typeface="Courier New"/>
              </a:rPr>
              <a:t>of</a:t>
            </a:r>
            <a:r>
              <a:rPr b="1" spc="-2" dirty="0">
                <a:solidFill>
                  <a:srgbClr val="5E5E5E"/>
                </a:solidFill>
                <a:latin typeface="Courier New"/>
                <a:cs typeface="Courier New"/>
              </a:rPr>
              <a:t> </a:t>
            </a:r>
            <a:r>
              <a:rPr b="1" dirty="0">
                <a:solidFill>
                  <a:srgbClr val="5E5E5E"/>
                </a:solidFill>
                <a:latin typeface="Courier New"/>
                <a:cs typeface="Courier New"/>
              </a:rPr>
              <a:t>a</a:t>
            </a:r>
            <a:r>
              <a:rPr b="1" spc="-2" dirty="0">
                <a:solidFill>
                  <a:srgbClr val="5E5E5E"/>
                </a:solidFill>
                <a:latin typeface="Courier New"/>
                <a:cs typeface="Courier New"/>
              </a:rPr>
              <a:t> </a:t>
            </a:r>
            <a:r>
              <a:rPr b="1" dirty="0">
                <a:solidFill>
                  <a:srgbClr val="5E5E5E"/>
                </a:solidFill>
                <a:latin typeface="Courier New"/>
                <a:cs typeface="Courier New"/>
              </a:rPr>
              <a:t>variable</a:t>
            </a:r>
            <a:r>
              <a:rPr b="1" spc="-2" dirty="0">
                <a:solidFill>
                  <a:srgbClr val="5E5E5E"/>
                </a:solidFill>
                <a:latin typeface="Courier New"/>
                <a:cs typeface="Courier New"/>
              </a:rPr>
              <a:t> </a:t>
            </a:r>
            <a:r>
              <a:rPr b="1" dirty="0">
                <a:solidFill>
                  <a:srgbClr val="5E5E5E"/>
                </a:solidFill>
                <a:latin typeface="Courier New"/>
                <a:cs typeface="Courier New"/>
              </a:rPr>
              <a:t>based</a:t>
            </a:r>
            <a:r>
              <a:rPr b="1" spc="-2" dirty="0">
                <a:solidFill>
                  <a:srgbClr val="5E5E5E"/>
                </a:solidFill>
                <a:latin typeface="Courier New"/>
                <a:cs typeface="Courier New"/>
              </a:rPr>
              <a:t> </a:t>
            </a:r>
            <a:r>
              <a:rPr b="1" spc="-8" dirty="0">
                <a:solidFill>
                  <a:srgbClr val="5E5E5E"/>
                </a:solidFill>
                <a:latin typeface="Courier New"/>
                <a:cs typeface="Courier New"/>
              </a:rPr>
              <a:t>on </a:t>
            </a:r>
            <a:r>
              <a:rPr b="1" dirty="0">
                <a:solidFill>
                  <a:srgbClr val="5E5E5E"/>
                </a:solidFill>
                <a:latin typeface="Courier New"/>
                <a:cs typeface="Courier New"/>
              </a:rPr>
              <a:t>another</a:t>
            </a:r>
            <a:r>
              <a:rPr b="1" spc="-2" dirty="0">
                <a:solidFill>
                  <a:srgbClr val="5E5E5E"/>
                </a:solidFill>
                <a:latin typeface="Courier New"/>
                <a:cs typeface="Courier New"/>
              </a:rPr>
              <a:t> </a:t>
            </a:r>
            <a:r>
              <a:rPr b="1" spc="-4" dirty="0">
                <a:solidFill>
                  <a:srgbClr val="5E5E5E"/>
                </a:solidFill>
                <a:latin typeface="Courier New"/>
                <a:cs typeface="Courier New"/>
              </a:rPr>
              <a:t>variable</a:t>
            </a:r>
            <a:r>
              <a:rPr b="1" spc="-4" dirty="0" smtClean="0">
                <a:solidFill>
                  <a:srgbClr val="5E5E5E"/>
                </a:solidFill>
                <a:latin typeface="Courier New"/>
                <a:cs typeface="Courier New"/>
              </a:rPr>
              <a:t>.</a:t>
            </a:r>
            <a:endParaRPr lang="en-IN" b="1" spc="-4" dirty="0" smtClean="0">
              <a:solidFill>
                <a:srgbClr val="5E5E5E"/>
              </a:solidFill>
              <a:latin typeface="Courier New"/>
              <a:cs typeface="Courier New"/>
            </a:endParaRPr>
          </a:p>
          <a:p>
            <a:pPr marL="212050" marR="1733" indent="-207935">
              <a:lnSpc>
                <a:spcPct val="132400"/>
              </a:lnSpc>
              <a:spcBef>
                <a:spcPts val="34"/>
              </a:spcBef>
              <a:buClr>
                <a:srgbClr val="5E5E5E"/>
              </a:buClr>
              <a:buAutoNum type="arabicPeriod"/>
              <a:tabLst>
                <a:tab pos="212483" algn="l"/>
              </a:tabLst>
            </a:pPr>
            <a:endParaRPr b="1" dirty="0">
              <a:latin typeface="Courier New"/>
              <a:cs typeface="Courier New"/>
            </a:endParaRPr>
          </a:p>
          <a:p>
            <a:pPr marL="212050" marR="1733" indent="-207935">
              <a:lnSpc>
                <a:spcPct val="132400"/>
              </a:lnSpc>
              <a:buAutoNum type="arabicPeriod"/>
              <a:tabLst>
                <a:tab pos="212483" algn="l"/>
              </a:tabLst>
            </a:pPr>
            <a:r>
              <a:rPr b="1" dirty="0">
                <a:solidFill>
                  <a:srgbClr val="5E5E5E"/>
                </a:solidFill>
                <a:latin typeface="Courier New"/>
                <a:cs typeface="Courier New"/>
              </a:rPr>
              <a:t>Linear</a:t>
            </a:r>
            <a:r>
              <a:rPr b="1" spc="-2" dirty="0">
                <a:solidFill>
                  <a:srgbClr val="5E5E5E"/>
                </a:solidFill>
                <a:latin typeface="Courier New"/>
                <a:cs typeface="Courier New"/>
              </a:rPr>
              <a:t> </a:t>
            </a:r>
            <a:r>
              <a:rPr b="1" dirty="0">
                <a:solidFill>
                  <a:srgbClr val="5E5E5E"/>
                </a:solidFill>
                <a:latin typeface="Courier New"/>
                <a:cs typeface="Courier New"/>
              </a:rPr>
              <a:t>regression</a:t>
            </a:r>
            <a:r>
              <a:rPr b="1" spc="-2" dirty="0">
                <a:solidFill>
                  <a:srgbClr val="5E5E5E"/>
                </a:solidFill>
                <a:latin typeface="Courier New"/>
                <a:cs typeface="Courier New"/>
              </a:rPr>
              <a:t> </a:t>
            </a:r>
            <a:r>
              <a:rPr b="1" dirty="0">
                <a:solidFill>
                  <a:srgbClr val="5E5E5E"/>
                </a:solidFill>
                <a:latin typeface="Courier New"/>
                <a:cs typeface="Courier New"/>
              </a:rPr>
              <a:t>focuses</a:t>
            </a:r>
            <a:r>
              <a:rPr b="1" spc="-2" dirty="0">
                <a:solidFill>
                  <a:srgbClr val="5E5E5E"/>
                </a:solidFill>
                <a:latin typeface="Courier New"/>
                <a:cs typeface="Courier New"/>
              </a:rPr>
              <a:t> </a:t>
            </a:r>
            <a:r>
              <a:rPr b="1" dirty="0">
                <a:solidFill>
                  <a:srgbClr val="5E5E5E"/>
                </a:solidFill>
                <a:latin typeface="Courier New"/>
                <a:cs typeface="Courier New"/>
              </a:rPr>
              <a:t>on</a:t>
            </a:r>
            <a:r>
              <a:rPr b="1" spc="-2" dirty="0">
                <a:solidFill>
                  <a:srgbClr val="5E5E5E"/>
                </a:solidFill>
                <a:latin typeface="Courier New"/>
                <a:cs typeface="Courier New"/>
              </a:rPr>
              <a:t> </a:t>
            </a:r>
            <a:r>
              <a:rPr b="1" spc="-8" dirty="0">
                <a:solidFill>
                  <a:srgbClr val="5E5E5E"/>
                </a:solidFill>
                <a:latin typeface="Courier New"/>
                <a:cs typeface="Courier New"/>
              </a:rPr>
              <a:t>the </a:t>
            </a:r>
            <a:r>
              <a:rPr b="1" dirty="0">
                <a:solidFill>
                  <a:srgbClr val="5E5E5E"/>
                </a:solidFill>
                <a:latin typeface="Courier New"/>
                <a:cs typeface="Courier New"/>
              </a:rPr>
              <a:t>linear</a:t>
            </a:r>
            <a:r>
              <a:rPr b="1" spc="-2" dirty="0">
                <a:solidFill>
                  <a:srgbClr val="5E5E5E"/>
                </a:solidFill>
                <a:latin typeface="Courier New"/>
                <a:cs typeface="Courier New"/>
              </a:rPr>
              <a:t> </a:t>
            </a:r>
            <a:r>
              <a:rPr b="1" dirty="0">
                <a:solidFill>
                  <a:srgbClr val="5E5E5E"/>
                </a:solidFill>
                <a:latin typeface="Courier New"/>
                <a:cs typeface="Courier New"/>
              </a:rPr>
              <a:t>dependence</a:t>
            </a:r>
            <a:r>
              <a:rPr b="1" spc="-2" dirty="0">
                <a:solidFill>
                  <a:srgbClr val="5E5E5E"/>
                </a:solidFill>
                <a:latin typeface="Courier New"/>
                <a:cs typeface="Courier New"/>
              </a:rPr>
              <a:t> </a:t>
            </a:r>
            <a:r>
              <a:rPr b="1" dirty="0">
                <a:solidFill>
                  <a:srgbClr val="5E5E5E"/>
                </a:solidFill>
                <a:latin typeface="Courier New"/>
                <a:cs typeface="Courier New"/>
              </a:rPr>
              <a:t>of</a:t>
            </a:r>
            <a:r>
              <a:rPr b="1" spc="-2" dirty="0">
                <a:solidFill>
                  <a:srgbClr val="5E5E5E"/>
                </a:solidFill>
                <a:latin typeface="Courier New"/>
                <a:cs typeface="Courier New"/>
              </a:rPr>
              <a:t> </a:t>
            </a:r>
            <a:r>
              <a:rPr b="1" spc="-4" dirty="0">
                <a:solidFill>
                  <a:srgbClr val="5E5E5E"/>
                </a:solidFill>
                <a:latin typeface="Courier New"/>
                <a:cs typeface="Courier New"/>
              </a:rPr>
              <a:t>variables</a:t>
            </a:r>
            <a:r>
              <a:rPr b="1" spc="-4" dirty="0" smtClean="0">
                <a:solidFill>
                  <a:srgbClr val="5E5E5E"/>
                </a:solidFill>
                <a:latin typeface="Courier New"/>
                <a:cs typeface="Courier New"/>
              </a:rPr>
              <a:t>.</a:t>
            </a:r>
            <a:endParaRPr lang="en-IN" b="1" spc="-4" dirty="0" smtClean="0">
              <a:solidFill>
                <a:srgbClr val="5E5E5E"/>
              </a:solidFill>
              <a:latin typeface="Courier New"/>
              <a:cs typeface="Courier New"/>
            </a:endParaRPr>
          </a:p>
          <a:p>
            <a:pPr marL="212050" marR="1733" indent="-207935">
              <a:lnSpc>
                <a:spcPct val="132400"/>
              </a:lnSpc>
              <a:buAutoNum type="arabicPeriod"/>
              <a:tabLst>
                <a:tab pos="212483" algn="l"/>
              </a:tabLst>
            </a:pPr>
            <a:endParaRPr b="1" dirty="0">
              <a:latin typeface="Courier New"/>
              <a:cs typeface="Courier New"/>
            </a:endParaRPr>
          </a:p>
          <a:p>
            <a:pPr marL="212050" marR="173063" indent="-207935">
              <a:lnSpc>
                <a:spcPct val="132400"/>
              </a:lnSpc>
              <a:buAutoNum type="arabicPeriod"/>
              <a:tabLst>
                <a:tab pos="212483" algn="l"/>
              </a:tabLst>
            </a:pPr>
            <a:r>
              <a:rPr b="1" dirty="0">
                <a:solidFill>
                  <a:srgbClr val="5E5E5E"/>
                </a:solidFill>
                <a:latin typeface="Courier New"/>
                <a:cs typeface="Courier New"/>
              </a:rPr>
              <a:t>Graphically,</a:t>
            </a:r>
            <a:r>
              <a:rPr b="1" spc="-2" dirty="0">
                <a:solidFill>
                  <a:srgbClr val="5E5E5E"/>
                </a:solidFill>
                <a:latin typeface="Courier New"/>
                <a:cs typeface="Courier New"/>
              </a:rPr>
              <a:t> </a:t>
            </a:r>
            <a:r>
              <a:rPr b="1" dirty="0">
                <a:solidFill>
                  <a:srgbClr val="5E5E5E"/>
                </a:solidFill>
                <a:latin typeface="Courier New"/>
                <a:cs typeface="Courier New"/>
              </a:rPr>
              <a:t>given</a:t>
            </a:r>
            <a:r>
              <a:rPr b="1" spc="-2" dirty="0">
                <a:solidFill>
                  <a:srgbClr val="5E5E5E"/>
                </a:solidFill>
                <a:latin typeface="Courier New"/>
                <a:cs typeface="Courier New"/>
              </a:rPr>
              <a:t> </a:t>
            </a:r>
            <a:r>
              <a:rPr b="1" dirty="0">
                <a:solidFill>
                  <a:srgbClr val="5E5E5E"/>
                </a:solidFill>
                <a:latin typeface="Courier New"/>
                <a:cs typeface="Courier New"/>
              </a:rPr>
              <a:t>a</a:t>
            </a:r>
            <a:r>
              <a:rPr b="1" spc="-2" dirty="0">
                <a:solidFill>
                  <a:srgbClr val="5E5E5E"/>
                </a:solidFill>
                <a:latin typeface="Courier New"/>
                <a:cs typeface="Courier New"/>
              </a:rPr>
              <a:t> </a:t>
            </a:r>
            <a:r>
              <a:rPr b="1" dirty="0">
                <a:solidFill>
                  <a:srgbClr val="5E5E5E"/>
                </a:solidFill>
                <a:latin typeface="Courier New"/>
                <a:cs typeface="Courier New"/>
              </a:rPr>
              <a:t>set</a:t>
            </a:r>
            <a:r>
              <a:rPr b="1" spc="-2" dirty="0">
                <a:solidFill>
                  <a:srgbClr val="5E5E5E"/>
                </a:solidFill>
                <a:latin typeface="Courier New"/>
                <a:cs typeface="Courier New"/>
              </a:rPr>
              <a:t> </a:t>
            </a:r>
            <a:r>
              <a:rPr b="1" spc="-8" dirty="0">
                <a:solidFill>
                  <a:srgbClr val="5E5E5E"/>
                </a:solidFill>
                <a:latin typeface="Courier New"/>
                <a:cs typeface="Courier New"/>
              </a:rPr>
              <a:t>of </a:t>
            </a:r>
            <a:r>
              <a:rPr b="1" dirty="0">
                <a:solidFill>
                  <a:srgbClr val="5E5E5E"/>
                </a:solidFill>
                <a:latin typeface="Courier New"/>
                <a:cs typeface="Courier New"/>
              </a:rPr>
              <a:t>points</a:t>
            </a:r>
            <a:r>
              <a:rPr b="1" spc="-2" dirty="0">
                <a:solidFill>
                  <a:srgbClr val="5E5E5E"/>
                </a:solidFill>
                <a:latin typeface="Courier New"/>
                <a:cs typeface="Courier New"/>
              </a:rPr>
              <a:t> </a:t>
            </a:r>
            <a:r>
              <a:rPr b="1" dirty="0">
                <a:solidFill>
                  <a:srgbClr val="5E5E5E"/>
                </a:solidFill>
                <a:latin typeface="Courier New"/>
                <a:cs typeface="Courier New"/>
              </a:rPr>
              <a:t>the</a:t>
            </a:r>
            <a:r>
              <a:rPr b="1" spc="-2" dirty="0">
                <a:solidFill>
                  <a:srgbClr val="5E5E5E"/>
                </a:solidFill>
                <a:latin typeface="Courier New"/>
                <a:cs typeface="Courier New"/>
              </a:rPr>
              <a:t> </a:t>
            </a:r>
            <a:r>
              <a:rPr b="1" dirty="0">
                <a:solidFill>
                  <a:srgbClr val="5E5E5E"/>
                </a:solidFill>
                <a:latin typeface="Courier New"/>
                <a:cs typeface="Courier New"/>
              </a:rPr>
              <a:t>aim</a:t>
            </a:r>
            <a:r>
              <a:rPr b="1" spc="-2" dirty="0">
                <a:solidFill>
                  <a:srgbClr val="5E5E5E"/>
                </a:solidFill>
                <a:latin typeface="Courier New"/>
                <a:cs typeface="Courier New"/>
              </a:rPr>
              <a:t> </a:t>
            </a:r>
            <a:r>
              <a:rPr b="1" dirty="0">
                <a:solidFill>
                  <a:srgbClr val="5E5E5E"/>
                </a:solidFill>
                <a:latin typeface="Courier New"/>
                <a:cs typeface="Courier New"/>
              </a:rPr>
              <a:t>of</a:t>
            </a:r>
            <a:r>
              <a:rPr b="1" spc="-2" dirty="0">
                <a:solidFill>
                  <a:srgbClr val="5E5E5E"/>
                </a:solidFill>
                <a:latin typeface="Courier New"/>
                <a:cs typeface="Courier New"/>
              </a:rPr>
              <a:t> </a:t>
            </a:r>
            <a:r>
              <a:rPr b="1" spc="-4" dirty="0">
                <a:solidFill>
                  <a:srgbClr val="5E5E5E"/>
                </a:solidFill>
                <a:latin typeface="Courier New"/>
                <a:cs typeface="Courier New"/>
              </a:rPr>
              <a:t>linear </a:t>
            </a:r>
            <a:r>
              <a:rPr b="1" dirty="0">
                <a:solidFill>
                  <a:srgbClr val="5E5E5E"/>
                </a:solidFill>
                <a:latin typeface="Courier New"/>
                <a:cs typeface="Courier New"/>
              </a:rPr>
              <a:t>regression</a:t>
            </a:r>
            <a:r>
              <a:rPr b="1" spc="-5" dirty="0">
                <a:solidFill>
                  <a:srgbClr val="5E5E5E"/>
                </a:solidFill>
                <a:latin typeface="Courier New"/>
                <a:cs typeface="Courier New"/>
              </a:rPr>
              <a:t> </a:t>
            </a:r>
            <a:r>
              <a:rPr b="1" dirty="0">
                <a:solidFill>
                  <a:srgbClr val="5E5E5E"/>
                </a:solidFill>
                <a:latin typeface="Courier New"/>
                <a:cs typeface="Courier New"/>
              </a:rPr>
              <a:t>is</a:t>
            </a:r>
            <a:r>
              <a:rPr b="1" spc="-2" dirty="0">
                <a:solidFill>
                  <a:srgbClr val="5E5E5E"/>
                </a:solidFill>
                <a:latin typeface="Courier New"/>
                <a:cs typeface="Courier New"/>
              </a:rPr>
              <a:t> </a:t>
            </a:r>
            <a:r>
              <a:rPr b="1" dirty="0">
                <a:solidFill>
                  <a:srgbClr val="5E5E5E"/>
                </a:solidFill>
                <a:latin typeface="Courier New"/>
                <a:cs typeface="Courier New"/>
              </a:rPr>
              <a:t>to</a:t>
            </a:r>
            <a:r>
              <a:rPr b="1" spc="-2" dirty="0">
                <a:solidFill>
                  <a:srgbClr val="5E5E5E"/>
                </a:solidFill>
                <a:latin typeface="Courier New"/>
                <a:cs typeface="Courier New"/>
              </a:rPr>
              <a:t> </a:t>
            </a:r>
            <a:r>
              <a:rPr b="1" dirty="0">
                <a:solidFill>
                  <a:srgbClr val="5E5E5E"/>
                </a:solidFill>
                <a:latin typeface="Courier New"/>
                <a:cs typeface="Courier New"/>
              </a:rPr>
              <a:t>find</a:t>
            </a:r>
            <a:r>
              <a:rPr b="1" spc="-2" dirty="0">
                <a:solidFill>
                  <a:srgbClr val="5E5E5E"/>
                </a:solidFill>
                <a:latin typeface="Courier New"/>
                <a:cs typeface="Courier New"/>
              </a:rPr>
              <a:t> </a:t>
            </a:r>
            <a:r>
              <a:rPr b="1" dirty="0">
                <a:solidFill>
                  <a:srgbClr val="5E5E5E"/>
                </a:solidFill>
                <a:latin typeface="Courier New"/>
                <a:cs typeface="Courier New"/>
              </a:rPr>
              <a:t>the</a:t>
            </a:r>
            <a:r>
              <a:rPr b="1" spc="-2" dirty="0">
                <a:solidFill>
                  <a:srgbClr val="5E5E5E"/>
                </a:solidFill>
                <a:latin typeface="Courier New"/>
                <a:cs typeface="Courier New"/>
              </a:rPr>
              <a:t> </a:t>
            </a:r>
            <a:r>
              <a:rPr b="1" spc="-7" dirty="0">
                <a:solidFill>
                  <a:srgbClr val="5E5E5E"/>
                </a:solidFill>
                <a:latin typeface="Courier New"/>
                <a:cs typeface="Courier New"/>
              </a:rPr>
              <a:t>line </a:t>
            </a:r>
            <a:r>
              <a:rPr b="1" dirty="0">
                <a:solidFill>
                  <a:srgbClr val="5E5E5E"/>
                </a:solidFill>
                <a:latin typeface="Courier New"/>
                <a:cs typeface="Courier New"/>
              </a:rPr>
              <a:t>that</a:t>
            </a:r>
            <a:r>
              <a:rPr b="1" spc="-2" dirty="0">
                <a:solidFill>
                  <a:srgbClr val="5E5E5E"/>
                </a:solidFill>
                <a:latin typeface="Courier New"/>
                <a:cs typeface="Courier New"/>
              </a:rPr>
              <a:t> </a:t>
            </a:r>
            <a:r>
              <a:rPr b="1" dirty="0">
                <a:solidFill>
                  <a:srgbClr val="5E5E5E"/>
                </a:solidFill>
                <a:latin typeface="Courier New"/>
                <a:cs typeface="Courier New"/>
              </a:rPr>
              <a:t>best</a:t>
            </a:r>
            <a:r>
              <a:rPr b="1" spc="-2" dirty="0">
                <a:solidFill>
                  <a:srgbClr val="5E5E5E"/>
                </a:solidFill>
                <a:latin typeface="Courier New"/>
                <a:cs typeface="Courier New"/>
              </a:rPr>
              <a:t> </a:t>
            </a:r>
            <a:r>
              <a:rPr b="1" dirty="0">
                <a:solidFill>
                  <a:srgbClr val="5E5E5E"/>
                </a:solidFill>
                <a:latin typeface="Courier New"/>
                <a:cs typeface="Courier New"/>
              </a:rPr>
              <a:t>fits</a:t>
            </a:r>
            <a:r>
              <a:rPr b="1" spc="-2" dirty="0">
                <a:solidFill>
                  <a:srgbClr val="5E5E5E"/>
                </a:solidFill>
                <a:latin typeface="Courier New"/>
                <a:cs typeface="Courier New"/>
              </a:rPr>
              <a:t> </a:t>
            </a:r>
            <a:r>
              <a:rPr b="1" dirty="0">
                <a:solidFill>
                  <a:srgbClr val="5E5E5E"/>
                </a:solidFill>
                <a:latin typeface="Courier New"/>
                <a:cs typeface="Courier New"/>
              </a:rPr>
              <a:t>the</a:t>
            </a:r>
            <a:r>
              <a:rPr b="1" spc="-2" dirty="0">
                <a:solidFill>
                  <a:srgbClr val="5E5E5E"/>
                </a:solidFill>
                <a:latin typeface="Courier New"/>
                <a:cs typeface="Courier New"/>
              </a:rPr>
              <a:t> </a:t>
            </a:r>
            <a:r>
              <a:rPr b="1" spc="-4" dirty="0">
                <a:solidFill>
                  <a:srgbClr val="5E5E5E"/>
                </a:solidFill>
                <a:latin typeface="Courier New"/>
                <a:cs typeface="Courier New"/>
              </a:rPr>
              <a:t>points.</a:t>
            </a:r>
            <a:endParaRPr b="1" dirty="0">
              <a:latin typeface="Courier New"/>
              <a:cs typeface="Courier New"/>
            </a:endParaRPr>
          </a:p>
        </p:txBody>
      </p:sp>
      <p:grpSp>
        <p:nvGrpSpPr>
          <p:cNvPr id="5" name="object 5"/>
          <p:cNvGrpSpPr/>
          <p:nvPr/>
        </p:nvGrpSpPr>
        <p:grpSpPr>
          <a:xfrm>
            <a:off x="5520384" y="1392865"/>
            <a:ext cx="2337075" cy="2041698"/>
            <a:chOff x="13050409" y="3279779"/>
            <a:chExt cx="4796155" cy="4841875"/>
          </a:xfrm>
        </p:grpSpPr>
        <p:sp>
          <p:nvSpPr>
            <p:cNvPr id="6" name="object 6"/>
            <p:cNvSpPr/>
            <p:nvPr/>
          </p:nvSpPr>
          <p:spPr>
            <a:xfrm>
              <a:off x="13100669" y="3369829"/>
              <a:ext cx="0" cy="4692650"/>
            </a:xfrm>
            <a:custGeom>
              <a:avLst/>
              <a:gdLst/>
              <a:ahLst/>
              <a:cxnLst/>
              <a:rect l="l" t="t" r="r" b="b"/>
              <a:pathLst>
                <a:path h="4692650">
                  <a:moveTo>
                    <a:pt x="0" y="4692095"/>
                  </a:moveTo>
                  <a:lnTo>
                    <a:pt x="0" y="10470"/>
                  </a:lnTo>
                  <a:lnTo>
                    <a:pt x="0" y="0"/>
                  </a:lnTo>
                </a:path>
              </a:pathLst>
            </a:custGeom>
            <a:ln w="20941">
              <a:solidFill>
                <a:srgbClr val="000000"/>
              </a:solidFill>
            </a:ln>
          </p:spPr>
          <p:txBody>
            <a:bodyPr wrap="square" lIns="0" tIns="0" rIns="0" bIns="0" rtlCol="0"/>
            <a:lstStyle/>
            <a:p>
              <a:endParaRPr sz="614"/>
            </a:p>
          </p:txBody>
        </p:sp>
        <p:sp>
          <p:nvSpPr>
            <p:cNvPr id="7" name="object 7"/>
            <p:cNvSpPr/>
            <p:nvPr/>
          </p:nvSpPr>
          <p:spPr>
            <a:xfrm>
              <a:off x="13050409" y="3279779"/>
              <a:ext cx="100965" cy="100965"/>
            </a:xfrm>
            <a:custGeom>
              <a:avLst/>
              <a:gdLst/>
              <a:ahLst/>
              <a:cxnLst/>
              <a:rect l="l" t="t" r="r" b="b"/>
              <a:pathLst>
                <a:path w="100965" h="100964">
                  <a:moveTo>
                    <a:pt x="50260" y="0"/>
                  </a:moveTo>
                  <a:lnTo>
                    <a:pt x="0" y="100520"/>
                  </a:lnTo>
                  <a:lnTo>
                    <a:pt x="100520" y="100520"/>
                  </a:lnTo>
                  <a:lnTo>
                    <a:pt x="50260" y="0"/>
                  </a:lnTo>
                  <a:close/>
                </a:path>
              </a:pathLst>
            </a:custGeom>
            <a:solidFill>
              <a:srgbClr val="000000"/>
            </a:solidFill>
          </p:spPr>
          <p:txBody>
            <a:bodyPr wrap="square" lIns="0" tIns="0" rIns="0" bIns="0" rtlCol="0"/>
            <a:lstStyle/>
            <a:p>
              <a:endParaRPr sz="614"/>
            </a:p>
          </p:txBody>
        </p:sp>
        <p:sp>
          <p:nvSpPr>
            <p:cNvPr id="8" name="object 8"/>
            <p:cNvSpPr/>
            <p:nvPr/>
          </p:nvSpPr>
          <p:spPr>
            <a:xfrm>
              <a:off x="13085623" y="8071166"/>
              <a:ext cx="4671060" cy="0"/>
            </a:xfrm>
            <a:custGeom>
              <a:avLst/>
              <a:gdLst/>
              <a:ahLst/>
              <a:cxnLst/>
              <a:rect l="l" t="t" r="r" b="b"/>
              <a:pathLst>
                <a:path w="4671059">
                  <a:moveTo>
                    <a:pt x="0" y="0"/>
                  </a:moveTo>
                  <a:lnTo>
                    <a:pt x="4660427" y="0"/>
                  </a:lnTo>
                  <a:lnTo>
                    <a:pt x="4670898" y="0"/>
                  </a:lnTo>
                </a:path>
              </a:pathLst>
            </a:custGeom>
            <a:ln w="20941">
              <a:solidFill>
                <a:srgbClr val="000000"/>
              </a:solidFill>
            </a:ln>
          </p:spPr>
          <p:txBody>
            <a:bodyPr wrap="square" lIns="0" tIns="0" rIns="0" bIns="0" rtlCol="0"/>
            <a:lstStyle/>
            <a:p>
              <a:endParaRPr sz="614"/>
            </a:p>
          </p:txBody>
        </p:sp>
        <p:sp>
          <p:nvSpPr>
            <p:cNvPr id="9" name="object 9"/>
            <p:cNvSpPr/>
            <p:nvPr/>
          </p:nvSpPr>
          <p:spPr>
            <a:xfrm>
              <a:off x="17746046" y="8020906"/>
              <a:ext cx="100965" cy="100965"/>
            </a:xfrm>
            <a:custGeom>
              <a:avLst/>
              <a:gdLst/>
              <a:ahLst/>
              <a:cxnLst/>
              <a:rect l="l" t="t" r="r" b="b"/>
              <a:pathLst>
                <a:path w="100965" h="100965">
                  <a:moveTo>
                    <a:pt x="0" y="0"/>
                  </a:moveTo>
                  <a:lnTo>
                    <a:pt x="0" y="100520"/>
                  </a:lnTo>
                  <a:lnTo>
                    <a:pt x="100520" y="50260"/>
                  </a:lnTo>
                  <a:lnTo>
                    <a:pt x="0" y="0"/>
                  </a:lnTo>
                  <a:close/>
                </a:path>
              </a:pathLst>
            </a:custGeom>
            <a:solidFill>
              <a:srgbClr val="000000"/>
            </a:solidFill>
          </p:spPr>
          <p:txBody>
            <a:bodyPr wrap="square" lIns="0" tIns="0" rIns="0" bIns="0" rtlCol="0"/>
            <a:lstStyle/>
            <a:p>
              <a:endParaRPr sz="614"/>
            </a:p>
          </p:txBody>
        </p:sp>
        <p:pic>
          <p:nvPicPr>
            <p:cNvPr id="10" name="object 10"/>
            <p:cNvPicPr/>
            <p:nvPr/>
          </p:nvPicPr>
          <p:blipFill>
            <a:blip r:embed="rId2" cstate="print"/>
            <a:stretch>
              <a:fillRect/>
            </a:stretch>
          </p:blipFill>
          <p:spPr>
            <a:xfrm>
              <a:off x="13382676" y="7489230"/>
              <a:ext cx="120904" cy="132308"/>
            </a:xfrm>
            <a:prstGeom prst="rect">
              <a:avLst/>
            </a:prstGeom>
          </p:spPr>
        </p:pic>
        <p:pic>
          <p:nvPicPr>
            <p:cNvPr id="11" name="object 11"/>
            <p:cNvPicPr/>
            <p:nvPr/>
          </p:nvPicPr>
          <p:blipFill>
            <a:blip r:embed="rId2" cstate="print"/>
            <a:stretch>
              <a:fillRect/>
            </a:stretch>
          </p:blipFill>
          <p:spPr>
            <a:xfrm>
              <a:off x="13382676" y="7213587"/>
              <a:ext cx="120904" cy="132308"/>
            </a:xfrm>
            <a:prstGeom prst="rect">
              <a:avLst/>
            </a:prstGeom>
          </p:spPr>
        </p:pic>
        <p:pic>
          <p:nvPicPr>
            <p:cNvPr id="12" name="object 12"/>
            <p:cNvPicPr/>
            <p:nvPr/>
          </p:nvPicPr>
          <p:blipFill>
            <a:blip r:embed="rId3" cstate="print"/>
            <a:stretch>
              <a:fillRect/>
            </a:stretch>
          </p:blipFill>
          <p:spPr>
            <a:xfrm>
              <a:off x="13555624" y="7627051"/>
              <a:ext cx="120904" cy="132308"/>
            </a:xfrm>
            <a:prstGeom prst="rect">
              <a:avLst/>
            </a:prstGeom>
          </p:spPr>
        </p:pic>
        <p:pic>
          <p:nvPicPr>
            <p:cNvPr id="13" name="object 13"/>
            <p:cNvPicPr/>
            <p:nvPr/>
          </p:nvPicPr>
          <p:blipFill>
            <a:blip r:embed="rId3" cstate="print"/>
            <a:stretch>
              <a:fillRect/>
            </a:stretch>
          </p:blipFill>
          <p:spPr>
            <a:xfrm>
              <a:off x="13555624" y="7351409"/>
              <a:ext cx="120904" cy="132308"/>
            </a:xfrm>
            <a:prstGeom prst="rect">
              <a:avLst/>
            </a:prstGeom>
          </p:spPr>
        </p:pic>
        <p:pic>
          <p:nvPicPr>
            <p:cNvPr id="14" name="object 14"/>
            <p:cNvPicPr/>
            <p:nvPr/>
          </p:nvPicPr>
          <p:blipFill>
            <a:blip r:embed="rId2" cstate="print"/>
            <a:stretch>
              <a:fillRect/>
            </a:stretch>
          </p:blipFill>
          <p:spPr>
            <a:xfrm>
              <a:off x="13852013" y="7489230"/>
              <a:ext cx="120904" cy="132308"/>
            </a:xfrm>
            <a:prstGeom prst="rect">
              <a:avLst/>
            </a:prstGeom>
          </p:spPr>
        </p:pic>
        <p:pic>
          <p:nvPicPr>
            <p:cNvPr id="15" name="object 15"/>
            <p:cNvPicPr/>
            <p:nvPr/>
          </p:nvPicPr>
          <p:blipFill>
            <a:blip r:embed="rId3" cstate="print"/>
            <a:stretch>
              <a:fillRect/>
            </a:stretch>
          </p:blipFill>
          <p:spPr>
            <a:xfrm>
              <a:off x="13555624" y="6998619"/>
              <a:ext cx="120904" cy="132308"/>
            </a:xfrm>
            <a:prstGeom prst="rect">
              <a:avLst/>
            </a:prstGeom>
          </p:spPr>
        </p:pic>
        <p:pic>
          <p:nvPicPr>
            <p:cNvPr id="16" name="object 16"/>
            <p:cNvPicPr/>
            <p:nvPr/>
          </p:nvPicPr>
          <p:blipFill>
            <a:blip r:embed="rId4" cstate="print"/>
            <a:stretch>
              <a:fillRect/>
            </a:stretch>
          </p:blipFill>
          <p:spPr>
            <a:xfrm>
              <a:off x="14071025" y="7306663"/>
              <a:ext cx="120912" cy="132308"/>
            </a:xfrm>
            <a:prstGeom prst="rect">
              <a:avLst/>
            </a:prstGeom>
          </p:spPr>
        </p:pic>
        <p:pic>
          <p:nvPicPr>
            <p:cNvPr id="17" name="object 17"/>
            <p:cNvPicPr/>
            <p:nvPr/>
          </p:nvPicPr>
          <p:blipFill>
            <a:blip r:embed="rId2" cstate="print"/>
            <a:stretch>
              <a:fillRect/>
            </a:stretch>
          </p:blipFill>
          <p:spPr>
            <a:xfrm>
              <a:off x="13852013" y="7213587"/>
              <a:ext cx="120904" cy="132308"/>
            </a:xfrm>
            <a:prstGeom prst="rect">
              <a:avLst/>
            </a:prstGeom>
          </p:spPr>
        </p:pic>
        <p:pic>
          <p:nvPicPr>
            <p:cNvPr id="18" name="object 18"/>
            <p:cNvPicPr/>
            <p:nvPr/>
          </p:nvPicPr>
          <p:blipFill>
            <a:blip r:embed="rId2" cstate="print"/>
            <a:stretch>
              <a:fillRect/>
            </a:stretch>
          </p:blipFill>
          <p:spPr>
            <a:xfrm>
              <a:off x="14148402" y="6998619"/>
              <a:ext cx="120904" cy="132308"/>
            </a:xfrm>
            <a:prstGeom prst="rect">
              <a:avLst/>
            </a:prstGeom>
          </p:spPr>
        </p:pic>
        <p:pic>
          <p:nvPicPr>
            <p:cNvPr id="19" name="object 19"/>
            <p:cNvPicPr/>
            <p:nvPr/>
          </p:nvPicPr>
          <p:blipFill>
            <a:blip r:embed="rId2" cstate="print"/>
            <a:stretch>
              <a:fillRect/>
            </a:stretch>
          </p:blipFill>
          <p:spPr>
            <a:xfrm>
              <a:off x="13852013" y="6998619"/>
              <a:ext cx="120904" cy="132308"/>
            </a:xfrm>
            <a:prstGeom prst="rect">
              <a:avLst/>
            </a:prstGeom>
          </p:spPr>
        </p:pic>
        <p:pic>
          <p:nvPicPr>
            <p:cNvPr id="20" name="object 20"/>
            <p:cNvPicPr/>
            <p:nvPr/>
          </p:nvPicPr>
          <p:blipFill>
            <a:blip r:embed="rId5" cstate="print"/>
            <a:stretch>
              <a:fillRect/>
            </a:stretch>
          </p:blipFill>
          <p:spPr>
            <a:xfrm>
              <a:off x="13765537" y="6552753"/>
              <a:ext cx="120912" cy="132308"/>
            </a:xfrm>
            <a:prstGeom prst="rect">
              <a:avLst/>
            </a:prstGeom>
          </p:spPr>
        </p:pic>
        <p:pic>
          <p:nvPicPr>
            <p:cNvPr id="21" name="object 21"/>
            <p:cNvPicPr/>
            <p:nvPr/>
          </p:nvPicPr>
          <p:blipFill>
            <a:blip r:embed="rId6" cstate="print"/>
            <a:stretch>
              <a:fillRect/>
            </a:stretch>
          </p:blipFill>
          <p:spPr>
            <a:xfrm>
              <a:off x="13765537" y="6277110"/>
              <a:ext cx="120912" cy="132308"/>
            </a:xfrm>
            <a:prstGeom prst="rect">
              <a:avLst/>
            </a:prstGeom>
          </p:spPr>
        </p:pic>
        <p:pic>
          <p:nvPicPr>
            <p:cNvPr id="22" name="object 22"/>
            <p:cNvPicPr/>
            <p:nvPr/>
          </p:nvPicPr>
          <p:blipFill>
            <a:blip r:embed="rId2" cstate="print"/>
            <a:stretch>
              <a:fillRect/>
            </a:stretch>
          </p:blipFill>
          <p:spPr>
            <a:xfrm>
              <a:off x="13938484" y="6690574"/>
              <a:ext cx="120912" cy="132308"/>
            </a:xfrm>
            <a:prstGeom prst="rect">
              <a:avLst/>
            </a:prstGeom>
          </p:spPr>
        </p:pic>
        <p:pic>
          <p:nvPicPr>
            <p:cNvPr id="23" name="object 23"/>
            <p:cNvPicPr/>
            <p:nvPr/>
          </p:nvPicPr>
          <p:blipFill>
            <a:blip r:embed="rId2" cstate="print"/>
            <a:stretch>
              <a:fillRect/>
            </a:stretch>
          </p:blipFill>
          <p:spPr>
            <a:xfrm>
              <a:off x="13938484" y="6414932"/>
              <a:ext cx="120912" cy="132308"/>
            </a:xfrm>
            <a:prstGeom prst="rect">
              <a:avLst/>
            </a:prstGeom>
          </p:spPr>
        </p:pic>
        <p:pic>
          <p:nvPicPr>
            <p:cNvPr id="24" name="object 24"/>
            <p:cNvPicPr/>
            <p:nvPr/>
          </p:nvPicPr>
          <p:blipFill>
            <a:blip r:embed="rId2" cstate="print"/>
            <a:stretch>
              <a:fillRect/>
            </a:stretch>
          </p:blipFill>
          <p:spPr>
            <a:xfrm>
              <a:off x="14234873" y="6552753"/>
              <a:ext cx="120912" cy="132308"/>
            </a:xfrm>
            <a:prstGeom prst="rect">
              <a:avLst/>
            </a:prstGeom>
          </p:spPr>
        </p:pic>
        <p:pic>
          <p:nvPicPr>
            <p:cNvPr id="25" name="object 25"/>
            <p:cNvPicPr/>
            <p:nvPr/>
          </p:nvPicPr>
          <p:blipFill>
            <a:blip r:embed="rId2" cstate="print"/>
            <a:stretch>
              <a:fillRect/>
            </a:stretch>
          </p:blipFill>
          <p:spPr>
            <a:xfrm>
              <a:off x="13938484" y="6062142"/>
              <a:ext cx="120912" cy="132307"/>
            </a:xfrm>
            <a:prstGeom prst="rect">
              <a:avLst/>
            </a:prstGeom>
          </p:spPr>
        </p:pic>
        <p:pic>
          <p:nvPicPr>
            <p:cNvPr id="26" name="object 26"/>
            <p:cNvPicPr/>
            <p:nvPr/>
          </p:nvPicPr>
          <p:blipFill>
            <a:blip r:embed="rId2" cstate="print"/>
            <a:stretch>
              <a:fillRect/>
            </a:stretch>
          </p:blipFill>
          <p:spPr>
            <a:xfrm>
              <a:off x="14453890" y="6370186"/>
              <a:ext cx="120907" cy="132308"/>
            </a:xfrm>
            <a:prstGeom prst="rect">
              <a:avLst/>
            </a:prstGeom>
          </p:spPr>
        </p:pic>
        <p:pic>
          <p:nvPicPr>
            <p:cNvPr id="27" name="object 27"/>
            <p:cNvPicPr/>
            <p:nvPr/>
          </p:nvPicPr>
          <p:blipFill>
            <a:blip r:embed="rId4" cstate="print"/>
            <a:stretch>
              <a:fillRect/>
            </a:stretch>
          </p:blipFill>
          <p:spPr>
            <a:xfrm>
              <a:off x="14234873" y="6277110"/>
              <a:ext cx="120912" cy="132308"/>
            </a:xfrm>
            <a:prstGeom prst="rect">
              <a:avLst/>
            </a:prstGeom>
          </p:spPr>
        </p:pic>
        <p:pic>
          <p:nvPicPr>
            <p:cNvPr id="28" name="object 28"/>
            <p:cNvPicPr/>
            <p:nvPr/>
          </p:nvPicPr>
          <p:blipFill>
            <a:blip r:embed="rId5" cstate="print"/>
            <a:stretch>
              <a:fillRect/>
            </a:stretch>
          </p:blipFill>
          <p:spPr>
            <a:xfrm>
              <a:off x="14531262" y="6062142"/>
              <a:ext cx="120912" cy="132307"/>
            </a:xfrm>
            <a:prstGeom prst="rect">
              <a:avLst/>
            </a:prstGeom>
          </p:spPr>
        </p:pic>
        <p:pic>
          <p:nvPicPr>
            <p:cNvPr id="29" name="object 29"/>
            <p:cNvPicPr/>
            <p:nvPr/>
          </p:nvPicPr>
          <p:blipFill>
            <a:blip r:embed="rId2" cstate="print"/>
            <a:stretch>
              <a:fillRect/>
            </a:stretch>
          </p:blipFill>
          <p:spPr>
            <a:xfrm>
              <a:off x="14234873" y="6062142"/>
              <a:ext cx="120912" cy="132307"/>
            </a:xfrm>
            <a:prstGeom prst="rect">
              <a:avLst/>
            </a:prstGeom>
          </p:spPr>
        </p:pic>
        <p:pic>
          <p:nvPicPr>
            <p:cNvPr id="30" name="object 30"/>
            <p:cNvPicPr/>
            <p:nvPr/>
          </p:nvPicPr>
          <p:blipFill>
            <a:blip r:embed="rId2" cstate="print"/>
            <a:stretch>
              <a:fillRect/>
            </a:stretch>
          </p:blipFill>
          <p:spPr>
            <a:xfrm>
              <a:off x="14443524" y="6866969"/>
              <a:ext cx="120904" cy="132308"/>
            </a:xfrm>
            <a:prstGeom prst="rect">
              <a:avLst/>
            </a:prstGeom>
          </p:spPr>
        </p:pic>
        <p:pic>
          <p:nvPicPr>
            <p:cNvPr id="31" name="object 31"/>
            <p:cNvPicPr/>
            <p:nvPr/>
          </p:nvPicPr>
          <p:blipFill>
            <a:blip r:embed="rId4" cstate="print"/>
            <a:stretch>
              <a:fillRect/>
            </a:stretch>
          </p:blipFill>
          <p:spPr>
            <a:xfrm>
              <a:off x="14443524" y="6591327"/>
              <a:ext cx="120904" cy="132308"/>
            </a:xfrm>
            <a:prstGeom prst="rect">
              <a:avLst/>
            </a:prstGeom>
          </p:spPr>
        </p:pic>
        <p:pic>
          <p:nvPicPr>
            <p:cNvPr id="32" name="object 32"/>
            <p:cNvPicPr/>
            <p:nvPr/>
          </p:nvPicPr>
          <p:blipFill>
            <a:blip r:embed="rId2" cstate="print"/>
            <a:stretch>
              <a:fillRect/>
            </a:stretch>
          </p:blipFill>
          <p:spPr>
            <a:xfrm>
              <a:off x="14616471" y="6729148"/>
              <a:ext cx="120904" cy="132308"/>
            </a:xfrm>
            <a:prstGeom prst="rect">
              <a:avLst/>
            </a:prstGeom>
          </p:spPr>
        </p:pic>
        <p:pic>
          <p:nvPicPr>
            <p:cNvPr id="33" name="object 33"/>
            <p:cNvPicPr/>
            <p:nvPr/>
          </p:nvPicPr>
          <p:blipFill>
            <a:blip r:embed="rId2" cstate="print"/>
            <a:stretch>
              <a:fillRect/>
            </a:stretch>
          </p:blipFill>
          <p:spPr>
            <a:xfrm>
              <a:off x="14616471" y="7004791"/>
              <a:ext cx="120904" cy="132308"/>
            </a:xfrm>
            <a:prstGeom prst="rect">
              <a:avLst/>
            </a:prstGeom>
          </p:spPr>
        </p:pic>
        <p:pic>
          <p:nvPicPr>
            <p:cNvPr id="34" name="object 34"/>
            <p:cNvPicPr/>
            <p:nvPr/>
          </p:nvPicPr>
          <p:blipFill>
            <a:blip r:embed="rId3" cstate="print"/>
            <a:stretch>
              <a:fillRect/>
            </a:stretch>
          </p:blipFill>
          <p:spPr>
            <a:xfrm>
              <a:off x="14912860" y="6866969"/>
              <a:ext cx="120904" cy="132308"/>
            </a:xfrm>
            <a:prstGeom prst="rect">
              <a:avLst/>
            </a:prstGeom>
          </p:spPr>
        </p:pic>
        <p:pic>
          <p:nvPicPr>
            <p:cNvPr id="35" name="object 35"/>
            <p:cNvPicPr/>
            <p:nvPr/>
          </p:nvPicPr>
          <p:blipFill>
            <a:blip r:embed="rId2" cstate="print"/>
            <a:stretch>
              <a:fillRect/>
            </a:stretch>
          </p:blipFill>
          <p:spPr>
            <a:xfrm>
              <a:off x="14616471" y="6376357"/>
              <a:ext cx="120904" cy="132308"/>
            </a:xfrm>
            <a:prstGeom prst="rect">
              <a:avLst/>
            </a:prstGeom>
          </p:spPr>
        </p:pic>
        <p:pic>
          <p:nvPicPr>
            <p:cNvPr id="36" name="object 36"/>
            <p:cNvPicPr/>
            <p:nvPr/>
          </p:nvPicPr>
          <p:blipFill>
            <a:blip r:embed="rId7" cstate="print"/>
            <a:stretch>
              <a:fillRect/>
            </a:stretch>
          </p:blipFill>
          <p:spPr>
            <a:xfrm>
              <a:off x="14912860" y="6591327"/>
              <a:ext cx="120904" cy="132308"/>
            </a:xfrm>
            <a:prstGeom prst="rect">
              <a:avLst/>
            </a:prstGeom>
          </p:spPr>
        </p:pic>
        <p:pic>
          <p:nvPicPr>
            <p:cNvPr id="37" name="object 37"/>
            <p:cNvPicPr/>
            <p:nvPr/>
          </p:nvPicPr>
          <p:blipFill>
            <a:blip r:embed="rId5" cstate="print"/>
            <a:stretch>
              <a:fillRect/>
            </a:stretch>
          </p:blipFill>
          <p:spPr>
            <a:xfrm>
              <a:off x="15131872" y="6684402"/>
              <a:ext cx="120912" cy="132308"/>
            </a:xfrm>
            <a:prstGeom prst="rect">
              <a:avLst/>
            </a:prstGeom>
          </p:spPr>
        </p:pic>
        <p:sp>
          <p:nvSpPr>
            <p:cNvPr id="38" name="object 38"/>
            <p:cNvSpPr/>
            <p:nvPr/>
          </p:nvSpPr>
          <p:spPr>
            <a:xfrm>
              <a:off x="15209252" y="6376357"/>
              <a:ext cx="121285" cy="132715"/>
            </a:xfrm>
            <a:custGeom>
              <a:avLst/>
              <a:gdLst/>
              <a:ahLst/>
              <a:cxnLst/>
              <a:rect l="l" t="t" r="r" b="b"/>
              <a:pathLst>
                <a:path w="121284" h="132715">
                  <a:moveTo>
                    <a:pt x="60452" y="0"/>
                  </a:moveTo>
                  <a:lnTo>
                    <a:pt x="37703" y="4844"/>
                  </a:lnTo>
                  <a:lnTo>
                    <a:pt x="17708" y="19376"/>
                  </a:lnTo>
                  <a:lnTo>
                    <a:pt x="4427" y="41260"/>
                  </a:lnTo>
                  <a:lnTo>
                    <a:pt x="0" y="66154"/>
                  </a:lnTo>
                  <a:lnTo>
                    <a:pt x="4427" y="91048"/>
                  </a:lnTo>
                  <a:lnTo>
                    <a:pt x="17708" y="112932"/>
                  </a:lnTo>
                  <a:lnTo>
                    <a:pt x="37703" y="127464"/>
                  </a:lnTo>
                  <a:lnTo>
                    <a:pt x="60452" y="132308"/>
                  </a:lnTo>
                  <a:lnTo>
                    <a:pt x="83202" y="127464"/>
                  </a:lnTo>
                  <a:lnTo>
                    <a:pt x="103203" y="112932"/>
                  </a:lnTo>
                  <a:lnTo>
                    <a:pt x="116479" y="91048"/>
                  </a:lnTo>
                  <a:lnTo>
                    <a:pt x="120904" y="66154"/>
                  </a:lnTo>
                  <a:lnTo>
                    <a:pt x="116479" y="41260"/>
                  </a:lnTo>
                  <a:lnTo>
                    <a:pt x="103203" y="19376"/>
                  </a:lnTo>
                  <a:lnTo>
                    <a:pt x="83202" y="4844"/>
                  </a:lnTo>
                  <a:lnTo>
                    <a:pt x="60452" y="0"/>
                  </a:lnTo>
                  <a:close/>
                </a:path>
              </a:pathLst>
            </a:custGeom>
            <a:solidFill>
              <a:srgbClr val="3C7DEC"/>
            </a:solidFill>
          </p:spPr>
          <p:txBody>
            <a:bodyPr wrap="square" lIns="0" tIns="0" rIns="0" bIns="0" rtlCol="0"/>
            <a:lstStyle/>
            <a:p>
              <a:endParaRPr sz="614"/>
            </a:p>
          </p:txBody>
        </p:sp>
        <p:pic>
          <p:nvPicPr>
            <p:cNvPr id="39" name="object 39"/>
            <p:cNvPicPr/>
            <p:nvPr/>
          </p:nvPicPr>
          <p:blipFill>
            <a:blip r:embed="rId3" cstate="print"/>
            <a:stretch>
              <a:fillRect/>
            </a:stretch>
          </p:blipFill>
          <p:spPr>
            <a:xfrm>
              <a:off x="14912860" y="6376357"/>
              <a:ext cx="120904" cy="132308"/>
            </a:xfrm>
            <a:prstGeom prst="rect">
              <a:avLst/>
            </a:prstGeom>
          </p:spPr>
        </p:pic>
        <p:pic>
          <p:nvPicPr>
            <p:cNvPr id="40" name="object 40"/>
            <p:cNvPicPr/>
            <p:nvPr/>
          </p:nvPicPr>
          <p:blipFill>
            <a:blip r:embed="rId3" cstate="print"/>
            <a:stretch>
              <a:fillRect/>
            </a:stretch>
          </p:blipFill>
          <p:spPr>
            <a:xfrm>
              <a:off x="14912860" y="5902220"/>
              <a:ext cx="120904" cy="132308"/>
            </a:xfrm>
            <a:prstGeom prst="rect">
              <a:avLst/>
            </a:prstGeom>
          </p:spPr>
        </p:pic>
        <p:pic>
          <p:nvPicPr>
            <p:cNvPr id="41" name="object 41"/>
            <p:cNvPicPr/>
            <p:nvPr/>
          </p:nvPicPr>
          <p:blipFill>
            <a:blip r:embed="rId7" cstate="print"/>
            <a:stretch>
              <a:fillRect/>
            </a:stretch>
          </p:blipFill>
          <p:spPr>
            <a:xfrm>
              <a:off x="14912860" y="6177863"/>
              <a:ext cx="120904" cy="132308"/>
            </a:xfrm>
            <a:prstGeom prst="rect">
              <a:avLst/>
            </a:prstGeom>
          </p:spPr>
        </p:pic>
        <p:sp>
          <p:nvSpPr>
            <p:cNvPr id="42" name="object 42"/>
            <p:cNvSpPr/>
            <p:nvPr/>
          </p:nvSpPr>
          <p:spPr>
            <a:xfrm>
              <a:off x="15085808" y="6315684"/>
              <a:ext cx="121285" cy="132715"/>
            </a:xfrm>
            <a:custGeom>
              <a:avLst/>
              <a:gdLst/>
              <a:ahLst/>
              <a:cxnLst/>
              <a:rect l="l" t="t" r="r" b="b"/>
              <a:pathLst>
                <a:path w="121284" h="132714">
                  <a:moveTo>
                    <a:pt x="60452" y="0"/>
                  </a:moveTo>
                  <a:lnTo>
                    <a:pt x="37701" y="4844"/>
                  </a:lnTo>
                  <a:lnTo>
                    <a:pt x="17701" y="19376"/>
                  </a:lnTo>
                  <a:lnTo>
                    <a:pt x="4425" y="41260"/>
                  </a:lnTo>
                  <a:lnTo>
                    <a:pt x="0" y="66154"/>
                  </a:lnTo>
                  <a:lnTo>
                    <a:pt x="4425" y="91048"/>
                  </a:lnTo>
                  <a:lnTo>
                    <a:pt x="17701" y="112932"/>
                  </a:lnTo>
                  <a:lnTo>
                    <a:pt x="37701" y="127464"/>
                  </a:lnTo>
                  <a:lnTo>
                    <a:pt x="60452" y="132308"/>
                  </a:lnTo>
                  <a:lnTo>
                    <a:pt x="83200" y="127464"/>
                  </a:lnTo>
                  <a:lnTo>
                    <a:pt x="103195" y="112932"/>
                  </a:lnTo>
                  <a:lnTo>
                    <a:pt x="116477" y="91048"/>
                  </a:lnTo>
                  <a:lnTo>
                    <a:pt x="120904" y="66154"/>
                  </a:lnTo>
                  <a:lnTo>
                    <a:pt x="116477" y="41260"/>
                  </a:lnTo>
                  <a:lnTo>
                    <a:pt x="103195" y="19376"/>
                  </a:lnTo>
                  <a:lnTo>
                    <a:pt x="83200" y="4844"/>
                  </a:lnTo>
                  <a:lnTo>
                    <a:pt x="60452" y="0"/>
                  </a:lnTo>
                  <a:close/>
                </a:path>
              </a:pathLst>
            </a:custGeom>
            <a:solidFill>
              <a:srgbClr val="3C7DEC"/>
            </a:solidFill>
          </p:spPr>
          <p:txBody>
            <a:bodyPr wrap="square" lIns="0" tIns="0" rIns="0" bIns="0" rtlCol="0"/>
            <a:lstStyle/>
            <a:p>
              <a:endParaRPr sz="614"/>
            </a:p>
          </p:txBody>
        </p:sp>
        <p:pic>
          <p:nvPicPr>
            <p:cNvPr id="43" name="object 43"/>
            <p:cNvPicPr/>
            <p:nvPr/>
          </p:nvPicPr>
          <p:blipFill>
            <a:blip r:embed="rId2" cstate="print"/>
            <a:stretch>
              <a:fillRect/>
            </a:stretch>
          </p:blipFill>
          <p:spPr>
            <a:xfrm>
              <a:off x="15085808" y="6040042"/>
              <a:ext cx="120904" cy="132308"/>
            </a:xfrm>
            <a:prstGeom prst="rect">
              <a:avLst/>
            </a:prstGeom>
          </p:spPr>
        </p:pic>
        <p:pic>
          <p:nvPicPr>
            <p:cNvPr id="44" name="object 44"/>
            <p:cNvPicPr/>
            <p:nvPr/>
          </p:nvPicPr>
          <p:blipFill>
            <a:blip r:embed="rId4" cstate="print"/>
            <a:stretch>
              <a:fillRect/>
            </a:stretch>
          </p:blipFill>
          <p:spPr>
            <a:xfrm>
              <a:off x="15382197" y="6177863"/>
              <a:ext cx="120907" cy="132308"/>
            </a:xfrm>
            <a:prstGeom prst="rect">
              <a:avLst/>
            </a:prstGeom>
          </p:spPr>
        </p:pic>
        <p:pic>
          <p:nvPicPr>
            <p:cNvPr id="45" name="object 45"/>
            <p:cNvPicPr/>
            <p:nvPr/>
          </p:nvPicPr>
          <p:blipFill>
            <a:blip r:embed="rId4" cstate="print"/>
            <a:stretch>
              <a:fillRect/>
            </a:stretch>
          </p:blipFill>
          <p:spPr>
            <a:xfrm>
              <a:off x="15085808" y="5687252"/>
              <a:ext cx="120904" cy="132308"/>
            </a:xfrm>
            <a:prstGeom prst="rect">
              <a:avLst/>
            </a:prstGeom>
          </p:spPr>
        </p:pic>
        <p:pic>
          <p:nvPicPr>
            <p:cNvPr id="46" name="object 46"/>
            <p:cNvPicPr/>
            <p:nvPr/>
          </p:nvPicPr>
          <p:blipFill>
            <a:blip r:embed="rId2" cstate="print"/>
            <a:stretch>
              <a:fillRect/>
            </a:stretch>
          </p:blipFill>
          <p:spPr>
            <a:xfrm>
              <a:off x="15601208" y="5995296"/>
              <a:ext cx="120912" cy="132308"/>
            </a:xfrm>
            <a:prstGeom prst="rect">
              <a:avLst/>
            </a:prstGeom>
          </p:spPr>
        </p:pic>
        <p:pic>
          <p:nvPicPr>
            <p:cNvPr id="47" name="object 47"/>
            <p:cNvPicPr/>
            <p:nvPr/>
          </p:nvPicPr>
          <p:blipFill>
            <a:blip r:embed="rId2" cstate="print"/>
            <a:stretch>
              <a:fillRect/>
            </a:stretch>
          </p:blipFill>
          <p:spPr>
            <a:xfrm>
              <a:off x="15382197" y="5902220"/>
              <a:ext cx="120907" cy="132308"/>
            </a:xfrm>
            <a:prstGeom prst="rect">
              <a:avLst/>
            </a:prstGeom>
          </p:spPr>
        </p:pic>
        <p:pic>
          <p:nvPicPr>
            <p:cNvPr id="48" name="object 48"/>
            <p:cNvPicPr/>
            <p:nvPr/>
          </p:nvPicPr>
          <p:blipFill>
            <a:blip r:embed="rId4" cstate="print"/>
            <a:stretch>
              <a:fillRect/>
            </a:stretch>
          </p:blipFill>
          <p:spPr>
            <a:xfrm>
              <a:off x="15678586" y="5687252"/>
              <a:ext cx="120907" cy="132308"/>
            </a:xfrm>
            <a:prstGeom prst="rect">
              <a:avLst/>
            </a:prstGeom>
          </p:spPr>
        </p:pic>
        <p:pic>
          <p:nvPicPr>
            <p:cNvPr id="49" name="object 49"/>
            <p:cNvPicPr/>
            <p:nvPr/>
          </p:nvPicPr>
          <p:blipFill>
            <a:blip r:embed="rId4" cstate="print"/>
            <a:stretch>
              <a:fillRect/>
            </a:stretch>
          </p:blipFill>
          <p:spPr>
            <a:xfrm>
              <a:off x="15382197" y="5687252"/>
              <a:ext cx="120907" cy="132308"/>
            </a:xfrm>
            <a:prstGeom prst="rect">
              <a:avLst/>
            </a:prstGeom>
          </p:spPr>
        </p:pic>
        <p:pic>
          <p:nvPicPr>
            <p:cNvPr id="50" name="object 50"/>
            <p:cNvPicPr/>
            <p:nvPr/>
          </p:nvPicPr>
          <p:blipFill>
            <a:blip r:embed="rId2" cstate="print"/>
            <a:stretch>
              <a:fillRect/>
            </a:stretch>
          </p:blipFill>
          <p:spPr>
            <a:xfrm>
              <a:off x="14234242" y="5761329"/>
              <a:ext cx="120904" cy="132308"/>
            </a:xfrm>
            <a:prstGeom prst="rect">
              <a:avLst/>
            </a:prstGeom>
          </p:spPr>
        </p:pic>
        <p:pic>
          <p:nvPicPr>
            <p:cNvPr id="51" name="object 51"/>
            <p:cNvPicPr/>
            <p:nvPr/>
          </p:nvPicPr>
          <p:blipFill>
            <a:blip r:embed="rId2" cstate="print"/>
            <a:stretch>
              <a:fillRect/>
            </a:stretch>
          </p:blipFill>
          <p:spPr>
            <a:xfrm>
              <a:off x="14234242" y="5485686"/>
              <a:ext cx="120904" cy="132308"/>
            </a:xfrm>
            <a:prstGeom prst="rect">
              <a:avLst/>
            </a:prstGeom>
          </p:spPr>
        </p:pic>
        <p:pic>
          <p:nvPicPr>
            <p:cNvPr id="52" name="object 52"/>
            <p:cNvPicPr/>
            <p:nvPr/>
          </p:nvPicPr>
          <p:blipFill>
            <a:blip r:embed="rId3" cstate="print"/>
            <a:stretch>
              <a:fillRect/>
            </a:stretch>
          </p:blipFill>
          <p:spPr>
            <a:xfrm>
              <a:off x="14407190" y="5899150"/>
              <a:ext cx="120904" cy="132308"/>
            </a:xfrm>
            <a:prstGeom prst="rect">
              <a:avLst/>
            </a:prstGeom>
          </p:spPr>
        </p:pic>
        <p:pic>
          <p:nvPicPr>
            <p:cNvPr id="53" name="object 53"/>
            <p:cNvPicPr/>
            <p:nvPr/>
          </p:nvPicPr>
          <p:blipFill>
            <a:blip r:embed="rId3" cstate="print"/>
            <a:stretch>
              <a:fillRect/>
            </a:stretch>
          </p:blipFill>
          <p:spPr>
            <a:xfrm>
              <a:off x="14407190" y="5623507"/>
              <a:ext cx="120904" cy="132308"/>
            </a:xfrm>
            <a:prstGeom prst="rect">
              <a:avLst/>
            </a:prstGeom>
          </p:spPr>
        </p:pic>
        <p:pic>
          <p:nvPicPr>
            <p:cNvPr id="54" name="object 54"/>
            <p:cNvPicPr/>
            <p:nvPr/>
          </p:nvPicPr>
          <p:blipFill>
            <a:blip r:embed="rId3" cstate="print"/>
            <a:stretch>
              <a:fillRect/>
            </a:stretch>
          </p:blipFill>
          <p:spPr>
            <a:xfrm>
              <a:off x="14703579" y="5761329"/>
              <a:ext cx="120904" cy="132308"/>
            </a:xfrm>
            <a:prstGeom prst="rect">
              <a:avLst/>
            </a:prstGeom>
          </p:spPr>
        </p:pic>
        <p:pic>
          <p:nvPicPr>
            <p:cNvPr id="55" name="object 55"/>
            <p:cNvPicPr/>
            <p:nvPr/>
          </p:nvPicPr>
          <p:blipFill>
            <a:blip r:embed="rId3" cstate="print"/>
            <a:stretch>
              <a:fillRect/>
            </a:stretch>
          </p:blipFill>
          <p:spPr>
            <a:xfrm>
              <a:off x="14407190" y="5270717"/>
              <a:ext cx="120904" cy="132308"/>
            </a:xfrm>
            <a:prstGeom prst="rect">
              <a:avLst/>
            </a:prstGeom>
          </p:spPr>
        </p:pic>
        <p:sp>
          <p:nvSpPr>
            <p:cNvPr id="56" name="object 56"/>
            <p:cNvSpPr/>
            <p:nvPr/>
          </p:nvSpPr>
          <p:spPr>
            <a:xfrm>
              <a:off x="14922590" y="5578762"/>
              <a:ext cx="121285" cy="132715"/>
            </a:xfrm>
            <a:custGeom>
              <a:avLst/>
              <a:gdLst/>
              <a:ahLst/>
              <a:cxnLst/>
              <a:rect l="l" t="t" r="r" b="b"/>
              <a:pathLst>
                <a:path w="121284" h="132714">
                  <a:moveTo>
                    <a:pt x="60456" y="0"/>
                  </a:moveTo>
                  <a:lnTo>
                    <a:pt x="37708" y="4844"/>
                  </a:lnTo>
                  <a:lnTo>
                    <a:pt x="17708" y="19376"/>
                  </a:lnTo>
                  <a:lnTo>
                    <a:pt x="4427" y="41260"/>
                  </a:lnTo>
                  <a:lnTo>
                    <a:pt x="0" y="66154"/>
                  </a:lnTo>
                  <a:lnTo>
                    <a:pt x="4427" y="91048"/>
                  </a:lnTo>
                  <a:lnTo>
                    <a:pt x="17708" y="112932"/>
                  </a:lnTo>
                  <a:lnTo>
                    <a:pt x="37708" y="127464"/>
                  </a:lnTo>
                  <a:lnTo>
                    <a:pt x="60456" y="132308"/>
                  </a:lnTo>
                  <a:lnTo>
                    <a:pt x="83204" y="127464"/>
                  </a:lnTo>
                  <a:lnTo>
                    <a:pt x="103203" y="112932"/>
                  </a:lnTo>
                  <a:lnTo>
                    <a:pt x="116485" y="91048"/>
                  </a:lnTo>
                  <a:lnTo>
                    <a:pt x="120912" y="66154"/>
                  </a:lnTo>
                  <a:lnTo>
                    <a:pt x="116485" y="41260"/>
                  </a:lnTo>
                  <a:lnTo>
                    <a:pt x="103203" y="19376"/>
                  </a:lnTo>
                  <a:lnTo>
                    <a:pt x="83204" y="4844"/>
                  </a:lnTo>
                  <a:lnTo>
                    <a:pt x="60456" y="0"/>
                  </a:lnTo>
                  <a:close/>
                </a:path>
              </a:pathLst>
            </a:custGeom>
            <a:solidFill>
              <a:srgbClr val="3C7DEC"/>
            </a:solidFill>
          </p:spPr>
          <p:txBody>
            <a:bodyPr wrap="square" lIns="0" tIns="0" rIns="0" bIns="0" rtlCol="0"/>
            <a:lstStyle/>
            <a:p>
              <a:endParaRPr sz="614"/>
            </a:p>
          </p:txBody>
        </p:sp>
        <p:pic>
          <p:nvPicPr>
            <p:cNvPr id="57" name="object 57"/>
            <p:cNvPicPr/>
            <p:nvPr/>
          </p:nvPicPr>
          <p:blipFill>
            <a:blip r:embed="rId3" cstate="print"/>
            <a:stretch>
              <a:fillRect/>
            </a:stretch>
          </p:blipFill>
          <p:spPr>
            <a:xfrm>
              <a:off x="14703579" y="5485686"/>
              <a:ext cx="120904" cy="132308"/>
            </a:xfrm>
            <a:prstGeom prst="rect">
              <a:avLst/>
            </a:prstGeom>
          </p:spPr>
        </p:pic>
        <p:sp>
          <p:nvSpPr>
            <p:cNvPr id="58" name="object 58"/>
            <p:cNvSpPr/>
            <p:nvPr/>
          </p:nvSpPr>
          <p:spPr>
            <a:xfrm>
              <a:off x="14999968" y="5270717"/>
              <a:ext cx="121285" cy="132715"/>
            </a:xfrm>
            <a:custGeom>
              <a:avLst/>
              <a:gdLst/>
              <a:ahLst/>
              <a:cxnLst/>
              <a:rect l="l" t="t" r="r" b="b"/>
              <a:pathLst>
                <a:path w="121284" h="132714">
                  <a:moveTo>
                    <a:pt x="60452" y="0"/>
                  </a:moveTo>
                  <a:lnTo>
                    <a:pt x="37701" y="4844"/>
                  </a:lnTo>
                  <a:lnTo>
                    <a:pt x="17701" y="19376"/>
                  </a:lnTo>
                  <a:lnTo>
                    <a:pt x="4425" y="41260"/>
                  </a:lnTo>
                  <a:lnTo>
                    <a:pt x="0" y="66154"/>
                  </a:lnTo>
                  <a:lnTo>
                    <a:pt x="4425" y="91048"/>
                  </a:lnTo>
                  <a:lnTo>
                    <a:pt x="17701" y="112932"/>
                  </a:lnTo>
                  <a:lnTo>
                    <a:pt x="37701" y="127464"/>
                  </a:lnTo>
                  <a:lnTo>
                    <a:pt x="60452" y="132308"/>
                  </a:lnTo>
                  <a:lnTo>
                    <a:pt x="83200" y="127464"/>
                  </a:lnTo>
                  <a:lnTo>
                    <a:pt x="103195" y="112932"/>
                  </a:lnTo>
                  <a:lnTo>
                    <a:pt x="116477" y="91048"/>
                  </a:lnTo>
                  <a:lnTo>
                    <a:pt x="120904" y="66154"/>
                  </a:lnTo>
                  <a:lnTo>
                    <a:pt x="116477" y="41260"/>
                  </a:lnTo>
                  <a:lnTo>
                    <a:pt x="103195" y="19376"/>
                  </a:lnTo>
                  <a:lnTo>
                    <a:pt x="83200" y="4844"/>
                  </a:lnTo>
                  <a:lnTo>
                    <a:pt x="60452" y="0"/>
                  </a:lnTo>
                  <a:close/>
                </a:path>
              </a:pathLst>
            </a:custGeom>
            <a:solidFill>
              <a:srgbClr val="3C7DEC"/>
            </a:solidFill>
          </p:spPr>
          <p:txBody>
            <a:bodyPr wrap="square" lIns="0" tIns="0" rIns="0" bIns="0" rtlCol="0"/>
            <a:lstStyle/>
            <a:p>
              <a:endParaRPr sz="614"/>
            </a:p>
          </p:txBody>
        </p:sp>
        <p:pic>
          <p:nvPicPr>
            <p:cNvPr id="59" name="object 59"/>
            <p:cNvPicPr/>
            <p:nvPr/>
          </p:nvPicPr>
          <p:blipFill>
            <a:blip r:embed="rId3" cstate="print"/>
            <a:stretch>
              <a:fillRect/>
            </a:stretch>
          </p:blipFill>
          <p:spPr>
            <a:xfrm>
              <a:off x="14703579" y="5270717"/>
              <a:ext cx="120904" cy="132308"/>
            </a:xfrm>
            <a:prstGeom prst="rect">
              <a:avLst/>
            </a:prstGeom>
          </p:spPr>
        </p:pic>
        <p:pic>
          <p:nvPicPr>
            <p:cNvPr id="60" name="object 60"/>
            <p:cNvPicPr/>
            <p:nvPr/>
          </p:nvPicPr>
          <p:blipFill>
            <a:blip r:embed="rId6" cstate="print"/>
            <a:stretch>
              <a:fillRect/>
            </a:stretch>
          </p:blipFill>
          <p:spPr>
            <a:xfrm>
              <a:off x="14617102" y="4824852"/>
              <a:ext cx="120912" cy="132308"/>
            </a:xfrm>
            <a:prstGeom prst="rect">
              <a:avLst/>
            </a:prstGeom>
          </p:spPr>
        </p:pic>
        <p:pic>
          <p:nvPicPr>
            <p:cNvPr id="61" name="object 61"/>
            <p:cNvPicPr/>
            <p:nvPr/>
          </p:nvPicPr>
          <p:blipFill>
            <a:blip r:embed="rId6" cstate="print"/>
            <a:stretch>
              <a:fillRect/>
            </a:stretch>
          </p:blipFill>
          <p:spPr>
            <a:xfrm>
              <a:off x="14617102" y="4549209"/>
              <a:ext cx="120912" cy="132308"/>
            </a:xfrm>
            <a:prstGeom prst="rect">
              <a:avLst/>
            </a:prstGeom>
          </p:spPr>
        </p:pic>
        <p:pic>
          <p:nvPicPr>
            <p:cNvPr id="62" name="object 62"/>
            <p:cNvPicPr/>
            <p:nvPr/>
          </p:nvPicPr>
          <p:blipFill>
            <a:blip r:embed="rId4" cstate="print"/>
            <a:stretch>
              <a:fillRect/>
            </a:stretch>
          </p:blipFill>
          <p:spPr>
            <a:xfrm>
              <a:off x="14790050" y="4962673"/>
              <a:ext cx="120912" cy="132308"/>
            </a:xfrm>
            <a:prstGeom prst="rect">
              <a:avLst/>
            </a:prstGeom>
          </p:spPr>
        </p:pic>
        <p:pic>
          <p:nvPicPr>
            <p:cNvPr id="63" name="object 63"/>
            <p:cNvPicPr/>
            <p:nvPr/>
          </p:nvPicPr>
          <p:blipFill>
            <a:blip r:embed="rId4" cstate="print"/>
            <a:stretch>
              <a:fillRect/>
            </a:stretch>
          </p:blipFill>
          <p:spPr>
            <a:xfrm>
              <a:off x="14790050" y="4687031"/>
              <a:ext cx="120912" cy="132308"/>
            </a:xfrm>
            <a:prstGeom prst="rect">
              <a:avLst/>
            </a:prstGeom>
          </p:spPr>
        </p:pic>
        <p:sp>
          <p:nvSpPr>
            <p:cNvPr id="64" name="object 64"/>
            <p:cNvSpPr/>
            <p:nvPr/>
          </p:nvSpPr>
          <p:spPr>
            <a:xfrm>
              <a:off x="15086439" y="4824852"/>
              <a:ext cx="121285" cy="132715"/>
            </a:xfrm>
            <a:custGeom>
              <a:avLst/>
              <a:gdLst/>
              <a:ahLst/>
              <a:cxnLst/>
              <a:rect l="l" t="t" r="r" b="b"/>
              <a:pathLst>
                <a:path w="121284" h="132714">
                  <a:moveTo>
                    <a:pt x="60456" y="0"/>
                  </a:moveTo>
                  <a:lnTo>
                    <a:pt x="37708" y="4844"/>
                  </a:lnTo>
                  <a:lnTo>
                    <a:pt x="17708" y="19376"/>
                  </a:lnTo>
                  <a:lnTo>
                    <a:pt x="4427" y="41260"/>
                  </a:lnTo>
                  <a:lnTo>
                    <a:pt x="0" y="66154"/>
                  </a:lnTo>
                  <a:lnTo>
                    <a:pt x="4427" y="91048"/>
                  </a:lnTo>
                  <a:lnTo>
                    <a:pt x="17708" y="112932"/>
                  </a:lnTo>
                  <a:lnTo>
                    <a:pt x="37708" y="127464"/>
                  </a:lnTo>
                  <a:lnTo>
                    <a:pt x="60456" y="132308"/>
                  </a:lnTo>
                  <a:lnTo>
                    <a:pt x="83204" y="127464"/>
                  </a:lnTo>
                  <a:lnTo>
                    <a:pt x="103203" y="112932"/>
                  </a:lnTo>
                  <a:lnTo>
                    <a:pt x="116485" y="91048"/>
                  </a:lnTo>
                  <a:lnTo>
                    <a:pt x="120912" y="66154"/>
                  </a:lnTo>
                  <a:lnTo>
                    <a:pt x="116485" y="41260"/>
                  </a:lnTo>
                  <a:lnTo>
                    <a:pt x="103203" y="19376"/>
                  </a:lnTo>
                  <a:lnTo>
                    <a:pt x="83204" y="4844"/>
                  </a:lnTo>
                  <a:lnTo>
                    <a:pt x="60456" y="0"/>
                  </a:lnTo>
                  <a:close/>
                </a:path>
              </a:pathLst>
            </a:custGeom>
            <a:solidFill>
              <a:srgbClr val="3C7DEC"/>
            </a:solidFill>
          </p:spPr>
          <p:txBody>
            <a:bodyPr wrap="square" lIns="0" tIns="0" rIns="0" bIns="0" rtlCol="0"/>
            <a:lstStyle/>
            <a:p>
              <a:endParaRPr sz="614"/>
            </a:p>
          </p:txBody>
        </p:sp>
        <p:pic>
          <p:nvPicPr>
            <p:cNvPr id="65" name="object 65"/>
            <p:cNvPicPr/>
            <p:nvPr/>
          </p:nvPicPr>
          <p:blipFill>
            <a:blip r:embed="rId4" cstate="print"/>
            <a:stretch>
              <a:fillRect/>
            </a:stretch>
          </p:blipFill>
          <p:spPr>
            <a:xfrm>
              <a:off x="14790050" y="4334240"/>
              <a:ext cx="120912" cy="132308"/>
            </a:xfrm>
            <a:prstGeom prst="rect">
              <a:avLst/>
            </a:prstGeom>
          </p:spPr>
        </p:pic>
        <p:sp>
          <p:nvSpPr>
            <p:cNvPr id="66" name="object 66"/>
            <p:cNvSpPr/>
            <p:nvPr/>
          </p:nvSpPr>
          <p:spPr>
            <a:xfrm>
              <a:off x="15086433" y="4334249"/>
              <a:ext cx="502920" cy="1075055"/>
            </a:xfrm>
            <a:custGeom>
              <a:avLst/>
              <a:gdLst/>
              <a:ahLst/>
              <a:cxnLst/>
              <a:rect l="l" t="t" r="r" b="b"/>
              <a:pathLst>
                <a:path w="502919" h="1075054">
                  <a:moveTo>
                    <a:pt x="120916" y="281114"/>
                  </a:moveTo>
                  <a:lnTo>
                    <a:pt x="116484" y="256222"/>
                  </a:lnTo>
                  <a:lnTo>
                    <a:pt x="103200" y="234340"/>
                  </a:lnTo>
                  <a:lnTo>
                    <a:pt x="83210" y="219811"/>
                  </a:lnTo>
                  <a:lnTo>
                    <a:pt x="60452" y="214960"/>
                  </a:lnTo>
                  <a:lnTo>
                    <a:pt x="37706" y="219811"/>
                  </a:lnTo>
                  <a:lnTo>
                    <a:pt x="17703" y="234340"/>
                  </a:lnTo>
                  <a:lnTo>
                    <a:pt x="4432" y="256222"/>
                  </a:lnTo>
                  <a:lnTo>
                    <a:pt x="0" y="281114"/>
                  </a:lnTo>
                  <a:lnTo>
                    <a:pt x="4432" y="306019"/>
                  </a:lnTo>
                  <a:lnTo>
                    <a:pt x="17703" y="327901"/>
                  </a:lnTo>
                  <a:lnTo>
                    <a:pt x="37706" y="342430"/>
                  </a:lnTo>
                  <a:lnTo>
                    <a:pt x="60452" y="347268"/>
                  </a:lnTo>
                  <a:lnTo>
                    <a:pt x="83210" y="342430"/>
                  </a:lnTo>
                  <a:lnTo>
                    <a:pt x="103200" y="327901"/>
                  </a:lnTo>
                  <a:lnTo>
                    <a:pt x="116484" y="306019"/>
                  </a:lnTo>
                  <a:lnTo>
                    <a:pt x="120916" y="281114"/>
                  </a:lnTo>
                  <a:close/>
                </a:path>
                <a:path w="502919" h="1075054">
                  <a:moveTo>
                    <a:pt x="120916" y="66154"/>
                  </a:moveTo>
                  <a:lnTo>
                    <a:pt x="116484" y="41262"/>
                  </a:lnTo>
                  <a:lnTo>
                    <a:pt x="103200" y="19367"/>
                  </a:lnTo>
                  <a:lnTo>
                    <a:pt x="83210" y="4838"/>
                  </a:lnTo>
                  <a:lnTo>
                    <a:pt x="60452" y="0"/>
                  </a:lnTo>
                  <a:lnTo>
                    <a:pt x="37706" y="4838"/>
                  </a:lnTo>
                  <a:lnTo>
                    <a:pt x="17703" y="19367"/>
                  </a:lnTo>
                  <a:lnTo>
                    <a:pt x="4432" y="41262"/>
                  </a:lnTo>
                  <a:lnTo>
                    <a:pt x="0" y="66154"/>
                  </a:lnTo>
                  <a:lnTo>
                    <a:pt x="4432" y="91046"/>
                  </a:lnTo>
                  <a:lnTo>
                    <a:pt x="17703" y="112928"/>
                  </a:lnTo>
                  <a:lnTo>
                    <a:pt x="37706" y="127457"/>
                  </a:lnTo>
                  <a:lnTo>
                    <a:pt x="60452" y="132308"/>
                  </a:lnTo>
                  <a:lnTo>
                    <a:pt x="83210" y="127457"/>
                  </a:lnTo>
                  <a:lnTo>
                    <a:pt x="103200" y="112928"/>
                  </a:lnTo>
                  <a:lnTo>
                    <a:pt x="116484" y="91046"/>
                  </a:lnTo>
                  <a:lnTo>
                    <a:pt x="120916" y="66154"/>
                  </a:lnTo>
                  <a:close/>
                </a:path>
                <a:path w="502919" h="1075054">
                  <a:moveTo>
                    <a:pt x="329552" y="870978"/>
                  </a:moveTo>
                  <a:lnTo>
                    <a:pt x="325132" y="846086"/>
                  </a:lnTo>
                  <a:lnTo>
                    <a:pt x="311848" y="824204"/>
                  </a:lnTo>
                  <a:lnTo>
                    <a:pt x="291858" y="809663"/>
                  </a:lnTo>
                  <a:lnTo>
                    <a:pt x="269100" y="804824"/>
                  </a:lnTo>
                  <a:lnTo>
                    <a:pt x="246354" y="809663"/>
                  </a:lnTo>
                  <a:lnTo>
                    <a:pt x="226352" y="824204"/>
                  </a:lnTo>
                  <a:lnTo>
                    <a:pt x="213080" y="846086"/>
                  </a:lnTo>
                  <a:lnTo>
                    <a:pt x="208648" y="870978"/>
                  </a:lnTo>
                  <a:lnTo>
                    <a:pt x="213080" y="895870"/>
                  </a:lnTo>
                  <a:lnTo>
                    <a:pt x="226352" y="917752"/>
                  </a:lnTo>
                  <a:lnTo>
                    <a:pt x="246354" y="932294"/>
                  </a:lnTo>
                  <a:lnTo>
                    <a:pt x="269100" y="937133"/>
                  </a:lnTo>
                  <a:lnTo>
                    <a:pt x="291858" y="932294"/>
                  </a:lnTo>
                  <a:lnTo>
                    <a:pt x="311848" y="917752"/>
                  </a:lnTo>
                  <a:lnTo>
                    <a:pt x="325132" y="895870"/>
                  </a:lnTo>
                  <a:lnTo>
                    <a:pt x="329552" y="870978"/>
                  </a:lnTo>
                  <a:close/>
                </a:path>
                <a:path w="502919" h="1075054">
                  <a:moveTo>
                    <a:pt x="329552" y="595337"/>
                  </a:moveTo>
                  <a:lnTo>
                    <a:pt x="325132" y="570445"/>
                  </a:lnTo>
                  <a:lnTo>
                    <a:pt x="311848" y="548563"/>
                  </a:lnTo>
                  <a:lnTo>
                    <a:pt x="291858" y="534022"/>
                  </a:lnTo>
                  <a:lnTo>
                    <a:pt x="269100" y="529183"/>
                  </a:lnTo>
                  <a:lnTo>
                    <a:pt x="246354" y="534022"/>
                  </a:lnTo>
                  <a:lnTo>
                    <a:pt x="226352" y="548563"/>
                  </a:lnTo>
                  <a:lnTo>
                    <a:pt x="213080" y="570445"/>
                  </a:lnTo>
                  <a:lnTo>
                    <a:pt x="208648" y="595337"/>
                  </a:lnTo>
                  <a:lnTo>
                    <a:pt x="213080" y="620229"/>
                  </a:lnTo>
                  <a:lnTo>
                    <a:pt x="226352" y="642112"/>
                  </a:lnTo>
                  <a:lnTo>
                    <a:pt x="246354" y="656640"/>
                  </a:lnTo>
                  <a:lnTo>
                    <a:pt x="269100" y="661492"/>
                  </a:lnTo>
                  <a:lnTo>
                    <a:pt x="291858" y="656640"/>
                  </a:lnTo>
                  <a:lnTo>
                    <a:pt x="311848" y="642112"/>
                  </a:lnTo>
                  <a:lnTo>
                    <a:pt x="325132" y="620229"/>
                  </a:lnTo>
                  <a:lnTo>
                    <a:pt x="329552" y="595337"/>
                  </a:lnTo>
                  <a:close/>
                </a:path>
                <a:path w="502919" h="1075054">
                  <a:moveTo>
                    <a:pt x="339928" y="374192"/>
                  </a:moveTo>
                  <a:lnTo>
                    <a:pt x="335495" y="349300"/>
                  </a:lnTo>
                  <a:lnTo>
                    <a:pt x="322211" y="327418"/>
                  </a:lnTo>
                  <a:lnTo>
                    <a:pt x="302221" y="312889"/>
                  </a:lnTo>
                  <a:lnTo>
                    <a:pt x="279476" y="308038"/>
                  </a:lnTo>
                  <a:lnTo>
                    <a:pt x="256717" y="312889"/>
                  </a:lnTo>
                  <a:lnTo>
                    <a:pt x="236715" y="327418"/>
                  </a:lnTo>
                  <a:lnTo>
                    <a:pt x="223443" y="349300"/>
                  </a:lnTo>
                  <a:lnTo>
                    <a:pt x="219024" y="374192"/>
                  </a:lnTo>
                  <a:lnTo>
                    <a:pt x="223443" y="399084"/>
                  </a:lnTo>
                  <a:lnTo>
                    <a:pt x="236715" y="420979"/>
                  </a:lnTo>
                  <a:lnTo>
                    <a:pt x="256717" y="435508"/>
                  </a:lnTo>
                  <a:lnTo>
                    <a:pt x="279476" y="440347"/>
                  </a:lnTo>
                  <a:lnTo>
                    <a:pt x="302221" y="435508"/>
                  </a:lnTo>
                  <a:lnTo>
                    <a:pt x="322211" y="420979"/>
                  </a:lnTo>
                  <a:lnTo>
                    <a:pt x="335495" y="399084"/>
                  </a:lnTo>
                  <a:lnTo>
                    <a:pt x="339928" y="374192"/>
                  </a:lnTo>
                  <a:close/>
                </a:path>
                <a:path w="502919" h="1075054">
                  <a:moveTo>
                    <a:pt x="417296" y="66154"/>
                  </a:moveTo>
                  <a:lnTo>
                    <a:pt x="412877" y="41262"/>
                  </a:lnTo>
                  <a:lnTo>
                    <a:pt x="399592" y="19367"/>
                  </a:lnTo>
                  <a:lnTo>
                    <a:pt x="379590" y="4838"/>
                  </a:lnTo>
                  <a:lnTo>
                    <a:pt x="356844" y="0"/>
                  </a:lnTo>
                  <a:lnTo>
                    <a:pt x="334098" y="4838"/>
                  </a:lnTo>
                  <a:lnTo>
                    <a:pt x="314096" y="19367"/>
                  </a:lnTo>
                  <a:lnTo>
                    <a:pt x="300812" y="41262"/>
                  </a:lnTo>
                  <a:lnTo>
                    <a:pt x="296392" y="66154"/>
                  </a:lnTo>
                  <a:lnTo>
                    <a:pt x="300812" y="91046"/>
                  </a:lnTo>
                  <a:lnTo>
                    <a:pt x="314096" y="112928"/>
                  </a:lnTo>
                  <a:lnTo>
                    <a:pt x="334098" y="127457"/>
                  </a:lnTo>
                  <a:lnTo>
                    <a:pt x="356844" y="132308"/>
                  </a:lnTo>
                  <a:lnTo>
                    <a:pt x="379590" y="127457"/>
                  </a:lnTo>
                  <a:lnTo>
                    <a:pt x="399592" y="112928"/>
                  </a:lnTo>
                  <a:lnTo>
                    <a:pt x="412877" y="91046"/>
                  </a:lnTo>
                  <a:lnTo>
                    <a:pt x="417296" y="66154"/>
                  </a:lnTo>
                  <a:close/>
                </a:path>
                <a:path w="502919" h="1075054">
                  <a:moveTo>
                    <a:pt x="502500" y="1008799"/>
                  </a:moveTo>
                  <a:lnTo>
                    <a:pt x="498081" y="983907"/>
                  </a:lnTo>
                  <a:lnTo>
                    <a:pt x="484797" y="962025"/>
                  </a:lnTo>
                  <a:lnTo>
                    <a:pt x="464794" y="947496"/>
                  </a:lnTo>
                  <a:lnTo>
                    <a:pt x="442048" y="942644"/>
                  </a:lnTo>
                  <a:lnTo>
                    <a:pt x="419303" y="947496"/>
                  </a:lnTo>
                  <a:lnTo>
                    <a:pt x="399300" y="962025"/>
                  </a:lnTo>
                  <a:lnTo>
                    <a:pt x="386029" y="983907"/>
                  </a:lnTo>
                  <a:lnTo>
                    <a:pt x="381596" y="1008799"/>
                  </a:lnTo>
                  <a:lnTo>
                    <a:pt x="386029" y="1033691"/>
                  </a:lnTo>
                  <a:lnTo>
                    <a:pt x="399300" y="1055573"/>
                  </a:lnTo>
                  <a:lnTo>
                    <a:pt x="419303" y="1070114"/>
                  </a:lnTo>
                  <a:lnTo>
                    <a:pt x="442048" y="1074953"/>
                  </a:lnTo>
                  <a:lnTo>
                    <a:pt x="464794" y="1070114"/>
                  </a:lnTo>
                  <a:lnTo>
                    <a:pt x="484797" y="1055573"/>
                  </a:lnTo>
                  <a:lnTo>
                    <a:pt x="498081" y="1033691"/>
                  </a:lnTo>
                  <a:lnTo>
                    <a:pt x="502500" y="1008799"/>
                  </a:lnTo>
                  <a:close/>
                </a:path>
              </a:pathLst>
            </a:custGeom>
            <a:solidFill>
              <a:srgbClr val="3C7DEC"/>
            </a:solidFill>
          </p:spPr>
          <p:txBody>
            <a:bodyPr wrap="square" lIns="0" tIns="0" rIns="0" bIns="0" rtlCol="0"/>
            <a:lstStyle/>
            <a:p>
              <a:endParaRPr sz="614"/>
            </a:p>
          </p:txBody>
        </p:sp>
        <p:pic>
          <p:nvPicPr>
            <p:cNvPr id="67" name="object 67"/>
            <p:cNvPicPr/>
            <p:nvPr/>
          </p:nvPicPr>
          <p:blipFill>
            <a:blip r:embed="rId4" cstate="print"/>
            <a:stretch>
              <a:fillRect/>
            </a:stretch>
          </p:blipFill>
          <p:spPr>
            <a:xfrm>
              <a:off x="15468037" y="5001246"/>
              <a:ext cx="120904" cy="132308"/>
            </a:xfrm>
            <a:prstGeom prst="rect">
              <a:avLst/>
            </a:prstGeom>
          </p:spPr>
        </p:pic>
        <p:sp>
          <p:nvSpPr>
            <p:cNvPr id="68" name="object 68"/>
            <p:cNvSpPr/>
            <p:nvPr/>
          </p:nvSpPr>
          <p:spPr>
            <a:xfrm>
              <a:off x="15468029" y="4174330"/>
              <a:ext cx="713740" cy="1097280"/>
            </a:xfrm>
            <a:custGeom>
              <a:avLst/>
              <a:gdLst/>
              <a:ahLst/>
              <a:cxnLst/>
              <a:rect l="l" t="t" r="r" b="b"/>
              <a:pathLst>
                <a:path w="713740" h="1097279">
                  <a:moveTo>
                    <a:pt x="120904" y="540283"/>
                  </a:moveTo>
                  <a:lnTo>
                    <a:pt x="116484" y="515391"/>
                  </a:lnTo>
                  <a:lnTo>
                    <a:pt x="103200" y="493509"/>
                  </a:lnTo>
                  <a:lnTo>
                    <a:pt x="83197" y="478980"/>
                  </a:lnTo>
                  <a:lnTo>
                    <a:pt x="60452" y="474129"/>
                  </a:lnTo>
                  <a:lnTo>
                    <a:pt x="37706" y="478980"/>
                  </a:lnTo>
                  <a:lnTo>
                    <a:pt x="17703" y="493509"/>
                  </a:lnTo>
                  <a:lnTo>
                    <a:pt x="4432" y="515391"/>
                  </a:lnTo>
                  <a:lnTo>
                    <a:pt x="0" y="540283"/>
                  </a:lnTo>
                  <a:lnTo>
                    <a:pt x="4432" y="565175"/>
                  </a:lnTo>
                  <a:lnTo>
                    <a:pt x="17703" y="587070"/>
                  </a:lnTo>
                  <a:lnTo>
                    <a:pt x="37706" y="601599"/>
                  </a:lnTo>
                  <a:lnTo>
                    <a:pt x="60452" y="606437"/>
                  </a:lnTo>
                  <a:lnTo>
                    <a:pt x="83197" y="601599"/>
                  </a:lnTo>
                  <a:lnTo>
                    <a:pt x="103200" y="587070"/>
                  </a:lnTo>
                  <a:lnTo>
                    <a:pt x="116484" y="565175"/>
                  </a:lnTo>
                  <a:lnTo>
                    <a:pt x="120904" y="540283"/>
                  </a:lnTo>
                  <a:close/>
                </a:path>
                <a:path w="713740" h="1097279">
                  <a:moveTo>
                    <a:pt x="417296" y="1030897"/>
                  </a:moveTo>
                  <a:lnTo>
                    <a:pt x="412864" y="1006005"/>
                  </a:lnTo>
                  <a:lnTo>
                    <a:pt x="399592" y="984123"/>
                  </a:lnTo>
                  <a:lnTo>
                    <a:pt x="379590" y="969581"/>
                  </a:lnTo>
                  <a:lnTo>
                    <a:pt x="356844" y="964742"/>
                  </a:lnTo>
                  <a:lnTo>
                    <a:pt x="334098" y="969581"/>
                  </a:lnTo>
                  <a:lnTo>
                    <a:pt x="314096" y="984123"/>
                  </a:lnTo>
                  <a:lnTo>
                    <a:pt x="300812" y="1006005"/>
                  </a:lnTo>
                  <a:lnTo>
                    <a:pt x="296392" y="1030897"/>
                  </a:lnTo>
                  <a:lnTo>
                    <a:pt x="300812" y="1055789"/>
                  </a:lnTo>
                  <a:lnTo>
                    <a:pt x="314096" y="1077671"/>
                  </a:lnTo>
                  <a:lnTo>
                    <a:pt x="334098" y="1092212"/>
                  </a:lnTo>
                  <a:lnTo>
                    <a:pt x="356844" y="1097051"/>
                  </a:lnTo>
                  <a:lnTo>
                    <a:pt x="379590" y="1092212"/>
                  </a:lnTo>
                  <a:lnTo>
                    <a:pt x="399592" y="1077671"/>
                  </a:lnTo>
                  <a:lnTo>
                    <a:pt x="412864" y="1055789"/>
                  </a:lnTo>
                  <a:lnTo>
                    <a:pt x="417296" y="1030897"/>
                  </a:lnTo>
                  <a:close/>
                </a:path>
                <a:path w="713740" h="1097279">
                  <a:moveTo>
                    <a:pt x="417296" y="755256"/>
                  </a:moveTo>
                  <a:lnTo>
                    <a:pt x="412864" y="730364"/>
                  </a:lnTo>
                  <a:lnTo>
                    <a:pt x="399592" y="708482"/>
                  </a:lnTo>
                  <a:lnTo>
                    <a:pt x="379590" y="693940"/>
                  </a:lnTo>
                  <a:lnTo>
                    <a:pt x="356844" y="689102"/>
                  </a:lnTo>
                  <a:lnTo>
                    <a:pt x="334098" y="693940"/>
                  </a:lnTo>
                  <a:lnTo>
                    <a:pt x="314096" y="708482"/>
                  </a:lnTo>
                  <a:lnTo>
                    <a:pt x="300812" y="730364"/>
                  </a:lnTo>
                  <a:lnTo>
                    <a:pt x="296392" y="755256"/>
                  </a:lnTo>
                  <a:lnTo>
                    <a:pt x="300812" y="780148"/>
                  </a:lnTo>
                  <a:lnTo>
                    <a:pt x="314096" y="802030"/>
                  </a:lnTo>
                  <a:lnTo>
                    <a:pt x="334098" y="816559"/>
                  </a:lnTo>
                  <a:lnTo>
                    <a:pt x="356844" y="821410"/>
                  </a:lnTo>
                  <a:lnTo>
                    <a:pt x="379590" y="816559"/>
                  </a:lnTo>
                  <a:lnTo>
                    <a:pt x="399592" y="802030"/>
                  </a:lnTo>
                  <a:lnTo>
                    <a:pt x="412864" y="780148"/>
                  </a:lnTo>
                  <a:lnTo>
                    <a:pt x="417296" y="755256"/>
                  </a:lnTo>
                  <a:close/>
                </a:path>
                <a:path w="713740" h="1097279">
                  <a:moveTo>
                    <a:pt x="417296" y="540283"/>
                  </a:moveTo>
                  <a:lnTo>
                    <a:pt x="412864" y="515391"/>
                  </a:lnTo>
                  <a:lnTo>
                    <a:pt x="399592" y="493509"/>
                  </a:lnTo>
                  <a:lnTo>
                    <a:pt x="379590" y="478980"/>
                  </a:lnTo>
                  <a:lnTo>
                    <a:pt x="356844" y="474129"/>
                  </a:lnTo>
                  <a:lnTo>
                    <a:pt x="334098" y="478980"/>
                  </a:lnTo>
                  <a:lnTo>
                    <a:pt x="314096" y="493509"/>
                  </a:lnTo>
                  <a:lnTo>
                    <a:pt x="300812" y="515391"/>
                  </a:lnTo>
                  <a:lnTo>
                    <a:pt x="296392" y="540283"/>
                  </a:lnTo>
                  <a:lnTo>
                    <a:pt x="300812" y="565175"/>
                  </a:lnTo>
                  <a:lnTo>
                    <a:pt x="314096" y="587070"/>
                  </a:lnTo>
                  <a:lnTo>
                    <a:pt x="334098" y="601599"/>
                  </a:lnTo>
                  <a:lnTo>
                    <a:pt x="356844" y="606437"/>
                  </a:lnTo>
                  <a:lnTo>
                    <a:pt x="379590" y="601599"/>
                  </a:lnTo>
                  <a:lnTo>
                    <a:pt x="399592" y="587070"/>
                  </a:lnTo>
                  <a:lnTo>
                    <a:pt x="412864" y="565175"/>
                  </a:lnTo>
                  <a:lnTo>
                    <a:pt x="417296" y="540283"/>
                  </a:lnTo>
                  <a:close/>
                </a:path>
                <a:path w="713740" h="1097279">
                  <a:moveTo>
                    <a:pt x="417296" y="341795"/>
                  </a:moveTo>
                  <a:lnTo>
                    <a:pt x="412864" y="316903"/>
                  </a:lnTo>
                  <a:lnTo>
                    <a:pt x="399592" y="295008"/>
                  </a:lnTo>
                  <a:lnTo>
                    <a:pt x="379590" y="280479"/>
                  </a:lnTo>
                  <a:lnTo>
                    <a:pt x="356844" y="275640"/>
                  </a:lnTo>
                  <a:lnTo>
                    <a:pt x="334098" y="280479"/>
                  </a:lnTo>
                  <a:lnTo>
                    <a:pt x="314096" y="295008"/>
                  </a:lnTo>
                  <a:lnTo>
                    <a:pt x="300812" y="316903"/>
                  </a:lnTo>
                  <a:lnTo>
                    <a:pt x="296392" y="341795"/>
                  </a:lnTo>
                  <a:lnTo>
                    <a:pt x="300812" y="366687"/>
                  </a:lnTo>
                  <a:lnTo>
                    <a:pt x="314096" y="388569"/>
                  </a:lnTo>
                  <a:lnTo>
                    <a:pt x="334098" y="403098"/>
                  </a:lnTo>
                  <a:lnTo>
                    <a:pt x="356844" y="407949"/>
                  </a:lnTo>
                  <a:lnTo>
                    <a:pt x="379590" y="403098"/>
                  </a:lnTo>
                  <a:lnTo>
                    <a:pt x="399592" y="388569"/>
                  </a:lnTo>
                  <a:lnTo>
                    <a:pt x="412864" y="366687"/>
                  </a:lnTo>
                  <a:lnTo>
                    <a:pt x="417296" y="341795"/>
                  </a:lnTo>
                  <a:close/>
                </a:path>
                <a:path w="713740" h="1097279">
                  <a:moveTo>
                    <a:pt x="417296" y="66154"/>
                  </a:moveTo>
                  <a:lnTo>
                    <a:pt x="412864" y="41249"/>
                  </a:lnTo>
                  <a:lnTo>
                    <a:pt x="399592" y="19367"/>
                  </a:lnTo>
                  <a:lnTo>
                    <a:pt x="379590" y="4838"/>
                  </a:lnTo>
                  <a:lnTo>
                    <a:pt x="356844" y="0"/>
                  </a:lnTo>
                  <a:lnTo>
                    <a:pt x="334098" y="4838"/>
                  </a:lnTo>
                  <a:lnTo>
                    <a:pt x="314096" y="19367"/>
                  </a:lnTo>
                  <a:lnTo>
                    <a:pt x="300812" y="41249"/>
                  </a:lnTo>
                  <a:lnTo>
                    <a:pt x="296392" y="66154"/>
                  </a:lnTo>
                  <a:lnTo>
                    <a:pt x="300812" y="91046"/>
                  </a:lnTo>
                  <a:lnTo>
                    <a:pt x="314096" y="112928"/>
                  </a:lnTo>
                  <a:lnTo>
                    <a:pt x="334098" y="127457"/>
                  </a:lnTo>
                  <a:lnTo>
                    <a:pt x="356844" y="132308"/>
                  </a:lnTo>
                  <a:lnTo>
                    <a:pt x="379590" y="127457"/>
                  </a:lnTo>
                  <a:lnTo>
                    <a:pt x="399592" y="112928"/>
                  </a:lnTo>
                  <a:lnTo>
                    <a:pt x="412864" y="91046"/>
                  </a:lnTo>
                  <a:lnTo>
                    <a:pt x="417296" y="66154"/>
                  </a:lnTo>
                  <a:close/>
                </a:path>
                <a:path w="713740" h="1097279">
                  <a:moveTo>
                    <a:pt x="590245" y="479615"/>
                  </a:moveTo>
                  <a:lnTo>
                    <a:pt x="585812" y="454723"/>
                  </a:lnTo>
                  <a:lnTo>
                    <a:pt x="572528" y="432828"/>
                  </a:lnTo>
                  <a:lnTo>
                    <a:pt x="552538" y="418299"/>
                  </a:lnTo>
                  <a:lnTo>
                    <a:pt x="529793" y="413461"/>
                  </a:lnTo>
                  <a:lnTo>
                    <a:pt x="507034" y="418299"/>
                  </a:lnTo>
                  <a:lnTo>
                    <a:pt x="487045" y="432828"/>
                  </a:lnTo>
                  <a:lnTo>
                    <a:pt x="473760" y="454723"/>
                  </a:lnTo>
                  <a:lnTo>
                    <a:pt x="469341" y="479615"/>
                  </a:lnTo>
                  <a:lnTo>
                    <a:pt x="473760" y="504507"/>
                  </a:lnTo>
                  <a:lnTo>
                    <a:pt x="487045" y="526389"/>
                  </a:lnTo>
                  <a:lnTo>
                    <a:pt x="507034" y="540918"/>
                  </a:lnTo>
                  <a:lnTo>
                    <a:pt x="529793" y="545769"/>
                  </a:lnTo>
                  <a:lnTo>
                    <a:pt x="552538" y="540918"/>
                  </a:lnTo>
                  <a:lnTo>
                    <a:pt x="572528" y="526389"/>
                  </a:lnTo>
                  <a:lnTo>
                    <a:pt x="585812" y="504507"/>
                  </a:lnTo>
                  <a:lnTo>
                    <a:pt x="590245" y="479615"/>
                  </a:lnTo>
                  <a:close/>
                </a:path>
                <a:path w="713740" h="1097279">
                  <a:moveTo>
                    <a:pt x="636320" y="848334"/>
                  </a:moveTo>
                  <a:lnTo>
                    <a:pt x="631888" y="823442"/>
                  </a:lnTo>
                  <a:lnTo>
                    <a:pt x="618604" y="801547"/>
                  </a:lnTo>
                  <a:lnTo>
                    <a:pt x="598601" y="787019"/>
                  </a:lnTo>
                  <a:lnTo>
                    <a:pt x="575856" y="782180"/>
                  </a:lnTo>
                  <a:lnTo>
                    <a:pt x="553110" y="787019"/>
                  </a:lnTo>
                  <a:lnTo>
                    <a:pt x="533107" y="801547"/>
                  </a:lnTo>
                  <a:lnTo>
                    <a:pt x="519836" y="823442"/>
                  </a:lnTo>
                  <a:lnTo>
                    <a:pt x="515404" y="848334"/>
                  </a:lnTo>
                  <a:lnTo>
                    <a:pt x="519836" y="873226"/>
                  </a:lnTo>
                  <a:lnTo>
                    <a:pt x="533107" y="895108"/>
                  </a:lnTo>
                  <a:lnTo>
                    <a:pt x="553110" y="909637"/>
                  </a:lnTo>
                  <a:lnTo>
                    <a:pt x="575856" y="914488"/>
                  </a:lnTo>
                  <a:lnTo>
                    <a:pt x="598601" y="909637"/>
                  </a:lnTo>
                  <a:lnTo>
                    <a:pt x="618604" y="895108"/>
                  </a:lnTo>
                  <a:lnTo>
                    <a:pt x="631888" y="873226"/>
                  </a:lnTo>
                  <a:lnTo>
                    <a:pt x="636320" y="848334"/>
                  </a:lnTo>
                  <a:close/>
                </a:path>
                <a:path w="713740" h="1097279">
                  <a:moveTo>
                    <a:pt x="713689" y="540283"/>
                  </a:moveTo>
                  <a:lnTo>
                    <a:pt x="709256" y="515391"/>
                  </a:lnTo>
                  <a:lnTo>
                    <a:pt x="695985" y="493509"/>
                  </a:lnTo>
                  <a:lnTo>
                    <a:pt x="675982" y="478980"/>
                  </a:lnTo>
                  <a:lnTo>
                    <a:pt x="653237" y="474129"/>
                  </a:lnTo>
                  <a:lnTo>
                    <a:pt x="630478" y="478980"/>
                  </a:lnTo>
                  <a:lnTo>
                    <a:pt x="610476" y="493509"/>
                  </a:lnTo>
                  <a:lnTo>
                    <a:pt x="597204" y="515391"/>
                  </a:lnTo>
                  <a:lnTo>
                    <a:pt x="592785" y="540283"/>
                  </a:lnTo>
                  <a:lnTo>
                    <a:pt x="597204" y="565175"/>
                  </a:lnTo>
                  <a:lnTo>
                    <a:pt x="610476" y="587070"/>
                  </a:lnTo>
                  <a:lnTo>
                    <a:pt x="630478" y="601599"/>
                  </a:lnTo>
                  <a:lnTo>
                    <a:pt x="653237" y="606437"/>
                  </a:lnTo>
                  <a:lnTo>
                    <a:pt x="675982" y="601599"/>
                  </a:lnTo>
                  <a:lnTo>
                    <a:pt x="695985" y="587070"/>
                  </a:lnTo>
                  <a:lnTo>
                    <a:pt x="709256" y="565175"/>
                  </a:lnTo>
                  <a:lnTo>
                    <a:pt x="713689" y="540283"/>
                  </a:lnTo>
                  <a:close/>
                </a:path>
              </a:pathLst>
            </a:custGeom>
            <a:solidFill>
              <a:srgbClr val="3C7DEC"/>
            </a:solidFill>
          </p:spPr>
          <p:txBody>
            <a:bodyPr wrap="square" lIns="0" tIns="0" rIns="0" bIns="0" rtlCol="0"/>
            <a:lstStyle/>
            <a:p>
              <a:endParaRPr sz="614"/>
            </a:p>
          </p:txBody>
        </p:sp>
        <p:pic>
          <p:nvPicPr>
            <p:cNvPr id="69" name="object 69"/>
            <p:cNvPicPr/>
            <p:nvPr/>
          </p:nvPicPr>
          <p:blipFill>
            <a:blip r:embed="rId3" cstate="print"/>
            <a:stretch>
              <a:fillRect/>
            </a:stretch>
          </p:blipFill>
          <p:spPr>
            <a:xfrm>
              <a:off x="15937374" y="4312141"/>
              <a:ext cx="120904" cy="132308"/>
            </a:xfrm>
            <a:prstGeom prst="rect">
              <a:avLst/>
            </a:prstGeom>
          </p:spPr>
        </p:pic>
        <p:sp>
          <p:nvSpPr>
            <p:cNvPr id="70" name="object 70"/>
            <p:cNvSpPr/>
            <p:nvPr/>
          </p:nvSpPr>
          <p:spPr>
            <a:xfrm>
              <a:off x="15937371" y="3959357"/>
              <a:ext cx="417830" cy="622935"/>
            </a:xfrm>
            <a:custGeom>
              <a:avLst/>
              <a:gdLst/>
              <a:ahLst/>
              <a:cxnLst/>
              <a:rect l="l" t="t" r="r" b="b"/>
              <a:pathLst>
                <a:path w="417830" h="622935">
                  <a:moveTo>
                    <a:pt x="120904" y="66154"/>
                  </a:moveTo>
                  <a:lnTo>
                    <a:pt x="116471" y="41262"/>
                  </a:lnTo>
                  <a:lnTo>
                    <a:pt x="103187" y="19380"/>
                  </a:lnTo>
                  <a:lnTo>
                    <a:pt x="83197" y="4838"/>
                  </a:lnTo>
                  <a:lnTo>
                    <a:pt x="60452" y="0"/>
                  </a:lnTo>
                  <a:lnTo>
                    <a:pt x="37693" y="4838"/>
                  </a:lnTo>
                  <a:lnTo>
                    <a:pt x="17703" y="19380"/>
                  </a:lnTo>
                  <a:lnTo>
                    <a:pt x="4419" y="41262"/>
                  </a:lnTo>
                  <a:lnTo>
                    <a:pt x="0" y="66154"/>
                  </a:lnTo>
                  <a:lnTo>
                    <a:pt x="4419" y="91046"/>
                  </a:lnTo>
                  <a:lnTo>
                    <a:pt x="17703" y="112928"/>
                  </a:lnTo>
                  <a:lnTo>
                    <a:pt x="37693" y="127457"/>
                  </a:lnTo>
                  <a:lnTo>
                    <a:pt x="60452" y="132308"/>
                  </a:lnTo>
                  <a:lnTo>
                    <a:pt x="83197" y="127457"/>
                  </a:lnTo>
                  <a:lnTo>
                    <a:pt x="103187" y="112928"/>
                  </a:lnTo>
                  <a:lnTo>
                    <a:pt x="116471" y="91046"/>
                  </a:lnTo>
                  <a:lnTo>
                    <a:pt x="120904" y="66154"/>
                  </a:lnTo>
                  <a:close/>
                </a:path>
                <a:path w="417830" h="622935">
                  <a:moveTo>
                    <a:pt x="417296" y="556768"/>
                  </a:moveTo>
                  <a:lnTo>
                    <a:pt x="412864" y="531876"/>
                  </a:lnTo>
                  <a:lnTo>
                    <a:pt x="399592" y="509981"/>
                  </a:lnTo>
                  <a:lnTo>
                    <a:pt x="379590" y="495452"/>
                  </a:lnTo>
                  <a:lnTo>
                    <a:pt x="356844" y="490613"/>
                  </a:lnTo>
                  <a:lnTo>
                    <a:pt x="334086" y="495452"/>
                  </a:lnTo>
                  <a:lnTo>
                    <a:pt x="314083" y="509981"/>
                  </a:lnTo>
                  <a:lnTo>
                    <a:pt x="300812" y="531876"/>
                  </a:lnTo>
                  <a:lnTo>
                    <a:pt x="296392" y="556768"/>
                  </a:lnTo>
                  <a:lnTo>
                    <a:pt x="300812" y="581660"/>
                  </a:lnTo>
                  <a:lnTo>
                    <a:pt x="314083" y="603542"/>
                  </a:lnTo>
                  <a:lnTo>
                    <a:pt x="334086" y="618070"/>
                  </a:lnTo>
                  <a:lnTo>
                    <a:pt x="356844" y="622922"/>
                  </a:lnTo>
                  <a:lnTo>
                    <a:pt x="379590" y="618070"/>
                  </a:lnTo>
                  <a:lnTo>
                    <a:pt x="399592" y="603542"/>
                  </a:lnTo>
                  <a:lnTo>
                    <a:pt x="412864" y="581660"/>
                  </a:lnTo>
                  <a:lnTo>
                    <a:pt x="417296" y="556768"/>
                  </a:lnTo>
                  <a:close/>
                </a:path>
              </a:pathLst>
            </a:custGeom>
            <a:solidFill>
              <a:srgbClr val="3C7DEC"/>
            </a:solidFill>
          </p:spPr>
          <p:txBody>
            <a:bodyPr wrap="square" lIns="0" tIns="0" rIns="0" bIns="0" rtlCol="0"/>
            <a:lstStyle/>
            <a:p>
              <a:endParaRPr sz="614"/>
            </a:p>
          </p:txBody>
        </p:sp>
        <p:pic>
          <p:nvPicPr>
            <p:cNvPr id="71" name="object 71"/>
            <p:cNvPicPr/>
            <p:nvPr/>
          </p:nvPicPr>
          <p:blipFill>
            <a:blip r:embed="rId4" cstate="print"/>
            <a:stretch>
              <a:fillRect/>
            </a:stretch>
          </p:blipFill>
          <p:spPr>
            <a:xfrm>
              <a:off x="16452774" y="4267395"/>
              <a:ext cx="120912" cy="132307"/>
            </a:xfrm>
            <a:prstGeom prst="rect">
              <a:avLst/>
            </a:prstGeom>
          </p:spPr>
        </p:pic>
        <p:sp>
          <p:nvSpPr>
            <p:cNvPr id="72" name="object 72"/>
            <p:cNvSpPr/>
            <p:nvPr/>
          </p:nvSpPr>
          <p:spPr>
            <a:xfrm>
              <a:off x="14998701" y="3959357"/>
              <a:ext cx="1652905" cy="1624965"/>
            </a:xfrm>
            <a:custGeom>
              <a:avLst/>
              <a:gdLst/>
              <a:ahLst/>
              <a:cxnLst/>
              <a:rect l="l" t="t" r="r" b="b"/>
              <a:pathLst>
                <a:path w="1652905" h="1624964">
                  <a:moveTo>
                    <a:pt x="120904" y="1558531"/>
                  </a:moveTo>
                  <a:lnTo>
                    <a:pt x="116471" y="1533639"/>
                  </a:lnTo>
                  <a:lnTo>
                    <a:pt x="103187" y="1511757"/>
                  </a:lnTo>
                  <a:lnTo>
                    <a:pt x="83197" y="1497228"/>
                  </a:lnTo>
                  <a:lnTo>
                    <a:pt x="60452" y="1492377"/>
                  </a:lnTo>
                  <a:lnTo>
                    <a:pt x="37693" y="1497228"/>
                  </a:lnTo>
                  <a:lnTo>
                    <a:pt x="17691" y="1511757"/>
                  </a:lnTo>
                  <a:lnTo>
                    <a:pt x="4419" y="1533639"/>
                  </a:lnTo>
                  <a:lnTo>
                    <a:pt x="0" y="1558531"/>
                  </a:lnTo>
                  <a:lnTo>
                    <a:pt x="4419" y="1583436"/>
                  </a:lnTo>
                  <a:lnTo>
                    <a:pt x="17691" y="1605318"/>
                  </a:lnTo>
                  <a:lnTo>
                    <a:pt x="37693" y="1619846"/>
                  </a:lnTo>
                  <a:lnTo>
                    <a:pt x="60452" y="1624685"/>
                  </a:lnTo>
                  <a:lnTo>
                    <a:pt x="83197" y="1619846"/>
                  </a:lnTo>
                  <a:lnTo>
                    <a:pt x="103187" y="1605318"/>
                  </a:lnTo>
                  <a:lnTo>
                    <a:pt x="116471" y="1583436"/>
                  </a:lnTo>
                  <a:lnTo>
                    <a:pt x="120904" y="1558531"/>
                  </a:lnTo>
                  <a:close/>
                </a:path>
                <a:path w="1652905" h="1624964">
                  <a:moveTo>
                    <a:pt x="120904" y="1282890"/>
                  </a:moveTo>
                  <a:lnTo>
                    <a:pt x="116471" y="1257998"/>
                  </a:lnTo>
                  <a:lnTo>
                    <a:pt x="103187" y="1236116"/>
                  </a:lnTo>
                  <a:lnTo>
                    <a:pt x="83197" y="1221587"/>
                  </a:lnTo>
                  <a:lnTo>
                    <a:pt x="60452" y="1216736"/>
                  </a:lnTo>
                  <a:lnTo>
                    <a:pt x="37693" y="1221587"/>
                  </a:lnTo>
                  <a:lnTo>
                    <a:pt x="17691" y="1236116"/>
                  </a:lnTo>
                  <a:lnTo>
                    <a:pt x="4419" y="1257998"/>
                  </a:lnTo>
                  <a:lnTo>
                    <a:pt x="0" y="1282890"/>
                  </a:lnTo>
                  <a:lnTo>
                    <a:pt x="4419" y="1307782"/>
                  </a:lnTo>
                  <a:lnTo>
                    <a:pt x="17691" y="1329677"/>
                  </a:lnTo>
                  <a:lnTo>
                    <a:pt x="37693" y="1344206"/>
                  </a:lnTo>
                  <a:lnTo>
                    <a:pt x="60452" y="1349044"/>
                  </a:lnTo>
                  <a:lnTo>
                    <a:pt x="83197" y="1344206"/>
                  </a:lnTo>
                  <a:lnTo>
                    <a:pt x="103187" y="1329677"/>
                  </a:lnTo>
                  <a:lnTo>
                    <a:pt x="116471" y="1307782"/>
                  </a:lnTo>
                  <a:lnTo>
                    <a:pt x="120904" y="1282890"/>
                  </a:lnTo>
                  <a:close/>
                </a:path>
                <a:path w="1652905" h="1624964">
                  <a:moveTo>
                    <a:pt x="120904" y="1067930"/>
                  </a:moveTo>
                  <a:lnTo>
                    <a:pt x="116471" y="1043025"/>
                  </a:lnTo>
                  <a:lnTo>
                    <a:pt x="103187" y="1021143"/>
                  </a:lnTo>
                  <a:lnTo>
                    <a:pt x="83197" y="1006614"/>
                  </a:lnTo>
                  <a:lnTo>
                    <a:pt x="60452" y="1001776"/>
                  </a:lnTo>
                  <a:lnTo>
                    <a:pt x="37693" y="1006614"/>
                  </a:lnTo>
                  <a:lnTo>
                    <a:pt x="17691" y="1021143"/>
                  </a:lnTo>
                  <a:lnTo>
                    <a:pt x="4419" y="1043025"/>
                  </a:lnTo>
                  <a:lnTo>
                    <a:pt x="0" y="1067930"/>
                  </a:lnTo>
                  <a:lnTo>
                    <a:pt x="4419" y="1092822"/>
                  </a:lnTo>
                  <a:lnTo>
                    <a:pt x="17691" y="1114704"/>
                  </a:lnTo>
                  <a:lnTo>
                    <a:pt x="37693" y="1129233"/>
                  </a:lnTo>
                  <a:lnTo>
                    <a:pt x="60452" y="1134084"/>
                  </a:lnTo>
                  <a:lnTo>
                    <a:pt x="83197" y="1129233"/>
                  </a:lnTo>
                  <a:lnTo>
                    <a:pt x="103187" y="1114704"/>
                  </a:lnTo>
                  <a:lnTo>
                    <a:pt x="116471" y="1092822"/>
                  </a:lnTo>
                  <a:lnTo>
                    <a:pt x="120904" y="1067930"/>
                  </a:lnTo>
                  <a:close/>
                </a:path>
                <a:path w="1652905" h="1624964">
                  <a:moveTo>
                    <a:pt x="339915" y="1375968"/>
                  </a:moveTo>
                  <a:lnTo>
                    <a:pt x="335495" y="1351076"/>
                  </a:lnTo>
                  <a:lnTo>
                    <a:pt x="322211" y="1329194"/>
                  </a:lnTo>
                  <a:lnTo>
                    <a:pt x="302209" y="1314653"/>
                  </a:lnTo>
                  <a:lnTo>
                    <a:pt x="279463" y="1309814"/>
                  </a:lnTo>
                  <a:lnTo>
                    <a:pt x="256717" y="1314653"/>
                  </a:lnTo>
                  <a:lnTo>
                    <a:pt x="236715" y="1329194"/>
                  </a:lnTo>
                  <a:lnTo>
                    <a:pt x="223431" y="1351076"/>
                  </a:lnTo>
                  <a:lnTo>
                    <a:pt x="219011" y="1375968"/>
                  </a:lnTo>
                  <a:lnTo>
                    <a:pt x="223431" y="1400860"/>
                  </a:lnTo>
                  <a:lnTo>
                    <a:pt x="236715" y="1422742"/>
                  </a:lnTo>
                  <a:lnTo>
                    <a:pt x="256717" y="1437284"/>
                  </a:lnTo>
                  <a:lnTo>
                    <a:pt x="279463" y="1442123"/>
                  </a:lnTo>
                  <a:lnTo>
                    <a:pt x="302209" y="1437284"/>
                  </a:lnTo>
                  <a:lnTo>
                    <a:pt x="322211" y="1422742"/>
                  </a:lnTo>
                  <a:lnTo>
                    <a:pt x="335495" y="1400860"/>
                  </a:lnTo>
                  <a:lnTo>
                    <a:pt x="339915" y="1375968"/>
                  </a:lnTo>
                  <a:close/>
                </a:path>
                <a:path w="1652905" h="1624964">
                  <a:moveTo>
                    <a:pt x="417283" y="1067930"/>
                  </a:moveTo>
                  <a:lnTo>
                    <a:pt x="412864" y="1043025"/>
                  </a:lnTo>
                  <a:lnTo>
                    <a:pt x="399580" y="1021143"/>
                  </a:lnTo>
                  <a:lnTo>
                    <a:pt x="379590" y="1006614"/>
                  </a:lnTo>
                  <a:lnTo>
                    <a:pt x="356831" y="1001776"/>
                  </a:lnTo>
                  <a:lnTo>
                    <a:pt x="334086" y="1006614"/>
                  </a:lnTo>
                  <a:lnTo>
                    <a:pt x="314083" y="1021143"/>
                  </a:lnTo>
                  <a:lnTo>
                    <a:pt x="300812" y="1043025"/>
                  </a:lnTo>
                  <a:lnTo>
                    <a:pt x="296379" y="1067930"/>
                  </a:lnTo>
                  <a:lnTo>
                    <a:pt x="300812" y="1092822"/>
                  </a:lnTo>
                  <a:lnTo>
                    <a:pt x="314083" y="1114704"/>
                  </a:lnTo>
                  <a:lnTo>
                    <a:pt x="334086" y="1129233"/>
                  </a:lnTo>
                  <a:lnTo>
                    <a:pt x="356831" y="1134084"/>
                  </a:lnTo>
                  <a:lnTo>
                    <a:pt x="379590" y="1129233"/>
                  </a:lnTo>
                  <a:lnTo>
                    <a:pt x="399580" y="1114704"/>
                  </a:lnTo>
                  <a:lnTo>
                    <a:pt x="412864" y="1092822"/>
                  </a:lnTo>
                  <a:lnTo>
                    <a:pt x="417283" y="1067930"/>
                  </a:lnTo>
                  <a:close/>
                </a:path>
                <a:path w="1652905" h="1624964">
                  <a:moveTo>
                    <a:pt x="1355966" y="281127"/>
                  </a:moveTo>
                  <a:lnTo>
                    <a:pt x="1351534" y="256222"/>
                  </a:lnTo>
                  <a:lnTo>
                    <a:pt x="1338262" y="234340"/>
                  </a:lnTo>
                  <a:lnTo>
                    <a:pt x="1318260" y="219811"/>
                  </a:lnTo>
                  <a:lnTo>
                    <a:pt x="1295514" y="214972"/>
                  </a:lnTo>
                  <a:lnTo>
                    <a:pt x="1272755" y="219811"/>
                  </a:lnTo>
                  <a:lnTo>
                    <a:pt x="1252753" y="234340"/>
                  </a:lnTo>
                  <a:lnTo>
                    <a:pt x="1239481" y="256222"/>
                  </a:lnTo>
                  <a:lnTo>
                    <a:pt x="1235062" y="281127"/>
                  </a:lnTo>
                  <a:lnTo>
                    <a:pt x="1239481" y="306019"/>
                  </a:lnTo>
                  <a:lnTo>
                    <a:pt x="1252753" y="327901"/>
                  </a:lnTo>
                  <a:lnTo>
                    <a:pt x="1272755" y="342430"/>
                  </a:lnTo>
                  <a:lnTo>
                    <a:pt x="1295514" y="347281"/>
                  </a:lnTo>
                  <a:lnTo>
                    <a:pt x="1318260" y="342430"/>
                  </a:lnTo>
                  <a:lnTo>
                    <a:pt x="1338262" y="327901"/>
                  </a:lnTo>
                  <a:lnTo>
                    <a:pt x="1351534" y="306019"/>
                  </a:lnTo>
                  <a:lnTo>
                    <a:pt x="1355966" y="281127"/>
                  </a:lnTo>
                  <a:close/>
                </a:path>
                <a:path w="1652905" h="1624964">
                  <a:moveTo>
                    <a:pt x="1355966" y="66154"/>
                  </a:moveTo>
                  <a:lnTo>
                    <a:pt x="1351534" y="41262"/>
                  </a:lnTo>
                  <a:lnTo>
                    <a:pt x="1338262" y="19380"/>
                  </a:lnTo>
                  <a:lnTo>
                    <a:pt x="1318260" y="4838"/>
                  </a:lnTo>
                  <a:lnTo>
                    <a:pt x="1295514" y="0"/>
                  </a:lnTo>
                  <a:lnTo>
                    <a:pt x="1272755" y="4838"/>
                  </a:lnTo>
                  <a:lnTo>
                    <a:pt x="1252753" y="19380"/>
                  </a:lnTo>
                  <a:lnTo>
                    <a:pt x="1239481" y="41262"/>
                  </a:lnTo>
                  <a:lnTo>
                    <a:pt x="1235062" y="66154"/>
                  </a:lnTo>
                  <a:lnTo>
                    <a:pt x="1239481" y="91046"/>
                  </a:lnTo>
                  <a:lnTo>
                    <a:pt x="1252753" y="112928"/>
                  </a:lnTo>
                  <a:lnTo>
                    <a:pt x="1272755" y="127457"/>
                  </a:lnTo>
                  <a:lnTo>
                    <a:pt x="1295514" y="132308"/>
                  </a:lnTo>
                  <a:lnTo>
                    <a:pt x="1318260" y="127457"/>
                  </a:lnTo>
                  <a:lnTo>
                    <a:pt x="1338262" y="112928"/>
                  </a:lnTo>
                  <a:lnTo>
                    <a:pt x="1351534" y="91046"/>
                  </a:lnTo>
                  <a:lnTo>
                    <a:pt x="1355966" y="66154"/>
                  </a:lnTo>
                  <a:close/>
                </a:path>
                <a:path w="1652905" h="1624964">
                  <a:moveTo>
                    <a:pt x="1652358" y="66154"/>
                  </a:moveTo>
                  <a:lnTo>
                    <a:pt x="1647926" y="41262"/>
                  </a:lnTo>
                  <a:lnTo>
                    <a:pt x="1634655" y="19380"/>
                  </a:lnTo>
                  <a:lnTo>
                    <a:pt x="1614652" y="4838"/>
                  </a:lnTo>
                  <a:lnTo>
                    <a:pt x="1591894" y="0"/>
                  </a:lnTo>
                  <a:lnTo>
                    <a:pt x="1569148" y="4838"/>
                  </a:lnTo>
                  <a:lnTo>
                    <a:pt x="1549146" y="19380"/>
                  </a:lnTo>
                  <a:lnTo>
                    <a:pt x="1535874" y="41262"/>
                  </a:lnTo>
                  <a:lnTo>
                    <a:pt x="1531442" y="66154"/>
                  </a:lnTo>
                  <a:lnTo>
                    <a:pt x="1535874" y="91046"/>
                  </a:lnTo>
                  <a:lnTo>
                    <a:pt x="1549146" y="112928"/>
                  </a:lnTo>
                  <a:lnTo>
                    <a:pt x="1569148" y="127457"/>
                  </a:lnTo>
                  <a:lnTo>
                    <a:pt x="1591894" y="132308"/>
                  </a:lnTo>
                  <a:lnTo>
                    <a:pt x="1614652" y="127457"/>
                  </a:lnTo>
                  <a:lnTo>
                    <a:pt x="1634655" y="112928"/>
                  </a:lnTo>
                  <a:lnTo>
                    <a:pt x="1647926" y="91046"/>
                  </a:lnTo>
                  <a:lnTo>
                    <a:pt x="1652358" y="66154"/>
                  </a:lnTo>
                  <a:close/>
                </a:path>
              </a:pathLst>
            </a:custGeom>
            <a:solidFill>
              <a:srgbClr val="3C7DEC"/>
            </a:solidFill>
          </p:spPr>
          <p:txBody>
            <a:bodyPr wrap="square" lIns="0" tIns="0" rIns="0" bIns="0" rtlCol="0"/>
            <a:lstStyle/>
            <a:p>
              <a:endParaRPr sz="614"/>
            </a:p>
          </p:txBody>
        </p:sp>
        <p:pic>
          <p:nvPicPr>
            <p:cNvPr id="73" name="object 73"/>
            <p:cNvPicPr/>
            <p:nvPr/>
          </p:nvPicPr>
          <p:blipFill>
            <a:blip r:embed="rId5" cstate="print"/>
            <a:stretch>
              <a:fillRect/>
            </a:stretch>
          </p:blipFill>
          <p:spPr>
            <a:xfrm>
              <a:off x="15207346" y="5490307"/>
              <a:ext cx="120912" cy="132308"/>
            </a:xfrm>
            <a:prstGeom prst="rect">
              <a:avLst/>
            </a:prstGeom>
          </p:spPr>
        </p:pic>
        <p:sp>
          <p:nvSpPr>
            <p:cNvPr id="74" name="object 74"/>
            <p:cNvSpPr/>
            <p:nvPr/>
          </p:nvSpPr>
          <p:spPr>
            <a:xfrm>
              <a:off x="15380294" y="5275338"/>
              <a:ext cx="121285" cy="132715"/>
            </a:xfrm>
            <a:custGeom>
              <a:avLst/>
              <a:gdLst/>
              <a:ahLst/>
              <a:cxnLst/>
              <a:rect l="l" t="t" r="r" b="b"/>
              <a:pathLst>
                <a:path w="121284" h="132714">
                  <a:moveTo>
                    <a:pt x="60456" y="0"/>
                  </a:moveTo>
                  <a:lnTo>
                    <a:pt x="37708" y="4844"/>
                  </a:lnTo>
                  <a:lnTo>
                    <a:pt x="17708" y="19376"/>
                  </a:lnTo>
                  <a:lnTo>
                    <a:pt x="4427" y="41260"/>
                  </a:lnTo>
                  <a:lnTo>
                    <a:pt x="0" y="66154"/>
                  </a:lnTo>
                  <a:lnTo>
                    <a:pt x="4427" y="91048"/>
                  </a:lnTo>
                  <a:lnTo>
                    <a:pt x="17708" y="112932"/>
                  </a:lnTo>
                  <a:lnTo>
                    <a:pt x="37708" y="127464"/>
                  </a:lnTo>
                  <a:lnTo>
                    <a:pt x="60456" y="132308"/>
                  </a:lnTo>
                  <a:lnTo>
                    <a:pt x="83204" y="127464"/>
                  </a:lnTo>
                  <a:lnTo>
                    <a:pt x="103203" y="112932"/>
                  </a:lnTo>
                  <a:lnTo>
                    <a:pt x="116485" y="91048"/>
                  </a:lnTo>
                  <a:lnTo>
                    <a:pt x="120912" y="66154"/>
                  </a:lnTo>
                  <a:lnTo>
                    <a:pt x="116485" y="41260"/>
                  </a:lnTo>
                  <a:lnTo>
                    <a:pt x="103203" y="19376"/>
                  </a:lnTo>
                  <a:lnTo>
                    <a:pt x="83204" y="4844"/>
                  </a:lnTo>
                  <a:lnTo>
                    <a:pt x="60456" y="0"/>
                  </a:lnTo>
                  <a:close/>
                </a:path>
              </a:pathLst>
            </a:custGeom>
            <a:solidFill>
              <a:srgbClr val="3C7DEC"/>
            </a:solidFill>
          </p:spPr>
          <p:txBody>
            <a:bodyPr wrap="square" lIns="0" tIns="0" rIns="0" bIns="0" rtlCol="0"/>
            <a:lstStyle/>
            <a:p>
              <a:endParaRPr sz="614"/>
            </a:p>
          </p:txBody>
        </p:sp>
        <p:pic>
          <p:nvPicPr>
            <p:cNvPr id="75" name="object 75"/>
            <p:cNvPicPr/>
            <p:nvPr/>
          </p:nvPicPr>
          <p:blipFill>
            <a:blip r:embed="rId2" cstate="print"/>
            <a:stretch>
              <a:fillRect/>
            </a:stretch>
          </p:blipFill>
          <p:spPr>
            <a:xfrm>
              <a:off x="15676683" y="5490307"/>
              <a:ext cx="120912" cy="132308"/>
            </a:xfrm>
            <a:prstGeom prst="rect">
              <a:avLst/>
            </a:prstGeom>
          </p:spPr>
        </p:pic>
        <p:sp>
          <p:nvSpPr>
            <p:cNvPr id="76" name="object 76"/>
            <p:cNvSpPr/>
            <p:nvPr/>
          </p:nvSpPr>
          <p:spPr>
            <a:xfrm>
              <a:off x="15676678" y="4801202"/>
              <a:ext cx="417830" cy="607060"/>
            </a:xfrm>
            <a:custGeom>
              <a:avLst/>
              <a:gdLst/>
              <a:ahLst/>
              <a:cxnLst/>
              <a:rect l="l" t="t" r="r" b="b"/>
              <a:pathLst>
                <a:path w="417830" h="607060">
                  <a:moveTo>
                    <a:pt x="120916" y="540296"/>
                  </a:moveTo>
                  <a:lnTo>
                    <a:pt x="116484" y="515404"/>
                  </a:lnTo>
                  <a:lnTo>
                    <a:pt x="103200" y="493522"/>
                  </a:lnTo>
                  <a:lnTo>
                    <a:pt x="83197" y="478980"/>
                  </a:lnTo>
                  <a:lnTo>
                    <a:pt x="60452" y="474141"/>
                  </a:lnTo>
                  <a:lnTo>
                    <a:pt x="37706" y="478980"/>
                  </a:lnTo>
                  <a:lnTo>
                    <a:pt x="17703" y="493522"/>
                  </a:lnTo>
                  <a:lnTo>
                    <a:pt x="4432" y="515404"/>
                  </a:lnTo>
                  <a:lnTo>
                    <a:pt x="0" y="540296"/>
                  </a:lnTo>
                  <a:lnTo>
                    <a:pt x="4432" y="565188"/>
                  </a:lnTo>
                  <a:lnTo>
                    <a:pt x="17703" y="587070"/>
                  </a:lnTo>
                  <a:lnTo>
                    <a:pt x="37706" y="601611"/>
                  </a:lnTo>
                  <a:lnTo>
                    <a:pt x="60452" y="606450"/>
                  </a:lnTo>
                  <a:lnTo>
                    <a:pt x="83197" y="601611"/>
                  </a:lnTo>
                  <a:lnTo>
                    <a:pt x="103200" y="587070"/>
                  </a:lnTo>
                  <a:lnTo>
                    <a:pt x="116484" y="565188"/>
                  </a:lnTo>
                  <a:lnTo>
                    <a:pt x="120916" y="540296"/>
                  </a:lnTo>
                  <a:close/>
                </a:path>
                <a:path w="417830" h="607060">
                  <a:moveTo>
                    <a:pt x="120916" y="341795"/>
                  </a:moveTo>
                  <a:lnTo>
                    <a:pt x="116484" y="316903"/>
                  </a:lnTo>
                  <a:lnTo>
                    <a:pt x="103200" y="295021"/>
                  </a:lnTo>
                  <a:lnTo>
                    <a:pt x="83197" y="280492"/>
                  </a:lnTo>
                  <a:lnTo>
                    <a:pt x="60452" y="275640"/>
                  </a:lnTo>
                  <a:lnTo>
                    <a:pt x="37706" y="280492"/>
                  </a:lnTo>
                  <a:lnTo>
                    <a:pt x="17703" y="295021"/>
                  </a:lnTo>
                  <a:lnTo>
                    <a:pt x="4432" y="316903"/>
                  </a:lnTo>
                  <a:lnTo>
                    <a:pt x="0" y="341795"/>
                  </a:lnTo>
                  <a:lnTo>
                    <a:pt x="4432" y="366699"/>
                  </a:lnTo>
                  <a:lnTo>
                    <a:pt x="17703" y="388581"/>
                  </a:lnTo>
                  <a:lnTo>
                    <a:pt x="37706" y="403110"/>
                  </a:lnTo>
                  <a:lnTo>
                    <a:pt x="60452" y="407949"/>
                  </a:lnTo>
                  <a:lnTo>
                    <a:pt x="83197" y="403110"/>
                  </a:lnTo>
                  <a:lnTo>
                    <a:pt x="103200" y="388581"/>
                  </a:lnTo>
                  <a:lnTo>
                    <a:pt x="116484" y="366699"/>
                  </a:lnTo>
                  <a:lnTo>
                    <a:pt x="120916" y="341795"/>
                  </a:lnTo>
                  <a:close/>
                </a:path>
                <a:path w="417830" h="607060">
                  <a:moveTo>
                    <a:pt x="120916" y="66154"/>
                  </a:moveTo>
                  <a:lnTo>
                    <a:pt x="116484" y="41262"/>
                  </a:lnTo>
                  <a:lnTo>
                    <a:pt x="103200" y="19380"/>
                  </a:lnTo>
                  <a:lnTo>
                    <a:pt x="83197" y="4851"/>
                  </a:lnTo>
                  <a:lnTo>
                    <a:pt x="60452" y="0"/>
                  </a:lnTo>
                  <a:lnTo>
                    <a:pt x="37706" y="4851"/>
                  </a:lnTo>
                  <a:lnTo>
                    <a:pt x="17703" y="19380"/>
                  </a:lnTo>
                  <a:lnTo>
                    <a:pt x="4432" y="41262"/>
                  </a:lnTo>
                  <a:lnTo>
                    <a:pt x="0" y="66154"/>
                  </a:lnTo>
                  <a:lnTo>
                    <a:pt x="4432" y="91046"/>
                  </a:lnTo>
                  <a:lnTo>
                    <a:pt x="17703" y="112941"/>
                  </a:lnTo>
                  <a:lnTo>
                    <a:pt x="37706" y="127469"/>
                  </a:lnTo>
                  <a:lnTo>
                    <a:pt x="60452" y="132308"/>
                  </a:lnTo>
                  <a:lnTo>
                    <a:pt x="83197" y="127469"/>
                  </a:lnTo>
                  <a:lnTo>
                    <a:pt x="103200" y="112941"/>
                  </a:lnTo>
                  <a:lnTo>
                    <a:pt x="116484" y="91046"/>
                  </a:lnTo>
                  <a:lnTo>
                    <a:pt x="120916" y="66154"/>
                  </a:lnTo>
                  <a:close/>
                </a:path>
                <a:path w="417830" h="607060">
                  <a:moveTo>
                    <a:pt x="293865" y="479615"/>
                  </a:moveTo>
                  <a:lnTo>
                    <a:pt x="289433" y="454723"/>
                  </a:lnTo>
                  <a:lnTo>
                    <a:pt x="276148" y="432841"/>
                  </a:lnTo>
                  <a:lnTo>
                    <a:pt x="256146" y="418312"/>
                  </a:lnTo>
                  <a:lnTo>
                    <a:pt x="233400" y="413461"/>
                  </a:lnTo>
                  <a:lnTo>
                    <a:pt x="210654" y="418312"/>
                  </a:lnTo>
                  <a:lnTo>
                    <a:pt x="190652" y="432841"/>
                  </a:lnTo>
                  <a:lnTo>
                    <a:pt x="177368" y="454723"/>
                  </a:lnTo>
                  <a:lnTo>
                    <a:pt x="172948" y="479615"/>
                  </a:lnTo>
                  <a:lnTo>
                    <a:pt x="177368" y="504520"/>
                  </a:lnTo>
                  <a:lnTo>
                    <a:pt x="190652" y="526402"/>
                  </a:lnTo>
                  <a:lnTo>
                    <a:pt x="210654" y="540931"/>
                  </a:lnTo>
                  <a:lnTo>
                    <a:pt x="233400" y="545769"/>
                  </a:lnTo>
                  <a:lnTo>
                    <a:pt x="256146" y="540931"/>
                  </a:lnTo>
                  <a:lnTo>
                    <a:pt x="276148" y="526402"/>
                  </a:lnTo>
                  <a:lnTo>
                    <a:pt x="289433" y="504520"/>
                  </a:lnTo>
                  <a:lnTo>
                    <a:pt x="293865" y="479615"/>
                  </a:lnTo>
                  <a:close/>
                </a:path>
                <a:path w="417830" h="607060">
                  <a:moveTo>
                    <a:pt x="293865" y="203974"/>
                  </a:moveTo>
                  <a:lnTo>
                    <a:pt x="289433" y="179082"/>
                  </a:lnTo>
                  <a:lnTo>
                    <a:pt x="276148" y="157200"/>
                  </a:lnTo>
                  <a:lnTo>
                    <a:pt x="256146" y="142671"/>
                  </a:lnTo>
                  <a:lnTo>
                    <a:pt x="233400" y="137820"/>
                  </a:lnTo>
                  <a:lnTo>
                    <a:pt x="210654" y="142671"/>
                  </a:lnTo>
                  <a:lnTo>
                    <a:pt x="190652" y="157200"/>
                  </a:lnTo>
                  <a:lnTo>
                    <a:pt x="177368" y="179082"/>
                  </a:lnTo>
                  <a:lnTo>
                    <a:pt x="172948" y="203974"/>
                  </a:lnTo>
                  <a:lnTo>
                    <a:pt x="177368" y="228879"/>
                  </a:lnTo>
                  <a:lnTo>
                    <a:pt x="190652" y="250761"/>
                  </a:lnTo>
                  <a:lnTo>
                    <a:pt x="210654" y="265290"/>
                  </a:lnTo>
                  <a:lnTo>
                    <a:pt x="233400" y="270129"/>
                  </a:lnTo>
                  <a:lnTo>
                    <a:pt x="256146" y="265290"/>
                  </a:lnTo>
                  <a:lnTo>
                    <a:pt x="276148" y="250761"/>
                  </a:lnTo>
                  <a:lnTo>
                    <a:pt x="289433" y="228879"/>
                  </a:lnTo>
                  <a:lnTo>
                    <a:pt x="293865" y="203974"/>
                  </a:lnTo>
                  <a:close/>
                </a:path>
                <a:path w="417830" h="607060">
                  <a:moveTo>
                    <a:pt x="417296" y="540296"/>
                  </a:moveTo>
                  <a:lnTo>
                    <a:pt x="412877" y="515404"/>
                  </a:lnTo>
                  <a:lnTo>
                    <a:pt x="399592" y="493522"/>
                  </a:lnTo>
                  <a:lnTo>
                    <a:pt x="379590" y="478980"/>
                  </a:lnTo>
                  <a:lnTo>
                    <a:pt x="356844" y="474141"/>
                  </a:lnTo>
                  <a:lnTo>
                    <a:pt x="334098" y="478980"/>
                  </a:lnTo>
                  <a:lnTo>
                    <a:pt x="314096" y="493522"/>
                  </a:lnTo>
                  <a:lnTo>
                    <a:pt x="300812" y="515404"/>
                  </a:lnTo>
                  <a:lnTo>
                    <a:pt x="296392" y="540296"/>
                  </a:lnTo>
                  <a:lnTo>
                    <a:pt x="300812" y="565188"/>
                  </a:lnTo>
                  <a:lnTo>
                    <a:pt x="314096" y="587070"/>
                  </a:lnTo>
                  <a:lnTo>
                    <a:pt x="334098" y="601611"/>
                  </a:lnTo>
                  <a:lnTo>
                    <a:pt x="356844" y="606450"/>
                  </a:lnTo>
                  <a:lnTo>
                    <a:pt x="379590" y="601611"/>
                  </a:lnTo>
                  <a:lnTo>
                    <a:pt x="399592" y="587070"/>
                  </a:lnTo>
                  <a:lnTo>
                    <a:pt x="412877" y="565188"/>
                  </a:lnTo>
                  <a:lnTo>
                    <a:pt x="417296" y="540296"/>
                  </a:lnTo>
                  <a:close/>
                </a:path>
              </a:pathLst>
            </a:custGeom>
            <a:solidFill>
              <a:srgbClr val="3C7DEC"/>
            </a:solidFill>
          </p:spPr>
          <p:txBody>
            <a:bodyPr wrap="square" lIns="0" tIns="0" rIns="0" bIns="0" rtlCol="0"/>
            <a:lstStyle/>
            <a:p>
              <a:endParaRPr sz="614"/>
            </a:p>
          </p:txBody>
        </p:sp>
        <p:pic>
          <p:nvPicPr>
            <p:cNvPr id="77" name="object 77"/>
            <p:cNvPicPr/>
            <p:nvPr/>
          </p:nvPicPr>
          <p:blipFill>
            <a:blip r:embed="rId6" cstate="print"/>
            <a:stretch>
              <a:fillRect/>
            </a:stretch>
          </p:blipFill>
          <p:spPr>
            <a:xfrm>
              <a:off x="16146019" y="5076843"/>
              <a:ext cx="120912" cy="132308"/>
            </a:xfrm>
            <a:prstGeom prst="rect">
              <a:avLst/>
            </a:prstGeom>
          </p:spPr>
        </p:pic>
        <p:sp>
          <p:nvSpPr>
            <p:cNvPr id="78" name="object 78"/>
            <p:cNvSpPr/>
            <p:nvPr/>
          </p:nvSpPr>
          <p:spPr>
            <a:xfrm>
              <a:off x="15849630" y="4586232"/>
              <a:ext cx="121285" cy="132715"/>
            </a:xfrm>
            <a:custGeom>
              <a:avLst/>
              <a:gdLst/>
              <a:ahLst/>
              <a:cxnLst/>
              <a:rect l="l" t="t" r="r" b="b"/>
              <a:pathLst>
                <a:path w="121284" h="132714">
                  <a:moveTo>
                    <a:pt x="60456" y="0"/>
                  </a:moveTo>
                  <a:lnTo>
                    <a:pt x="37708" y="4844"/>
                  </a:lnTo>
                  <a:lnTo>
                    <a:pt x="17708" y="19376"/>
                  </a:lnTo>
                  <a:lnTo>
                    <a:pt x="4427" y="41260"/>
                  </a:lnTo>
                  <a:lnTo>
                    <a:pt x="0" y="66154"/>
                  </a:lnTo>
                  <a:lnTo>
                    <a:pt x="4427" y="91048"/>
                  </a:lnTo>
                  <a:lnTo>
                    <a:pt x="17708" y="112932"/>
                  </a:lnTo>
                  <a:lnTo>
                    <a:pt x="37708" y="127464"/>
                  </a:lnTo>
                  <a:lnTo>
                    <a:pt x="60456" y="132308"/>
                  </a:lnTo>
                  <a:lnTo>
                    <a:pt x="83204" y="127464"/>
                  </a:lnTo>
                  <a:lnTo>
                    <a:pt x="103203" y="112932"/>
                  </a:lnTo>
                  <a:lnTo>
                    <a:pt x="116485" y="91048"/>
                  </a:lnTo>
                  <a:lnTo>
                    <a:pt x="120912" y="66154"/>
                  </a:lnTo>
                  <a:lnTo>
                    <a:pt x="116485" y="41260"/>
                  </a:lnTo>
                  <a:lnTo>
                    <a:pt x="103203" y="19376"/>
                  </a:lnTo>
                  <a:lnTo>
                    <a:pt x="83204" y="4844"/>
                  </a:lnTo>
                  <a:lnTo>
                    <a:pt x="60456" y="0"/>
                  </a:lnTo>
                  <a:close/>
                </a:path>
              </a:pathLst>
            </a:custGeom>
            <a:solidFill>
              <a:srgbClr val="3C7DEC"/>
            </a:solidFill>
          </p:spPr>
          <p:txBody>
            <a:bodyPr wrap="square" lIns="0" tIns="0" rIns="0" bIns="0" rtlCol="0"/>
            <a:lstStyle/>
            <a:p>
              <a:endParaRPr sz="614"/>
            </a:p>
          </p:txBody>
        </p:sp>
        <p:pic>
          <p:nvPicPr>
            <p:cNvPr id="79" name="object 79"/>
            <p:cNvPicPr/>
            <p:nvPr/>
          </p:nvPicPr>
          <p:blipFill>
            <a:blip r:embed="rId8" cstate="print"/>
            <a:stretch>
              <a:fillRect/>
            </a:stretch>
          </p:blipFill>
          <p:spPr>
            <a:xfrm>
              <a:off x="16365039" y="4894276"/>
              <a:ext cx="120904" cy="132308"/>
            </a:xfrm>
            <a:prstGeom prst="rect">
              <a:avLst/>
            </a:prstGeom>
          </p:spPr>
        </p:pic>
        <p:pic>
          <p:nvPicPr>
            <p:cNvPr id="80" name="object 80"/>
            <p:cNvPicPr/>
            <p:nvPr/>
          </p:nvPicPr>
          <p:blipFill>
            <a:blip r:embed="rId6" cstate="print"/>
            <a:stretch>
              <a:fillRect/>
            </a:stretch>
          </p:blipFill>
          <p:spPr>
            <a:xfrm>
              <a:off x="16146019" y="4801200"/>
              <a:ext cx="120912" cy="132308"/>
            </a:xfrm>
            <a:prstGeom prst="rect">
              <a:avLst/>
            </a:prstGeom>
          </p:spPr>
        </p:pic>
        <p:pic>
          <p:nvPicPr>
            <p:cNvPr id="81" name="object 81"/>
            <p:cNvPicPr/>
            <p:nvPr/>
          </p:nvPicPr>
          <p:blipFill>
            <a:blip r:embed="rId5" cstate="print"/>
            <a:stretch>
              <a:fillRect/>
            </a:stretch>
          </p:blipFill>
          <p:spPr>
            <a:xfrm>
              <a:off x="16442408" y="4586232"/>
              <a:ext cx="120912" cy="132308"/>
            </a:xfrm>
            <a:prstGeom prst="rect">
              <a:avLst/>
            </a:prstGeom>
          </p:spPr>
        </p:pic>
        <p:sp>
          <p:nvSpPr>
            <p:cNvPr id="82" name="object 82"/>
            <p:cNvSpPr/>
            <p:nvPr/>
          </p:nvSpPr>
          <p:spPr>
            <a:xfrm>
              <a:off x="14998053" y="4384668"/>
              <a:ext cx="1269365" cy="546100"/>
            </a:xfrm>
            <a:custGeom>
              <a:avLst/>
              <a:gdLst/>
              <a:ahLst/>
              <a:cxnLst/>
              <a:rect l="l" t="t" r="r" b="b"/>
              <a:pathLst>
                <a:path w="1269365" h="546100">
                  <a:moveTo>
                    <a:pt x="120916" y="341807"/>
                  </a:moveTo>
                  <a:lnTo>
                    <a:pt x="116497" y="316903"/>
                  </a:lnTo>
                  <a:lnTo>
                    <a:pt x="103212" y="295021"/>
                  </a:lnTo>
                  <a:lnTo>
                    <a:pt x="83210" y="280492"/>
                  </a:lnTo>
                  <a:lnTo>
                    <a:pt x="60464" y="275653"/>
                  </a:lnTo>
                  <a:lnTo>
                    <a:pt x="37719" y="280492"/>
                  </a:lnTo>
                  <a:lnTo>
                    <a:pt x="17716" y="295021"/>
                  </a:lnTo>
                  <a:lnTo>
                    <a:pt x="4432" y="316903"/>
                  </a:lnTo>
                  <a:lnTo>
                    <a:pt x="0" y="341807"/>
                  </a:lnTo>
                  <a:lnTo>
                    <a:pt x="4432" y="366699"/>
                  </a:lnTo>
                  <a:lnTo>
                    <a:pt x="17716" y="388581"/>
                  </a:lnTo>
                  <a:lnTo>
                    <a:pt x="37719" y="403110"/>
                  </a:lnTo>
                  <a:lnTo>
                    <a:pt x="60464" y="407962"/>
                  </a:lnTo>
                  <a:lnTo>
                    <a:pt x="83210" y="403110"/>
                  </a:lnTo>
                  <a:lnTo>
                    <a:pt x="103212" y="388581"/>
                  </a:lnTo>
                  <a:lnTo>
                    <a:pt x="116497" y="366699"/>
                  </a:lnTo>
                  <a:lnTo>
                    <a:pt x="120916" y="341807"/>
                  </a:lnTo>
                  <a:close/>
                </a:path>
                <a:path w="1269365" h="546100">
                  <a:moveTo>
                    <a:pt x="120916" y="66154"/>
                  </a:moveTo>
                  <a:lnTo>
                    <a:pt x="116497" y="41262"/>
                  </a:lnTo>
                  <a:lnTo>
                    <a:pt x="103212" y="19380"/>
                  </a:lnTo>
                  <a:lnTo>
                    <a:pt x="83210" y="4851"/>
                  </a:lnTo>
                  <a:lnTo>
                    <a:pt x="60464" y="0"/>
                  </a:lnTo>
                  <a:lnTo>
                    <a:pt x="37719" y="4851"/>
                  </a:lnTo>
                  <a:lnTo>
                    <a:pt x="17716" y="19380"/>
                  </a:lnTo>
                  <a:lnTo>
                    <a:pt x="4432" y="41262"/>
                  </a:lnTo>
                  <a:lnTo>
                    <a:pt x="0" y="66154"/>
                  </a:lnTo>
                  <a:lnTo>
                    <a:pt x="4432" y="91059"/>
                  </a:lnTo>
                  <a:lnTo>
                    <a:pt x="17716" y="112941"/>
                  </a:lnTo>
                  <a:lnTo>
                    <a:pt x="37719" y="127469"/>
                  </a:lnTo>
                  <a:lnTo>
                    <a:pt x="60464" y="132308"/>
                  </a:lnTo>
                  <a:lnTo>
                    <a:pt x="83210" y="127469"/>
                  </a:lnTo>
                  <a:lnTo>
                    <a:pt x="103212" y="112941"/>
                  </a:lnTo>
                  <a:lnTo>
                    <a:pt x="116497" y="91059"/>
                  </a:lnTo>
                  <a:lnTo>
                    <a:pt x="120916" y="66154"/>
                  </a:lnTo>
                  <a:close/>
                </a:path>
                <a:path w="1269365" h="546100">
                  <a:moveTo>
                    <a:pt x="293865" y="479628"/>
                  </a:moveTo>
                  <a:lnTo>
                    <a:pt x="289433" y="454723"/>
                  </a:lnTo>
                  <a:lnTo>
                    <a:pt x="276161" y="432841"/>
                  </a:lnTo>
                  <a:lnTo>
                    <a:pt x="256159" y="418312"/>
                  </a:lnTo>
                  <a:lnTo>
                    <a:pt x="233413" y="413473"/>
                  </a:lnTo>
                  <a:lnTo>
                    <a:pt x="210667" y="418312"/>
                  </a:lnTo>
                  <a:lnTo>
                    <a:pt x="190665" y="432841"/>
                  </a:lnTo>
                  <a:lnTo>
                    <a:pt x="177380" y="454723"/>
                  </a:lnTo>
                  <a:lnTo>
                    <a:pt x="172948" y="479628"/>
                  </a:lnTo>
                  <a:lnTo>
                    <a:pt x="177380" y="504520"/>
                  </a:lnTo>
                  <a:lnTo>
                    <a:pt x="190665" y="526402"/>
                  </a:lnTo>
                  <a:lnTo>
                    <a:pt x="210667" y="540931"/>
                  </a:lnTo>
                  <a:lnTo>
                    <a:pt x="233413" y="545782"/>
                  </a:lnTo>
                  <a:lnTo>
                    <a:pt x="256159" y="540931"/>
                  </a:lnTo>
                  <a:lnTo>
                    <a:pt x="276161" y="526402"/>
                  </a:lnTo>
                  <a:lnTo>
                    <a:pt x="289433" y="504520"/>
                  </a:lnTo>
                  <a:lnTo>
                    <a:pt x="293865" y="479628"/>
                  </a:lnTo>
                  <a:close/>
                </a:path>
                <a:path w="1269365" h="546100">
                  <a:moveTo>
                    <a:pt x="293865" y="203974"/>
                  </a:moveTo>
                  <a:lnTo>
                    <a:pt x="289433" y="179082"/>
                  </a:lnTo>
                  <a:lnTo>
                    <a:pt x="276161" y="157200"/>
                  </a:lnTo>
                  <a:lnTo>
                    <a:pt x="256159" y="142671"/>
                  </a:lnTo>
                  <a:lnTo>
                    <a:pt x="233413" y="137820"/>
                  </a:lnTo>
                  <a:lnTo>
                    <a:pt x="210667" y="142671"/>
                  </a:lnTo>
                  <a:lnTo>
                    <a:pt x="190665" y="157200"/>
                  </a:lnTo>
                  <a:lnTo>
                    <a:pt x="177380" y="179082"/>
                  </a:lnTo>
                  <a:lnTo>
                    <a:pt x="172948" y="203974"/>
                  </a:lnTo>
                  <a:lnTo>
                    <a:pt x="177380" y="228879"/>
                  </a:lnTo>
                  <a:lnTo>
                    <a:pt x="190665" y="250761"/>
                  </a:lnTo>
                  <a:lnTo>
                    <a:pt x="210667" y="265290"/>
                  </a:lnTo>
                  <a:lnTo>
                    <a:pt x="233413" y="270129"/>
                  </a:lnTo>
                  <a:lnTo>
                    <a:pt x="256159" y="265290"/>
                  </a:lnTo>
                  <a:lnTo>
                    <a:pt x="276161" y="250761"/>
                  </a:lnTo>
                  <a:lnTo>
                    <a:pt x="289433" y="228879"/>
                  </a:lnTo>
                  <a:lnTo>
                    <a:pt x="293865" y="203974"/>
                  </a:lnTo>
                  <a:close/>
                </a:path>
                <a:path w="1269365" h="546100">
                  <a:moveTo>
                    <a:pt x="590257" y="341807"/>
                  </a:moveTo>
                  <a:lnTo>
                    <a:pt x="585825" y="316903"/>
                  </a:lnTo>
                  <a:lnTo>
                    <a:pt x="572541" y="295021"/>
                  </a:lnTo>
                  <a:lnTo>
                    <a:pt x="552551" y="280492"/>
                  </a:lnTo>
                  <a:lnTo>
                    <a:pt x="529793" y="275653"/>
                  </a:lnTo>
                  <a:lnTo>
                    <a:pt x="507047" y="280492"/>
                  </a:lnTo>
                  <a:lnTo>
                    <a:pt x="487057" y="295021"/>
                  </a:lnTo>
                  <a:lnTo>
                    <a:pt x="473773" y="316903"/>
                  </a:lnTo>
                  <a:lnTo>
                    <a:pt x="469341" y="341807"/>
                  </a:lnTo>
                  <a:lnTo>
                    <a:pt x="473773" y="366699"/>
                  </a:lnTo>
                  <a:lnTo>
                    <a:pt x="487057" y="388581"/>
                  </a:lnTo>
                  <a:lnTo>
                    <a:pt x="507047" y="403110"/>
                  </a:lnTo>
                  <a:lnTo>
                    <a:pt x="529793" y="407962"/>
                  </a:lnTo>
                  <a:lnTo>
                    <a:pt x="552551" y="403110"/>
                  </a:lnTo>
                  <a:lnTo>
                    <a:pt x="572541" y="388581"/>
                  </a:lnTo>
                  <a:lnTo>
                    <a:pt x="585825" y="366699"/>
                  </a:lnTo>
                  <a:lnTo>
                    <a:pt x="590257" y="341807"/>
                  </a:lnTo>
                  <a:close/>
                </a:path>
                <a:path w="1269365" h="546100">
                  <a:moveTo>
                    <a:pt x="1268869" y="267728"/>
                  </a:moveTo>
                  <a:lnTo>
                    <a:pt x="1264450" y="242824"/>
                  </a:lnTo>
                  <a:lnTo>
                    <a:pt x="1251165" y="220941"/>
                  </a:lnTo>
                  <a:lnTo>
                    <a:pt x="1231163" y="206413"/>
                  </a:lnTo>
                  <a:lnTo>
                    <a:pt x="1208417" y="201574"/>
                  </a:lnTo>
                  <a:lnTo>
                    <a:pt x="1185672" y="206413"/>
                  </a:lnTo>
                  <a:lnTo>
                    <a:pt x="1165669" y="220941"/>
                  </a:lnTo>
                  <a:lnTo>
                    <a:pt x="1152385" y="242824"/>
                  </a:lnTo>
                  <a:lnTo>
                    <a:pt x="1147965" y="267728"/>
                  </a:lnTo>
                  <a:lnTo>
                    <a:pt x="1152385" y="292620"/>
                  </a:lnTo>
                  <a:lnTo>
                    <a:pt x="1165669" y="314502"/>
                  </a:lnTo>
                  <a:lnTo>
                    <a:pt x="1185672" y="329031"/>
                  </a:lnTo>
                  <a:lnTo>
                    <a:pt x="1208417" y="333883"/>
                  </a:lnTo>
                  <a:lnTo>
                    <a:pt x="1231163" y="329031"/>
                  </a:lnTo>
                  <a:lnTo>
                    <a:pt x="1251165" y="314502"/>
                  </a:lnTo>
                  <a:lnTo>
                    <a:pt x="1264450" y="292620"/>
                  </a:lnTo>
                  <a:lnTo>
                    <a:pt x="1268869" y="267728"/>
                  </a:lnTo>
                  <a:close/>
                </a:path>
              </a:pathLst>
            </a:custGeom>
            <a:solidFill>
              <a:srgbClr val="3C7DEC"/>
            </a:solidFill>
          </p:spPr>
          <p:txBody>
            <a:bodyPr wrap="square" lIns="0" tIns="0" rIns="0" bIns="0" rtlCol="0"/>
            <a:lstStyle/>
            <a:p>
              <a:endParaRPr sz="614"/>
            </a:p>
          </p:txBody>
        </p:sp>
        <p:pic>
          <p:nvPicPr>
            <p:cNvPr id="83" name="object 83"/>
            <p:cNvPicPr/>
            <p:nvPr/>
          </p:nvPicPr>
          <p:blipFill>
            <a:blip r:embed="rId2" cstate="print"/>
            <a:stretch>
              <a:fillRect/>
            </a:stretch>
          </p:blipFill>
          <p:spPr>
            <a:xfrm>
              <a:off x="15171012" y="4169698"/>
              <a:ext cx="120912" cy="132308"/>
            </a:xfrm>
            <a:prstGeom prst="rect">
              <a:avLst/>
            </a:prstGeom>
          </p:spPr>
        </p:pic>
        <p:sp>
          <p:nvSpPr>
            <p:cNvPr id="84" name="object 84"/>
            <p:cNvSpPr/>
            <p:nvPr/>
          </p:nvSpPr>
          <p:spPr>
            <a:xfrm>
              <a:off x="15467394" y="4169707"/>
              <a:ext cx="417830" cy="440690"/>
            </a:xfrm>
            <a:custGeom>
              <a:avLst/>
              <a:gdLst/>
              <a:ahLst/>
              <a:cxnLst/>
              <a:rect l="l" t="t" r="r" b="b"/>
              <a:pathLst>
                <a:path w="417830" h="440689">
                  <a:moveTo>
                    <a:pt x="120916" y="281114"/>
                  </a:moveTo>
                  <a:lnTo>
                    <a:pt x="116484" y="256222"/>
                  </a:lnTo>
                  <a:lnTo>
                    <a:pt x="103200" y="234340"/>
                  </a:lnTo>
                  <a:lnTo>
                    <a:pt x="83210" y="219811"/>
                  </a:lnTo>
                  <a:lnTo>
                    <a:pt x="60452" y="214960"/>
                  </a:lnTo>
                  <a:lnTo>
                    <a:pt x="37706" y="219811"/>
                  </a:lnTo>
                  <a:lnTo>
                    <a:pt x="17716" y="234340"/>
                  </a:lnTo>
                  <a:lnTo>
                    <a:pt x="4432" y="256222"/>
                  </a:lnTo>
                  <a:lnTo>
                    <a:pt x="0" y="281114"/>
                  </a:lnTo>
                  <a:lnTo>
                    <a:pt x="4432" y="306019"/>
                  </a:lnTo>
                  <a:lnTo>
                    <a:pt x="17716" y="327901"/>
                  </a:lnTo>
                  <a:lnTo>
                    <a:pt x="37706" y="342430"/>
                  </a:lnTo>
                  <a:lnTo>
                    <a:pt x="60452" y="347268"/>
                  </a:lnTo>
                  <a:lnTo>
                    <a:pt x="83210" y="342430"/>
                  </a:lnTo>
                  <a:lnTo>
                    <a:pt x="103200" y="327901"/>
                  </a:lnTo>
                  <a:lnTo>
                    <a:pt x="116484" y="306019"/>
                  </a:lnTo>
                  <a:lnTo>
                    <a:pt x="120916" y="281114"/>
                  </a:lnTo>
                  <a:close/>
                </a:path>
                <a:path w="417830" h="440689">
                  <a:moveTo>
                    <a:pt x="339928" y="374192"/>
                  </a:moveTo>
                  <a:lnTo>
                    <a:pt x="335495" y="349300"/>
                  </a:lnTo>
                  <a:lnTo>
                    <a:pt x="322224" y="327418"/>
                  </a:lnTo>
                  <a:lnTo>
                    <a:pt x="302221" y="312889"/>
                  </a:lnTo>
                  <a:lnTo>
                    <a:pt x="279476" y="308038"/>
                  </a:lnTo>
                  <a:lnTo>
                    <a:pt x="256717" y="312889"/>
                  </a:lnTo>
                  <a:lnTo>
                    <a:pt x="236715" y="327418"/>
                  </a:lnTo>
                  <a:lnTo>
                    <a:pt x="223443" y="349300"/>
                  </a:lnTo>
                  <a:lnTo>
                    <a:pt x="219024" y="374192"/>
                  </a:lnTo>
                  <a:lnTo>
                    <a:pt x="223443" y="399084"/>
                  </a:lnTo>
                  <a:lnTo>
                    <a:pt x="236715" y="420979"/>
                  </a:lnTo>
                  <a:lnTo>
                    <a:pt x="256717" y="435508"/>
                  </a:lnTo>
                  <a:lnTo>
                    <a:pt x="279476" y="440347"/>
                  </a:lnTo>
                  <a:lnTo>
                    <a:pt x="302221" y="435508"/>
                  </a:lnTo>
                  <a:lnTo>
                    <a:pt x="322224" y="420979"/>
                  </a:lnTo>
                  <a:lnTo>
                    <a:pt x="335495" y="399084"/>
                  </a:lnTo>
                  <a:lnTo>
                    <a:pt x="339928" y="374192"/>
                  </a:lnTo>
                  <a:close/>
                </a:path>
                <a:path w="417830" h="440689">
                  <a:moveTo>
                    <a:pt x="417296" y="66154"/>
                  </a:moveTo>
                  <a:lnTo>
                    <a:pt x="412877" y="41262"/>
                  </a:lnTo>
                  <a:lnTo>
                    <a:pt x="399592" y="19367"/>
                  </a:lnTo>
                  <a:lnTo>
                    <a:pt x="379590" y="4838"/>
                  </a:lnTo>
                  <a:lnTo>
                    <a:pt x="356844" y="0"/>
                  </a:lnTo>
                  <a:lnTo>
                    <a:pt x="334098" y="4838"/>
                  </a:lnTo>
                  <a:lnTo>
                    <a:pt x="314096" y="19367"/>
                  </a:lnTo>
                  <a:lnTo>
                    <a:pt x="300812" y="41262"/>
                  </a:lnTo>
                  <a:lnTo>
                    <a:pt x="296392" y="66154"/>
                  </a:lnTo>
                  <a:lnTo>
                    <a:pt x="300812" y="91046"/>
                  </a:lnTo>
                  <a:lnTo>
                    <a:pt x="314096" y="112928"/>
                  </a:lnTo>
                  <a:lnTo>
                    <a:pt x="334098" y="127457"/>
                  </a:lnTo>
                  <a:lnTo>
                    <a:pt x="356844" y="132308"/>
                  </a:lnTo>
                  <a:lnTo>
                    <a:pt x="379590" y="127457"/>
                  </a:lnTo>
                  <a:lnTo>
                    <a:pt x="399592" y="112928"/>
                  </a:lnTo>
                  <a:lnTo>
                    <a:pt x="412877" y="91046"/>
                  </a:lnTo>
                  <a:lnTo>
                    <a:pt x="417296" y="66154"/>
                  </a:lnTo>
                  <a:close/>
                </a:path>
              </a:pathLst>
            </a:custGeom>
            <a:solidFill>
              <a:srgbClr val="3C7DEC"/>
            </a:solidFill>
          </p:spPr>
          <p:txBody>
            <a:bodyPr wrap="square" lIns="0" tIns="0" rIns="0" bIns="0" rtlCol="0"/>
            <a:lstStyle/>
            <a:p>
              <a:endParaRPr sz="614"/>
            </a:p>
          </p:txBody>
        </p:sp>
        <p:pic>
          <p:nvPicPr>
            <p:cNvPr id="85" name="object 85"/>
            <p:cNvPicPr/>
            <p:nvPr/>
          </p:nvPicPr>
          <p:blipFill>
            <a:blip r:embed="rId2" cstate="print"/>
            <a:stretch>
              <a:fillRect/>
            </a:stretch>
          </p:blipFill>
          <p:spPr>
            <a:xfrm>
              <a:off x="15467401" y="4169698"/>
              <a:ext cx="120912" cy="132308"/>
            </a:xfrm>
            <a:prstGeom prst="rect">
              <a:avLst/>
            </a:prstGeom>
          </p:spPr>
        </p:pic>
        <p:pic>
          <p:nvPicPr>
            <p:cNvPr id="86" name="object 86"/>
            <p:cNvPicPr/>
            <p:nvPr/>
          </p:nvPicPr>
          <p:blipFill>
            <a:blip r:embed="rId2" cstate="print"/>
            <a:stretch>
              <a:fillRect/>
            </a:stretch>
          </p:blipFill>
          <p:spPr>
            <a:xfrm>
              <a:off x="15380930" y="3723832"/>
              <a:ext cx="120904" cy="132308"/>
            </a:xfrm>
            <a:prstGeom prst="rect">
              <a:avLst/>
            </a:prstGeom>
          </p:spPr>
        </p:pic>
        <p:pic>
          <p:nvPicPr>
            <p:cNvPr id="87" name="object 87"/>
            <p:cNvPicPr/>
            <p:nvPr/>
          </p:nvPicPr>
          <p:blipFill>
            <a:blip r:embed="rId2" cstate="print"/>
            <a:stretch>
              <a:fillRect/>
            </a:stretch>
          </p:blipFill>
          <p:spPr>
            <a:xfrm>
              <a:off x="15553877" y="3861654"/>
              <a:ext cx="120904" cy="132307"/>
            </a:xfrm>
            <a:prstGeom prst="rect">
              <a:avLst/>
            </a:prstGeom>
          </p:spPr>
        </p:pic>
        <p:pic>
          <p:nvPicPr>
            <p:cNvPr id="88" name="object 88"/>
            <p:cNvPicPr/>
            <p:nvPr/>
          </p:nvPicPr>
          <p:blipFill>
            <a:blip r:embed="rId3" cstate="print"/>
            <a:stretch>
              <a:fillRect/>
            </a:stretch>
          </p:blipFill>
          <p:spPr>
            <a:xfrm>
              <a:off x="15850266" y="3723832"/>
              <a:ext cx="120904" cy="132308"/>
            </a:xfrm>
            <a:prstGeom prst="rect">
              <a:avLst/>
            </a:prstGeom>
          </p:spPr>
        </p:pic>
        <p:sp>
          <p:nvSpPr>
            <p:cNvPr id="89" name="object 89"/>
            <p:cNvSpPr/>
            <p:nvPr/>
          </p:nvSpPr>
          <p:spPr>
            <a:xfrm>
              <a:off x="16058912" y="4038048"/>
              <a:ext cx="121285" cy="132715"/>
            </a:xfrm>
            <a:custGeom>
              <a:avLst/>
              <a:gdLst/>
              <a:ahLst/>
              <a:cxnLst/>
              <a:rect l="l" t="t" r="r" b="b"/>
              <a:pathLst>
                <a:path w="121284" h="132714">
                  <a:moveTo>
                    <a:pt x="60456" y="0"/>
                  </a:moveTo>
                  <a:lnTo>
                    <a:pt x="37708" y="4844"/>
                  </a:lnTo>
                  <a:lnTo>
                    <a:pt x="17708" y="19376"/>
                  </a:lnTo>
                  <a:lnTo>
                    <a:pt x="4427" y="41260"/>
                  </a:lnTo>
                  <a:lnTo>
                    <a:pt x="0" y="66154"/>
                  </a:lnTo>
                  <a:lnTo>
                    <a:pt x="4427" y="91048"/>
                  </a:lnTo>
                  <a:lnTo>
                    <a:pt x="17708" y="112932"/>
                  </a:lnTo>
                  <a:lnTo>
                    <a:pt x="37708" y="127464"/>
                  </a:lnTo>
                  <a:lnTo>
                    <a:pt x="60456" y="132308"/>
                  </a:lnTo>
                  <a:lnTo>
                    <a:pt x="83204" y="127464"/>
                  </a:lnTo>
                  <a:lnTo>
                    <a:pt x="103203" y="112932"/>
                  </a:lnTo>
                  <a:lnTo>
                    <a:pt x="116485" y="91048"/>
                  </a:lnTo>
                  <a:lnTo>
                    <a:pt x="120912" y="66154"/>
                  </a:lnTo>
                  <a:lnTo>
                    <a:pt x="116485" y="41260"/>
                  </a:lnTo>
                  <a:lnTo>
                    <a:pt x="103203" y="19376"/>
                  </a:lnTo>
                  <a:lnTo>
                    <a:pt x="83204" y="4844"/>
                  </a:lnTo>
                  <a:lnTo>
                    <a:pt x="60456" y="0"/>
                  </a:lnTo>
                  <a:close/>
                </a:path>
              </a:pathLst>
            </a:custGeom>
            <a:solidFill>
              <a:srgbClr val="3C7DEC"/>
            </a:solidFill>
          </p:spPr>
          <p:txBody>
            <a:bodyPr wrap="square" lIns="0" tIns="0" rIns="0" bIns="0" rtlCol="0"/>
            <a:lstStyle/>
            <a:p>
              <a:endParaRPr sz="614"/>
            </a:p>
          </p:txBody>
        </p:sp>
        <p:pic>
          <p:nvPicPr>
            <p:cNvPr id="90" name="object 90"/>
            <p:cNvPicPr/>
            <p:nvPr/>
          </p:nvPicPr>
          <p:blipFill>
            <a:blip r:embed="rId4" cstate="print"/>
            <a:stretch>
              <a:fillRect/>
            </a:stretch>
          </p:blipFill>
          <p:spPr>
            <a:xfrm>
              <a:off x="16058912" y="3762406"/>
              <a:ext cx="120912" cy="132308"/>
            </a:xfrm>
            <a:prstGeom prst="rect">
              <a:avLst/>
            </a:prstGeom>
          </p:spPr>
        </p:pic>
        <p:sp>
          <p:nvSpPr>
            <p:cNvPr id="91" name="object 91"/>
            <p:cNvSpPr/>
            <p:nvPr/>
          </p:nvSpPr>
          <p:spPr>
            <a:xfrm>
              <a:off x="16231858" y="3900239"/>
              <a:ext cx="417830" cy="408305"/>
            </a:xfrm>
            <a:custGeom>
              <a:avLst/>
              <a:gdLst/>
              <a:ahLst/>
              <a:cxnLst/>
              <a:rect l="l" t="t" r="r" b="b"/>
              <a:pathLst>
                <a:path w="417830" h="408304">
                  <a:moveTo>
                    <a:pt x="120904" y="341795"/>
                  </a:moveTo>
                  <a:lnTo>
                    <a:pt x="116484" y="316890"/>
                  </a:lnTo>
                  <a:lnTo>
                    <a:pt x="103200" y="295008"/>
                  </a:lnTo>
                  <a:lnTo>
                    <a:pt x="83197" y="280479"/>
                  </a:lnTo>
                  <a:lnTo>
                    <a:pt x="60452" y="275640"/>
                  </a:lnTo>
                  <a:lnTo>
                    <a:pt x="37706" y="280479"/>
                  </a:lnTo>
                  <a:lnTo>
                    <a:pt x="17703" y="295008"/>
                  </a:lnTo>
                  <a:lnTo>
                    <a:pt x="4419" y="316890"/>
                  </a:lnTo>
                  <a:lnTo>
                    <a:pt x="0" y="341795"/>
                  </a:lnTo>
                  <a:lnTo>
                    <a:pt x="4419" y="366687"/>
                  </a:lnTo>
                  <a:lnTo>
                    <a:pt x="17703" y="388569"/>
                  </a:lnTo>
                  <a:lnTo>
                    <a:pt x="37706" y="403098"/>
                  </a:lnTo>
                  <a:lnTo>
                    <a:pt x="60452" y="407949"/>
                  </a:lnTo>
                  <a:lnTo>
                    <a:pt x="83197" y="403098"/>
                  </a:lnTo>
                  <a:lnTo>
                    <a:pt x="103200" y="388569"/>
                  </a:lnTo>
                  <a:lnTo>
                    <a:pt x="116484" y="366687"/>
                  </a:lnTo>
                  <a:lnTo>
                    <a:pt x="120904" y="341795"/>
                  </a:lnTo>
                  <a:close/>
                </a:path>
                <a:path w="417830" h="408304">
                  <a:moveTo>
                    <a:pt x="120904" y="66154"/>
                  </a:moveTo>
                  <a:lnTo>
                    <a:pt x="116484" y="41249"/>
                  </a:lnTo>
                  <a:lnTo>
                    <a:pt x="103200" y="19367"/>
                  </a:lnTo>
                  <a:lnTo>
                    <a:pt x="83197" y="4838"/>
                  </a:lnTo>
                  <a:lnTo>
                    <a:pt x="60452" y="0"/>
                  </a:lnTo>
                  <a:lnTo>
                    <a:pt x="37706" y="4838"/>
                  </a:lnTo>
                  <a:lnTo>
                    <a:pt x="17703" y="19367"/>
                  </a:lnTo>
                  <a:lnTo>
                    <a:pt x="4419" y="41249"/>
                  </a:lnTo>
                  <a:lnTo>
                    <a:pt x="0" y="66154"/>
                  </a:lnTo>
                  <a:lnTo>
                    <a:pt x="4419" y="91046"/>
                  </a:lnTo>
                  <a:lnTo>
                    <a:pt x="17703" y="112928"/>
                  </a:lnTo>
                  <a:lnTo>
                    <a:pt x="37706" y="127457"/>
                  </a:lnTo>
                  <a:lnTo>
                    <a:pt x="60452" y="132308"/>
                  </a:lnTo>
                  <a:lnTo>
                    <a:pt x="83197" y="127457"/>
                  </a:lnTo>
                  <a:lnTo>
                    <a:pt x="103200" y="112928"/>
                  </a:lnTo>
                  <a:lnTo>
                    <a:pt x="116484" y="91046"/>
                  </a:lnTo>
                  <a:lnTo>
                    <a:pt x="120904" y="66154"/>
                  </a:lnTo>
                  <a:close/>
                </a:path>
                <a:path w="417830" h="408304">
                  <a:moveTo>
                    <a:pt x="417296" y="203974"/>
                  </a:moveTo>
                  <a:lnTo>
                    <a:pt x="412864" y="179070"/>
                  </a:lnTo>
                  <a:lnTo>
                    <a:pt x="399592" y="157187"/>
                  </a:lnTo>
                  <a:lnTo>
                    <a:pt x="379590" y="142659"/>
                  </a:lnTo>
                  <a:lnTo>
                    <a:pt x="356844" y="137820"/>
                  </a:lnTo>
                  <a:lnTo>
                    <a:pt x="334098" y="142659"/>
                  </a:lnTo>
                  <a:lnTo>
                    <a:pt x="314096" y="157187"/>
                  </a:lnTo>
                  <a:lnTo>
                    <a:pt x="300812" y="179070"/>
                  </a:lnTo>
                  <a:lnTo>
                    <a:pt x="296379" y="203974"/>
                  </a:lnTo>
                  <a:lnTo>
                    <a:pt x="300812" y="228866"/>
                  </a:lnTo>
                  <a:lnTo>
                    <a:pt x="314096" y="250748"/>
                  </a:lnTo>
                  <a:lnTo>
                    <a:pt x="334098" y="265277"/>
                  </a:lnTo>
                  <a:lnTo>
                    <a:pt x="356844" y="270129"/>
                  </a:lnTo>
                  <a:lnTo>
                    <a:pt x="379590" y="265277"/>
                  </a:lnTo>
                  <a:lnTo>
                    <a:pt x="399592" y="250748"/>
                  </a:lnTo>
                  <a:lnTo>
                    <a:pt x="412864" y="228866"/>
                  </a:lnTo>
                  <a:lnTo>
                    <a:pt x="417296" y="203974"/>
                  </a:lnTo>
                  <a:close/>
                </a:path>
              </a:pathLst>
            </a:custGeom>
            <a:solidFill>
              <a:srgbClr val="3C7DEC"/>
            </a:solidFill>
          </p:spPr>
          <p:txBody>
            <a:bodyPr wrap="square" lIns="0" tIns="0" rIns="0" bIns="0" rtlCol="0"/>
            <a:lstStyle/>
            <a:p>
              <a:endParaRPr sz="614"/>
            </a:p>
          </p:txBody>
        </p:sp>
        <p:pic>
          <p:nvPicPr>
            <p:cNvPr id="92" name="object 92"/>
            <p:cNvPicPr/>
            <p:nvPr/>
          </p:nvPicPr>
          <p:blipFill>
            <a:blip r:embed="rId8" cstate="print"/>
            <a:stretch>
              <a:fillRect/>
            </a:stretch>
          </p:blipFill>
          <p:spPr>
            <a:xfrm>
              <a:off x="16747268" y="3855481"/>
              <a:ext cx="120904" cy="132308"/>
            </a:xfrm>
            <a:prstGeom prst="rect">
              <a:avLst/>
            </a:prstGeom>
          </p:spPr>
        </p:pic>
        <p:pic>
          <p:nvPicPr>
            <p:cNvPr id="93" name="object 93"/>
            <p:cNvPicPr/>
            <p:nvPr/>
          </p:nvPicPr>
          <p:blipFill>
            <a:blip r:embed="rId6" cstate="print"/>
            <a:stretch>
              <a:fillRect/>
            </a:stretch>
          </p:blipFill>
          <p:spPr>
            <a:xfrm>
              <a:off x="16528248" y="3762406"/>
              <a:ext cx="120912" cy="132308"/>
            </a:xfrm>
            <a:prstGeom prst="rect">
              <a:avLst/>
            </a:prstGeom>
          </p:spPr>
        </p:pic>
        <p:sp>
          <p:nvSpPr>
            <p:cNvPr id="94" name="object 94"/>
            <p:cNvSpPr/>
            <p:nvPr/>
          </p:nvSpPr>
          <p:spPr>
            <a:xfrm>
              <a:off x="13085738" y="4092877"/>
              <a:ext cx="3459479" cy="3963670"/>
            </a:xfrm>
            <a:custGeom>
              <a:avLst/>
              <a:gdLst/>
              <a:ahLst/>
              <a:cxnLst/>
              <a:rect l="l" t="t" r="r" b="b"/>
              <a:pathLst>
                <a:path w="3459480" h="3963670">
                  <a:moveTo>
                    <a:pt x="0" y="3963184"/>
                  </a:moveTo>
                  <a:lnTo>
                    <a:pt x="3459361" y="0"/>
                  </a:lnTo>
                </a:path>
              </a:pathLst>
            </a:custGeom>
            <a:ln w="31412">
              <a:solidFill>
                <a:srgbClr val="E23F2A"/>
              </a:solidFill>
            </a:ln>
          </p:spPr>
          <p:txBody>
            <a:bodyPr wrap="square" lIns="0" tIns="0" rIns="0" bIns="0" rtlCol="0"/>
            <a:lstStyle/>
            <a:p>
              <a:endParaRPr sz="614"/>
            </a:p>
          </p:txBody>
        </p:sp>
      </p:grpSp>
      <p:sp>
        <p:nvSpPr>
          <p:cNvPr id="96" name="Title 95">
            <a:extLst>
              <a:ext uri="{FF2B5EF4-FFF2-40B4-BE49-F238E27FC236}">
                <a16:creationId xmlns:a16="http://schemas.microsoft.com/office/drawing/2014/main" id="{D489B568-9C91-463D-B958-1D3D945C2B9B}"/>
              </a:ext>
            </a:extLst>
          </p:cNvPr>
          <p:cNvSpPr>
            <a:spLocks noGrp="1"/>
          </p:cNvSpPr>
          <p:nvPr>
            <p:ph type="title"/>
          </p:nvPr>
        </p:nvSpPr>
        <p:spPr/>
        <p:txBody>
          <a:bodyPr>
            <a:normAutofit fontScale="90000"/>
          </a:bodyPr>
          <a:lstStyle/>
          <a:p>
            <a:r>
              <a:rPr lang="en-IN" sz="2700" dirty="0">
                <a:solidFill>
                  <a:srgbClr val="3C7DEC"/>
                </a:solidFill>
                <a:latin typeface="Courier New"/>
                <a:cs typeface="Courier New"/>
              </a:rPr>
              <a:t>Linear</a:t>
            </a:r>
            <a:r>
              <a:rPr lang="en-IN" sz="2700" spc="-63" dirty="0">
                <a:solidFill>
                  <a:srgbClr val="3C7DEC"/>
                </a:solidFill>
                <a:latin typeface="Courier New"/>
                <a:cs typeface="Courier New"/>
              </a:rPr>
              <a:t> </a:t>
            </a:r>
            <a:r>
              <a:rPr lang="en-IN" sz="2700" spc="-4" dirty="0">
                <a:solidFill>
                  <a:srgbClr val="3C7DEC"/>
                </a:solidFill>
                <a:latin typeface="Courier New"/>
                <a:cs typeface="Courier New"/>
              </a:rPr>
              <a:t>Regression</a:t>
            </a:r>
            <a:endParaRPr lang="en-IN" dirty="0"/>
          </a:p>
        </p:txBody>
      </p:sp>
    </p:spTree>
    <p:extLst>
      <p:ext uri="{BB962C8B-B14F-4D97-AF65-F5344CB8AC3E}">
        <p14:creationId xmlns:p14="http://schemas.microsoft.com/office/powerpoint/2010/main" val="3952914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702270" y="1243258"/>
            <a:ext cx="5494523" cy="1641021"/>
          </a:xfrm>
          <a:prstGeom prst="rect">
            <a:avLst/>
          </a:prstGeom>
        </p:spPr>
        <p:txBody>
          <a:bodyPr vert="horz" wrap="square" lIns="0" tIns="60002" rIns="0" bIns="0" rtlCol="0">
            <a:spAutoFit/>
          </a:bodyPr>
          <a:lstStyle/>
          <a:p>
            <a:pPr marL="212267" indent="-207935">
              <a:spcBef>
                <a:spcPts val="472"/>
              </a:spcBef>
              <a:buAutoNum type="arabicPeriod"/>
              <a:tabLst>
                <a:tab pos="212267" algn="l"/>
              </a:tabLst>
            </a:pPr>
            <a:r>
              <a:rPr sz="1200" dirty="0">
                <a:solidFill>
                  <a:srgbClr val="5E5E5E"/>
                </a:solidFill>
                <a:latin typeface="Courier New"/>
                <a:cs typeface="Courier New"/>
              </a:rPr>
              <a:t>Consider</a:t>
            </a:r>
            <a:r>
              <a:rPr sz="1200" spc="-2" dirty="0">
                <a:solidFill>
                  <a:srgbClr val="5E5E5E"/>
                </a:solidFill>
                <a:latin typeface="Courier New"/>
                <a:cs typeface="Courier New"/>
              </a:rPr>
              <a:t> </a:t>
            </a:r>
            <a:r>
              <a:rPr sz="1200" dirty="0">
                <a:solidFill>
                  <a:srgbClr val="5E5E5E"/>
                </a:solidFill>
                <a:latin typeface="Courier New"/>
                <a:cs typeface="Courier New"/>
              </a:rPr>
              <a:t>the</a:t>
            </a:r>
            <a:r>
              <a:rPr sz="1200" spc="-2" dirty="0">
                <a:solidFill>
                  <a:srgbClr val="5E5E5E"/>
                </a:solidFill>
                <a:latin typeface="Courier New"/>
                <a:cs typeface="Courier New"/>
              </a:rPr>
              <a:t> </a:t>
            </a:r>
            <a:r>
              <a:rPr sz="1200" dirty="0">
                <a:solidFill>
                  <a:srgbClr val="5E5E5E"/>
                </a:solidFill>
                <a:latin typeface="Courier New"/>
                <a:cs typeface="Courier New"/>
              </a:rPr>
              <a:t>problem</a:t>
            </a:r>
            <a:r>
              <a:rPr sz="1200" spc="-2" dirty="0">
                <a:solidFill>
                  <a:srgbClr val="5E5E5E"/>
                </a:solidFill>
                <a:latin typeface="Courier New"/>
                <a:cs typeface="Courier New"/>
              </a:rPr>
              <a:t> </a:t>
            </a:r>
            <a:r>
              <a:rPr sz="1200" dirty="0">
                <a:solidFill>
                  <a:srgbClr val="5E5E5E"/>
                </a:solidFill>
                <a:latin typeface="Courier New"/>
                <a:cs typeface="Courier New"/>
              </a:rPr>
              <a:t>of</a:t>
            </a:r>
            <a:r>
              <a:rPr sz="1200" spc="-2" dirty="0">
                <a:solidFill>
                  <a:srgbClr val="5E5E5E"/>
                </a:solidFill>
                <a:latin typeface="Courier New"/>
                <a:cs typeface="Courier New"/>
              </a:rPr>
              <a:t> </a:t>
            </a:r>
            <a:r>
              <a:rPr sz="1200" dirty="0">
                <a:solidFill>
                  <a:srgbClr val="5E5E5E"/>
                </a:solidFill>
                <a:latin typeface="Courier New"/>
                <a:cs typeface="Courier New"/>
              </a:rPr>
              <a:t>house</a:t>
            </a:r>
            <a:r>
              <a:rPr sz="1200" spc="-2" dirty="0">
                <a:solidFill>
                  <a:srgbClr val="5E5E5E"/>
                </a:solidFill>
                <a:latin typeface="Courier New"/>
                <a:cs typeface="Courier New"/>
              </a:rPr>
              <a:t> </a:t>
            </a:r>
            <a:r>
              <a:rPr sz="1200" dirty="0">
                <a:solidFill>
                  <a:srgbClr val="5E5E5E"/>
                </a:solidFill>
                <a:latin typeface="Courier New"/>
                <a:cs typeface="Courier New"/>
              </a:rPr>
              <a:t>price</a:t>
            </a:r>
            <a:r>
              <a:rPr sz="1200" spc="-2" dirty="0">
                <a:solidFill>
                  <a:srgbClr val="5E5E5E"/>
                </a:solidFill>
                <a:latin typeface="Courier New"/>
                <a:cs typeface="Courier New"/>
              </a:rPr>
              <a:t> </a:t>
            </a:r>
            <a:r>
              <a:rPr sz="1200" spc="-4" dirty="0">
                <a:solidFill>
                  <a:srgbClr val="5E5E5E"/>
                </a:solidFill>
                <a:latin typeface="Courier New"/>
                <a:cs typeface="Courier New"/>
              </a:rPr>
              <a:t>prediction.</a:t>
            </a:r>
            <a:endParaRPr sz="1200" dirty="0">
              <a:latin typeface="Courier New"/>
              <a:cs typeface="Courier New"/>
            </a:endParaRPr>
          </a:p>
          <a:p>
            <a:pPr marL="212050" marR="173063" indent="-207935">
              <a:lnSpc>
                <a:spcPct val="132400"/>
              </a:lnSpc>
              <a:buAutoNum type="arabicPeriod"/>
              <a:tabLst>
                <a:tab pos="212483" algn="l"/>
              </a:tabLst>
            </a:pPr>
            <a:r>
              <a:rPr sz="1200" dirty="0">
                <a:solidFill>
                  <a:srgbClr val="5E5E5E"/>
                </a:solidFill>
                <a:latin typeface="Courier New"/>
                <a:cs typeface="Courier New"/>
              </a:rPr>
              <a:t>Let</a:t>
            </a:r>
            <a:r>
              <a:rPr sz="1200" spc="-2" dirty="0">
                <a:solidFill>
                  <a:srgbClr val="5E5E5E"/>
                </a:solidFill>
                <a:latin typeface="Courier New"/>
                <a:cs typeface="Courier New"/>
              </a:rPr>
              <a:t> </a:t>
            </a:r>
            <a:r>
              <a:rPr sz="1200" dirty="0">
                <a:solidFill>
                  <a:srgbClr val="5E5E5E"/>
                </a:solidFill>
                <a:latin typeface="Courier New"/>
                <a:cs typeface="Courier New"/>
              </a:rPr>
              <a:t>the</a:t>
            </a:r>
            <a:r>
              <a:rPr sz="1200" spc="-2" dirty="0">
                <a:solidFill>
                  <a:srgbClr val="5E5E5E"/>
                </a:solidFill>
                <a:latin typeface="Courier New"/>
                <a:cs typeface="Courier New"/>
              </a:rPr>
              <a:t> </a:t>
            </a:r>
            <a:r>
              <a:rPr sz="1200" dirty="0">
                <a:solidFill>
                  <a:srgbClr val="3C7DEC"/>
                </a:solidFill>
                <a:latin typeface="Courier New"/>
                <a:cs typeface="Courier New"/>
              </a:rPr>
              <a:t>price</a:t>
            </a:r>
            <a:r>
              <a:rPr sz="1200" spc="-2" dirty="0">
                <a:solidFill>
                  <a:srgbClr val="3C7DEC"/>
                </a:solidFill>
                <a:latin typeface="Courier New"/>
                <a:cs typeface="Courier New"/>
              </a:rPr>
              <a:t> </a:t>
            </a:r>
            <a:r>
              <a:rPr sz="1200" dirty="0">
                <a:solidFill>
                  <a:srgbClr val="3C7DEC"/>
                </a:solidFill>
                <a:latin typeface="Courier New"/>
                <a:cs typeface="Courier New"/>
              </a:rPr>
              <a:t>of</a:t>
            </a:r>
            <a:r>
              <a:rPr sz="1200" spc="-2" dirty="0">
                <a:solidFill>
                  <a:srgbClr val="3C7DEC"/>
                </a:solidFill>
                <a:latin typeface="Courier New"/>
                <a:cs typeface="Courier New"/>
              </a:rPr>
              <a:t> </a:t>
            </a:r>
            <a:r>
              <a:rPr sz="1200" dirty="0">
                <a:solidFill>
                  <a:srgbClr val="3C7DEC"/>
                </a:solidFill>
                <a:latin typeface="Courier New"/>
                <a:cs typeface="Courier New"/>
              </a:rPr>
              <a:t>a</a:t>
            </a:r>
            <a:r>
              <a:rPr sz="1200" spc="-2" dirty="0">
                <a:solidFill>
                  <a:srgbClr val="3C7DEC"/>
                </a:solidFill>
                <a:latin typeface="Courier New"/>
                <a:cs typeface="Courier New"/>
              </a:rPr>
              <a:t> </a:t>
            </a:r>
            <a:r>
              <a:rPr sz="1200" dirty="0">
                <a:solidFill>
                  <a:srgbClr val="3C7DEC"/>
                </a:solidFill>
                <a:latin typeface="Courier New"/>
                <a:cs typeface="Courier New"/>
              </a:rPr>
              <a:t>house</a:t>
            </a:r>
            <a:r>
              <a:rPr sz="1200" spc="-2" dirty="0">
                <a:solidFill>
                  <a:srgbClr val="3C7DEC"/>
                </a:solidFill>
                <a:latin typeface="Courier New"/>
                <a:cs typeface="Courier New"/>
              </a:rPr>
              <a:t> </a:t>
            </a:r>
            <a:r>
              <a:rPr sz="1200" dirty="0">
                <a:solidFill>
                  <a:srgbClr val="3C7DEC"/>
                </a:solidFill>
                <a:latin typeface="Courier New"/>
                <a:cs typeface="Courier New"/>
              </a:rPr>
              <a:t>(R)</a:t>
            </a:r>
            <a:r>
              <a:rPr sz="1200" dirty="0">
                <a:solidFill>
                  <a:srgbClr val="5E5E5E"/>
                </a:solidFill>
                <a:latin typeface="Courier New"/>
                <a:cs typeface="Courier New"/>
              </a:rPr>
              <a:t>,</a:t>
            </a:r>
            <a:r>
              <a:rPr sz="1200" spc="-2" dirty="0">
                <a:solidFill>
                  <a:srgbClr val="5E5E5E"/>
                </a:solidFill>
                <a:latin typeface="Courier New"/>
                <a:cs typeface="Courier New"/>
              </a:rPr>
              <a:t> </a:t>
            </a:r>
            <a:r>
              <a:rPr sz="1200" dirty="0">
                <a:solidFill>
                  <a:srgbClr val="5E5E5E"/>
                </a:solidFill>
                <a:latin typeface="Courier New"/>
                <a:cs typeface="Courier New"/>
              </a:rPr>
              <a:t>depend</a:t>
            </a:r>
            <a:r>
              <a:rPr sz="1200" spc="-2" dirty="0">
                <a:solidFill>
                  <a:srgbClr val="5E5E5E"/>
                </a:solidFill>
                <a:latin typeface="Courier New"/>
                <a:cs typeface="Courier New"/>
              </a:rPr>
              <a:t> </a:t>
            </a:r>
            <a:r>
              <a:rPr sz="1200" dirty="0">
                <a:solidFill>
                  <a:srgbClr val="5E5E5E"/>
                </a:solidFill>
                <a:latin typeface="Courier New"/>
                <a:cs typeface="Courier New"/>
              </a:rPr>
              <a:t>on</a:t>
            </a:r>
            <a:r>
              <a:rPr sz="1200" spc="-2" dirty="0">
                <a:solidFill>
                  <a:srgbClr val="5E5E5E"/>
                </a:solidFill>
                <a:latin typeface="Courier New"/>
                <a:cs typeface="Courier New"/>
              </a:rPr>
              <a:t> </a:t>
            </a:r>
            <a:r>
              <a:rPr sz="1200" dirty="0">
                <a:solidFill>
                  <a:srgbClr val="5E5E5E"/>
                </a:solidFill>
                <a:latin typeface="Courier New"/>
                <a:cs typeface="Courier New"/>
              </a:rPr>
              <a:t>only</a:t>
            </a:r>
            <a:r>
              <a:rPr sz="1200" spc="-2" dirty="0">
                <a:solidFill>
                  <a:srgbClr val="5E5E5E"/>
                </a:solidFill>
                <a:latin typeface="Courier New"/>
                <a:cs typeface="Courier New"/>
              </a:rPr>
              <a:t> </a:t>
            </a:r>
            <a:r>
              <a:rPr sz="1200" dirty="0">
                <a:solidFill>
                  <a:srgbClr val="5E5E5E"/>
                </a:solidFill>
                <a:latin typeface="Courier New"/>
                <a:cs typeface="Courier New"/>
              </a:rPr>
              <a:t>one</a:t>
            </a:r>
            <a:r>
              <a:rPr sz="1200" spc="-2" dirty="0">
                <a:solidFill>
                  <a:srgbClr val="5E5E5E"/>
                </a:solidFill>
                <a:latin typeface="Courier New"/>
                <a:cs typeface="Courier New"/>
              </a:rPr>
              <a:t> </a:t>
            </a:r>
            <a:r>
              <a:rPr sz="1200" dirty="0">
                <a:solidFill>
                  <a:srgbClr val="5E5E5E"/>
                </a:solidFill>
                <a:latin typeface="Courier New"/>
                <a:cs typeface="Courier New"/>
              </a:rPr>
              <a:t>factor</a:t>
            </a:r>
            <a:r>
              <a:rPr sz="1200" spc="-2" dirty="0">
                <a:solidFill>
                  <a:srgbClr val="5E5E5E"/>
                </a:solidFill>
                <a:latin typeface="Courier New"/>
                <a:cs typeface="Courier New"/>
              </a:rPr>
              <a:t> </a:t>
            </a:r>
            <a:r>
              <a:rPr sz="1200" spc="-8" dirty="0">
                <a:solidFill>
                  <a:srgbClr val="5E5E5E"/>
                </a:solidFill>
                <a:latin typeface="Courier New"/>
                <a:cs typeface="Courier New"/>
              </a:rPr>
              <a:t>the </a:t>
            </a:r>
            <a:r>
              <a:rPr sz="1200" dirty="0" smtClean="0">
                <a:solidFill>
                  <a:srgbClr val="3C7DEC"/>
                </a:solidFill>
                <a:latin typeface="Courier New"/>
                <a:cs typeface="Courier New"/>
              </a:rPr>
              <a:t>number</a:t>
            </a:r>
            <a:r>
              <a:rPr sz="1200" spc="-2" dirty="0" smtClean="0">
                <a:solidFill>
                  <a:srgbClr val="3C7DEC"/>
                </a:solidFill>
                <a:latin typeface="Courier New"/>
                <a:cs typeface="Courier New"/>
              </a:rPr>
              <a:t> </a:t>
            </a:r>
            <a:r>
              <a:rPr sz="1200" dirty="0">
                <a:solidFill>
                  <a:srgbClr val="3C7DEC"/>
                </a:solidFill>
                <a:latin typeface="Courier New"/>
                <a:cs typeface="Courier New"/>
              </a:rPr>
              <a:t>of</a:t>
            </a:r>
            <a:r>
              <a:rPr sz="1200" spc="-2" dirty="0">
                <a:solidFill>
                  <a:srgbClr val="3C7DEC"/>
                </a:solidFill>
                <a:latin typeface="Courier New"/>
                <a:cs typeface="Courier New"/>
              </a:rPr>
              <a:t> </a:t>
            </a:r>
            <a:r>
              <a:rPr sz="1200" dirty="0">
                <a:solidFill>
                  <a:srgbClr val="3C7DEC"/>
                </a:solidFill>
                <a:latin typeface="Courier New"/>
                <a:cs typeface="Courier New"/>
              </a:rPr>
              <a:t>rooms</a:t>
            </a:r>
            <a:r>
              <a:rPr sz="1200" spc="-2" dirty="0">
                <a:solidFill>
                  <a:srgbClr val="3C7DEC"/>
                </a:solidFill>
                <a:latin typeface="Courier New"/>
                <a:cs typeface="Courier New"/>
              </a:rPr>
              <a:t> </a:t>
            </a:r>
            <a:r>
              <a:rPr sz="1200" spc="-8" dirty="0">
                <a:solidFill>
                  <a:srgbClr val="3C7DEC"/>
                </a:solidFill>
                <a:latin typeface="Courier New"/>
                <a:cs typeface="Courier New"/>
              </a:rPr>
              <a:t>(A)</a:t>
            </a:r>
            <a:endParaRPr sz="1200" dirty="0">
              <a:latin typeface="Courier New"/>
              <a:cs typeface="Courier New"/>
            </a:endParaRPr>
          </a:p>
          <a:p>
            <a:pPr marL="212267" indent="-207935">
              <a:spcBef>
                <a:spcPts val="437"/>
              </a:spcBef>
              <a:buAutoNum type="arabicPeriod"/>
              <a:tabLst>
                <a:tab pos="212267" algn="l"/>
              </a:tabLst>
            </a:pPr>
            <a:r>
              <a:rPr sz="1200" dirty="0">
                <a:solidFill>
                  <a:srgbClr val="5E5E5E"/>
                </a:solidFill>
                <a:latin typeface="Courier New"/>
                <a:cs typeface="Courier New"/>
              </a:rPr>
              <a:t>The</a:t>
            </a:r>
            <a:r>
              <a:rPr sz="1200" spc="-2" dirty="0">
                <a:solidFill>
                  <a:srgbClr val="5E5E5E"/>
                </a:solidFill>
                <a:latin typeface="Courier New"/>
                <a:cs typeface="Courier New"/>
              </a:rPr>
              <a:t> </a:t>
            </a:r>
            <a:r>
              <a:rPr sz="1200" dirty="0">
                <a:solidFill>
                  <a:srgbClr val="5E5E5E"/>
                </a:solidFill>
                <a:latin typeface="Courier New"/>
                <a:cs typeface="Courier New"/>
              </a:rPr>
              <a:t>input</a:t>
            </a:r>
            <a:r>
              <a:rPr sz="1200" spc="-2" dirty="0">
                <a:solidFill>
                  <a:srgbClr val="5E5E5E"/>
                </a:solidFill>
                <a:latin typeface="Courier New"/>
                <a:cs typeface="Courier New"/>
              </a:rPr>
              <a:t> </a:t>
            </a:r>
            <a:r>
              <a:rPr sz="1200" dirty="0">
                <a:solidFill>
                  <a:srgbClr val="5E5E5E"/>
                </a:solidFill>
                <a:latin typeface="Courier New"/>
                <a:cs typeface="Courier New"/>
              </a:rPr>
              <a:t>dataset</a:t>
            </a:r>
            <a:r>
              <a:rPr sz="1200" spc="-2" dirty="0">
                <a:solidFill>
                  <a:srgbClr val="5E5E5E"/>
                </a:solidFill>
                <a:latin typeface="Courier New"/>
                <a:cs typeface="Courier New"/>
              </a:rPr>
              <a:t> </a:t>
            </a:r>
            <a:r>
              <a:rPr sz="1200" dirty="0">
                <a:solidFill>
                  <a:srgbClr val="5E5E5E"/>
                </a:solidFill>
                <a:latin typeface="Courier New"/>
                <a:cs typeface="Courier New"/>
              </a:rPr>
              <a:t>contains</a:t>
            </a:r>
            <a:r>
              <a:rPr sz="1200" spc="-2" dirty="0">
                <a:solidFill>
                  <a:srgbClr val="5E5E5E"/>
                </a:solidFill>
                <a:latin typeface="Courier New"/>
                <a:cs typeface="Courier New"/>
              </a:rPr>
              <a:t> </a:t>
            </a:r>
            <a:r>
              <a:rPr sz="1200" dirty="0">
                <a:solidFill>
                  <a:srgbClr val="5E5E5E"/>
                </a:solidFill>
                <a:latin typeface="Courier New"/>
                <a:cs typeface="Courier New"/>
              </a:rPr>
              <a:t>(number</a:t>
            </a:r>
            <a:r>
              <a:rPr sz="1200" spc="-2" dirty="0">
                <a:solidFill>
                  <a:srgbClr val="5E5E5E"/>
                </a:solidFill>
                <a:latin typeface="Courier New"/>
                <a:cs typeface="Courier New"/>
              </a:rPr>
              <a:t> </a:t>
            </a:r>
            <a:r>
              <a:rPr sz="1200" dirty="0">
                <a:solidFill>
                  <a:srgbClr val="5E5E5E"/>
                </a:solidFill>
                <a:latin typeface="Courier New"/>
                <a:cs typeface="Courier New"/>
              </a:rPr>
              <a:t>of</a:t>
            </a:r>
            <a:r>
              <a:rPr sz="1200" spc="-2" dirty="0">
                <a:solidFill>
                  <a:srgbClr val="5E5E5E"/>
                </a:solidFill>
                <a:latin typeface="Courier New"/>
                <a:cs typeface="Courier New"/>
              </a:rPr>
              <a:t> </a:t>
            </a:r>
            <a:r>
              <a:rPr sz="1200" dirty="0">
                <a:solidFill>
                  <a:srgbClr val="5E5E5E"/>
                </a:solidFill>
                <a:latin typeface="Courier New"/>
                <a:cs typeface="Courier New"/>
              </a:rPr>
              <a:t>rooms,</a:t>
            </a:r>
            <a:r>
              <a:rPr sz="1200" spc="-2" dirty="0">
                <a:solidFill>
                  <a:srgbClr val="5E5E5E"/>
                </a:solidFill>
                <a:latin typeface="Courier New"/>
                <a:cs typeface="Courier New"/>
              </a:rPr>
              <a:t> </a:t>
            </a:r>
            <a:r>
              <a:rPr sz="1200" dirty="0">
                <a:solidFill>
                  <a:srgbClr val="5E5E5E"/>
                </a:solidFill>
                <a:latin typeface="Courier New"/>
                <a:cs typeface="Courier New"/>
              </a:rPr>
              <a:t>price</a:t>
            </a:r>
            <a:r>
              <a:rPr sz="1200" spc="-2" dirty="0">
                <a:solidFill>
                  <a:srgbClr val="5E5E5E"/>
                </a:solidFill>
                <a:latin typeface="Courier New"/>
                <a:cs typeface="Courier New"/>
              </a:rPr>
              <a:t> </a:t>
            </a:r>
            <a:r>
              <a:rPr sz="1200" dirty="0">
                <a:solidFill>
                  <a:srgbClr val="5E5E5E"/>
                </a:solidFill>
                <a:latin typeface="Courier New"/>
                <a:cs typeface="Courier New"/>
              </a:rPr>
              <a:t>of</a:t>
            </a:r>
            <a:r>
              <a:rPr sz="1200" spc="-2" dirty="0">
                <a:solidFill>
                  <a:srgbClr val="5E5E5E"/>
                </a:solidFill>
                <a:latin typeface="Courier New"/>
                <a:cs typeface="Courier New"/>
              </a:rPr>
              <a:t> </a:t>
            </a:r>
            <a:r>
              <a:rPr sz="1200" spc="-4" dirty="0">
                <a:solidFill>
                  <a:srgbClr val="5E5E5E"/>
                </a:solidFill>
                <a:latin typeface="Courier New"/>
                <a:cs typeface="Courier New"/>
              </a:rPr>
              <a:t>house)</a:t>
            </a:r>
            <a:endParaRPr sz="1200" dirty="0">
              <a:latin typeface="Courier New"/>
              <a:cs typeface="Courier New"/>
            </a:endParaRPr>
          </a:p>
          <a:p>
            <a:pPr marL="212050" marR="1733" indent="-207935">
              <a:lnSpc>
                <a:spcPct val="132400"/>
              </a:lnSpc>
              <a:spcBef>
                <a:spcPts val="2"/>
              </a:spcBef>
              <a:buAutoNum type="arabicPeriod"/>
              <a:tabLst>
                <a:tab pos="212483" algn="l"/>
              </a:tabLst>
            </a:pPr>
            <a:r>
              <a:rPr sz="1200" dirty="0">
                <a:solidFill>
                  <a:srgbClr val="5E5E5E"/>
                </a:solidFill>
                <a:latin typeface="Courier New"/>
                <a:cs typeface="Courier New"/>
              </a:rPr>
              <a:t>The</a:t>
            </a:r>
            <a:r>
              <a:rPr sz="1200" spc="-2" dirty="0">
                <a:solidFill>
                  <a:srgbClr val="5E5E5E"/>
                </a:solidFill>
                <a:latin typeface="Courier New"/>
                <a:cs typeface="Courier New"/>
              </a:rPr>
              <a:t> </a:t>
            </a:r>
            <a:r>
              <a:rPr sz="1200" dirty="0">
                <a:solidFill>
                  <a:srgbClr val="5E5E5E"/>
                </a:solidFill>
                <a:latin typeface="Courier New"/>
                <a:cs typeface="Courier New"/>
              </a:rPr>
              <a:t>task</a:t>
            </a:r>
            <a:r>
              <a:rPr sz="1200" spc="-2" dirty="0">
                <a:solidFill>
                  <a:srgbClr val="5E5E5E"/>
                </a:solidFill>
                <a:latin typeface="Courier New"/>
                <a:cs typeface="Courier New"/>
              </a:rPr>
              <a:t> </a:t>
            </a:r>
            <a:r>
              <a:rPr sz="1200" dirty="0">
                <a:solidFill>
                  <a:srgbClr val="5E5E5E"/>
                </a:solidFill>
                <a:latin typeface="Courier New"/>
                <a:cs typeface="Courier New"/>
              </a:rPr>
              <a:t>is</a:t>
            </a:r>
            <a:r>
              <a:rPr sz="1200" spc="-2" dirty="0">
                <a:solidFill>
                  <a:srgbClr val="5E5E5E"/>
                </a:solidFill>
                <a:latin typeface="Courier New"/>
                <a:cs typeface="Courier New"/>
              </a:rPr>
              <a:t> </a:t>
            </a:r>
            <a:r>
              <a:rPr sz="1200" dirty="0">
                <a:solidFill>
                  <a:srgbClr val="5E5E5E"/>
                </a:solidFill>
                <a:latin typeface="Courier New"/>
                <a:cs typeface="Courier New"/>
              </a:rPr>
              <a:t>to</a:t>
            </a:r>
            <a:r>
              <a:rPr sz="1200" spc="-2" dirty="0">
                <a:solidFill>
                  <a:srgbClr val="5E5E5E"/>
                </a:solidFill>
                <a:latin typeface="Courier New"/>
                <a:cs typeface="Courier New"/>
              </a:rPr>
              <a:t> </a:t>
            </a:r>
            <a:r>
              <a:rPr sz="1200" dirty="0">
                <a:solidFill>
                  <a:srgbClr val="5E5E5E"/>
                </a:solidFill>
                <a:latin typeface="Courier New"/>
                <a:cs typeface="Courier New"/>
              </a:rPr>
              <a:t>predict</a:t>
            </a:r>
            <a:r>
              <a:rPr sz="1200" spc="-2" dirty="0">
                <a:solidFill>
                  <a:srgbClr val="5E5E5E"/>
                </a:solidFill>
                <a:latin typeface="Courier New"/>
                <a:cs typeface="Courier New"/>
              </a:rPr>
              <a:t> </a:t>
            </a:r>
            <a:r>
              <a:rPr sz="1200" dirty="0">
                <a:solidFill>
                  <a:srgbClr val="5E5E5E"/>
                </a:solidFill>
                <a:latin typeface="Courier New"/>
                <a:cs typeface="Courier New"/>
              </a:rPr>
              <a:t>the</a:t>
            </a:r>
            <a:r>
              <a:rPr sz="1200" spc="-2" dirty="0">
                <a:solidFill>
                  <a:srgbClr val="5E5E5E"/>
                </a:solidFill>
                <a:latin typeface="Courier New"/>
                <a:cs typeface="Courier New"/>
              </a:rPr>
              <a:t> </a:t>
            </a:r>
            <a:r>
              <a:rPr sz="1200" dirty="0">
                <a:solidFill>
                  <a:srgbClr val="5E5E5E"/>
                </a:solidFill>
                <a:latin typeface="Courier New"/>
                <a:cs typeface="Courier New"/>
              </a:rPr>
              <a:t>price</a:t>
            </a:r>
            <a:r>
              <a:rPr sz="1200" spc="-2" dirty="0">
                <a:solidFill>
                  <a:srgbClr val="5E5E5E"/>
                </a:solidFill>
                <a:latin typeface="Courier New"/>
                <a:cs typeface="Courier New"/>
              </a:rPr>
              <a:t> </a:t>
            </a:r>
            <a:r>
              <a:rPr sz="1200" dirty="0">
                <a:solidFill>
                  <a:srgbClr val="5E5E5E"/>
                </a:solidFill>
                <a:latin typeface="Courier New"/>
                <a:cs typeface="Courier New"/>
              </a:rPr>
              <a:t>of</a:t>
            </a:r>
            <a:r>
              <a:rPr sz="1200" spc="-2" dirty="0">
                <a:solidFill>
                  <a:srgbClr val="5E5E5E"/>
                </a:solidFill>
                <a:latin typeface="Courier New"/>
                <a:cs typeface="Courier New"/>
              </a:rPr>
              <a:t> </a:t>
            </a:r>
            <a:r>
              <a:rPr sz="1200" dirty="0">
                <a:solidFill>
                  <a:srgbClr val="5E5E5E"/>
                </a:solidFill>
                <a:latin typeface="Courier New"/>
                <a:cs typeface="Courier New"/>
              </a:rPr>
              <a:t>a</a:t>
            </a:r>
            <a:r>
              <a:rPr sz="1200" spc="-2" dirty="0">
                <a:solidFill>
                  <a:srgbClr val="5E5E5E"/>
                </a:solidFill>
                <a:latin typeface="Courier New"/>
                <a:cs typeface="Courier New"/>
              </a:rPr>
              <a:t> </a:t>
            </a:r>
            <a:r>
              <a:rPr sz="1200" dirty="0">
                <a:solidFill>
                  <a:srgbClr val="5E5E5E"/>
                </a:solidFill>
                <a:latin typeface="Courier New"/>
                <a:cs typeface="Courier New"/>
              </a:rPr>
              <a:t>house</a:t>
            </a:r>
            <a:r>
              <a:rPr sz="1200" spc="-2" dirty="0">
                <a:solidFill>
                  <a:srgbClr val="5E5E5E"/>
                </a:solidFill>
                <a:latin typeface="Courier New"/>
                <a:cs typeface="Courier New"/>
              </a:rPr>
              <a:t> </a:t>
            </a:r>
            <a:r>
              <a:rPr sz="1200" dirty="0">
                <a:solidFill>
                  <a:srgbClr val="5E5E5E"/>
                </a:solidFill>
                <a:latin typeface="Courier New"/>
                <a:cs typeface="Courier New"/>
              </a:rPr>
              <a:t>for</a:t>
            </a:r>
            <a:r>
              <a:rPr sz="1200" spc="-2" dirty="0">
                <a:solidFill>
                  <a:srgbClr val="5E5E5E"/>
                </a:solidFill>
                <a:latin typeface="Courier New"/>
                <a:cs typeface="Courier New"/>
              </a:rPr>
              <a:t> </a:t>
            </a:r>
            <a:r>
              <a:rPr sz="1200" dirty="0">
                <a:solidFill>
                  <a:srgbClr val="5E5E5E"/>
                </a:solidFill>
                <a:latin typeface="Courier New"/>
                <a:cs typeface="Courier New"/>
              </a:rPr>
              <a:t>a</a:t>
            </a:r>
            <a:r>
              <a:rPr sz="1200" spc="-2" dirty="0">
                <a:solidFill>
                  <a:srgbClr val="5E5E5E"/>
                </a:solidFill>
                <a:latin typeface="Courier New"/>
                <a:cs typeface="Courier New"/>
              </a:rPr>
              <a:t> </a:t>
            </a:r>
            <a:r>
              <a:rPr sz="1200" dirty="0">
                <a:solidFill>
                  <a:srgbClr val="5E5E5E"/>
                </a:solidFill>
                <a:latin typeface="Courier New"/>
                <a:cs typeface="Courier New"/>
              </a:rPr>
              <a:t>given</a:t>
            </a:r>
            <a:r>
              <a:rPr sz="1200" spc="-2" dirty="0">
                <a:solidFill>
                  <a:srgbClr val="5E5E5E"/>
                </a:solidFill>
                <a:latin typeface="Courier New"/>
                <a:cs typeface="Courier New"/>
              </a:rPr>
              <a:t> </a:t>
            </a:r>
            <a:r>
              <a:rPr sz="1200" spc="-4" dirty="0">
                <a:solidFill>
                  <a:srgbClr val="5E5E5E"/>
                </a:solidFill>
                <a:latin typeface="Courier New"/>
                <a:cs typeface="Courier New"/>
              </a:rPr>
              <a:t>input </a:t>
            </a:r>
            <a:r>
              <a:rPr sz="1200" dirty="0">
                <a:solidFill>
                  <a:srgbClr val="5E5E5E"/>
                </a:solidFill>
                <a:latin typeface="Courier New"/>
                <a:cs typeface="Courier New"/>
              </a:rPr>
              <a:t>of</a:t>
            </a:r>
            <a:r>
              <a:rPr sz="1200" spc="-5" dirty="0">
                <a:solidFill>
                  <a:srgbClr val="5E5E5E"/>
                </a:solidFill>
                <a:latin typeface="Courier New"/>
                <a:cs typeface="Courier New"/>
              </a:rPr>
              <a:t> </a:t>
            </a:r>
            <a:r>
              <a:rPr sz="1200" dirty="0">
                <a:solidFill>
                  <a:srgbClr val="5E5E5E"/>
                </a:solidFill>
                <a:latin typeface="Courier New"/>
                <a:cs typeface="Courier New"/>
              </a:rPr>
              <a:t>number</a:t>
            </a:r>
            <a:r>
              <a:rPr sz="1200" spc="-2" dirty="0">
                <a:solidFill>
                  <a:srgbClr val="5E5E5E"/>
                </a:solidFill>
                <a:latin typeface="Courier New"/>
                <a:cs typeface="Courier New"/>
              </a:rPr>
              <a:t> </a:t>
            </a:r>
            <a:r>
              <a:rPr sz="1200" dirty="0">
                <a:solidFill>
                  <a:srgbClr val="5E5E5E"/>
                </a:solidFill>
                <a:latin typeface="Courier New"/>
                <a:cs typeface="Courier New"/>
              </a:rPr>
              <a:t>of</a:t>
            </a:r>
            <a:r>
              <a:rPr sz="1200" spc="-2" dirty="0">
                <a:solidFill>
                  <a:srgbClr val="5E5E5E"/>
                </a:solidFill>
                <a:latin typeface="Courier New"/>
                <a:cs typeface="Courier New"/>
              </a:rPr>
              <a:t> </a:t>
            </a:r>
            <a:r>
              <a:rPr sz="1200" spc="-4" dirty="0">
                <a:solidFill>
                  <a:srgbClr val="5E5E5E"/>
                </a:solidFill>
                <a:latin typeface="Courier New"/>
                <a:cs typeface="Courier New"/>
              </a:rPr>
              <a:t>rooms.</a:t>
            </a:r>
            <a:endParaRPr sz="1200" dirty="0">
              <a:latin typeface="Courier New"/>
              <a:cs typeface="Courier New"/>
            </a:endParaRPr>
          </a:p>
        </p:txBody>
      </p:sp>
      <p:graphicFrame>
        <p:nvGraphicFramePr>
          <p:cNvPr id="5" name="object 5"/>
          <p:cNvGraphicFramePr>
            <a:graphicFrameLocks noGrp="1"/>
          </p:cNvGraphicFramePr>
          <p:nvPr>
            <p:extLst>
              <p:ext uri="{D42A27DB-BD31-4B8C-83A1-F6EECF244321}">
                <p14:modId xmlns:p14="http://schemas.microsoft.com/office/powerpoint/2010/main" val="3373461266"/>
              </p:ext>
            </p:extLst>
          </p:nvPr>
        </p:nvGraphicFramePr>
        <p:xfrm>
          <a:off x="2348375" y="3204218"/>
          <a:ext cx="4202312" cy="1096068"/>
        </p:xfrm>
        <a:graphic>
          <a:graphicData uri="http://schemas.openxmlformats.org/drawingml/2006/table">
            <a:tbl>
              <a:tblPr firstRow="1" bandRow="1">
                <a:tableStyleId>{2D5ABB26-0587-4C30-8999-92F81FD0307C}</a:tableStyleId>
              </a:tblPr>
              <a:tblGrid>
                <a:gridCol w="2101156">
                  <a:extLst>
                    <a:ext uri="{9D8B030D-6E8A-4147-A177-3AD203B41FA5}">
                      <a16:colId xmlns:a16="http://schemas.microsoft.com/office/drawing/2014/main" val="20000"/>
                    </a:ext>
                  </a:extLst>
                </a:gridCol>
                <a:gridCol w="2101156">
                  <a:extLst>
                    <a:ext uri="{9D8B030D-6E8A-4147-A177-3AD203B41FA5}">
                      <a16:colId xmlns:a16="http://schemas.microsoft.com/office/drawing/2014/main" val="20001"/>
                    </a:ext>
                  </a:extLst>
                </a:gridCol>
              </a:tblGrid>
              <a:tr h="274017">
                <a:tc>
                  <a:txBody>
                    <a:bodyPr/>
                    <a:lstStyle/>
                    <a:p>
                      <a:pPr algn="ctr">
                        <a:lnSpc>
                          <a:spcPct val="100000"/>
                        </a:lnSpc>
                        <a:spcBef>
                          <a:spcPts val="1595"/>
                        </a:spcBef>
                      </a:pPr>
                      <a:r>
                        <a:rPr sz="900" dirty="0">
                          <a:latin typeface="Courier New"/>
                          <a:cs typeface="Courier New"/>
                        </a:rPr>
                        <a:t>Number</a:t>
                      </a:r>
                      <a:r>
                        <a:rPr sz="900" spc="85" dirty="0">
                          <a:latin typeface="Courier New"/>
                          <a:cs typeface="Courier New"/>
                        </a:rPr>
                        <a:t> </a:t>
                      </a:r>
                      <a:r>
                        <a:rPr sz="900" dirty="0">
                          <a:latin typeface="Courier New"/>
                          <a:cs typeface="Courier New"/>
                        </a:rPr>
                        <a:t>of</a:t>
                      </a:r>
                      <a:r>
                        <a:rPr sz="900" spc="90" dirty="0">
                          <a:latin typeface="Courier New"/>
                          <a:cs typeface="Courier New"/>
                        </a:rPr>
                        <a:t> </a:t>
                      </a:r>
                      <a:r>
                        <a:rPr sz="900" dirty="0">
                          <a:latin typeface="Courier New"/>
                          <a:cs typeface="Courier New"/>
                        </a:rPr>
                        <a:t>Rooms</a:t>
                      </a:r>
                      <a:r>
                        <a:rPr sz="900" spc="85" dirty="0">
                          <a:latin typeface="Courier New"/>
                          <a:cs typeface="Courier New"/>
                        </a:rPr>
                        <a:t> </a:t>
                      </a:r>
                      <a:r>
                        <a:rPr sz="900" spc="-25" dirty="0">
                          <a:latin typeface="Courier New"/>
                          <a:cs typeface="Courier New"/>
                        </a:rPr>
                        <a:t>(A)</a:t>
                      </a:r>
                      <a:endParaRPr sz="90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95"/>
                        </a:spcBef>
                      </a:pPr>
                      <a:r>
                        <a:rPr sz="900" dirty="0">
                          <a:latin typeface="Courier New"/>
                          <a:cs typeface="Courier New"/>
                        </a:rPr>
                        <a:t>Price</a:t>
                      </a:r>
                      <a:r>
                        <a:rPr sz="900" spc="70" dirty="0">
                          <a:latin typeface="Courier New"/>
                          <a:cs typeface="Courier New"/>
                        </a:rPr>
                        <a:t> </a:t>
                      </a:r>
                      <a:r>
                        <a:rPr sz="900" dirty="0">
                          <a:latin typeface="Courier New"/>
                          <a:cs typeface="Courier New"/>
                        </a:rPr>
                        <a:t>of</a:t>
                      </a:r>
                      <a:r>
                        <a:rPr sz="900" spc="75" dirty="0">
                          <a:latin typeface="Courier New"/>
                          <a:cs typeface="Courier New"/>
                        </a:rPr>
                        <a:t> </a:t>
                      </a:r>
                      <a:r>
                        <a:rPr sz="900" spc="-10" dirty="0" smtClean="0">
                          <a:latin typeface="Courier New"/>
                          <a:cs typeface="Courier New"/>
                        </a:rPr>
                        <a:t>House</a:t>
                      </a:r>
                      <a:r>
                        <a:rPr lang="en-IN" sz="900" spc="-10" dirty="0" smtClean="0">
                          <a:latin typeface="Courier New"/>
                          <a:cs typeface="Courier New"/>
                        </a:rPr>
                        <a:t> (R)</a:t>
                      </a:r>
                      <a:endParaRPr sz="900" dirty="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74017">
                <a:tc>
                  <a:txBody>
                    <a:bodyPr/>
                    <a:lstStyle/>
                    <a:p>
                      <a:pPr algn="ctr">
                        <a:lnSpc>
                          <a:spcPct val="100000"/>
                        </a:lnSpc>
                        <a:spcBef>
                          <a:spcPts val="1595"/>
                        </a:spcBef>
                      </a:pPr>
                      <a:r>
                        <a:rPr sz="900" spc="-50" dirty="0">
                          <a:latin typeface="Courier New"/>
                          <a:cs typeface="Courier New"/>
                        </a:rPr>
                        <a:t>1</a:t>
                      </a:r>
                      <a:endParaRPr sz="90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95"/>
                        </a:spcBef>
                      </a:pPr>
                      <a:r>
                        <a:rPr sz="900" spc="-25" dirty="0">
                          <a:latin typeface="Courier New"/>
                          <a:cs typeface="Courier New"/>
                        </a:rPr>
                        <a:t>20</a:t>
                      </a:r>
                      <a:endParaRPr sz="90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74017">
                <a:tc>
                  <a:txBody>
                    <a:bodyPr/>
                    <a:lstStyle/>
                    <a:p>
                      <a:pPr algn="ctr">
                        <a:lnSpc>
                          <a:spcPct val="100000"/>
                        </a:lnSpc>
                        <a:spcBef>
                          <a:spcPts val="1595"/>
                        </a:spcBef>
                      </a:pPr>
                      <a:r>
                        <a:rPr sz="900" spc="-50" dirty="0">
                          <a:latin typeface="Courier New"/>
                          <a:cs typeface="Courier New"/>
                        </a:rPr>
                        <a:t>2</a:t>
                      </a:r>
                      <a:endParaRPr sz="900" dirty="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95"/>
                        </a:spcBef>
                      </a:pPr>
                      <a:r>
                        <a:rPr sz="900" spc="-25" dirty="0">
                          <a:latin typeface="Courier New"/>
                          <a:cs typeface="Courier New"/>
                        </a:rPr>
                        <a:t>30</a:t>
                      </a:r>
                      <a:endParaRPr sz="90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4017">
                <a:tc>
                  <a:txBody>
                    <a:bodyPr/>
                    <a:lstStyle/>
                    <a:p>
                      <a:pPr algn="ctr">
                        <a:lnSpc>
                          <a:spcPct val="100000"/>
                        </a:lnSpc>
                        <a:spcBef>
                          <a:spcPts val="1595"/>
                        </a:spcBef>
                      </a:pPr>
                      <a:r>
                        <a:rPr lang="en-US" sz="900" spc="-50" dirty="0">
                          <a:latin typeface="Courier New"/>
                          <a:cs typeface="Courier New"/>
                        </a:rPr>
                        <a:t>3</a:t>
                      </a:r>
                      <a:endParaRPr sz="900" dirty="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95"/>
                        </a:spcBef>
                      </a:pPr>
                      <a:r>
                        <a:rPr sz="900" spc="-25" dirty="0">
                          <a:latin typeface="Courier New"/>
                          <a:cs typeface="Courier New"/>
                        </a:rPr>
                        <a:t>40</a:t>
                      </a:r>
                      <a:endParaRPr sz="900" dirty="0">
                        <a:latin typeface="Courier New"/>
                        <a:cs typeface="Courier New"/>
                      </a:endParaRPr>
                    </a:p>
                  </a:txBody>
                  <a:tcPr marL="0" marR="0" marT="69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7" name="Title 6">
            <a:extLst>
              <a:ext uri="{FF2B5EF4-FFF2-40B4-BE49-F238E27FC236}">
                <a16:creationId xmlns:a16="http://schemas.microsoft.com/office/drawing/2014/main" id="{D4B34A67-1475-474E-8F87-43989EE3DDC1}"/>
              </a:ext>
            </a:extLst>
          </p:cNvPr>
          <p:cNvSpPr>
            <a:spLocks noGrp="1"/>
          </p:cNvSpPr>
          <p:nvPr>
            <p:ph type="title"/>
          </p:nvPr>
        </p:nvSpPr>
        <p:spPr/>
        <p:txBody>
          <a:bodyPr>
            <a:normAutofit fontScale="90000"/>
          </a:bodyPr>
          <a:lstStyle/>
          <a:p>
            <a:r>
              <a:rPr lang="en-IN" sz="2700" dirty="0">
                <a:solidFill>
                  <a:srgbClr val="3C7DEC"/>
                </a:solidFill>
                <a:latin typeface="Courier New"/>
                <a:cs typeface="Courier New"/>
              </a:rPr>
              <a:t>Problem</a:t>
            </a:r>
            <a:r>
              <a:rPr lang="en-IN" sz="2700" spc="-74" dirty="0">
                <a:solidFill>
                  <a:srgbClr val="3C7DEC"/>
                </a:solidFill>
                <a:latin typeface="Courier New"/>
                <a:cs typeface="Courier New"/>
              </a:rPr>
              <a:t> </a:t>
            </a:r>
            <a:r>
              <a:rPr lang="en-IN" sz="2700" spc="-4" dirty="0">
                <a:solidFill>
                  <a:srgbClr val="3C7DEC"/>
                </a:solidFill>
                <a:latin typeface="Courier New"/>
                <a:cs typeface="Courier New"/>
              </a:rPr>
              <a:t>Definition</a:t>
            </a:r>
            <a:endParaRPr lang="en-IN" dirty="0"/>
          </a:p>
        </p:txBody>
      </p:sp>
    </p:spTree>
    <p:extLst>
      <p:ext uri="{BB962C8B-B14F-4D97-AF65-F5344CB8AC3E}">
        <p14:creationId xmlns:p14="http://schemas.microsoft.com/office/powerpoint/2010/main" val="3152174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29F8F-7A69-4820-B980-D26BDC4E42AD}"/>
              </a:ext>
            </a:extLst>
          </p:cNvPr>
          <p:cNvSpPr>
            <a:spLocks noGrp="1"/>
          </p:cNvSpPr>
          <p:nvPr>
            <p:ph type="title"/>
          </p:nvPr>
        </p:nvSpPr>
        <p:spPr/>
        <p:txBody>
          <a:bodyPr>
            <a:normAutofit fontScale="90000"/>
          </a:bodyPr>
          <a:lstStyle/>
          <a:p>
            <a:r>
              <a:rPr lang="en-US" dirty="0"/>
              <a:t>Linear Regression</a:t>
            </a:r>
            <a:endParaRPr lang="en-IN" dirty="0"/>
          </a:p>
        </p:txBody>
      </p:sp>
      <p:sp>
        <p:nvSpPr>
          <p:cNvPr id="3" name="Date Placeholder 2">
            <a:extLst>
              <a:ext uri="{FF2B5EF4-FFF2-40B4-BE49-F238E27FC236}">
                <a16:creationId xmlns:a16="http://schemas.microsoft.com/office/drawing/2014/main" id="{9436BCA3-E78A-47A4-8D5A-8D12F787FB7B}"/>
              </a:ext>
            </a:extLst>
          </p:cNvPr>
          <p:cNvSpPr>
            <a:spLocks noGrp="1"/>
          </p:cNvSpPr>
          <p:nvPr>
            <p:ph type="dt" sz="half" idx="10"/>
          </p:nvPr>
        </p:nvSpPr>
        <p:spPr/>
        <p:txBody>
          <a:bodyPr/>
          <a:lstStyle/>
          <a:p>
            <a:fld id="{70117565-8260-4F58-A29E-6625F439E774}" type="datetime1">
              <a:rPr lang="en-US" smtClean="0"/>
              <a:t>8/1/2025</a:t>
            </a:fld>
            <a:endParaRPr lang="en-US" dirty="0"/>
          </a:p>
        </p:txBody>
      </p:sp>
      <p:sp>
        <p:nvSpPr>
          <p:cNvPr id="4" name="Footer Placeholder 3">
            <a:extLst>
              <a:ext uri="{FF2B5EF4-FFF2-40B4-BE49-F238E27FC236}">
                <a16:creationId xmlns:a16="http://schemas.microsoft.com/office/drawing/2014/main" id="{003CFAC8-AF7B-4962-9763-2F7510DF7F6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46F673E-D431-4E94-B6FB-92E3644EC528}"/>
              </a:ext>
            </a:extLst>
          </p:cNvPr>
          <p:cNvSpPr>
            <a:spLocks noGrp="1"/>
          </p:cNvSpPr>
          <p:nvPr>
            <p:ph type="sldNum" sz="quarter" idx="12"/>
          </p:nvPr>
        </p:nvSpPr>
        <p:spPr/>
        <p:txBody>
          <a:bodyPr>
            <a:normAutofit lnSpcReduction="10000"/>
          </a:bodyPr>
          <a:lstStyle/>
          <a:p>
            <a:fld id="{EA7C8D44-3667-46F6-9772-CC52308E2A7F}" type="slidenum">
              <a:rPr kumimoji="0" lang="en-US" smtClean="0"/>
              <a:pPr/>
              <a:t>26</a:t>
            </a:fld>
            <a:endParaRPr kumimoji="0" lang="en-US" dirty="0"/>
          </a:p>
        </p:txBody>
      </p:sp>
      <p:sp>
        <p:nvSpPr>
          <p:cNvPr id="6" name="Content Placeholder 5">
            <a:extLst>
              <a:ext uri="{FF2B5EF4-FFF2-40B4-BE49-F238E27FC236}">
                <a16:creationId xmlns:a16="http://schemas.microsoft.com/office/drawing/2014/main" id="{219235CD-4DE5-481D-8997-17678CD9BE4E}"/>
              </a:ext>
            </a:extLst>
          </p:cNvPr>
          <p:cNvSpPr>
            <a:spLocks noGrp="1"/>
          </p:cNvSpPr>
          <p:nvPr>
            <p:ph sz="quarter" idx="1"/>
          </p:nvPr>
        </p:nvSpPr>
        <p:spPr/>
        <p:txBody>
          <a:bodyPr/>
          <a:lstStyle/>
          <a:p>
            <a:r>
              <a:rPr lang="en-US" dirty="0"/>
              <a:t>Linear regression model represents the linear relationship between a dependent variable and independent variable(s) via a sloped straight line.</a:t>
            </a:r>
            <a:endParaRPr lang="en-IN" dirty="0"/>
          </a:p>
        </p:txBody>
      </p:sp>
      <p:sp>
        <p:nvSpPr>
          <p:cNvPr id="7" name="AutoShape 2" descr="https://www.gatevidyalay.com/wp-content/uploads/2020/01/Representing-Linear-Regression-Model.png">
            <a:extLst>
              <a:ext uri="{FF2B5EF4-FFF2-40B4-BE49-F238E27FC236}">
                <a16:creationId xmlns:a16="http://schemas.microsoft.com/office/drawing/2014/main" id="{4A370041-8AE1-4D34-A4C8-CC687D1AF8D0}"/>
              </a:ext>
            </a:extLst>
          </p:cNvPr>
          <p:cNvSpPr>
            <a:spLocks noChangeAspect="1" noChangeArrowheads="1"/>
          </p:cNvSpPr>
          <p:nvPr/>
        </p:nvSpPr>
        <p:spPr bwMode="auto">
          <a:xfrm>
            <a:off x="4394692" y="263118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050"/>
          </a:p>
        </p:txBody>
      </p:sp>
      <p:sp>
        <p:nvSpPr>
          <p:cNvPr id="8" name="AutoShape 4" descr="https://www.gatevidyalay.com/wp-content/uploads/2020/01/Representing-Linear-Regression-Model.png">
            <a:extLst>
              <a:ext uri="{FF2B5EF4-FFF2-40B4-BE49-F238E27FC236}">
                <a16:creationId xmlns:a16="http://schemas.microsoft.com/office/drawing/2014/main" id="{578E5676-FA8D-4F76-9C48-D70EA895CD2D}"/>
              </a:ext>
            </a:extLst>
          </p:cNvPr>
          <p:cNvSpPr>
            <a:spLocks noChangeAspect="1" noChangeArrowheads="1"/>
          </p:cNvSpPr>
          <p:nvPr/>
        </p:nvSpPr>
        <p:spPr bwMode="auto">
          <a:xfrm>
            <a:off x="4457700" y="24574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050"/>
          </a:p>
        </p:txBody>
      </p:sp>
      <p:pic>
        <p:nvPicPr>
          <p:cNvPr id="11" name="Content Placeholder 6">
            <a:extLst>
              <a:ext uri="{FF2B5EF4-FFF2-40B4-BE49-F238E27FC236}">
                <a16:creationId xmlns:a16="http://schemas.microsoft.com/office/drawing/2014/main" id="{57B72108-80B7-447F-9037-6014B1F78C07}"/>
              </a:ext>
            </a:extLst>
          </p:cNvPr>
          <p:cNvPicPr>
            <a:picLocks noChangeAspect="1"/>
          </p:cNvPicPr>
          <p:nvPr/>
        </p:nvPicPr>
        <p:blipFill>
          <a:blip r:embed="rId2"/>
          <a:stretch>
            <a:fillRect/>
          </a:stretch>
        </p:blipFill>
        <p:spPr>
          <a:xfrm>
            <a:off x="2226920" y="2236680"/>
            <a:ext cx="3661460" cy="2316175"/>
          </a:xfrm>
          <a:prstGeom prst="rect">
            <a:avLst/>
          </a:prstGeom>
        </p:spPr>
      </p:pic>
    </p:spTree>
    <p:extLst>
      <p:ext uri="{BB962C8B-B14F-4D97-AF65-F5344CB8AC3E}">
        <p14:creationId xmlns:p14="http://schemas.microsoft.com/office/powerpoint/2010/main" val="2481537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F1B5C-37F8-4331-B848-083FF2AD4865}"/>
              </a:ext>
            </a:extLst>
          </p:cNvPr>
          <p:cNvSpPr>
            <a:spLocks noGrp="1"/>
          </p:cNvSpPr>
          <p:nvPr>
            <p:ph type="title"/>
          </p:nvPr>
        </p:nvSpPr>
        <p:spPr/>
        <p:txBody>
          <a:bodyPr>
            <a:normAutofit fontScale="90000"/>
          </a:bodyPr>
          <a:lstStyle/>
          <a:p>
            <a:endParaRPr lang="en-IN"/>
          </a:p>
        </p:txBody>
      </p:sp>
      <p:sp>
        <p:nvSpPr>
          <p:cNvPr id="3" name="Date Placeholder 2">
            <a:extLst>
              <a:ext uri="{FF2B5EF4-FFF2-40B4-BE49-F238E27FC236}">
                <a16:creationId xmlns:a16="http://schemas.microsoft.com/office/drawing/2014/main" id="{AE3D1278-46B7-4145-9DDD-FAE079F7BEB3}"/>
              </a:ext>
            </a:extLst>
          </p:cNvPr>
          <p:cNvSpPr>
            <a:spLocks noGrp="1"/>
          </p:cNvSpPr>
          <p:nvPr>
            <p:ph type="dt" sz="half" idx="10"/>
          </p:nvPr>
        </p:nvSpPr>
        <p:spPr/>
        <p:txBody>
          <a:bodyPr/>
          <a:lstStyle/>
          <a:p>
            <a:fld id="{E9249183-3F11-4576-9449-A64095111AA3}" type="datetime1">
              <a:rPr lang="en-US" smtClean="0"/>
              <a:t>8/1/2025</a:t>
            </a:fld>
            <a:endParaRPr lang="en-US" dirty="0"/>
          </a:p>
        </p:txBody>
      </p:sp>
      <p:sp>
        <p:nvSpPr>
          <p:cNvPr id="4" name="Footer Placeholder 3">
            <a:extLst>
              <a:ext uri="{FF2B5EF4-FFF2-40B4-BE49-F238E27FC236}">
                <a16:creationId xmlns:a16="http://schemas.microsoft.com/office/drawing/2014/main" id="{61B2F332-46C4-40CE-B89A-EFF8AFFB7B0B}"/>
              </a:ext>
            </a:extLst>
          </p:cNvPr>
          <p:cNvSpPr>
            <a:spLocks noGrp="1"/>
          </p:cNvSpPr>
          <p:nvPr>
            <p:ph type="ftr" sz="quarter" idx="11"/>
          </p:nvPr>
        </p:nvSpPr>
        <p:spPr/>
        <p:txBody>
          <a:bodyPr/>
          <a:lstStyle/>
          <a:p>
            <a:r>
              <a:rPr lang="en-US"/>
              <a:t>Linear Regression</a:t>
            </a:r>
            <a:endParaRPr lang="en-US" dirty="0"/>
          </a:p>
        </p:txBody>
      </p:sp>
      <p:sp>
        <p:nvSpPr>
          <p:cNvPr id="5" name="Slide Number Placeholder 4">
            <a:extLst>
              <a:ext uri="{FF2B5EF4-FFF2-40B4-BE49-F238E27FC236}">
                <a16:creationId xmlns:a16="http://schemas.microsoft.com/office/drawing/2014/main" id="{5941D927-FCBB-4666-B9A0-E61B7154F091}"/>
              </a:ext>
            </a:extLst>
          </p:cNvPr>
          <p:cNvSpPr>
            <a:spLocks noGrp="1"/>
          </p:cNvSpPr>
          <p:nvPr>
            <p:ph type="sldNum" sz="quarter" idx="12"/>
          </p:nvPr>
        </p:nvSpPr>
        <p:spPr/>
        <p:txBody>
          <a:bodyPr>
            <a:normAutofit lnSpcReduction="10000"/>
          </a:bodyPr>
          <a:lstStyle/>
          <a:p>
            <a:fld id="{EA7C8D44-3667-46F6-9772-CC52308E2A7F}" type="slidenum">
              <a:rPr kumimoji="0" lang="en-US" smtClean="0"/>
              <a:pPr/>
              <a:t>27</a:t>
            </a:fld>
            <a:endParaRPr kumimoji="0" lang="en-US" dirty="0"/>
          </a:p>
        </p:txBody>
      </p:sp>
      <p:pic>
        <p:nvPicPr>
          <p:cNvPr id="8" name="Picture 7" descr="table with the number of rooms and their selling price">
            <a:extLst>
              <a:ext uri="{FF2B5EF4-FFF2-40B4-BE49-F238E27FC236}">
                <a16:creationId xmlns:a16="http://schemas.microsoft.com/office/drawing/2014/main" id="{F4AF5D2D-A672-49D5-8C8E-653DB3EE6B3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000250"/>
            <a:ext cx="2134529" cy="1890808"/>
          </a:xfrm>
          <a:prstGeom prst="rect">
            <a:avLst/>
          </a:prstGeom>
          <a:noFill/>
          <a:ln>
            <a:noFill/>
          </a:ln>
        </p:spPr>
      </p:pic>
      <p:pic>
        <p:nvPicPr>
          <p:cNvPr id="9" name="Picture 8" descr="https://assets-global.website-files.com/5e6f9b297ef3941db2593ba1/5f3a41750444d9113800027a_Screenshot%202020-08-17%20at%2010.35.55.png">
            <a:extLst>
              <a:ext uri="{FF2B5EF4-FFF2-40B4-BE49-F238E27FC236}">
                <a16:creationId xmlns:a16="http://schemas.microsoft.com/office/drawing/2014/main" id="{CF53930C-9DDB-4CAB-82E0-587A165E8B9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9535" y="2000251"/>
            <a:ext cx="3049965" cy="2069306"/>
          </a:xfrm>
          <a:prstGeom prst="rect">
            <a:avLst/>
          </a:prstGeom>
          <a:noFill/>
          <a:ln>
            <a:noFill/>
          </a:ln>
        </p:spPr>
      </p:pic>
    </p:spTree>
    <p:extLst>
      <p:ext uri="{BB962C8B-B14F-4D97-AF65-F5344CB8AC3E}">
        <p14:creationId xmlns:p14="http://schemas.microsoft.com/office/powerpoint/2010/main" val="3840543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07F9C-5F01-4DFB-81FB-26E179DC22DA}"/>
              </a:ext>
            </a:extLst>
          </p:cNvPr>
          <p:cNvSpPr>
            <a:spLocks noGrp="1"/>
          </p:cNvSpPr>
          <p:nvPr>
            <p:ph type="title"/>
          </p:nvPr>
        </p:nvSpPr>
        <p:spPr/>
        <p:txBody>
          <a:bodyPr>
            <a:normAutofit fontScale="90000"/>
          </a:bodyPr>
          <a:lstStyle/>
          <a:p>
            <a:endParaRPr lang="en-IN"/>
          </a:p>
        </p:txBody>
      </p:sp>
      <p:sp>
        <p:nvSpPr>
          <p:cNvPr id="3" name="Date Placeholder 2">
            <a:extLst>
              <a:ext uri="{FF2B5EF4-FFF2-40B4-BE49-F238E27FC236}">
                <a16:creationId xmlns:a16="http://schemas.microsoft.com/office/drawing/2014/main" id="{FB92D0D8-EE4F-4FDD-B4E9-6519A525DBFE}"/>
              </a:ext>
            </a:extLst>
          </p:cNvPr>
          <p:cNvSpPr>
            <a:spLocks noGrp="1"/>
          </p:cNvSpPr>
          <p:nvPr>
            <p:ph type="dt" sz="half" idx="10"/>
          </p:nvPr>
        </p:nvSpPr>
        <p:spPr/>
        <p:txBody>
          <a:bodyPr/>
          <a:lstStyle/>
          <a:p>
            <a:fld id="{2AE322FA-A7CD-4A9A-ABD3-4EF7FB648E39}" type="datetime1">
              <a:rPr lang="en-US" smtClean="0"/>
              <a:t>8/1/2025</a:t>
            </a:fld>
            <a:endParaRPr lang="en-US" dirty="0"/>
          </a:p>
        </p:txBody>
      </p:sp>
      <p:sp>
        <p:nvSpPr>
          <p:cNvPr id="4" name="Footer Placeholder 3">
            <a:extLst>
              <a:ext uri="{FF2B5EF4-FFF2-40B4-BE49-F238E27FC236}">
                <a16:creationId xmlns:a16="http://schemas.microsoft.com/office/drawing/2014/main" id="{F296E0DE-F457-4CF7-9E95-BAC9D2D86509}"/>
              </a:ext>
            </a:extLst>
          </p:cNvPr>
          <p:cNvSpPr>
            <a:spLocks noGrp="1"/>
          </p:cNvSpPr>
          <p:nvPr>
            <p:ph type="ftr" sz="quarter" idx="11"/>
          </p:nvPr>
        </p:nvSpPr>
        <p:spPr/>
        <p:txBody>
          <a:bodyPr/>
          <a:lstStyle/>
          <a:p>
            <a:r>
              <a:rPr lang="en-US"/>
              <a:t>Linear Regression</a:t>
            </a:r>
            <a:endParaRPr lang="en-US" dirty="0"/>
          </a:p>
        </p:txBody>
      </p:sp>
      <p:sp>
        <p:nvSpPr>
          <p:cNvPr id="5" name="Slide Number Placeholder 4">
            <a:extLst>
              <a:ext uri="{FF2B5EF4-FFF2-40B4-BE49-F238E27FC236}">
                <a16:creationId xmlns:a16="http://schemas.microsoft.com/office/drawing/2014/main" id="{7DB48738-3538-41FA-A996-A838A51825DF}"/>
              </a:ext>
            </a:extLst>
          </p:cNvPr>
          <p:cNvSpPr>
            <a:spLocks noGrp="1"/>
          </p:cNvSpPr>
          <p:nvPr>
            <p:ph type="sldNum" sz="quarter" idx="12"/>
          </p:nvPr>
        </p:nvSpPr>
        <p:spPr/>
        <p:txBody>
          <a:bodyPr>
            <a:normAutofit lnSpcReduction="10000"/>
          </a:bodyPr>
          <a:lstStyle/>
          <a:p>
            <a:fld id="{EA7C8D44-3667-46F6-9772-CC52308E2A7F}" type="slidenum">
              <a:rPr kumimoji="0" lang="en-US" smtClean="0"/>
              <a:pPr/>
              <a:t>28</a:t>
            </a:fld>
            <a:endParaRPr kumimoji="0" lang="en-US" dirty="0"/>
          </a:p>
        </p:txBody>
      </p:sp>
      <p:pic>
        <p:nvPicPr>
          <p:cNvPr id="7" name="Content Placeholder 6" descr="https://assets-global.website-files.com/5e6f9b297ef3941db2593ba1/5f3a41c6e320ca65aafafcf6_Screenshot%202020-08-17%20at%2010.37.14.png">
            <a:extLst>
              <a:ext uri="{FF2B5EF4-FFF2-40B4-BE49-F238E27FC236}">
                <a16:creationId xmlns:a16="http://schemas.microsoft.com/office/drawing/2014/main" id="{C1297A9F-77FA-4063-87EB-96B828639A7A}"/>
              </a:ext>
            </a:extLst>
          </p:cNvPr>
          <p:cNvPicPr>
            <a:picLocks noGrp="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bwMode="auto">
          <a:xfrm>
            <a:off x="1564132" y="860051"/>
            <a:ext cx="5700269" cy="3245731"/>
          </a:xfrm>
          <a:prstGeom prst="rect">
            <a:avLst/>
          </a:prstGeom>
          <a:noFill/>
          <a:ln>
            <a:noFill/>
          </a:ln>
        </p:spPr>
      </p:pic>
      <p:sp>
        <p:nvSpPr>
          <p:cNvPr id="6" name="Rectangle 5">
            <a:extLst>
              <a:ext uri="{FF2B5EF4-FFF2-40B4-BE49-F238E27FC236}">
                <a16:creationId xmlns:a16="http://schemas.microsoft.com/office/drawing/2014/main" id="{5A4B15E2-7FB9-439F-B229-7FBB222F4762}"/>
              </a:ext>
            </a:extLst>
          </p:cNvPr>
          <p:cNvSpPr/>
          <p:nvPr/>
        </p:nvSpPr>
        <p:spPr>
          <a:xfrm>
            <a:off x="1714500" y="4214585"/>
            <a:ext cx="6055614" cy="415498"/>
          </a:xfrm>
          <a:prstGeom prst="rect">
            <a:avLst/>
          </a:prstGeom>
        </p:spPr>
        <p:txBody>
          <a:bodyPr wrap="square">
            <a:spAutoFit/>
          </a:bodyPr>
          <a:lstStyle/>
          <a:p>
            <a:r>
              <a:rPr lang="en-IN" sz="1050" dirty="0"/>
              <a:t>This model assumes a linear relationship between the dependent variable and the predictor variable</a:t>
            </a:r>
          </a:p>
        </p:txBody>
      </p:sp>
    </p:spTree>
    <p:extLst>
      <p:ext uri="{BB962C8B-B14F-4D97-AF65-F5344CB8AC3E}">
        <p14:creationId xmlns:p14="http://schemas.microsoft.com/office/powerpoint/2010/main" val="2696459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CCDC-79B0-4D24-A9AC-2A4C029049FC}"/>
              </a:ext>
            </a:extLst>
          </p:cNvPr>
          <p:cNvSpPr>
            <a:spLocks noGrp="1"/>
          </p:cNvSpPr>
          <p:nvPr>
            <p:ph type="title"/>
          </p:nvPr>
        </p:nvSpPr>
        <p:spPr/>
        <p:txBody>
          <a:bodyPr>
            <a:normAutofit fontScale="90000"/>
          </a:bodyPr>
          <a:lstStyle/>
          <a:p>
            <a:r>
              <a:rPr lang="en-US" dirty="0"/>
              <a:t>Training the Linear Regression</a:t>
            </a:r>
            <a:endParaRPr lang="en-IN" dirty="0"/>
          </a:p>
        </p:txBody>
      </p:sp>
      <p:sp>
        <p:nvSpPr>
          <p:cNvPr id="3" name="Date Placeholder 2">
            <a:extLst>
              <a:ext uri="{FF2B5EF4-FFF2-40B4-BE49-F238E27FC236}">
                <a16:creationId xmlns:a16="http://schemas.microsoft.com/office/drawing/2014/main" id="{DEFDE136-4C83-4B66-85A3-982CEA3E7053}"/>
              </a:ext>
            </a:extLst>
          </p:cNvPr>
          <p:cNvSpPr>
            <a:spLocks noGrp="1"/>
          </p:cNvSpPr>
          <p:nvPr>
            <p:ph type="dt" sz="half" idx="10"/>
          </p:nvPr>
        </p:nvSpPr>
        <p:spPr/>
        <p:txBody>
          <a:bodyPr/>
          <a:lstStyle/>
          <a:p>
            <a:fld id="{8BB23E9E-AD53-4BF1-A296-95AD63EDE88B}" type="datetime1">
              <a:rPr lang="en-US" smtClean="0"/>
              <a:t>8/1/2025</a:t>
            </a:fld>
            <a:endParaRPr lang="en-US" dirty="0"/>
          </a:p>
        </p:txBody>
      </p:sp>
      <p:sp>
        <p:nvSpPr>
          <p:cNvPr id="4" name="Footer Placeholder 3">
            <a:extLst>
              <a:ext uri="{FF2B5EF4-FFF2-40B4-BE49-F238E27FC236}">
                <a16:creationId xmlns:a16="http://schemas.microsoft.com/office/drawing/2014/main" id="{5E39C6D6-BAD0-4E7B-8B76-A6975D520CED}"/>
              </a:ext>
            </a:extLst>
          </p:cNvPr>
          <p:cNvSpPr>
            <a:spLocks noGrp="1"/>
          </p:cNvSpPr>
          <p:nvPr>
            <p:ph type="ftr" sz="quarter" idx="11"/>
          </p:nvPr>
        </p:nvSpPr>
        <p:spPr/>
        <p:txBody>
          <a:bodyPr/>
          <a:lstStyle/>
          <a:p>
            <a:r>
              <a:rPr lang="en-US"/>
              <a:t>Linear Regression</a:t>
            </a:r>
            <a:endParaRPr lang="en-US" dirty="0"/>
          </a:p>
        </p:txBody>
      </p:sp>
      <p:sp>
        <p:nvSpPr>
          <p:cNvPr id="5" name="Slide Number Placeholder 4">
            <a:extLst>
              <a:ext uri="{FF2B5EF4-FFF2-40B4-BE49-F238E27FC236}">
                <a16:creationId xmlns:a16="http://schemas.microsoft.com/office/drawing/2014/main" id="{6A120C04-8B8C-45FF-9DE8-4CC2ACEB5A03}"/>
              </a:ext>
            </a:extLst>
          </p:cNvPr>
          <p:cNvSpPr>
            <a:spLocks noGrp="1"/>
          </p:cNvSpPr>
          <p:nvPr>
            <p:ph type="sldNum" sz="quarter" idx="12"/>
          </p:nvPr>
        </p:nvSpPr>
        <p:spPr/>
        <p:txBody>
          <a:bodyPr>
            <a:normAutofit lnSpcReduction="10000"/>
          </a:bodyPr>
          <a:lstStyle/>
          <a:p>
            <a:fld id="{EA7C8D44-3667-46F6-9772-CC52308E2A7F}" type="slidenum">
              <a:rPr kumimoji="0" lang="en-US" smtClean="0"/>
              <a:pPr/>
              <a:t>29</a:t>
            </a:fld>
            <a:endParaRPr kumimoji="0" lang="en-US" dirty="0"/>
          </a:p>
        </p:txBody>
      </p:sp>
      <p:sp>
        <p:nvSpPr>
          <p:cNvPr id="6" name="Content Placeholder 5">
            <a:extLst>
              <a:ext uri="{FF2B5EF4-FFF2-40B4-BE49-F238E27FC236}">
                <a16:creationId xmlns:a16="http://schemas.microsoft.com/office/drawing/2014/main" id="{B2FAC8EA-ED43-4B8C-A16A-AADC698B272E}"/>
              </a:ext>
            </a:extLst>
          </p:cNvPr>
          <p:cNvSpPr>
            <a:spLocks noGrp="1"/>
          </p:cNvSpPr>
          <p:nvPr>
            <p:ph sz="quarter" idx="1"/>
          </p:nvPr>
        </p:nvSpPr>
        <p:spPr/>
        <p:txBody>
          <a:bodyPr>
            <a:normAutofit lnSpcReduction="10000"/>
          </a:bodyPr>
          <a:lstStyle/>
          <a:p>
            <a:r>
              <a:rPr lang="en-IN" dirty="0"/>
              <a:t>We train the linear regression algorithm with a method named Mean Squared Error (MSE). The goal of training is to find the weights w</a:t>
            </a:r>
            <a:r>
              <a:rPr lang="en-IN" baseline="-25000" dirty="0"/>
              <a:t>i</a:t>
            </a:r>
            <a:r>
              <a:rPr lang="en-IN" dirty="0"/>
              <a:t> in the linear </a:t>
            </a:r>
            <a:r>
              <a:rPr lang="en-IN" dirty="0" smtClean="0"/>
              <a:t>equation Y = WX</a:t>
            </a:r>
            <a:r>
              <a:rPr lang="en-IN" dirty="0" smtClean="0"/>
              <a:t> + B</a:t>
            </a:r>
            <a:endParaRPr lang="en-IN" dirty="0"/>
          </a:p>
          <a:p>
            <a:r>
              <a:rPr lang="en-IN" dirty="0"/>
              <a:t>This has four main steps in machine learning:</a:t>
            </a:r>
          </a:p>
          <a:p>
            <a:r>
              <a:rPr lang="en-IN" dirty="0"/>
              <a:t>1. Random weight initialization. In practice, w</a:t>
            </a:r>
            <a:r>
              <a:rPr lang="en-IN" baseline="-25000" dirty="0"/>
              <a:t>0</a:t>
            </a:r>
            <a:r>
              <a:rPr lang="en-IN" dirty="0"/>
              <a:t> and w</a:t>
            </a:r>
            <a:r>
              <a:rPr lang="en-IN" baseline="-25000" dirty="0"/>
              <a:t>1</a:t>
            </a:r>
            <a:r>
              <a:rPr lang="en-IN" dirty="0"/>
              <a:t> are unknown at the beginning. The goal of the procedure is to find the appropriate values for these model parameters. To start the process, we set the values of the weights at random. </a:t>
            </a:r>
          </a:p>
          <a:p>
            <a:r>
              <a:rPr lang="en-IN" dirty="0"/>
              <a:t>2. Input the initialized weights into the linear equation and generate a prediction for each observation point. To continue with the example that we’ve already used:                          </a:t>
            </a:r>
          </a:p>
          <a:p>
            <a:endParaRPr lang="en-IN" dirty="0"/>
          </a:p>
        </p:txBody>
      </p:sp>
    </p:spTree>
    <p:extLst>
      <p:ext uri="{BB962C8B-B14F-4D97-AF65-F5344CB8AC3E}">
        <p14:creationId xmlns:p14="http://schemas.microsoft.com/office/powerpoint/2010/main" val="1312050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D8063-FF75-4481-A5B7-0DF4953EC6E7}"/>
              </a:ext>
            </a:extLst>
          </p:cNvPr>
          <p:cNvSpPr>
            <a:spLocks noGrp="1"/>
          </p:cNvSpPr>
          <p:nvPr>
            <p:ph type="title"/>
          </p:nvPr>
        </p:nvSpPr>
        <p:spPr/>
        <p:txBody>
          <a:bodyPr>
            <a:normAutofit fontScale="90000"/>
          </a:bodyPr>
          <a:lstStyle/>
          <a:p>
            <a:r>
              <a:rPr lang="en-IN" dirty="0" smtClean="0"/>
              <a:t>Gradient Descent</a:t>
            </a:r>
            <a:endParaRPr lang="en-IN" dirty="0"/>
          </a:p>
        </p:txBody>
      </p:sp>
      <p:sp>
        <p:nvSpPr>
          <p:cNvPr id="3" name="Date Placeholder 2">
            <a:extLst>
              <a:ext uri="{FF2B5EF4-FFF2-40B4-BE49-F238E27FC236}">
                <a16:creationId xmlns:a16="http://schemas.microsoft.com/office/drawing/2014/main" id="{7927616E-8546-451E-915C-9E31DFEF05FC}"/>
              </a:ext>
            </a:extLst>
          </p:cNvPr>
          <p:cNvSpPr>
            <a:spLocks noGrp="1"/>
          </p:cNvSpPr>
          <p:nvPr>
            <p:ph type="dt" sz="half" idx="10"/>
          </p:nvPr>
        </p:nvSpPr>
        <p:spPr/>
        <p:txBody>
          <a:bodyPr/>
          <a:lstStyle/>
          <a:p>
            <a:fld id="{519565DB-378F-4C93-896C-96FB5CDE8B99}" type="datetime1">
              <a:rPr lang="en-US" smtClean="0"/>
              <a:t>8/1/2025</a:t>
            </a:fld>
            <a:endParaRPr lang="en-US" dirty="0"/>
          </a:p>
        </p:txBody>
      </p:sp>
      <p:sp>
        <p:nvSpPr>
          <p:cNvPr id="4" name="Footer Placeholder 3">
            <a:extLst>
              <a:ext uri="{FF2B5EF4-FFF2-40B4-BE49-F238E27FC236}">
                <a16:creationId xmlns:a16="http://schemas.microsoft.com/office/drawing/2014/main" id="{07F6242A-0483-4D2F-A44F-0317C3E3BA8F}"/>
              </a:ext>
            </a:extLst>
          </p:cNvPr>
          <p:cNvSpPr>
            <a:spLocks noGrp="1"/>
          </p:cNvSpPr>
          <p:nvPr>
            <p:ph type="ftr" sz="quarter" idx="11"/>
          </p:nvPr>
        </p:nvSpPr>
        <p:spPr/>
        <p:txBody>
          <a:bodyPr/>
          <a:lstStyle/>
          <a:p>
            <a:r>
              <a:rPr lang="en-US" dirty="0"/>
              <a:t>Logistic Regression</a:t>
            </a:r>
          </a:p>
        </p:txBody>
      </p:sp>
      <p:sp>
        <p:nvSpPr>
          <p:cNvPr id="5" name="Slide Number Placeholder 4">
            <a:extLst>
              <a:ext uri="{FF2B5EF4-FFF2-40B4-BE49-F238E27FC236}">
                <a16:creationId xmlns:a16="http://schemas.microsoft.com/office/drawing/2014/main" id="{2028BFC8-0FC6-4393-A6FA-703ACF79C85D}"/>
              </a:ext>
            </a:extLst>
          </p:cNvPr>
          <p:cNvSpPr>
            <a:spLocks noGrp="1"/>
          </p:cNvSpPr>
          <p:nvPr>
            <p:ph type="sldNum" sz="quarter" idx="12"/>
          </p:nvPr>
        </p:nvSpPr>
        <p:spPr/>
        <p:txBody>
          <a:bodyPr>
            <a:normAutofit lnSpcReduction="10000"/>
          </a:bodyPr>
          <a:lstStyle/>
          <a:p>
            <a:fld id="{EA7C8D44-3667-46F6-9772-CC52308E2A7F}" type="slidenum">
              <a:rPr kumimoji="0" lang="en-US" smtClean="0"/>
              <a:pPr/>
              <a:t>30</a:t>
            </a:fld>
            <a:endParaRPr kumimoji="0" lang="en-US" dirty="0"/>
          </a:p>
        </p:txBody>
      </p:sp>
      <p:pic>
        <p:nvPicPr>
          <p:cNvPr id="7" name="Content Placeholder 6" descr="gradient descent algorithm">
            <a:extLst>
              <a:ext uri="{FF2B5EF4-FFF2-40B4-BE49-F238E27FC236}">
                <a16:creationId xmlns:a16="http://schemas.microsoft.com/office/drawing/2014/main" id="{F843BF98-ED2F-4942-B180-803F4CEDA42C}"/>
              </a:ext>
            </a:extLst>
          </p:cNvPr>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257550" y="1943101"/>
            <a:ext cx="2914650" cy="1028699"/>
          </a:xfrm>
          <a:prstGeom prst="rect">
            <a:avLst/>
          </a:prstGeom>
          <a:noFill/>
          <a:ln>
            <a:noFill/>
          </a:ln>
        </p:spPr>
      </p:pic>
    </p:spTree>
    <p:extLst>
      <p:ext uri="{BB962C8B-B14F-4D97-AF65-F5344CB8AC3E}">
        <p14:creationId xmlns:p14="http://schemas.microsoft.com/office/powerpoint/2010/main" val="2201850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215389" y="2196797"/>
            <a:ext cx="1005739" cy="707028"/>
          </a:xfrm>
          <a:custGeom>
            <a:avLst/>
            <a:gdLst/>
            <a:ahLst/>
            <a:cxnLst/>
            <a:rect l="l" t="t" r="r" b="b"/>
            <a:pathLst>
              <a:path w="2948304" h="2072640">
                <a:moveTo>
                  <a:pt x="2947958" y="0"/>
                </a:moveTo>
                <a:lnTo>
                  <a:pt x="0" y="0"/>
                </a:lnTo>
                <a:lnTo>
                  <a:pt x="0" y="2072522"/>
                </a:lnTo>
                <a:lnTo>
                  <a:pt x="2947958" y="2072522"/>
                </a:lnTo>
                <a:lnTo>
                  <a:pt x="2947958" y="0"/>
                </a:lnTo>
                <a:close/>
              </a:path>
            </a:pathLst>
          </a:custGeom>
          <a:solidFill>
            <a:srgbClr val="F0B500"/>
          </a:solidFill>
        </p:spPr>
        <p:txBody>
          <a:bodyPr wrap="square" lIns="0" tIns="0" rIns="0" bIns="0" rtlCol="0"/>
          <a:lstStyle/>
          <a:p>
            <a:endParaRPr sz="614"/>
          </a:p>
        </p:txBody>
      </p:sp>
      <p:sp>
        <p:nvSpPr>
          <p:cNvPr id="4" name="object 4"/>
          <p:cNvSpPr txBox="1"/>
          <p:nvPr/>
        </p:nvSpPr>
        <p:spPr>
          <a:xfrm>
            <a:off x="3445751" y="2476070"/>
            <a:ext cx="545001" cy="142418"/>
          </a:xfrm>
          <a:prstGeom prst="rect">
            <a:avLst/>
          </a:prstGeom>
        </p:spPr>
        <p:txBody>
          <a:bodyPr vert="horz" wrap="square" lIns="0" tIns="5849" rIns="0" bIns="0" rtlCol="0">
            <a:spAutoFit/>
          </a:bodyPr>
          <a:lstStyle/>
          <a:p>
            <a:pPr marL="4332">
              <a:spcBef>
                <a:spcPts val="46"/>
              </a:spcBef>
            </a:pPr>
            <a:r>
              <a:rPr sz="887" i="1" dirty="0">
                <a:solidFill>
                  <a:srgbClr val="FFFFFF"/>
                </a:solidFill>
                <a:latin typeface="Times New Roman"/>
                <a:cs typeface="Times New Roman"/>
              </a:rPr>
              <a:t>R</a:t>
            </a:r>
            <a:r>
              <a:rPr sz="887" i="1" spc="36" dirty="0">
                <a:solidFill>
                  <a:srgbClr val="FFFFFF"/>
                </a:solidFill>
                <a:latin typeface="Times New Roman"/>
                <a:cs typeface="Times New Roman"/>
              </a:rPr>
              <a:t> </a:t>
            </a:r>
            <a:r>
              <a:rPr sz="887" spc="114" dirty="0">
                <a:solidFill>
                  <a:srgbClr val="FFFFFF"/>
                </a:solidFill>
                <a:latin typeface="Times New Roman"/>
                <a:cs typeface="Times New Roman"/>
              </a:rPr>
              <a:t>=</a:t>
            </a:r>
            <a:r>
              <a:rPr sz="887" spc="36" dirty="0">
                <a:solidFill>
                  <a:srgbClr val="FFFFFF"/>
                </a:solidFill>
                <a:latin typeface="Times New Roman"/>
                <a:cs typeface="Times New Roman"/>
              </a:rPr>
              <a:t> </a:t>
            </a:r>
            <a:r>
              <a:rPr lang="el-GR" sz="887" i="1" dirty="0">
                <a:solidFill>
                  <a:srgbClr val="FFFFFF"/>
                </a:solidFill>
              </a:rPr>
              <a:t>α</a:t>
            </a:r>
            <a:r>
              <a:rPr sz="887" i="1" dirty="0">
                <a:solidFill>
                  <a:srgbClr val="FFFFFF"/>
                </a:solidFill>
                <a:latin typeface="Times New Roman"/>
                <a:cs typeface="Times New Roman"/>
              </a:rPr>
              <a:t>A</a:t>
            </a:r>
            <a:r>
              <a:rPr sz="887" i="1" spc="-15" dirty="0">
                <a:solidFill>
                  <a:srgbClr val="FFFFFF"/>
                </a:solidFill>
                <a:latin typeface="Times New Roman"/>
                <a:cs typeface="Times New Roman"/>
              </a:rPr>
              <a:t> </a:t>
            </a:r>
            <a:r>
              <a:rPr sz="887" spc="114" dirty="0">
                <a:solidFill>
                  <a:srgbClr val="FFFFFF"/>
                </a:solidFill>
                <a:latin typeface="Times New Roman"/>
                <a:cs typeface="Times New Roman"/>
              </a:rPr>
              <a:t>+</a:t>
            </a:r>
            <a:r>
              <a:rPr lang="en-IN" sz="887" spc="-15" dirty="0">
                <a:solidFill>
                  <a:srgbClr val="FFFFFF"/>
                </a:solidFill>
                <a:latin typeface="Times New Roman"/>
                <a:cs typeface="Times New Roman"/>
              </a:rPr>
              <a:t> </a:t>
            </a:r>
            <a:r>
              <a:rPr lang="el-GR" sz="887" i="1" spc="-17" dirty="0">
                <a:solidFill>
                  <a:srgbClr val="FFFFFF"/>
                </a:solidFill>
              </a:rPr>
              <a:t>β</a:t>
            </a:r>
            <a:endParaRPr sz="887" dirty="0"/>
          </a:p>
        </p:txBody>
      </p:sp>
      <p:sp>
        <p:nvSpPr>
          <p:cNvPr id="5" name="object 5"/>
          <p:cNvSpPr/>
          <p:nvPr/>
        </p:nvSpPr>
        <p:spPr>
          <a:xfrm>
            <a:off x="1626380" y="3128651"/>
            <a:ext cx="1405175" cy="666738"/>
          </a:xfrm>
          <a:custGeom>
            <a:avLst/>
            <a:gdLst/>
            <a:ahLst/>
            <a:cxnLst/>
            <a:rect l="l" t="t" r="r" b="b"/>
            <a:pathLst>
              <a:path w="4119245" h="1954529">
                <a:moveTo>
                  <a:pt x="4118685" y="0"/>
                </a:moveTo>
                <a:lnTo>
                  <a:pt x="884552" y="0"/>
                </a:lnTo>
                <a:lnTo>
                  <a:pt x="0" y="1954445"/>
                </a:lnTo>
                <a:lnTo>
                  <a:pt x="3234132" y="1954445"/>
                </a:lnTo>
                <a:lnTo>
                  <a:pt x="4118685" y="0"/>
                </a:lnTo>
                <a:close/>
              </a:path>
            </a:pathLst>
          </a:custGeom>
          <a:solidFill>
            <a:srgbClr val="2CA14A"/>
          </a:solidFill>
        </p:spPr>
        <p:txBody>
          <a:bodyPr wrap="square" lIns="0" tIns="0" rIns="0" bIns="0" rtlCol="0"/>
          <a:lstStyle/>
          <a:p>
            <a:endParaRPr sz="614"/>
          </a:p>
        </p:txBody>
      </p:sp>
      <p:sp>
        <p:nvSpPr>
          <p:cNvPr id="6" name="object 6"/>
          <p:cNvSpPr txBox="1"/>
          <p:nvPr/>
        </p:nvSpPr>
        <p:spPr>
          <a:xfrm>
            <a:off x="1913238" y="3293268"/>
            <a:ext cx="900248" cy="315176"/>
          </a:xfrm>
          <a:prstGeom prst="rect">
            <a:avLst/>
          </a:prstGeom>
        </p:spPr>
        <p:txBody>
          <a:bodyPr vert="horz" wrap="square" lIns="0" tIns="3899" rIns="0" bIns="0" rtlCol="0">
            <a:spAutoFit/>
          </a:bodyPr>
          <a:lstStyle/>
          <a:p>
            <a:pPr marL="174795" marR="1733" indent="-170680">
              <a:lnSpc>
                <a:spcPct val="113599"/>
              </a:lnSpc>
              <a:spcBef>
                <a:spcPts val="31"/>
              </a:spcBef>
            </a:pPr>
            <a:r>
              <a:rPr sz="887" dirty="0">
                <a:solidFill>
                  <a:srgbClr val="FFFFFF"/>
                </a:solidFill>
                <a:latin typeface="Courier New"/>
                <a:cs typeface="Courier New"/>
              </a:rPr>
              <a:t>(No</a:t>
            </a:r>
            <a:r>
              <a:rPr sz="887" spc="19" dirty="0">
                <a:solidFill>
                  <a:srgbClr val="FFFFFF"/>
                </a:solidFill>
                <a:latin typeface="Courier New"/>
                <a:cs typeface="Courier New"/>
              </a:rPr>
              <a:t> </a:t>
            </a:r>
            <a:r>
              <a:rPr sz="887" dirty="0">
                <a:solidFill>
                  <a:srgbClr val="FFFFFF"/>
                </a:solidFill>
                <a:latin typeface="Courier New"/>
                <a:cs typeface="Courier New"/>
              </a:rPr>
              <a:t>of</a:t>
            </a:r>
            <a:r>
              <a:rPr sz="887" spc="20" dirty="0">
                <a:solidFill>
                  <a:srgbClr val="FFFFFF"/>
                </a:solidFill>
                <a:latin typeface="Courier New"/>
                <a:cs typeface="Courier New"/>
              </a:rPr>
              <a:t> </a:t>
            </a:r>
            <a:r>
              <a:rPr sz="887" spc="-4" dirty="0">
                <a:solidFill>
                  <a:srgbClr val="FFFFFF"/>
                </a:solidFill>
                <a:latin typeface="Courier New"/>
                <a:cs typeface="Courier New"/>
              </a:rPr>
              <a:t>rooms, price)</a:t>
            </a:r>
            <a:endParaRPr sz="887">
              <a:latin typeface="Courier New"/>
              <a:cs typeface="Courier New"/>
            </a:endParaRPr>
          </a:p>
        </p:txBody>
      </p:sp>
      <p:grpSp>
        <p:nvGrpSpPr>
          <p:cNvPr id="7" name="object 7"/>
          <p:cNvGrpSpPr/>
          <p:nvPr/>
        </p:nvGrpSpPr>
        <p:grpSpPr>
          <a:xfrm>
            <a:off x="2325300" y="2533146"/>
            <a:ext cx="734105" cy="515108"/>
            <a:chOff x="3465889" y="5541506"/>
            <a:chExt cx="2152015" cy="1510030"/>
          </a:xfrm>
        </p:grpSpPr>
        <p:sp>
          <p:nvSpPr>
            <p:cNvPr id="8" name="object 8"/>
            <p:cNvSpPr/>
            <p:nvPr/>
          </p:nvSpPr>
          <p:spPr>
            <a:xfrm>
              <a:off x="3479613" y="5591766"/>
              <a:ext cx="2047875" cy="0"/>
            </a:xfrm>
            <a:custGeom>
              <a:avLst/>
              <a:gdLst/>
              <a:ahLst/>
              <a:cxnLst/>
              <a:rect l="l" t="t" r="r" b="b"/>
              <a:pathLst>
                <a:path w="2047875">
                  <a:moveTo>
                    <a:pt x="0" y="0"/>
                  </a:moveTo>
                  <a:lnTo>
                    <a:pt x="2037228" y="0"/>
                  </a:lnTo>
                  <a:lnTo>
                    <a:pt x="2047698" y="0"/>
                  </a:lnTo>
                </a:path>
              </a:pathLst>
            </a:custGeom>
            <a:ln w="20941">
              <a:solidFill>
                <a:srgbClr val="000000"/>
              </a:solidFill>
            </a:ln>
          </p:spPr>
          <p:txBody>
            <a:bodyPr wrap="square" lIns="0" tIns="0" rIns="0" bIns="0" rtlCol="0"/>
            <a:lstStyle/>
            <a:p>
              <a:endParaRPr sz="614"/>
            </a:p>
          </p:txBody>
        </p:sp>
        <p:sp>
          <p:nvSpPr>
            <p:cNvPr id="9" name="object 9"/>
            <p:cNvSpPr/>
            <p:nvPr/>
          </p:nvSpPr>
          <p:spPr>
            <a:xfrm>
              <a:off x="5516841" y="5541506"/>
              <a:ext cx="100965" cy="100965"/>
            </a:xfrm>
            <a:custGeom>
              <a:avLst/>
              <a:gdLst/>
              <a:ahLst/>
              <a:cxnLst/>
              <a:rect l="l" t="t" r="r" b="b"/>
              <a:pathLst>
                <a:path w="100964" h="100964">
                  <a:moveTo>
                    <a:pt x="0" y="0"/>
                  </a:moveTo>
                  <a:lnTo>
                    <a:pt x="0" y="100520"/>
                  </a:lnTo>
                  <a:lnTo>
                    <a:pt x="100520" y="50260"/>
                  </a:lnTo>
                  <a:lnTo>
                    <a:pt x="0" y="0"/>
                  </a:lnTo>
                  <a:close/>
                </a:path>
              </a:pathLst>
            </a:custGeom>
            <a:solidFill>
              <a:srgbClr val="000000"/>
            </a:solidFill>
          </p:spPr>
          <p:txBody>
            <a:bodyPr wrap="square" lIns="0" tIns="0" rIns="0" bIns="0" rtlCol="0"/>
            <a:lstStyle/>
            <a:p>
              <a:endParaRPr sz="614"/>
            </a:p>
          </p:txBody>
        </p:sp>
        <p:sp>
          <p:nvSpPr>
            <p:cNvPr id="10" name="object 10"/>
            <p:cNvSpPr/>
            <p:nvPr/>
          </p:nvSpPr>
          <p:spPr>
            <a:xfrm>
              <a:off x="3476360" y="5585265"/>
              <a:ext cx="0" cy="1466215"/>
            </a:xfrm>
            <a:custGeom>
              <a:avLst/>
              <a:gdLst/>
              <a:ahLst/>
              <a:cxnLst/>
              <a:rect l="l" t="t" r="r" b="b"/>
              <a:pathLst>
                <a:path h="1466215">
                  <a:moveTo>
                    <a:pt x="0" y="1465923"/>
                  </a:moveTo>
                  <a:lnTo>
                    <a:pt x="0" y="0"/>
                  </a:lnTo>
                </a:path>
              </a:pathLst>
            </a:custGeom>
            <a:ln w="20941">
              <a:solidFill>
                <a:srgbClr val="000000"/>
              </a:solidFill>
            </a:ln>
          </p:spPr>
          <p:txBody>
            <a:bodyPr wrap="square" lIns="0" tIns="0" rIns="0" bIns="0" rtlCol="0"/>
            <a:lstStyle/>
            <a:p>
              <a:endParaRPr sz="614"/>
            </a:p>
          </p:txBody>
        </p:sp>
      </p:grpSp>
      <p:grpSp>
        <p:nvGrpSpPr>
          <p:cNvPr id="11" name="object 11"/>
          <p:cNvGrpSpPr/>
          <p:nvPr/>
        </p:nvGrpSpPr>
        <p:grpSpPr>
          <a:xfrm>
            <a:off x="4378690" y="2533145"/>
            <a:ext cx="549550" cy="34442"/>
            <a:chOff x="9485364" y="5541506"/>
            <a:chExt cx="1610995" cy="100965"/>
          </a:xfrm>
        </p:grpSpPr>
        <p:sp>
          <p:nvSpPr>
            <p:cNvPr id="12" name="object 12"/>
            <p:cNvSpPr/>
            <p:nvPr/>
          </p:nvSpPr>
          <p:spPr>
            <a:xfrm>
              <a:off x="9485364" y="5591766"/>
              <a:ext cx="1521460" cy="0"/>
            </a:xfrm>
            <a:custGeom>
              <a:avLst/>
              <a:gdLst/>
              <a:ahLst/>
              <a:cxnLst/>
              <a:rect l="l" t="t" r="r" b="b"/>
              <a:pathLst>
                <a:path w="1521459">
                  <a:moveTo>
                    <a:pt x="0" y="0"/>
                  </a:moveTo>
                  <a:lnTo>
                    <a:pt x="1510482" y="0"/>
                  </a:lnTo>
                  <a:lnTo>
                    <a:pt x="1520953" y="0"/>
                  </a:lnTo>
                </a:path>
              </a:pathLst>
            </a:custGeom>
            <a:ln w="20941">
              <a:solidFill>
                <a:srgbClr val="000000"/>
              </a:solidFill>
            </a:ln>
          </p:spPr>
          <p:txBody>
            <a:bodyPr wrap="square" lIns="0" tIns="0" rIns="0" bIns="0" rtlCol="0"/>
            <a:lstStyle/>
            <a:p>
              <a:endParaRPr sz="614"/>
            </a:p>
          </p:txBody>
        </p:sp>
        <p:sp>
          <p:nvSpPr>
            <p:cNvPr id="13" name="object 13"/>
            <p:cNvSpPr/>
            <p:nvPr/>
          </p:nvSpPr>
          <p:spPr>
            <a:xfrm>
              <a:off x="10995842" y="5541506"/>
              <a:ext cx="100965" cy="100965"/>
            </a:xfrm>
            <a:custGeom>
              <a:avLst/>
              <a:gdLst/>
              <a:ahLst/>
              <a:cxnLst/>
              <a:rect l="l" t="t" r="r" b="b"/>
              <a:pathLst>
                <a:path w="100965" h="100964">
                  <a:moveTo>
                    <a:pt x="0" y="0"/>
                  </a:moveTo>
                  <a:lnTo>
                    <a:pt x="0" y="100520"/>
                  </a:lnTo>
                  <a:lnTo>
                    <a:pt x="100520" y="50260"/>
                  </a:lnTo>
                  <a:lnTo>
                    <a:pt x="0" y="0"/>
                  </a:lnTo>
                  <a:close/>
                </a:path>
              </a:pathLst>
            </a:custGeom>
            <a:solidFill>
              <a:srgbClr val="000000"/>
            </a:solidFill>
          </p:spPr>
          <p:txBody>
            <a:bodyPr wrap="square" lIns="0" tIns="0" rIns="0" bIns="0" rtlCol="0"/>
            <a:lstStyle/>
            <a:p>
              <a:endParaRPr sz="614"/>
            </a:p>
          </p:txBody>
        </p:sp>
      </p:grpSp>
      <p:sp>
        <p:nvSpPr>
          <p:cNvPr id="14" name="object 14"/>
          <p:cNvSpPr/>
          <p:nvPr/>
        </p:nvSpPr>
        <p:spPr>
          <a:xfrm>
            <a:off x="4988260" y="2371696"/>
            <a:ext cx="846527" cy="357197"/>
          </a:xfrm>
          <a:custGeom>
            <a:avLst/>
            <a:gdLst/>
            <a:ahLst/>
            <a:cxnLst/>
            <a:rect l="l" t="t" r="r" b="b"/>
            <a:pathLst>
              <a:path w="2481580" h="1047114">
                <a:moveTo>
                  <a:pt x="2241073" y="0"/>
                </a:moveTo>
                <a:lnTo>
                  <a:pt x="240097" y="0"/>
                </a:lnTo>
                <a:lnTo>
                  <a:pt x="192318" y="183"/>
                </a:lnTo>
                <a:lnTo>
                  <a:pt x="153787" y="1470"/>
                </a:lnTo>
                <a:lnTo>
                  <a:pt x="99180" y="11766"/>
                </a:lnTo>
                <a:lnTo>
                  <a:pt x="45778" y="45785"/>
                </a:lnTo>
                <a:lnTo>
                  <a:pt x="11758" y="99184"/>
                </a:lnTo>
                <a:lnTo>
                  <a:pt x="1469" y="153788"/>
                </a:lnTo>
                <a:lnTo>
                  <a:pt x="183" y="192319"/>
                </a:lnTo>
                <a:lnTo>
                  <a:pt x="0" y="240097"/>
                </a:lnTo>
                <a:lnTo>
                  <a:pt x="0" y="806992"/>
                </a:lnTo>
                <a:lnTo>
                  <a:pt x="183" y="854769"/>
                </a:lnTo>
                <a:lnTo>
                  <a:pt x="1469" y="893300"/>
                </a:lnTo>
                <a:lnTo>
                  <a:pt x="11758" y="947904"/>
                </a:lnTo>
                <a:lnTo>
                  <a:pt x="45778" y="1001303"/>
                </a:lnTo>
                <a:lnTo>
                  <a:pt x="99180" y="1035323"/>
                </a:lnTo>
                <a:lnTo>
                  <a:pt x="153787" y="1045617"/>
                </a:lnTo>
                <a:lnTo>
                  <a:pt x="192318" y="1046904"/>
                </a:lnTo>
                <a:lnTo>
                  <a:pt x="240097" y="1047088"/>
                </a:lnTo>
                <a:lnTo>
                  <a:pt x="2241073" y="1047088"/>
                </a:lnTo>
                <a:lnTo>
                  <a:pt x="2288847" y="1046904"/>
                </a:lnTo>
                <a:lnTo>
                  <a:pt x="2327378" y="1045617"/>
                </a:lnTo>
                <a:lnTo>
                  <a:pt x="2381979" y="1035323"/>
                </a:lnTo>
                <a:lnTo>
                  <a:pt x="2435381" y="1001303"/>
                </a:lnTo>
                <a:lnTo>
                  <a:pt x="2469401" y="947904"/>
                </a:lnTo>
                <a:lnTo>
                  <a:pt x="2479699" y="893300"/>
                </a:lnTo>
                <a:lnTo>
                  <a:pt x="2480986" y="854769"/>
                </a:lnTo>
                <a:lnTo>
                  <a:pt x="2481170" y="806992"/>
                </a:lnTo>
                <a:lnTo>
                  <a:pt x="2481170" y="240097"/>
                </a:lnTo>
                <a:lnTo>
                  <a:pt x="2480986" y="192319"/>
                </a:lnTo>
                <a:lnTo>
                  <a:pt x="2479699" y="153788"/>
                </a:lnTo>
                <a:lnTo>
                  <a:pt x="2469401" y="99184"/>
                </a:lnTo>
                <a:lnTo>
                  <a:pt x="2435381" y="45785"/>
                </a:lnTo>
                <a:lnTo>
                  <a:pt x="2381979" y="11766"/>
                </a:lnTo>
                <a:lnTo>
                  <a:pt x="2327378" y="1470"/>
                </a:lnTo>
                <a:lnTo>
                  <a:pt x="2288847" y="183"/>
                </a:lnTo>
                <a:lnTo>
                  <a:pt x="2241073" y="0"/>
                </a:lnTo>
                <a:close/>
              </a:path>
            </a:pathLst>
          </a:custGeom>
          <a:solidFill>
            <a:srgbClr val="929292"/>
          </a:solidFill>
        </p:spPr>
        <p:txBody>
          <a:bodyPr wrap="square" lIns="0" tIns="0" rIns="0" bIns="0" rtlCol="0"/>
          <a:lstStyle/>
          <a:p>
            <a:endParaRPr sz="614"/>
          </a:p>
        </p:txBody>
      </p:sp>
      <p:sp>
        <p:nvSpPr>
          <p:cNvPr id="15" name="object 15"/>
          <p:cNvSpPr txBox="1"/>
          <p:nvPr/>
        </p:nvSpPr>
        <p:spPr>
          <a:xfrm>
            <a:off x="5064237" y="2474358"/>
            <a:ext cx="694465" cy="142418"/>
          </a:xfrm>
          <a:prstGeom prst="rect">
            <a:avLst/>
          </a:prstGeom>
        </p:spPr>
        <p:txBody>
          <a:bodyPr vert="horz" wrap="square" lIns="0" tIns="5849" rIns="0" bIns="0" rtlCol="0">
            <a:spAutoFit/>
          </a:bodyPr>
          <a:lstStyle/>
          <a:p>
            <a:pPr marL="4332">
              <a:spcBef>
                <a:spcPts val="46"/>
              </a:spcBef>
            </a:pPr>
            <a:r>
              <a:rPr sz="887" spc="-4" dirty="0">
                <a:solidFill>
                  <a:srgbClr val="FFFFFF"/>
                </a:solidFill>
                <a:latin typeface="Courier New"/>
                <a:cs typeface="Courier New"/>
              </a:rPr>
              <a:t>Prediction</a:t>
            </a:r>
            <a:endParaRPr sz="887">
              <a:latin typeface="Courier New"/>
              <a:cs typeface="Courier New"/>
            </a:endParaRPr>
          </a:p>
        </p:txBody>
      </p:sp>
      <p:grpSp>
        <p:nvGrpSpPr>
          <p:cNvPr id="16" name="object 16"/>
          <p:cNvGrpSpPr/>
          <p:nvPr/>
        </p:nvGrpSpPr>
        <p:grpSpPr>
          <a:xfrm>
            <a:off x="2891996" y="3548906"/>
            <a:ext cx="2025774" cy="34442"/>
            <a:chOff x="5127148" y="8519190"/>
            <a:chExt cx="5938520" cy="100965"/>
          </a:xfrm>
        </p:grpSpPr>
        <p:sp>
          <p:nvSpPr>
            <p:cNvPr id="17" name="object 17"/>
            <p:cNvSpPr/>
            <p:nvPr/>
          </p:nvSpPr>
          <p:spPr>
            <a:xfrm>
              <a:off x="5127148" y="8569450"/>
              <a:ext cx="5848350" cy="0"/>
            </a:xfrm>
            <a:custGeom>
              <a:avLst/>
              <a:gdLst/>
              <a:ahLst/>
              <a:cxnLst/>
              <a:rect l="l" t="t" r="r" b="b"/>
              <a:pathLst>
                <a:path w="5848350">
                  <a:moveTo>
                    <a:pt x="0" y="0"/>
                  </a:moveTo>
                  <a:lnTo>
                    <a:pt x="5837834" y="0"/>
                  </a:lnTo>
                  <a:lnTo>
                    <a:pt x="5848305" y="0"/>
                  </a:lnTo>
                </a:path>
              </a:pathLst>
            </a:custGeom>
            <a:ln w="20941">
              <a:solidFill>
                <a:srgbClr val="000000"/>
              </a:solidFill>
            </a:ln>
          </p:spPr>
          <p:txBody>
            <a:bodyPr wrap="square" lIns="0" tIns="0" rIns="0" bIns="0" rtlCol="0"/>
            <a:lstStyle/>
            <a:p>
              <a:endParaRPr sz="614"/>
            </a:p>
          </p:txBody>
        </p:sp>
        <p:sp>
          <p:nvSpPr>
            <p:cNvPr id="18" name="object 18"/>
            <p:cNvSpPr/>
            <p:nvPr/>
          </p:nvSpPr>
          <p:spPr>
            <a:xfrm>
              <a:off x="10964985" y="8519190"/>
              <a:ext cx="100965" cy="100965"/>
            </a:xfrm>
            <a:custGeom>
              <a:avLst/>
              <a:gdLst/>
              <a:ahLst/>
              <a:cxnLst/>
              <a:rect l="l" t="t" r="r" b="b"/>
              <a:pathLst>
                <a:path w="100965" h="100965">
                  <a:moveTo>
                    <a:pt x="0" y="0"/>
                  </a:moveTo>
                  <a:lnTo>
                    <a:pt x="0" y="100520"/>
                  </a:lnTo>
                  <a:lnTo>
                    <a:pt x="100520" y="50260"/>
                  </a:lnTo>
                  <a:lnTo>
                    <a:pt x="0" y="0"/>
                  </a:lnTo>
                  <a:close/>
                </a:path>
              </a:pathLst>
            </a:custGeom>
            <a:solidFill>
              <a:srgbClr val="000000"/>
            </a:solidFill>
          </p:spPr>
          <p:txBody>
            <a:bodyPr wrap="square" lIns="0" tIns="0" rIns="0" bIns="0" rtlCol="0"/>
            <a:lstStyle/>
            <a:p>
              <a:endParaRPr sz="614"/>
            </a:p>
          </p:txBody>
        </p:sp>
      </p:grpSp>
      <p:grpSp>
        <p:nvGrpSpPr>
          <p:cNvPr id="19" name="object 19"/>
          <p:cNvGrpSpPr/>
          <p:nvPr/>
        </p:nvGrpSpPr>
        <p:grpSpPr>
          <a:xfrm>
            <a:off x="5046831" y="3212558"/>
            <a:ext cx="729340" cy="707028"/>
            <a:chOff x="11444009" y="7533189"/>
            <a:chExt cx="2138045" cy="2072639"/>
          </a:xfrm>
        </p:grpSpPr>
        <p:sp>
          <p:nvSpPr>
            <p:cNvPr id="20" name="object 20"/>
            <p:cNvSpPr/>
            <p:nvPr/>
          </p:nvSpPr>
          <p:spPr>
            <a:xfrm>
              <a:off x="11444009" y="7533189"/>
              <a:ext cx="2138045" cy="2072639"/>
            </a:xfrm>
            <a:custGeom>
              <a:avLst/>
              <a:gdLst/>
              <a:ahLst/>
              <a:cxnLst/>
              <a:rect l="l" t="t" r="r" b="b"/>
              <a:pathLst>
                <a:path w="2138044" h="2072640">
                  <a:moveTo>
                    <a:pt x="1068875" y="0"/>
                  </a:moveTo>
                  <a:lnTo>
                    <a:pt x="1023295" y="936"/>
                  </a:lnTo>
                  <a:lnTo>
                    <a:pt x="977781" y="3747"/>
                  </a:lnTo>
                  <a:lnTo>
                    <a:pt x="932401" y="8430"/>
                  </a:lnTo>
                  <a:lnTo>
                    <a:pt x="887221" y="14988"/>
                  </a:lnTo>
                  <a:lnTo>
                    <a:pt x="842307" y="23419"/>
                  </a:lnTo>
                  <a:lnTo>
                    <a:pt x="797727" y="33723"/>
                  </a:lnTo>
                  <a:lnTo>
                    <a:pt x="753548" y="45901"/>
                  </a:lnTo>
                  <a:lnTo>
                    <a:pt x="709835" y="59953"/>
                  </a:lnTo>
                  <a:lnTo>
                    <a:pt x="666656" y="75878"/>
                  </a:lnTo>
                  <a:lnTo>
                    <a:pt x="624078" y="93677"/>
                  </a:lnTo>
                  <a:lnTo>
                    <a:pt x="582166" y="113349"/>
                  </a:lnTo>
                  <a:lnTo>
                    <a:pt x="540988" y="134895"/>
                  </a:lnTo>
                  <a:lnTo>
                    <a:pt x="500611" y="158314"/>
                  </a:lnTo>
                  <a:lnTo>
                    <a:pt x="461101" y="183607"/>
                  </a:lnTo>
                  <a:lnTo>
                    <a:pt x="422524" y="210773"/>
                  </a:lnTo>
                  <a:lnTo>
                    <a:pt x="384949" y="239813"/>
                  </a:lnTo>
                  <a:lnTo>
                    <a:pt x="348440" y="270726"/>
                  </a:lnTo>
                  <a:lnTo>
                    <a:pt x="313066" y="303513"/>
                  </a:lnTo>
                  <a:lnTo>
                    <a:pt x="279247" y="337808"/>
                  </a:lnTo>
                  <a:lnTo>
                    <a:pt x="247361" y="373203"/>
                  </a:lnTo>
                  <a:lnTo>
                    <a:pt x="217407" y="409632"/>
                  </a:lnTo>
                  <a:lnTo>
                    <a:pt x="189385" y="447031"/>
                  </a:lnTo>
                  <a:lnTo>
                    <a:pt x="163296" y="485336"/>
                  </a:lnTo>
                  <a:lnTo>
                    <a:pt x="139140" y="524481"/>
                  </a:lnTo>
                  <a:lnTo>
                    <a:pt x="116916" y="564402"/>
                  </a:lnTo>
                  <a:lnTo>
                    <a:pt x="96625" y="605035"/>
                  </a:lnTo>
                  <a:lnTo>
                    <a:pt x="78266" y="646315"/>
                  </a:lnTo>
                  <a:lnTo>
                    <a:pt x="61840" y="688176"/>
                  </a:lnTo>
                  <a:lnTo>
                    <a:pt x="47346" y="730555"/>
                  </a:lnTo>
                  <a:lnTo>
                    <a:pt x="34785" y="773386"/>
                  </a:lnTo>
                  <a:lnTo>
                    <a:pt x="24156" y="816606"/>
                  </a:lnTo>
                  <a:lnTo>
                    <a:pt x="15460" y="860149"/>
                  </a:lnTo>
                  <a:lnTo>
                    <a:pt x="8696" y="903950"/>
                  </a:lnTo>
                  <a:lnTo>
                    <a:pt x="3865" y="947946"/>
                  </a:lnTo>
                  <a:lnTo>
                    <a:pt x="966" y="992071"/>
                  </a:lnTo>
                  <a:lnTo>
                    <a:pt x="0" y="1036261"/>
                  </a:lnTo>
                  <a:lnTo>
                    <a:pt x="966" y="1080450"/>
                  </a:lnTo>
                  <a:lnTo>
                    <a:pt x="3865" y="1124575"/>
                  </a:lnTo>
                  <a:lnTo>
                    <a:pt x="8696" y="1168571"/>
                  </a:lnTo>
                  <a:lnTo>
                    <a:pt x="15460" y="1212372"/>
                  </a:lnTo>
                  <a:lnTo>
                    <a:pt x="24156" y="1255915"/>
                  </a:lnTo>
                  <a:lnTo>
                    <a:pt x="34785" y="1299135"/>
                  </a:lnTo>
                  <a:lnTo>
                    <a:pt x="47346" y="1341966"/>
                  </a:lnTo>
                  <a:lnTo>
                    <a:pt x="61840" y="1384345"/>
                  </a:lnTo>
                  <a:lnTo>
                    <a:pt x="78266" y="1426207"/>
                  </a:lnTo>
                  <a:lnTo>
                    <a:pt x="96625" y="1467486"/>
                  </a:lnTo>
                  <a:lnTo>
                    <a:pt x="116916" y="1508119"/>
                  </a:lnTo>
                  <a:lnTo>
                    <a:pt x="139140" y="1548040"/>
                  </a:lnTo>
                  <a:lnTo>
                    <a:pt x="163296" y="1587186"/>
                  </a:lnTo>
                  <a:lnTo>
                    <a:pt x="189385" y="1625490"/>
                  </a:lnTo>
                  <a:lnTo>
                    <a:pt x="217407" y="1662889"/>
                  </a:lnTo>
                  <a:lnTo>
                    <a:pt x="247361" y="1699319"/>
                  </a:lnTo>
                  <a:lnTo>
                    <a:pt x="279247" y="1734713"/>
                  </a:lnTo>
                  <a:lnTo>
                    <a:pt x="313066" y="1769008"/>
                  </a:lnTo>
                  <a:lnTo>
                    <a:pt x="348440" y="1801795"/>
                  </a:lnTo>
                  <a:lnTo>
                    <a:pt x="384949" y="1832708"/>
                  </a:lnTo>
                  <a:lnTo>
                    <a:pt x="422524" y="1861748"/>
                  </a:lnTo>
                  <a:lnTo>
                    <a:pt x="461101" y="1888915"/>
                  </a:lnTo>
                  <a:lnTo>
                    <a:pt x="500611" y="1914207"/>
                  </a:lnTo>
                  <a:lnTo>
                    <a:pt x="540988" y="1937627"/>
                  </a:lnTo>
                  <a:lnTo>
                    <a:pt x="582166" y="1959172"/>
                  </a:lnTo>
                  <a:lnTo>
                    <a:pt x="624078" y="1978845"/>
                  </a:lnTo>
                  <a:lnTo>
                    <a:pt x="666656" y="1996643"/>
                  </a:lnTo>
                  <a:lnTo>
                    <a:pt x="709835" y="2012568"/>
                  </a:lnTo>
                  <a:lnTo>
                    <a:pt x="753548" y="2026620"/>
                  </a:lnTo>
                  <a:lnTo>
                    <a:pt x="797727" y="2038798"/>
                  </a:lnTo>
                  <a:lnTo>
                    <a:pt x="842307" y="2049102"/>
                  </a:lnTo>
                  <a:lnTo>
                    <a:pt x="887221" y="2057533"/>
                  </a:lnTo>
                  <a:lnTo>
                    <a:pt x="932401" y="2064091"/>
                  </a:lnTo>
                  <a:lnTo>
                    <a:pt x="977781" y="2068775"/>
                  </a:lnTo>
                  <a:lnTo>
                    <a:pt x="1023295" y="2071585"/>
                  </a:lnTo>
                  <a:lnTo>
                    <a:pt x="1068875" y="2072522"/>
                  </a:lnTo>
                  <a:lnTo>
                    <a:pt x="1114456" y="2071585"/>
                  </a:lnTo>
                  <a:lnTo>
                    <a:pt x="1159969" y="2068775"/>
                  </a:lnTo>
                  <a:lnTo>
                    <a:pt x="1205350" y="2064091"/>
                  </a:lnTo>
                  <a:lnTo>
                    <a:pt x="1250530" y="2057533"/>
                  </a:lnTo>
                  <a:lnTo>
                    <a:pt x="1295443" y="2049102"/>
                  </a:lnTo>
                  <a:lnTo>
                    <a:pt x="1340023" y="2038798"/>
                  </a:lnTo>
                  <a:lnTo>
                    <a:pt x="1384203" y="2026620"/>
                  </a:lnTo>
                  <a:lnTo>
                    <a:pt x="1427915" y="2012568"/>
                  </a:lnTo>
                  <a:lnTo>
                    <a:pt x="1471094" y="1996643"/>
                  </a:lnTo>
                  <a:lnTo>
                    <a:pt x="1513673" y="1978845"/>
                  </a:lnTo>
                  <a:lnTo>
                    <a:pt x="1555585" y="1959172"/>
                  </a:lnTo>
                  <a:lnTo>
                    <a:pt x="1596762" y="1937627"/>
                  </a:lnTo>
                  <a:lnTo>
                    <a:pt x="1637140" y="1914207"/>
                  </a:lnTo>
                  <a:lnTo>
                    <a:pt x="1676650" y="1888915"/>
                  </a:lnTo>
                  <a:lnTo>
                    <a:pt x="1715226" y="1861748"/>
                  </a:lnTo>
                  <a:lnTo>
                    <a:pt x="1752802" y="1832708"/>
                  </a:lnTo>
                  <a:lnTo>
                    <a:pt x="1789310" y="1801795"/>
                  </a:lnTo>
                  <a:lnTo>
                    <a:pt x="1824685" y="1769008"/>
                  </a:lnTo>
                  <a:lnTo>
                    <a:pt x="1858504" y="1734713"/>
                  </a:lnTo>
                  <a:lnTo>
                    <a:pt x="1890390" y="1699319"/>
                  </a:lnTo>
                  <a:lnTo>
                    <a:pt x="1920344" y="1662889"/>
                  </a:lnTo>
                  <a:lnTo>
                    <a:pt x="1948365" y="1625490"/>
                  </a:lnTo>
                  <a:lnTo>
                    <a:pt x="1974454" y="1587186"/>
                  </a:lnTo>
                  <a:lnTo>
                    <a:pt x="1998611" y="1548040"/>
                  </a:lnTo>
                  <a:lnTo>
                    <a:pt x="2020834" y="1508119"/>
                  </a:lnTo>
                  <a:lnTo>
                    <a:pt x="2041126" y="1467486"/>
                  </a:lnTo>
                  <a:lnTo>
                    <a:pt x="2059485" y="1426207"/>
                  </a:lnTo>
                  <a:lnTo>
                    <a:pt x="2075911" y="1384345"/>
                  </a:lnTo>
                  <a:lnTo>
                    <a:pt x="2090405" y="1341966"/>
                  </a:lnTo>
                  <a:lnTo>
                    <a:pt x="2102966" y="1299135"/>
                  </a:lnTo>
                  <a:lnTo>
                    <a:pt x="2113595" y="1255915"/>
                  </a:lnTo>
                  <a:lnTo>
                    <a:pt x="2122291" y="1212372"/>
                  </a:lnTo>
                  <a:lnTo>
                    <a:pt x="2129055" y="1168571"/>
                  </a:lnTo>
                  <a:lnTo>
                    <a:pt x="2133886" y="1124575"/>
                  </a:lnTo>
                  <a:lnTo>
                    <a:pt x="2136785" y="1080450"/>
                  </a:lnTo>
                  <a:lnTo>
                    <a:pt x="2137751" y="1036261"/>
                  </a:lnTo>
                  <a:lnTo>
                    <a:pt x="2136785" y="992071"/>
                  </a:lnTo>
                  <a:lnTo>
                    <a:pt x="2133886" y="947946"/>
                  </a:lnTo>
                  <a:lnTo>
                    <a:pt x="2129055" y="903950"/>
                  </a:lnTo>
                  <a:lnTo>
                    <a:pt x="2122291" y="860149"/>
                  </a:lnTo>
                  <a:lnTo>
                    <a:pt x="2113595" y="816606"/>
                  </a:lnTo>
                  <a:lnTo>
                    <a:pt x="2102966" y="773386"/>
                  </a:lnTo>
                  <a:lnTo>
                    <a:pt x="2090405" y="730555"/>
                  </a:lnTo>
                  <a:lnTo>
                    <a:pt x="2075911" y="688176"/>
                  </a:lnTo>
                  <a:lnTo>
                    <a:pt x="2059485" y="646315"/>
                  </a:lnTo>
                  <a:lnTo>
                    <a:pt x="2041126" y="605035"/>
                  </a:lnTo>
                  <a:lnTo>
                    <a:pt x="2020834" y="564402"/>
                  </a:lnTo>
                  <a:lnTo>
                    <a:pt x="1998611" y="524481"/>
                  </a:lnTo>
                  <a:lnTo>
                    <a:pt x="1974454" y="485336"/>
                  </a:lnTo>
                  <a:lnTo>
                    <a:pt x="1948365" y="447031"/>
                  </a:lnTo>
                  <a:lnTo>
                    <a:pt x="1920344" y="409632"/>
                  </a:lnTo>
                  <a:lnTo>
                    <a:pt x="1890390" y="373203"/>
                  </a:lnTo>
                  <a:lnTo>
                    <a:pt x="1858504" y="337808"/>
                  </a:lnTo>
                  <a:lnTo>
                    <a:pt x="1824685" y="303513"/>
                  </a:lnTo>
                  <a:lnTo>
                    <a:pt x="1789310" y="270726"/>
                  </a:lnTo>
                  <a:lnTo>
                    <a:pt x="1752802" y="239813"/>
                  </a:lnTo>
                  <a:lnTo>
                    <a:pt x="1715226" y="210773"/>
                  </a:lnTo>
                  <a:lnTo>
                    <a:pt x="1676650" y="183607"/>
                  </a:lnTo>
                  <a:lnTo>
                    <a:pt x="1637140" y="158314"/>
                  </a:lnTo>
                  <a:lnTo>
                    <a:pt x="1596762" y="134895"/>
                  </a:lnTo>
                  <a:lnTo>
                    <a:pt x="1555585" y="113349"/>
                  </a:lnTo>
                  <a:lnTo>
                    <a:pt x="1513673" y="93677"/>
                  </a:lnTo>
                  <a:lnTo>
                    <a:pt x="1471094" y="75878"/>
                  </a:lnTo>
                  <a:lnTo>
                    <a:pt x="1427915" y="59953"/>
                  </a:lnTo>
                  <a:lnTo>
                    <a:pt x="1384203" y="45901"/>
                  </a:lnTo>
                  <a:lnTo>
                    <a:pt x="1340023" y="33723"/>
                  </a:lnTo>
                  <a:lnTo>
                    <a:pt x="1295443" y="23419"/>
                  </a:lnTo>
                  <a:lnTo>
                    <a:pt x="1250530" y="14988"/>
                  </a:lnTo>
                  <a:lnTo>
                    <a:pt x="1205350" y="8430"/>
                  </a:lnTo>
                  <a:lnTo>
                    <a:pt x="1159969" y="3747"/>
                  </a:lnTo>
                  <a:lnTo>
                    <a:pt x="1114456" y="936"/>
                  </a:lnTo>
                  <a:lnTo>
                    <a:pt x="1068875" y="0"/>
                  </a:lnTo>
                  <a:close/>
                </a:path>
              </a:pathLst>
            </a:custGeom>
            <a:solidFill>
              <a:srgbClr val="E23F2A"/>
            </a:solidFill>
          </p:spPr>
          <p:txBody>
            <a:bodyPr wrap="square" lIns="0" tIns="0" rIns="0" bIns="0" rtlCol="0"/>
            <a:lstStyle/>
            <a:p>
              <a:endParaRPr sz="614"/>
            </a:p>
          </p:txBody>
        </p:sp>
        <p:sp>
          <p:nvSpPr>
            <p:cNvPr id="21" name="object 21"/>
            <p:cNvSpPr/>
            <p:nvPr/>
          </p:nvSpPr>
          <p:spPr>
            <a:xfrm>
              <a:off x="12096312" y="8614517"/>
              <a:ext cx="137160" cy="13335"/>
            </a:xfrm>
            <a:custGeom>
              <a:avLst/>
              <a:gdLst/>
              <a:ahLst/>
              <a:cxnLst/>
              <a:rect l="l" t="t" r="r" b="b"/>
              <a:pathLst>
                <a:path w="137159" h="13334">
                  <a:moveTo>
                    <a:pt x="137126" y="0"/>
                  </a:moveTo>
                  <a:lnTo>
                    <a:pt x="0" y="0"/>
                  </a:lnTo>
                  <a:lnTo>
                    <a:pt x="0" y="12929"/>
                  </a:lnTo>
                  <a:lnTo>
                    <a:pt x="137126" y="12929"/>
                  </a:lnTo>
                  <a:lnTo>
                    <a:pt x="137126" y="0"/>
                  </a:lnTo>
                  <a:close/>
                </a:path>
              </a:pathLst>
            </a:custGeom>
            <a:solidFill>
              <a:srgbClr val="FFFFFF"/>
            </a:solidFill>
          </p:spPr>
          <p:txBody>
            <a:bodyPr wrap="square" lIns="0" tIns="0" rIns="0" bIns="0" rtlCol="0"/>
            <a:lstStyle/>
            <a:p>
              <a:endParaRPr sz="614"/>
            </a:p>
          </p:txBody>
        </p:sp>
      </p:grpSp>
      <p:sp>
        <p:nvSpPr>
          <p:cNvPr id="22" name="object 22"/>
          <p:cNvSpPr txBox="1"/>
          <p:nvPr/>
        </p:nvSpPr>
        <p:spPr>
          <a:xfrm>
            <a:off x="5271695" y="3579498"/>
            <a:ext cx="42240" cy="85370"/>
          </a:xfrm>
          <a:prstGeom prst="rect">
            <a:avLst/>
          </a:prstGeom>
        </p:spPr>
        <p:txBody>
          <a:bodyPr vert="horz" wrap="square" lIns="0" tIns="3899" rIns="0" bIns="0" rtlCol="0">
            <a:spAutoFit/>
          </a:bodyPr>
          <a:lstStyle/>
          <a:p>
            <a:pPr marL="4332">
              <a:spcBef>
                <a:spcPts val="31"/>
              </a:spcBef>
            </a:pPr>
            <a:r>
              <a:rPr sz="529" spc="-17" dirty="0">
                <a:solidFill>
                  <a:srgbClr val="FFFFFF"/>
                </a:solidFill>
                <a:latin typeface="Times New Roman"/>
                <a:cs typeface="Times New Roman"/>
              </a:rPr>
              <a:t>2</a:t>
            </a:r>
            <a:endParaRPr sz="529" dirty="0">
              <a:latin typeface="Times New Roman"/>
              <a:cs typeface="Times New Roman"/>
            </a:endParaRPr>
          </a:p>
        </p:txBody>
      </p:sp>
      <p:sp>
        <p:nvSpPr>
          <p:cNvPr id="23" name="object 23"/>
          <p:cNvSpPr txBox="1"/>
          <p:nvPr/>
        </p:nvSpPr>
        <p:spPr>
          <a:xfrm>
            <a:off x="5056320" y="3529379"/>
            <a:ext cx="519874" cy="85370"/>
          </a:xfrm>
          <a:prstGeom prst="rect">
            <a:avLst/>
          </a:prstGeom>
        </p:spPr>
        <p:txBody>
          <a:bodyPr vert="horz" wrap="square" lIns="0" tIns="3899" rIns="0" bIns="0" rtlCol="0">
            <a:spAutoFit/>
          </a:bodyPr>
          <a:lstStyle/>
          <a:p>
            <a:pPr marL="17328">
              <a:spcBef>
                <a:spcPts val="31"/>
              </a:spcBef>
              <a:tabLst>
                <a:tab pos="416303" algn="l"/>
              </a:tabLst>
            </a:pPr>
            <a:r>
              <a:rPr lang="en-US" sz="529" i="1" dirty="0">
                <a:solidFill>
                  <a:srgbClr val="FFFFFF"/>
                </a:solidFill>
                <a:latin typeface="Times New Roman"/>
                <a:cs typeface="Times New Roman"/>
              </a:rPr>
              <a:t>M</a:t>
            </a:r>
            <a:r>
              <a:rPr sz="529" i="1" dirty="0">
                <a:solidFill>
                  <a:srgbClr val="FFFFFF"/>
                </a:solidFill>
                <a:latin typeface="Times New Roman"/>
                <a:cs typeface="Times New Roman"/>
              </a:rPr>
              <a:t>SE</a:t>
            </a:r>
            <a:r>
              <a:rPr sz="529" i="1" spc="14" dirty="0">
                <a:solidFill>
                  <a:srgbClr val="FFFFFF"/>
                </a:solidFill>
                <a:latin typeface="Times New Roman"/>
                <a:cs typeface="Times New Roman"/>
              </a:rPr>
              <a:t> </a:t>
            </a:r>
            <a:r>
              <a:rPr sz="529" spc="60" dirty="0">
                <a:solidFill>
                  <a:srgbClr val="FFFFFF"/>
                </a:solidFill>
                <a:latin typeface="Times New Roman"/>
                <a:cs typeface="Times New Roman"/>
              </a:rPr>
              <a:t>=</a:t>
            </a:r>
            <a:r>
              <a:rPr sz="529" spc="67" dirty="0">
                <a:solidFill>
                  <a:srgbClr val="FFFFFF"/>
                </a:solidFill>
                <a:latin typeface="Times New Roman"/>
                <a:cs typeface="Times New Roman"/>
              </a:rPr>
              <a:t> </a:t>
            </a:r>
            <a:r>
              <a:rPr sz="793" spc="-5" baseline="39426" dirty="0">
                <a:solidFill>
                  <a:srgbClr val="FFFFFF"/>
                </a:solidFill>
                <a:latin typeface="Times New Roman"/>
                <a:cs typeface="Times New Roman"/>
              </a:rPr>
              <a:t>1</a:t>
            </a:r>
            <a:r>
              <a:rPr sz="793" spc="-82" baseline="39426" dirty="0">
                <a:solidFill>
                  <a:srgbClr val="FFFFFF"/>
                </a:solidFill>
                <a:latin typeface="Times New Roman"/>
                <a:cs typeface="Times New Roman"/>
              </a:rPr>
              <a:t> </a:t>
            </a:r>
            <a:r>
              <a:rPr sz="529" spc="-8" dirty="0">
                <a:solidFill>
                  <a:srgbClr val="FFFFFF"/>
                </a:solidFill>
                <a:latin typeface="Times New Roman"/>
                <a:cs typeface="Times New Roman"/>
              </a:rPr>
              <a:t>(</a:t>
            </a:r>
            <a:r>
              <a:rPr sz="529" i="1" spc="-8" dirty="0">
                <a:solidFill>
                  <a:srgbClr val="FFFFFF"/>
                </a:solidFill>
                <a:latin typeface="Times New Roman"/>
                <a:cs typeface="Times New Roman"/>
              </a:rPr>
              <a:t>y</a:t>
            </a:r>
            <a:r>
              <a:rPr sz="529" i="1" dirty="0">
                <a:solidFill>
                  <a:srgbClr val="FFFFFF"/>
                </a:solidFill>
                <a:latin typeface="Times New Roman"/>
                <a:cs typeface="Times New Roman"/>
              </a:rPr>
              <a:t>	</a:t>
            </a:r>
            <a:r>
              <a:rPr sz="529" spc="-67" dirty="0">
                <a:solidFill>
                  <a:srgbClr val="FFFFFF"/>
                </a:solidFill>
                <a:latin typeface="Lucida Sans Unicode"/>
                <a:cs typeface="Lucida Sans Unicode"/>
              </a:rPr>
              <a:t>−</a:t>
            </a:r>
            <a:r>
              <a:rPr sz="529" spc="-50" dirty="0">
                <a:solidFill>
                  <a:srgbClr val="FFFFFF"/>
                </a:solidFill>
                <a:latin typeface="Lucida Sans Unicode"/>
                <a:cs typeface="Lucida Sans Unicode"/>
              </a:rPr>
              <a:t> </a:t>
            </a:r>
            <a:r>
              <a:rPr sz="529" i="1" spc="-17" dirty="0">
                <a:solidFill>
                  <a:srgbClr val="FFFFFF"/>
                </a:solidFill>
                <a:latin typeface="Times New Roman"/>
                <a:cs typeface="Times New Roman"/>
              </a:rPr>
              <a:t>y</a:t>
            </a:r>
            <a:endParaRPr sz="529" dirty="0">
              <a:latin typeface="Times New Roman"/>
              <a:cs typeface="Times New Roman"/>
            </a:endParaRPr>
          </a:p>
        </p:txBody>
      </p:sp>
      <p:sp>
        <p:nvSpPr>
          <p:cNvPr id="24" name="object 24"/>
          <p:cNvSpPr txBox="1"/>
          <p:nvPr/>
        </p:nvSpPr>
        <p:spPr>
          <a:xfrm>
            <a:off x="5351811" y="3565465"/>
            <a:ext cx="364778" cy="61864"/>
          </a:xfrm>
          <a:prstGeom prst="rect">
            <a:avLst/>
          </a:prstGeom>
        </p:spPr>
        <p:txBody>
          <a:bodyPr vert="horz" wrap="square" lIns="0" tIns="4116" rIns="0" bIns="0" rtlCol="0">
            <a:spAutoFit/>
          </a:bodyPr>
          <a:lstStyle/>
          <a:p>
            <a:pPr marL="4332">
              <a:spcBef>
                <a:spcPts val="32"/>
              </a:spcBef>
              <a:tabLst>
                <a:tab pos="194072" algn="l"/>
              </a:tabLst>
            </a:pPr>
            <a:r>
              <a:rPr sz="375" i="1" spc="-7" dirty="0">
                <a:solidFill>
                  <a:srgbClr val="FFFFFF"/>
                </a:solidFill>
                <a:latin typeface="Times New Roman"/>
                <a:cs typeface="Times New Roman"/>
              </a:rPr>
              <a:t>pred</a:t>
            </a:r>
            <a:r>
              <a:rPr sz="375" i="1" dirty="0">
                <a:solidFill>
                  <a:srgbClr val="FFFFFF"/>
                </a:solidFill>
                <a:latin typeface="Times New Roman"/>
                <a:cs typeface="Times New Roman"/>
              </a:rPr>
              <a:t>	</a:t>
            </a:r>
            <a:r>
              <a:rPr sz="375" i="1" spc="-4" dirty="0">
                <a:solidFill>
                  <a:srgbClr val="FFFFFF"/>
                </a:solidFill>
                <a:latin typeface="Times New Roman"/>
                <a:cs typeface="Times New Roman"/>
              </a:rPr>
              <a:t>expected</a:t>
            </a:r>
            <a:endParaRPr sz="375" dirty="0">
              <a:latin typeface="Times New Roman"/>
              <a:cs typeface="Times New Roman"/>
            </a:endParaRPr>
          </a:p>
        </p:txBody>
      </p:sp>
      <p:sp>
        <p:nvSpPr>
          <p:cNvPr id="25" name="object 25"/>
          <p:cNvSpPr txBox="1"/>
          <p:nvPr/>
        </p:nvSpPr>
        <p:spPr>
          <a:xfrm>
            <a:off x="5715339" y="3504654"/>
            <a:ext cx="72132" cy="85241"/>
          </a:xfrm>
          <a:prstGeom prst="rect">
            <a:avLst/>
          </a:prstGeom>
        </p:spPr>
        <p:txBody>
          <a:bodyPr vert="horz" wrap="square" lIns="0" tIns="3899" rIns="0" bIns="0" rtlCol="0">
            <a:spAutoFit/>
          </a:bodyPr>
          <a:lstStyle/>
          <a:p>
            <a:pPr marL="12996">
              <a:spcBef>
                <a:spcPts val="31"/>
              </a:spcBef>
            </a:pPr>
            <a:r>
              <a:rPr sz="793" spc="-13" baseline="-19713" dirty="0">
                <a:solidFill>
                  <a:srgbClr val="FFFFFF"/>
                </a:solidFill>
                <a:latin typeface="Times New Roman"/>
                <a:cs typeface="Times New Roman"/>
              </a:rPr>
              <a:t>)</a:t>
            </a:r>
            <a:r>
              <a:rPr sz="375" spc="-8" dirty="0">
                <a:solidFill>
                  <a:srgbClr val="FFFFFF"/>
                </a:solidFill>
                <a:latin typeface="Times New Roman"/>
                <a:cs typeface="Times New Roman"/>
              </a:rPr>
              <a:t>2</a:t>
            </a:r>
            <a:endParaRPr sz="375">
              <a:latin typeface="Times New Roman"/>
              <a:cs typeface="Times New Roman"/>
            </a:endParaRPr>
          </a:p>
        </p:txBody>
      </p:sp>
      <p:grpSp>
        <p:nvGrpSpPr>
          <p:cNvPr id="26" name="object 26"/>
          <p:cNvGrpSpPr/>
          <p:nvPr/>
        </p:nvGrpSpPr>
        <p:grpSpPr>
          <a:xfrm>
            <a:off x="5394307" y="2815345"/>
            <a:ext cx="34442" cy="310841"/>
            <a:chOff x="12462626" y="6368766"/>
            <a:chExt cx="100965" cy="911225"/>
          </a:xfrm>
        </p:grpSpPr>
        <p:sp>
          <p:nvSpPr>
            <p:cNvPr id="27" name="object 27"/>
            <p:cNvSpPr/>
            <p:nvPr/>
          </p:nvSpPr>
          <p:spPr>
            <a:xfrm>
              <a:off x="12512886" y="6368766"/>
              <a:ext cx="0" cy="821055"/>
            </a:xfrm>
            <a:custGeom>
              <a:avLst/>
              <a:gdLst/>
              <a:ahLst/>
              <a:cxnLst/>
              <a:rect l="l" t="t" r="r" b="b"/>
              <a:pathLst>
                <a:path h="821054">
                  <a:moveTo>
                    <a:pt x="0" y="0"/>
                  </a:moveTo>
                  <a:lnTo>
                    <a:pt x="0" y="810446"/>
                  </a:lnTo>
                  <a:lnTo>
                    <a:pt x="0" y="820917"/>
                  </a:lnTo>
                </a:path>
              </a:pathLst>
            </a:custGeom>
            <a:ln w="20941">
              <a:solidFill>
                <a:srgbClr val="000000"/>
              </a:solidFill>
            </a:ln>
          </p:spPr>
          <p:txBody>
            <a:bodyPr wrap="square" lIns="0" tIns="0" rIns="0" bIns="0" rtlCol="0"/>
            <a:lstStyle/>
            <a:p>
              <a:endParaRPr sz="614"/>
            </a:p>
          </p:txBody>
        </p:sp>
        <p:sp>
          <p:nvSpPr>
            <p:cNvPr id="28" name="object 28"/>
            <p:cNvSpPr/>
            <p:nvPr/>
          </p:nvSpPr>
          <p:spPr>
            <a:xfrm>
              <a:off x="12462626" y="7179212"/>
              <a:ext cx="100965" cy="100965"/>
            </a:xfrm>
            <a:custGeom>
              <a:avLst/>
              <a:gdLst/>
              <a:ahLst/>
              <a:cxnLst/>
              <a:rect l="l" t="t" r="r" b="b"/>
              <a:pathLst>
                <a:path w="100965" h="100965">
                  <a:moveTo>
                    <a:pt x="100520" y="0"/>
                  </a:moveTo>
                  <a:lnTo>
                    <a:pt x="0" y="0"/>
                  </a:lnTo>
                  <a:lnTo>
                    <a:pt x="50260" y="100520"/>
                  </a:lnTo>
                  <a:lnTo>
                    <a:pt x="100520" y="0"/>
                  </a:lnTo>
                  <a:close/>
                </a:path>
              </a:pathLst>
            </a:custGeom>
            <a:solidFill>
              <a:srgbClr val="000000"/>
            </a:solidFill>
          </p:spPr>
          <p:txBody>
            <a:bodyPr wrap="square" lIns="0" tIns="0" rIns="0" bIns="0" rtlCol="0"/>
            <a:lstStyle/>
            <a:p>
              <a:endParaRPr sz="614"/>
            </a:p>
          </p:txBody>
        </p:sp>
      </p:grpSp>
      <p:grpSp>
        <p:nvGrpSpPr>
          <p:cNvPr id="29" name="object 29"/>
          <p:cNvGrpSpPr/>
          <p:nvPr/>
        </p:nvGrpSpPr>
        <p:grpSpPr>
          <a:xfrm>
            <a:off x="5905188" y="3548906"/>
            <a:ext cx="551066" cy="34442"/>
            <a:chOff x="13960265" y="8519190"/>
            <a:chExt cx="1615440" cy="100965"/>
          </a:xfrm>
        </p:grpSpPr>
        <p:sp>
          <p:nvSpPr>
            <p:cNvPr id="30" name="object 30"/>
            <p:cNvSpPr/>
            <p:nvPr/>
          </p:nvSpPr>
          <p:spPr>
            <a:xfrm>
              <a:off x="13960265" y="8569450"/>
              <a:ext cx="1525905" cy="0"/>
            </a:xfrm>
            <a:custGeom>
              <a:avLst/>
              <a:gdLst/>
              <a:ahLst/>
              <a:cxnLst/>
              <a:rect l="l" t="t" r="r" b="b"/>
              <a:pathLst>
                <a:path w="1525905">
                  <a:moveTo>
                    <a:pt x="0" y="0"/>
                  </a:moveTo>
                  <a:lnTo>
                    <a:pt x="1514909" y="0"/>
                  </a:lnTo>
                  <a:lnTo>
                    <a:pt x="1525380" y="0"/>
                  </a:lnTo>
                </a:path>
              </a:pathLst>
            </a:custGeom>
            <a:ln w="20941">
              <a:solidFill>
                <a:srgbClr val="000000"/>
              </a:solidFill>
            </a:ln>
          </p:spPr>
          <p:txBody>
            <a:bodyPr wrap="square" lIns="0" tIns="0" rIns="0" bIns="0" rtlCol="0"/>
            <a:lstStyle/>
            <a:p>
              <a:endParaRPr sz="614"/>
            </a:p>
          </p:txBody>
        </p:sp>
        <p:sp>
          <p:nvSpPr>
            <p:cNvPr id="31" name="object 31"/>
            <p:cNvSpPr/>
            <p:nvPr/>
          </p:nvSpPr>
          <p:spPr>
            <a:xfrm>
              <a:off x="15475182" y="8519190"/>
              <a:ext cx="100965" cy="100965"/>
            </a:xfrm>
            <a:custGeom>
              <a:avLst/>
              <a:gdLst/>
              <a:ahLst/>
              <a:cxnLst/>
              <a:rect l="l" t="t" r="r" b="b"/>
              <a:pathLst>
                <a:path w="100965" h="100965">
                  <a:moveTo>
                    <a:pt x="0" y="0"/>
                  </a:moveTo>
                  <a:lnTo>
                    <a:pt x="0" y="100520"/>
                  </a:lnTo>
                  <a:lnTo>
                    <a:pt x="100520" y="50260"/>
                  </a:lnTo>
                  <a:lnTo>
                    <a:pt x="0" y="0"/>
                  </a:lnTo>
                  <a:close/>
                </a:path>
              </a:pathLst>
            </a:custGeom>
            <a:solidFill>
              <a:srgbClr val="000000"/>
            </a:solidFill>
          </p:spPr>
          <p:txBody>
            <a:bodyPr wrap="square" lIns="0" tIns="0" rIns="0" bIns="0" rtlCol="0"/>
            <a:lstStyle/>
            <a:p>
              <a:endParaRPr sz="614"/>
            </a:p>
          </p:txBody>
        </p:sp>
      </p:grpSp>
      <p:sp>
        <p:nvSpPr>
          <p:cNvPr id="32" name="object 32"/>
          <p:cNvSpPr/>
          <p:nvPr/>
        </p:nvSpPr>
        <p:spPr>
          <a:xfrm>
            <a:off x="6585370" y="3387457"/>
            <a:ext cx="846527" cy="357197"/>
          </a:xfrm>
          <a:custGeom>
            <a:avLst/>
            <a:gdLst/>
            <a:ahLst/>
            <a:cxnLst/>
            <a:rect l="l" t="t" r="r" b="b"/>
            <a:pathLst>
              <a:path w="2481580" h="1047115">
                <a:moveTo>
                  <a:pt x="2241073" y="0"/>
                </a:moveTo>
                <a:lnTo>
                  <a:pt x="240097" y="0"/>
                </a:lnTo>
                <a:lnTo>
                  <a:pt x="192318" y="183"/>
                </a:lnTo>
                <a:lnTo>
                  <a:pt x="153788" y="1470"/>
                </a:lnTo>
                <a:lnTo>
                  <a:pt x="99190" y="11766"/>
                </a:lnTo>
                <a:lnTo>
                  <a:pt x="45789" y="45785"/>
                </a:lnTo>
                <a:lnTo>
                  <a:pt x="11769" y="99184"/>
                </a:lnTo>
                <a:lnTo>
                  <a:pt x="1471" y="153788"/>
                </a:lnTo>
                <a:lnTo>
                  <a:pt x="183" y="192319"/>
                </a:lnTo>
                <a:lnTo>
                  <a:pt x="0" y="240097"/>
                </a:lnTo>
                <a:lnTo>
                  <a:pt x="0" y="806991"/>
                </a:lnTo>
                <a:lnTo>
                  <a:pt x="183" y="854769"/>
                </a:lnTo>
                <a:lnTo>
                  <a:pt x="1471" y="893300"/>
                </a:lnTo>
                <a:lnTo>
                  <a:pt x="11769" y="947904"/>
                </a:lnTo>
                <a:lnTo>
                  <a:pt x="45789" y="1001303"/>
                </a:lnTo>
                <a:lnTo>
                  <a:pt x="99190" y="1035322"/>
                </a:lnTo>
                <a:lnTo>
                  <a:pt x="153788" y="1045617"/>
                </a:lnTo>
                <a:lnTo>
                  <a:pt x="192318" y="1046904"/>
                </a:lnTo>
                <a:lnTo>
                  <a:pt x="240097" y="1047088"/>
                </a:lnTo>
                <a:lnTo>
                  <a:pt x="2241073" y="1047088"/>
                </a:lnTo>
                <a:lnTo>
                  <a:pt x="2288852" y="1046904"/>
                </a:lnTo>
                <a:lnTo>
                  <a:pt x="2327383" y="1045617"/>
                </a:lnTo>
                <a:lnTo>
                  <a:pt x="2381990" y="1035322"/>
                </a:lnTo>
                <a:lnTo>
                  <a:pt x="2435386" y="1001303"/>
                </a:lnTo>
                <a:lnTo>
                  <a:pt x="2469401" y="947904"/>
                </a:lnTo>
                <a:lnTo>
                  <a:pt x="2479699" y="893300"/>
                </a:lnTo>
                <a:lnTo>
                  <a:pt x="2480986" y="854769"/>
                </a:lnTo>
                <a:lnTo>
                  <a:pt x="2481170" y="806991"/>
                </a:lnTo>
                <a:lnTo>
                  <a:pt x="2481170" y="240097"/>
                </a:lnTo>
                <a:lnTo>
                  <a:pt x="2480986" y="192319"/>
                </a:lnTo>
                <a:lnTo>
                  <a:pt x="2479699" y="153788"/>
                </a:lnTo>
                <a:lnTo>
                  <a:pt x="2469401" y="99184"/>
                </a:lnTo>
                <a:lnTo>
                  <a:pt x="2435386" y="45785"/>
                </a:lnTo>
                <a:lnTo>
                  <a:pt x="2381990" y="11766"/>
                </a:lnTo>
                <a:lnTo>
                  <a:pt x="2327383" y="1470"/>
                </a:lnTo>
                <a:lnTo>
                  <a:pt x="2288852" y="183"/>
                </a:lnTo>
                <a:lnTo>
                  <a:pt x="2241073" y="0"/>
                </a:lnTo>
                <a:close/>
              </a:path>
            </a:pathLst>
          </a:custGeom>
          <a:solidFill>
            <a:srgbClr val="929292"/>
          </a:solidFill>
        </p:spPr>
        <p:txBody>
          <a:bodyPr wrap="square" lIns="0" tIns="0" rIns="0" bIns="0" rtlCol="0"/>
          <a:lstStyle/>
          <a:p>
            <a:endParaRPr sz="614"/>
          </a:p>
        </p:txBody>
      </p:sp>
      <p:sp>
        <p:nvSpPr>
          <p:cNvPr id="33" name="object 33"/>
          <p:cNvSpPr txBox="1"/>
          <p:nvPr/>
        </p:nvSpPr>
        <p:spPr>
          <a:xfrm>
            <a:off x="6867087" y="3489923"/>
            <a:ext cx="283115" cy="142418"/>
          </a:xfrm>
          <a:prstGeom prst="rect">
            <a:avLst/>
          </a:prstGeom>
        </p:spPr>
        <p:txBody>
          <a:bodyPr vert="horz" wrap="square" lIns="0" tIns="5849" rIns="0" bIns="0" rtlCol="0">
            <a:spAutoFit/>
          </a:bodyPr>
          <a:lstStyle/>
          <a:p>
            <a:pPr marL="4332">
              <a:spcBef>
                <a:spcPts val="46"/>
              </a:spcBef>
            </a:pPr>
            <a:r>
              <a:rPr sz="887" spc="-7" dirty="0">
                <a:solidFill>
                  <a:srgbClr val="FFFFFF"/>
                </a:solidFill>
                <a:latin typeface="Courier New"/>
                <a:cs typeface="Courier New"/>
              </a:rPr>
              <a:t>Loss</a:t>
            </a:r>
            <a:endParaRPr sz="887">
              <a:latin typeface="Courier New"/>
              <a:cs typeface="Courier New"/>
            </a:endParaRPr>
          </a:p>
        </p:txBody>
      </p:sp>
      <p:grpSp>
        <p:nvGrpSpPr>
          <p:cNvPr id="34" name="object 34"/>
          <p:cNvGrpSpPr/>
          <p:nvPr/>
        </p:nvGrpSpPr>
        <p:grpSpPr>
          <a:xfrm>
            <a:off x="3648160" y="1448374"/>
            <a:ext cx="3357734" cy="1824323"/>
            <a:chOff x="7343830" y="2361515"/>
            <a:chExt cx="9843135" cy="5347970"/>
          </a:xfrm>
        </p:grpSpPr>
        <p:sp>
          <p:nvSpPr>
            <p:cNvPr id="35" name="object 35"/>
            <p:cNvSpPr/>
            <p:nvPr/>
          </p:nvSpPr>
          <p:spPr>
            <a:xfrm>
              <a:off x="17173382" y="2883624"/>
              <a:ext cx="0" cy="4826000"/>
            </a:xfrm>
            <a:custGeom>
              <a:avLst/>
              <a:gdLst/>
              <a:ahLst/>
              <a:cxnLst/>
              <a:rect l="l" t="t" r="r" b="b"/>
              <a:pathLst>
                <a:path h="4826000">
                  <a:moveTo>
                    <a:pt x="0" y="4825475"/>
                  </a:moveTo>
                  <a:lnTo>
                    <a:pt x="0" y="0"/>
                  </a:lnTo>
                </a:path>
              </a:pathLst>
            </a:custGeom>
            <a:ln w="20941">
              <a:solidFill>
                <a:srgbClr val="000000"/>
              </a:solidFill>
            </a:ln>
          </p:spPr>
          <p:txBody>
            <a:bodyPr wrap="square" lIns="0" tIns="0" rIns="0" bIns="0" rtlCol="0"/>
            <a:lstStyle/>
            <a:p>
              <a:endParaRPr sz="614"/>
            </a:p>
          </p:txBody>
        </p:sp>
        <p:sp>
          <p:nvSpPr>
            <p:cNvPr id="36" name="object 36"/>
            <p:cNvSpPr/>
            <p:nvPr/>
          </p:nvSpPr>
          <p:spPr>
            <a:xfrm>
              <a:off x="7403754" y="2885059"/>
              <a:ext cx="9783445" cy="0"/>
            </a:xfrm>
            <a:custGeom>
              <a:avLst/>
              <a:gdLst/>
              <a:ahLst/>
              <a:cxnLst/>
              <a:rect l="l" t="t" r="r" b="b"/>
              <a:pathLst>
                <a:path w="9783444">
                  <a:moveTo>
                    <a:pt x="0" y="0"/>
                  </a:moveTo>
                  <a:lnTo>
                    <a:pt x="9782875" y="0"/>
                  </a:lnTo>
                </a:path>
              </a:pathLst>
            </a:custGeom>
            <a:ln w="20941">
              <a:solidFill>
                <a:srgbClr val="000000"/>
              </a:solidFill>
            </a:ln>
          </p:spPr>
          <p:txBody>
            <a:bodyPr wrap="square" lIns="0" tIns="0" rIns="0" bIns="0" rtlCol="0"/>
            <a:lstStyle/>
            <a:p>
              <a:endParaRPr sz="614"/>
            </a:p>
          </p:txBody>
        </p:sp>
        <p:sp>
          <p:nvSpPr>
            <p:cNvPr id="37" name="object 37"/>
            <p:cNvSpPr/>
            <p:nvPr/>
          </p:nvSpPr>
          <p:spPr>
            <a:xfrm>
              <a:off x="7394091" y="2873660"/>
              <a:ext cx="0" cy="1376045"/>
            </a:xfrm>
            <a:custGeom>
              <a:avLst/>
              <a:gdLst/>
              <a:ahLst/>
              <a:cxnLst/>
              <a:rect l="l" t="t" r="r" b="b"/>
              <a:pathLst>
                <a:path h="1376045">
                  <a:moveTo>
                    <a:pt x="0" y="0"/>
                  </a:moveTo>
                  <a:lnTo>
                    <a:pt x="0" y="1365403"/>
                  </a:lnTo>
                  <a:lnTo>
                    <a:pt x="0" y="1375874"/>
                  </a:lnTo>
                </a:path>
              </a:pathLst>
            </a:custGeom>
            <a:ln w="20941">
              <a:solidFill>
                <a:srgbClr val="000000"/>
              </a:solidFill>
            </a:ln>
          </p:spPr>
          <p:txBody>
            <a:bodyPr wrap="square" lIns="0" tIns="0" rIns="0" bIns="0" rtlCol="0"/>
            <a:lstStyle/>
            <a:p>
              <a:endParaRPr sz="614"/>
            </a:p>
          </p:txBody>
        </p:sp>
        <p:sp>
          <p:nvSpPr>
            <p:cNvPr id="38" name="object 38"/>
            <p:cNvSpPr/>
            <p:nvPr/>
          </p:nvSpPr>
          <p:spPr>
            <a:xfrm>
              <a:off x="7343830" y="4239063"/>
              <a:ext cx="100965" cy="100965"/>
            </a:xfrm>
            <a:custGeom>
              <a:avLst/>
              <a:gdLst/>
              <a:ahLst/>
              <a:cxnLst/>
              <a:rect l="l" t="t" r="r" b="b"/>
              <a:pathLst>
                <a:path w="100965" h="100964">
                  <a:moveTo>
                    <a:pt x="100520" y="0"/>
                  </a:moveTo>
                  <a:lnTo>
                    <a:pt x="0" y="0"/>
                  </a:lnTo>
                  <a:lnTo>
                    <a:pt x="50260" y="100520"/>
                  </a:lnTo>
                  <a:lnTo>
                    <a:pt x="100520" y="0"/>
                  </a:lnTo>
                  <a:close/>
                </a:path>
              </a:pathLst>
            </a:custGeom>
            <a:solidFill>
              <a:srgbClr val="000000"/>
            </a:solidFill>
          </p:spPr>
          <p:txBody>
            <a:bodyPr wrap="square" lIns="0" tIns="0" rIns="0" bIns="0" rtlCol="0"/>
            <a:lstStyle/>
            <a:p>
              <a:endParaRPr sz="614"/>
            </a:p>
          </p:txBody>
        </p:sp>
        <p:sp>
          <p:nvSpPr>
            <p:cNvPr id="39" name="object 39"/>
            <p:cNvSpPr/>
            <p:nvPr/>
          </p:nvSpPr>
          <p:spPr>
            <a:xfrm>
              <a:off x="11515429" y="2361515"/>
              <a:ext cx="4317365" cy="1047115"/>
            </a:xfrm>
            <a:custGeom>
              <a:avLst/>
              <a:gdLst/>
              <a:ahLst/>
              <a:cxnLst/>
              <a:rect l="l" t="t" r="r" b="b"/>
              <a:pathLst>
                <a:path w="4317365" h="1047114">
                  <a:moveTo>
                    <a:pt x="4076922" y="0"/>
                  </a:moveTo>
                  <a:lnTo>
                    <a:pt x="240097" y="0"/>
                  </a:lnTo>
                  <a:lnTo>
                    <a:pt x="192318" y="183"/>
                  </a:lnTo>
                  <a:lnTo>
                    <a:pt x="153787" y="1470"/>
                  </a:lnTo>
                  <a:lnTo>
                    <a:pt x="99180" y="11765"/>
                  </a:lnTo>
                  <a:lnTo>
                    <a:pt x="45778" y="45784"/>
                  </a:lnTo>
                  <a:lnTo>
                    <a:pt x="11758" y="99184"/>
                  </a:lnTo>
                  <a:lnTo>
                    <a:pt x="1469" y="153787"/>
                  </a:lnTo>
                  <a:lnTo>
                    <a:pt x="183" y="192318"/>
                  </a:lnTo>
                  <a:lnTo>
                    <a:pt x="0" y="240096"/>
                  </a:lnTo>
                  <a:lnTo>
                    <a:pt x="0" y="806991"/>
                  </a:lnTo>
                  <a:lnTo>
                    <a:pt x="183" y="854769"/>
                  </a:lnTo>
                  <a:lnTo>
                    <a:pt x="1469" y="893299"/>
                  </a:lnTo>
                  <a:lnTo>
                    <a:pt x="11758" y="947903"/>
                  </a:lnTo>
                  <a:lnTo>
                    <a:pt x="45778" y="1001303"/>
                  </a:lnTo>
                  <a:lnTo>
                    <a:pt x="99180" y="1035322"/>
                  </a:lnTo>
                  <a:lnTo>
                    <a:pt x="153787" y="1045617"/>
                  </a:lnTo>
                  <a:lnTo>
                    <a:pt x="192318" y="1046904"/>
                  </a:lnTo>
                  <a:lnTo>
                    <a:pt x="240097" y="1047088"/>
                  </a:lnTo>
                  <a:lnTo>
                    <a:pt x="4076922" y="1047088"/>
                  </a:lnTo>
                  <a:lnTo>
                    <a:pt x="4124701" y="1046904"/>
                  </a:lnTo>
                  <a:lnTo>
                    <a:pt x="4163231" y="1045617"/>
                  </a:lnTo>
                  <a:lnTo>
                    <a:pt x="4217829" y="1035322"/>
                  </a:lnTo>
                  <a:lnTo>
                    <a:pt x="4271235" y="1001303"/>
                  </a:lnTo>
                  <a:lnTo>
                    <a:pt x="4305251" y="947903"/>
                  </a:lnTo>
                  <a:lnTo>
                    <a:pt x="4315549" y="893299"/>
                  </a:lnTo>
                  <a:lnTo>
                    <a:pt x="4316836" y="854769"/>
                  </a:lnTo>
                  <a:lnTo>
                    <a:pt x="4317020" y="806991"/>
                  </a:lnTo>
                  <a:lnTo>
                    <a:pt x="4317020" y="240096"/>
                  </a:lnTo>
                  <a:lnTo>
                    <a:pt x="4316836" y="192318"/>
                  </a:lnTo>
                  <a:lnTo>
                    <a:pt x="4315549" y="153787"/>
                  </a:lnTo>
                  <a:lnTo>
                    <a:pt x="4305251" y="99184"/>
                  </a:lnTo>
                  <a:lnTo>
                    <a:pt x="4271235" y="45784"/>
                  </a:lnTo>
                  <a:lnTo>
                    <a:pt x="4217829" y="11765"/>
                  </a:lnTo>
                  <a:lnTo>
                    <a:pt x="4163231" y="1470"/>
                  </a:lnTo>
                  <a:lnTo>
                    <a:pt x="4124701" y="183"/>
                  </a:lnTo>
                  <a:lnTo>
                    <a:pt x="4076922" y="0"/>
                  </a:lnTo>
                  <a:close/>
                </a:path>
              </a:pathLst>
            </a:custGeom>
            <a:solidFill>
              <a:srgbClr val="3C7DEC"/>
            </a:solidFill>
          </p:spPr>
          <p:txBody>
            <a:bodyPr wrap="square" lIns="0" tIns="0" rIns="0" bIns="0" rtlCol="0"/>
            <a:lstStyle/>
            <a:p>
              <a:endParaRPr sz="614"/>
            </a:p>
          </p:txBody>
        </p:sp>
      </p:grpSp>
      <p:sp>
        <p:nvSpPr>
          <p:cNvPr id="40" name="object 40"/>
          <p:cNvSpPr txBox="1"/>
          <p:nvPr/>
        </p:nvSpPr>
        <p:spPr>
          <a:xfrm>
            <a:off x="5254532" y="1550839"/>
            <a:ext cx="1106031" cy="142418"/>
          </a:xfrm>
          <a:prstGeom prst="rect">
            <a:avLst/>
          </a:prstGeom>
        </p:spPr>
        <p:txBody>
          <a:bodyPr vert="horz" wrap="square" lIns="0" tIns="5849" rIns="0" bIns="0" rtlCol="0">
            <a:spAutoFit/>
          </a:bodyPr>
          <a:lstStyle/>
          <a:p>
            <a:pPr marL="4332">
              <a:spcBef>
                <a:spcPts val="46"/>
              </a:spcBef>
            </a:pPr>
            <a:r>
              <a:rPr sz="887" dirty="0">
                <a:solidFill>
                  <a:srgbClr val="FFFFFF"/>
                </a:solidFill>
                <a:latin typeface="Courier New"/>
                <a:cs typeface="Courier New"/>
              </a:rPr>
              <a:t>Gradient</a:t>
            </a:r>
            <a:r>
              <a:rPr sz="887" spc="50" dirty="0">
                <a:solidFill>
                  <a:srgbClr val="FFFFFF"/>
                </a:solidFill>
                <a:latin typeface="Courier New"/>
                <a:cs typeface="Courier New"/>
              </a:rPr>
              <a:t> </a:t>
            </a:r>
            <a:r>
              <a:rPr sz="887" spc="-4" dirty="0">
                <a:solidFill>
                  <a:srgbClr val="FFFFFF"/>
                </a:solidFill>
                <a:latin typeface="Courier New"/>
                <a:cs typeface="Courier New"/>
              </a:rPr>
              <a:t>Descent</a:t>
            </a:r>
            <a:endParaRPr sz="887" dirty="0">
              <a:latin typeface="Courier New"/>
              <a:cs typeface="Courier New"/>
            </a:endParaRPr>
          </a:p>
        </p:txBody>
      </p:sp>
      <p:sp>
        <p:nvSpPr>
          <p:cNvPr id="41" name="object 41"/>
          <p:cNvSpPr txBox="1"/>
          <p:nvPr/>
        </p:nvSpPr>
        <p:spPr>
          <a:xfrm>
            <a:off x="2416643" y="2389109"/>
            <a:ext cx="266002" cy="107804"/>
          </a:xfrm>
          <a:prstGeom prst="rect">
            <a:avLst/>
          </a:prstGeom>
        </p:spPr>
        <p:txBody>
          <a:bodyPr vert="horz" wrap="square" lIns="0" tIns="5415" rIns="0" bIns="0" rtlCol="0">
            <a:spAutoFit/>
          </a:bodyPr>
          <a:lstStyle/>
          <a:p>
            <a:pPr marL="4332">
              <a:spcBef>
                <a:spcPts val="43"/>
              </a:spcBef>
            </a:pPr>
            <a:r>
              <a:rPr sz="665" spc="-4" dirty="0">
                <a:latin typeface="Courier New"/>
                <a:cs typeface="Courier New"/>
              </a:rPr>
              <a:t>input</a:t>
            </a:r>
            <a:endParaRPr sz="665">
              <a:latin typeface="Courier New"/>
              <a:cs typeface="Courier New"/>
            </a:endParaRPr>
          </a:p>
        </p:txBody>
      </p:sp>
      <p:sp>
        <p:nvSpPr>
          <p:cNvPr id="42" name="object 42"/>
          <p:cNvSpPr txBox="1"/>
          <p:nvPr/>
        </p:nvSpPr>
        <p:spPr>
          <a:xfrm>
            <a:off x="3606072" y="3401594"/>
            <a:ext cx="780244" cy="107804"/>
          </a:xfrm>
          <a:prstGeom prst="rect">
            <a:avLst/>
          </a:prstGeom>
        </p:spPr>
        <p:txBody>
          <a:bodyPr vert="horz" wrap="square" lIns="0" tIns="5415" rIns="0" bIns="0" rtlCol="0">
            <a:spAutoFit/>
          </a:bodyPr>
          <a:lstStyle/>
          <a:p>
            <a:pPr marL="4332">
              <a:spcBef>
                <a:spcPts val="43"/>
              </a:spcBef>
            </a:pPr>
            <a:r>
              <a:rPr sz="665" dirty="0">
                <a:latin typeface="Courier New"/>
                <a:cs typeface="Courier New"/>
              </a:rPr>
              <a:t>expected</a:t>
            </a:r>
            <a:r>
              <a:rPr sz="665" spc="36" dirty="0">
                <a:latin typeface="Courier New"/>
                <a:cs typeface="Courier New"/>
              </a:rPr>
              <a:t> </a:t>
            </a:r>
            <a:r>
              <a:rPr sz="665" spc="-4" dirty="0">
                <a:latin typeface="Courier New"/>
                <a:cs typeface="Courier New"/>
              </a:rPr>
              <a:t>output</a:t>
            </a:r>
            <a:endParaRPr sz="665">
              <a:latin typeface="Courier New"/>
              <a:cs typeface="Courier New"/>
            </a:endParaRPr>
          </a:p>
        </p:txBody>
      </p:sp>
      <p:sp>
        <p:nvSpPr>
          <p:cNvPr id="44" name="Title 43">
            <a:extLst>
              <a:ext uri="{FF2B5EF4-FFF2-40B4-BE49-F238E27FC236}">
                <a16:creationId xmlns:a16="http://schemas.microsoft.com/office/drawing/2014/main" id="{E44710C1-C73C-4E55-8D91-123172B78405}"/>
              </a:ext>
            </a:extLst>
          </p:cNvPr>
          <p:cNvSpPr>
            <a:spLocks noGrp="1"/>
          </p:cNvSpPr>
          <p:nvPr>
            <p:ph type="title"/>
          </p:nvPr>
        </p:nvSpPr>
        <p:spPr/>
        <p:txBody>
          <a:bodyPr>
            <a:normAutofit fontScale="90000"/>
          </a:bodyPr>
          <a:lstStyle/>
          <a:p>
            <a:r>
              <a:rPr lang="en-US" dirty="0"/>
              <a:t>Training the Linear Regression</a:t>
            </a:r>
            <a:endParaRPr lang="en-IN" dirty="0"/>
          </a:p>
        </p:txBody>
      </p:sp>
    </p:spTree>
    <p:extLst>
      <p:ext uri="{BB962C8B-B14F-4D97-AF65-F5344CB8AC3E}">
        <p14:creationId xmlns:p14="http://schemas.microsoft.com/office/powerpoint/2010/main" val="3718540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BDC75-223B-4D32-9080-9934D689D0A7}"/>
              </a:ext>
            </a:extLst>
          </p:cNvPr>
          <p:cNvSpPr>
            <a:spLocks noGrp="1"/>
          </p:cNvSpPr>
          <p:nvPr>
            <p:ph type="title"/>
          </p:nvPr>
        </p:nvSpPr>
        <p:spPr/>
        <p:txBody>
          <a:bodyPr>
            <a:normAutofit fontScale="90000"/>
          </a:bodyPr>
          <a:lstStyle/>
          <a:p>
            <a:r>
              <a:rPr lang="en-US" b="1" dirty="0">
                <a:solidFill>
                  <a:srgbClr val="383838"/>
                </a:solidFill>
                <a:latin typeface="Times New Roman" panose="02020603050405020304" pitchFamily="18" charset="0"/>
                <a:cs typeface="Times New Roman" panose="02020603050405020304" pitchFamily="18" charset="0"/>
              </a:rPr>
              <a:t>Logistic Regression</a:t>
            </a:r>
            <a:endParaRPr lang="en-IN" dirty="0"/>
          </a:p>
        </p:txBody>
      </p:sp>
      <p:sp>
        <p:nvSpPr>
          <p:cNvPr id="3" name="Date Placeholder 2">
            <a:extLst>
              <a:ext uri="{FF2B5EF4-FFF2-40B4-BE49-F238E27FC236}">
                <a16:creationId xmlns:a16="http://schemas.microsoft.com/office/drawing/2014/main" id="{FA6993A9-6955-4324-8125-9B137BB6F651}"/>
              </a:ext>
            </a:extLst>
          </p:cNvPr>
          <p:cNvSpPr>
            <a:spLocks noGrp="1"/>
          </p:cNvSpPr>
          <p:nvPr>
            <p:ph type="dt" sz="half" idx="10"/>
          </p:nvPr>
        </p:nvSpPr>
        <p:spPr/>
        <p:txBody>
          <a:bodyPr/>
          <a:lstStyle/>
          <a:p>
            <a:fld id="{519565DB-378F-4C93-896C-96FB5CDE8B99}" type="datetime1">
              <a:rPr lang="en-US" smtClean="0"/>
              <a:t>8/1/2025</a:t>
            </a:fld>
            <a:endParaRPr lang="en-US" dirty="0"/>
          </a:p>
        </p:txBody>
      </p:sp>
      <p:sp>
        <p:nvSpPr>
          <p:cNvPr id="4" name="Footer Placeholder 3">
            <a:extLst>
              <a:ext uri="{FF2B5EF4-FFF2-40B4-BE49-F238E27FC236}">
                <a16:creationId xmlns:a16="http://schemas.microsoft.com/office/drawing/2014/main" id="{0C76CD2F-EAD4-4FCF-921D-07025964C768}"/>
              </a:ext>
            </a:extLst>
          </p:cNvPr>
          <p:cNvSpPr>
            <a:spLocks noGrp="1"/>
          </p:cNvSpPr>
          <p:nvPr>
            <p:ph type="ftr" sz="quarter" idx="11"/>
          </p:nvPr>
        </p:nvSpPr>
        <p:spPr/>
        <p:txBody>
          <a:bodyPr/>
          <a:lstStyle/>
          <a:p>
            <a:r>
              <a:rPr lang="en-US"/>
              <a:t>Logistic Regression</a:t>
            </a:r>
            <a:endParaRPr lang="en-US" dirty="0"/>
          </a:p>
        </p:txBody>
      </p:sp>
      <p:sp>
        <p:nvSpPr>
          <p:cNvPr id="5" name="Slide Number Placeholder 4">
            <a:extLst>
              <a:ext uri="{FF2B5EF4-FFF2-40B4-BE49-F238E27FC236}">
                <a16:creationId xmlns:a16="http://schemas.microsoft.com/office/drawing/2014/main" id="{FFE36F1A-7478-46C0-8B4B-EFBA4E66041D}"/>
              </a:ext>
            </a:extLst>
          </p:cNvPr>
          <p:cNvSpPr>
            <a:spLocks noGrp="1"/>
          </p:cNvSpPr>
          <p:nvPr>
            <p:ph type="sldNum" sz="quarter" idx="12"/>
          </p:nvPr>
        </p:nvSpPr>
        <p:spPr/>
        <p:txBody>
          <a:bodyPr>
            <a:normAutofit lnSpcReduction="10000"/>
          </a:bodyPr>
          <a:lstStyle/>
          <a:p>
            <a:fld id="{EA7C8D44-3667-46F6-9772-CC52308E2A7F}" type="slidenum">
              <a:rPr kumimoji="0" lang="en-US" smtClean="0"/>
              <a:pPr/>
              <a:t>32</a:t>
            </a:fld>
            <a:endParaRPr kumimoji="0" lang="en-US" dirty="0"/>
          </a:p>
        </p:txBody>
      </p:sp>
      <p:sp>
        <p:nvSpPr>
          <p:cNvPr id="6" name="Content Placeholder 5">
            <a:extLst>
              <a:ext uri="{FF2B5EF4-FFF2-40B4-BE49-F238E27FC236}">
                <a16:creationId xmlns:a16="http://schemas.microsoft.com/office/drawing/2014/main" id="{600D4800-770D-493C-82BD-E9FEEE54C60A}"/>
              </a:ext>
            </a:extLst>
          </p:cNvPr>
          <p:cNvSpPr>
            <a:spLocks noGrp="1"/>
          </p:cNvSpPr>
          <p:nvPr>
            <p:ph sz="quarter" idx="1"/>
          </p:nvPr>
        </p:nvSpPr>
        <p:spPr/>
        <p:txBody>
          <a:bodyPr/>
          <a:lstStyle/>
          <a:p>
            <a:r>
              <a:rPr lang="en-US" dirty="0">
                <a:solidFill>
                  <a:srgbClr val="383838"/>
                </a:solidFill>
                <a:latin typeface="Times New Roman" panose="02020603050405020304" pitchFamily="18" charset="0"/>
                <a:cs typeface="Times New Roman" panose="02020603050405020304" pitchFamily="18" charset="0"/>
              </a:rPr>
              <a:t>In the </a:t>
            </a:r>
            <a:r>
              <a:rPr lang="en-US" dirty="0">
                <a:solidFill>
                  <a:srgbClr val="C00000"/>
                </a:solidFill>
                <a:latin typeface="Times New Roman" panose="02020603050405020304" pitchFamily="18" charset="0"/>
                <a:cs typeface="Times New Roman" panose="02020603050405020304" pitchFamily="18" charset="0"/>
              </a:rPr>
              <a:t>Linear regression model </a:t>
            </a:r>
            <a:r>
              <a:rPr lang="en-US" dirty="0">
                <a:solidFill>
                  <a:srgbClr val="383838"/>
                </a:solidFill>
                <a:latin typeface="Times New Roman" panose="02020603050405020304" pitchFamily="18" charset="0"/>
                <a:cs typeface="Times New Roman" panose="02020603050405020304" pitchFamily="18" charset="0"/>
              </a:rPr>
              <a:t>used to make predictions for continuous variables (numeric variable). </a:t>
            </a:r>
          </a:p>
          <a:p>
            <a:r>
              <a:rPr lang="en-US" dirty="0">
                <a:solidFill>
                  <a:srgbClr val="383838"/>
                </a:solidFill>
                <a:latin typeface="Times New Roman" panose="02020603050405020304" pitchFamily="18" charset="0"/>
                <a:cs typeface="Times New Roman" panose="02020603050405020304" pitchFamily="18" charset="0"/>
              </a:rPr>
              <a:t>Logistic regression is a </a:t>
            </a:r>
            <a:r>
              <a:rPr lang="en-US" b="1" dirty="0">
                <a:solidFill>
                  <a:srgbClr val="C00000"/>
                </a:solidFill>
                <a:latin typeface="Times New Roman" panose="02020603050405020304" pitchFamily="18" charset="0"/>
                <a:cs typeface="Times New Roman" panose="02020603050405020304" pitchFamily="18" charset="0"/>
              </a:rPr>
              <a:t>classification model</a:t>
            </a:r>
            <a:r>
              <a:rPr lang="en-US" dirty="0">
                <a:solidFill>
                  <a:srgbClr val="C00000"/>
                </a:solidFill>
                <a:latin typeface="Times New Roman" panose="02020603050405020304" pitchFamily="18" charset="0"/>
                <a:cs typeface="Times New Roman" panose="02020603050405020304" pitchFamily="18" charset="0"/>
              </a:rPr>
              <a:t>.</a:t>
            </a:r>
            <a:r>
              <a:rPr lang="en-US" dirty="0">
                <a:solidFill>
                  <a:srgbClr val="383838"/>
                </a:solidFill>
                <a:latin typeface="Times New Roman" panose="02020603050405020304" pitchFamily="18" charset="0"/>
                <a:cs typeface="Times New Roman" panose="02020603050405020304" pitchFamily="18" charset="0"/>
              </a:rPr>
              <a:t> It will help you make predictions in cases where the output is a </a:t>
            </a:r>
            <a:r>
              <a:rPr lang="en-US" b="1" dirty="0">
                <a:solidFill>
                  <a:srgbClr val="383838"/>
                </a:solidFill>
                <a:latin typeface="Times New Roman" panose="02020603050405020304" pitchFamily="18" charset="0"/>
                <a:cs typeface="Times New Roman" panose="02020603050405020304" pitchFamily="18" charset="0"/>
              </a:rPr>
              <a:t>categorical</a:t>
            </a:r>
            <a:r>
              <a:rPr lang="en-US" dirty="0">
                <a:solidFill>
                  <a:srgbClr val="383838"/>
                </a:solidFill>
                <a:latin typeface="Times New Roman" panose="02020603050405020304" pitchFamily="18" charset="0"/>
                <a:cs typeface="Times New Roman" panose="02020603050405020304" pitchFamily="18" charset="0"/>
              </a:rPr>
              <a:t> variable.</a:t>
            </a:r>
          </a:p>
          <a:p>
            <a:r>
              <a:rPr lang="en-US" dirty="0">
                <a:solidFill>
                  <a:srgbClr val="383838"/>
                </a:solidFill>
                <a:latin typeface="Times New Roman" panose="02020603050405020304" pitchFamily="18" charset="0"/>
                <a:cs typeface="Times New Roman" panose="02020603050405020304" pitchFamily="18" charset="0"/>
              </a:rPr>
              <a:t>Logistic regression is </a:t>
            </a:r>
            <a:r>
              <a:rPr lang="en-US" b="1" dirty="0">
                <a:solidFill>
                  <a:srgbClr val="383838"/>
                </a:solidFill>
                <a:latin typeface="Times New Roman" panose="02020603050405020304" pitchFamily="18" charset="0"/>
                <a:cs typeface="Times New Roman" panose="02020603050405020304" pitchFamily="18" charset="0"/>
              </a:rPr>
              <a:t>easy</a:t>
            </a:r>
            <a:r>
              <a:rPr lang="en-US" dirty="0">
                <a:solidFill>
                  <a:srgbClr val="383838"/>
                </a:solidFill>
                <a:latin typeface="Times New Roman" panose="02020603050405020304" pitchFamily="18" charset="0"/>
                <a:cs typeface="Times New Roman" panose="02020603050405020304" pitchFamily="18" charset="0"/>
              </a:rPr>
              <a:t> to of all classification models.</a:t>
            </a:r>
          </a:p>
          <a:p>
            <a:r>
              <a:rPr lang="en-US" dirty="0">
                <a:solidFill>
                  <a:srgbClr val="383838"/>
                </a:solidFill>
                <a:latin typeface="Times New Roman" panose="02020603050405020304" pitchFamily="18" charset="0"/>
                <a:cs typeface="Times New Roman" panose="02020603050405020304" pitchFamily="18" charset="0"/>
              </a:rPr>
              <a:t>It is very common to use </a:t>
            </a:r>
            <a:r>
              <a:rPr lang="en-US" b="1" dirty="0">
                <a:solidFill>
                  <a:srgbClr val="383838"/>
                </a:solidFill>
                <a:latin typeface="Times New Roman" panose="02020603050405020304" pitchFamily="18" charset="0"/>
                <a:cs typeface="Times New Roman" panose="02020603050405020304" pitchFamily="18" charset="0"/>
              </a:rPr>
              <a:t>interpretable </a:t>
            </a:r>
            <a:r>
              <a:rPr lang="en-US" dirty="0">
                <a:solidFill>
                  <a:srgbClr val="383838"/>
                </a:solidFill>
                <a:latin typeface="Times New Roman" panose="02020603050405020304" pitchFamily="18" charset="0"/>
                <a:cs typeface="Times New Roman" panose="02020603050405020304" pitchFamily="18" charset="0"/>
              </a:rPr>
              <a:t>various industries such as banking, healthcare, etc.</a:t>
            </a:r>
          </a:p>
          <a:p>
            <a:endParaRPr lang="en-IN" dirty="0"/>
          </a:p>
        </p:txBody>
      </p:sp>
    </p:spTree>
    <p:extLst>
      <p:ext uri="{BB962C8B-B14F-4D97-AF65-F5344CB8AC3E}">
        <p14:creationId xmlns:p14="http://schemas.microsoft.com/office/powerpoint/2010/main" val="40352562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51FC9-0196-482F-BDB5-D4B4C76E2583}"/>
              </a:ext>
            </a:extLst>
          </p:cNvPr>
          <p:cNvSpPr>
            <a:spLocks noGrp="1"/>
          </p:cNvSpPr>
          <p:nvPr>
            <p:ph type="title"/>
          </p:nvPr>
        </p:nvSpPr>
        <p:spPr/>
        <p:txBody>
          <a:bodyPr>
            <a:normAutofit fontScale="90000"/>
          </a:bodyPr>
          <a:lstStyle/>
          <a:p>
            <a:endParaRPr lang="en-IN"/>
          </a:p>
        </p:txBody>
      </p:sp>
      <p:sp>
        <p:nvSpPr>
          <p:cNvPr id="3" name="Date Placeholder 2">
            <a:extLst>
              <a:ext uri="{FF2B5EF4-FFF2-40B4-BE49-F238E27FC236}">
                <a16:creationId xmlns:a16="http://schemas.microsoft.com/office/drawing/2014/main" id="{FE798E0D-491E-4B7C-96D1-38E5AC26BDAA}"/>
              </a:ext>
            </a:extLst>
          </p:cNvPr>
          <p:cNvSpPr>
            <a:spLocks noGrp="1"/>
          </p:cNvSpPr>
          <p:nvPr>
            <p:ph type="dt" sz="half" idx="10"/>
          </p:nvPr>
        </p:nvSpPr>
        <p:spPr/>
        <p:txBody>
          <a:bodyPr/>
          <a:lstStyle/>
          <a:p>
            <a:fld id="{519565DB-378F-4C93-896C-96FB5CDE8B99}" type="datetime1">
              <a:rPr lang="en-US" smtClean="0"/>
              <a:t>8/1/2025</a:t>
            </a:fld>
            <a:endParaRPr lang="en-US" dirty="0"/>
          </a:p>
        </p:txBody>
      </p:sp>
      <p:sp>
        <p:nvSpPr>
          <p:cNvPr id="4" name="Footer Placeholder 3">
            <a:extLst>
              <a:ext uri="{FF2B5EF4-FFF2-40B4-BE49-F238E27FC236}">
                <a16:creationId xmlns:a16="http://schemas.microsoft.com/office/drawing/2014/main" id="{E94832CD-3616-4755-B64F-8430725505B2}"/>
              </a:ext>
            </a:extLst>
          </p:cNvPr>
          <p:cNvSpPr>
            <a:spLocks noGrp="1"/>
          </p:cNvSpPr>
          <p:nvPr>
            <p:ph type="ftr" sz="quarter" idx="11"/>
          </p:nvPr>
        </p:nvSpPr>
        <p:spPr/>
        <p:txBody>
          <a:bodyPr/>
          <a:lstStyle/>
          <a:p>
            <a:r>
              <a:rPr lang="en-US"/>
              <a:t>Logistic Regression</a:t>
            </a:r>
            <a:endParaRPr lang="en-US" dirty="0"/>
          </a:p>
        </p:txBody>
      </p:sp>
      <p:sp>
        <p:nvSpPr>
          <p:cNvPr id="5" name="Slide Number Placeholder 4">
            <a:extLst>
              <a:ext uri="{FF2B5EF4-FFF2-40B4-BE49-F238E27FC236}">
                <a16:creationId xmlns:a16="http://schemas.microsoft.com/office/drawing/2014/main" id="{7C858CE1-068D-4E50-842F-06D3B923FF12}"/>
              </a:ext>
            </a:extLst>
          </p:cNvPr>
          <p:cNvSpPr>
            <a:spLocks noGrp="1"/>
          </p:cNvSpPr>
          <p:nvPr>
            <p:ph type="sldNum" sz="quarter" idx="12"/>
          </p:nvPr>
        </p:nvSpPr>
        <p:spPr/>
        <p:txBody>
          <a:bodyPr>
            <a:normAutofit lnSpcReduction="10000"/>
          </a:bodyPr>
          <a:lstStyle/>
          <a:p>
            <a:fld id="{EA7C8D44-3667-46F6-9772-CC52308E2A7F}" type="slidenum">
              <a:rPr kumimoji="0" lang="en-US" smtClean="0"/>
              <a:pPr/>
              <a:t>33</a:t>
            </a:fld>
            <a:endParaRPr kumimoji="0" lang="en-US" dirty="0"/>
          </a:p>
        </p:txBody>
      </p:sp>
      <p:sp>
        <p:nvSpPr>
          <p:cNvPr id="6" name="Content Placeholder 5">
            <a:extLst>
              <a:ext uri="{FF2B5EF4-FFF2-40B4-BE49-F238E27FC236}">
                <a16:creationId xmlns:a16="http://schemas.microsoft.com/office/drawing/2014/main" id="{910052B2-0640-4916-ACA4-D467FD8FA7FC}"/>
              </a:ext>
            </a:extLst>
          </p:cNvPr>
          <p:cNvSpPr>
            <a:spLocks noGrp="1"/>
          </p:cNvSpPr>
          <p:nvPr>
            <p:ph sz="quarter" idx="1"/>
          </p:nvPr>
        </p:nvSpPr>
        <p:spPr/>
        <p:txBody>
          <a:bodyPr/>
          <a:lstStyle/>
          <a:p>
            <a:r>
              <a:rPr lang="en-IN" dirty="0"/>
              <a:t>Why do we use Logistic Regression rather than Linear Regression for classification?</a:t>
            </a:r>
          </a:p>
          <a:p>
            <a:r>
              <a:rPr lang="en-IN" dirty="0"/>
              <a:t>After reading the definition of logistic regression we now know that it is only used when our dependent variable is </a:t>
            </a:r>
            <a:r>
              <a:rPr lang="en-IN" b="1" dirty="0"/>
              <a:t>binary</a:t>
            </a:r>
            <a:r>
              <a:rPr lang="en-IN" dirty="0"/>
              <a:t> and in linear regression this dependent variable is </a:t>
            </a:r>
            <a:r>
              <a:rPr lang="en-IN" b="1" dirty="0"/>
              <a:t>continuous</a:t>
            </a:r>
            <a:r>
              <a:rPr lang="en-IN" dirty="0"/>
              <a:t>.</a:t>
            </a:r>
          </a:p>
          <a:p>
            <a:endParaRPr lang="en-IN" dirty="0"/>
          </a:p>
        </p:txBody>
      </p:sp>
      <p:pic>
        <p:nvPicPr>
          <p:cNvPr id="7" name="Picture 6" descr="Logistic Regression  over linear regression">
            <a:extLst>
              <a:ext uri="{FF2B5EF4-FFF2-40B4-BE49-F238E27FC236}">
                <a16:creationId xmlns:a16="http://schemas.microsoft.com/office/drawing/2014/main" id="{0747AC21-FB55-4726-B1F1-80922541038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351706" y="3153532"/>
            <a:ext cx="3378041" cy="1650206"/>
          </a:xfrm>
          <a:prstGeom prst="rect">
            <a:avLst/>
          </a:prstGeom>
          <a:noFill/>
          <a:ln>
            <a:noFill/>
          </a:ln>
        </p:spPr>
      </p:pic>
    </p:spTree>
    <p:extLst>
      <p:ext uri="{BB962C8B-B14F-4D97-AF65-F5344CB8AC3E}">
        <p14:creationId xmlns:p14="http://schemas.microsoft.com/office/powerpoint/2010/main" val="2550237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A5402-C3CC-451E-A948-2F3EB0EB757C}"/>
              </a:ext>
            </a:extLst>
          </p:cNvPr>
          <p:cNvSpPr>
            <a:spLocks noGrp="1"/>
          </p:cNvSpPr>
          <p:nvPr>
            <p:ph type="title"/>
          </p:nvPr>
        </p:nvSpPr>
        <p:spPr/>
        <p:txBody>
          <a:bodyPr>
            <a:normAutofit fontScale="90000"/>
          </a:bodyPr>
          <a:lstStyle/>
          <a:p>
            <a:endParaRPr lang="en-IN"/>
          </a:p>
        </p:txBody>
      </p:sp>
      <p:sp>
        <p:nvSpPr>
          <p:cNvPr id="3" name="Date Placeholder 2">
            <a:extLst>
              <a:ext uri="{FF2B5EF4-FFF2-40B4-BE49-F238E27FC236}">
                <a16:creationId xmlns:a16="http://schemas.microsoft.com/office/drawing/2014/main" id="{DE2BF7B6-B1A9-427B-98CE-555CA3636552}"/>
              </a:ext>
            </a:extLst>
          </p:cNvPr>
          <p:cNvSpPr>
            <a:spLocks noGrp="1"/>
          </p:cNvSpPr>
          <p:nvPr>
            <p:ph type="dt" sz="half" idx="10"/>
          </p:nvPr>
        </p:nvSpPr>
        <p:spPr/>
        <p:txBody>
          <a:bodyPr/>
          <a:lstStyle/>
          <a:p>
            <a:fld id="{519565DB-378F-4C93-896C-96FB5CDE8B99}" type="datetime1">
              <a:rPr lang="en-US" smtClean="0"/>
              <a:t>8/1/2025</a:t>
            </a:fld>
            <a:endParaRPr lang="en-US" dirty="0"/>
          </a:p>
        </p:txBody>
      </p:sp>
      <p:sp>
        <p:nvSpPr>
          <p:cNvPr id="4" name="Footer Placeholder 3">
            <a:extLst>
              <a:ext uri="{FF2B5EF4-FFF2-40B4-BE49-F238E27FC236}">
                <a16:creationId xmlns:a16="http://schemas.microsoft.com/office/drawing/2014/main" id="{1E9E3B10-3951-494A-AB1D-5B688BCD5383}"/>
              </a:ext>
            </a:extLst>
          </p:cNvPr>
          <p:cNvSpPr>
            <a:spLocks noGrp="1"/>
          </p:cNvSpPr>
          <p:nvPr>
            <p:ph type="ftr" sz="quarter" idx="11"/>
          </p:nvPr>
        </p:nvSpPr>
        <p:spPr/>
        <p:txBody>
          <a:bodyPr/>
          <a:lstStyle/>
          <a:p>
            <a:r>
              <a:rPr lang="en-US"/>
              <a:t>Logistic Regression</a:t>
            </a:r>
            <a:endParaRPr lang="en-US" dirty="0"/>
          </a:p>
        </p:txBody>
      </p:sp>
      <p:sp>
        <p:nvSpPr>
          <p:cNvPr id="5" name="Slide Number Placeholder 4">
            <a:extLst>
              <a:ext uri="{FF2B5EF4-FFF2-40B4-BE49-F238E27FC236}">
                <a16:creationId xmlns:a16="http://schemas.microsoft.com/office/drawing/2014/main" id="{71BA3F69-B66C-4107-B1A3-33DEF6584198}"/>
              </a:ext>
            </a:extLst>
          </p:cNvPr>
          <p:cNvSpPr>
            <a:spLocks noGrp="1"/>
          </p:cNvSpPr>
          <p:nvPr>
            <p:ph type="sldNum" sz="quarter" idx="12"/>
          </p:nvPr>
        </p:nvSpPr>
        <p:spPr/>
        <p:txBody>
          <a:bodyPr>
            <a:normAutofit lnSpcReduction="10000"/>
          </a:bodyPr>
          <a:lstStyle/>
          <a:p>
            <a:fld id="{EA7C8D44-3667-46F6-9772-CC52308E2A7F}" type="slidenum">
              <a:rPr kumimoji="0" lang="en-US" smtClean="0"/>
              <a:pPr/>
              <a:t>34</a:t>
            </a:fld>
            <a:endParaRPr kumimoji="0" lang="en-US" dirty="0"/>
          </a:p>
        </p:txBody>
      </p:sp>
      <p:sp>
        <p:nvSpPr>
          <p:cNvPr id="6" name="Content Placeholder 5">
            <a:extLst>
              <a:ext uri="{FF2B5EF4-FFF2-40B4-BE49-F238E27FC236}">
                <a16:creationId xmlns:a16="http://schemas.microsoft.com/office/drawing/2014/main" id="{D6958863-AAEB-4A93-875A-F5A9D642234B}"/>
              </a:ext>
            </a:extLst>
          </p:cNvPr>
          <p:cNvSpPr>
            <a:spLocks noGrp="1"/>
          </p:cNvSpPr>
          <p:nvPr>
            <p:ph sz="quarter" idx="1"/>
          </p:nvPr>
        </p:nvSpPr>
        <p:spPr/>
        <p:txBody>
          <a:bodyPr/>
          <a:lstStyle/>
          <a:p>
            <a:r>
              <a:rPr lang="en-IN" dirty="0"/>
              <a:t>The second problem is that if we add an </a:t>
            </a:r>
            <a:r>
              <a:rPr lang="en-IN" b="1" dirty="0"/>
              <a:t>outlier</a:t>
            </a:r>
            <a:r>
              <a:rPr lang="en-IN" dirty="0"/>
              <a:t> in our dataset, the best fit line in linear regression shifts to fit that point.</a:t>
            </a:r>
          </a:p>
          <a:p>
            <a:endParaRPr lang="en-IN" dirty="0"/>
          </a:p>
        </p:txBody>
      </p:sp>
      <p:pic>
        <p:nvPicPr>
          <p:cNvPr id="7" name="Picture 6" descr="Logistic Regression  greater than 1">
            <a:extLst>
              <a:ext uri="{FF2B5EF4-FFF2-40B4-BE49-F238E27FC236}">
                <a16:creationId xmlns:a16="http://schemas.microsoft.com/office/drawing/2014/main" id="{C3D6C5E6-661F-48A7-8736-9B92876FFA0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00300" y="2457450"/>
            <a:ext cx="3972497" cy="1714500"/>
          </a:xfrm>
          <a:prstGeom prst="rect">
            <a:avLst/>
          </a:prstGeom>
          <a:noFill/>
          <a:ln>
            <a:noFill/>
          </a:ln>
        </p:spPr>
      </p:pic>
    </p:spTree>
    <p:extLst>
      <p:ext uri="{BB962C8B-B14F-4D97-AF65-F5344CB8AC3E}">
        <p14:creationId xmlns:p14="http://schemas.microsoft.com/office/powerpoint/2010/main" val="4218414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11928-27F9-4190-B80D-749D03D5BB7A}"/>
              </a:ext>
            </a:extLst>
          </p:cNvPr>
          <p:cNvSpPr>
            <a:spLocks noGrp="1"/>
          </p:cNvSpPr>
          <p:nvPr>
            <p:ph type="title"/>
          </p:nvPr>
        </p:nvSpPr>
        <p:spPr/>
        <p:txBody>
          <a:bodyPr>
            <a:normAutofit fontScale="90000"/>
          </a:bodyPr>
          <a:lstStyle/>
          <a:p>
            <a:endParaRPr lang="en-IN"/>
          </a:p>
        </p:txBody>
      </p:sp>
      <p:sp>
        <p:nvSpPr>
          <p:cNvPr id="3" name="Date Placeholder 2">
            <a:extLst>
              <a:ext uri="{FF2B5EF4-FFF2-40B4-BE49-F238E27FC236}">
                <a16:creationId xmlns:a16="http://schemas.microsoft.com/office/drawing/2014/main" id="{7BF62D3D-F4E9-4DC6-A42A-C6242864C982}"/>
              </a:ext>
            </a:extLst>
          </p:cNvPr>
          <p:cNvSpPr>
            <a:spLocks noGrp="1"/>
          </p:cNvSpPr>
          <p:nvPr>
            <p:ph type="dt" sz="half" idx="10"/>
          </p:nvPr>
        </p:nvSpPr>
        <p:spPr/>
        <p:txBody>
          <a:bodyPr/>
          <a:lstStyle/>
          <a:p>
            <a:fld id="{519565DB-378F-4C93-896C-96FB5CDE8B99}" type="datetime1">
              <a:rPr lang="en-US" smtClean="0"/>
              <a:t>8/1/2025</a:t>
            </a:fld>
            <a:endParaRPr lang="en-US" dirty="0"/>
          </a:p>
        </p:txBody>
      </p:sp>
      <p:sp>
        <p:nvSpPr>
          <p:cNvPr id="4" name="Footer Placeholder 3">
            <a:extLst>
              <a:ext uri="{FF2B5EF4-FFF2-40B4-BE49-F238E27FC236}">
                <a16:creationId xmlns:a16="http://schemas.microsoft.com/office/drawing/2014/main" id="{2912B66F-19BB-4662-A886-AED4455DFC3F}"/>
              </a:ext>
            </a:extLst>
          </p:cNvPr>
          <p:cNvSpPr>
            <a:spLocks noGrp="1"/>
          </p:cNvSpPr>
          <p:nvPr>
            <p:ph type="ftr" sz="quarter" idx="11"/>
          </p:nvPr>
        </p:nvSpPr>
        <p:spPr/>
        <p:txBody>
          <a:bodyPr/>
          <a:lstStyle/>
          <a:p>
            <a:r>
              <a:rPr lang="en-US"/>
              <a:t>Logistic Regression</a:t>
            </a:r>
            <a:endParaRPr lang="en-US" dirty="0"/>
          </a:p>
        </p:txBody>
      </p:sp>
      <p:sp>
        <p:nvSpPr>
          <p:cNvPr id="5" name="Slide Number Placeholder 4">
            <a:extLst>
              <a:ext uri="{FF2B5EF4-FFF2-40B4-BE49-F238E27FC236}">
                <a16:creationId xmlns:a16="http://schemas.microsoft.com/office/drawing/2014/main" id="{75412717-3842-410C-AD47-3EFDA3324605}"/>
              </a:ext>
            </a:extLst>
          </p:cNvPr>
          <p:cNvSpPr>
            <a:spLocks noGrp="1"/>
          </p:cNvSpPr>
          <p:nvPr>
            <p:ph type="sldNum" sz="quarter" idx="12"/>
          </p:nvPr>
        </p:nvSpPr>
        <p:spPr/>
        <p:txBody>
          <a:bodyPr>
            <a:normAutofit lnSpcReduction="10000"/>
          </a:bodyPr>
          <a:lstStyle/>
          <a:p>
            <a:fld id="{EA7C8D44-3667-46F6-9772-CC52308E2A7F}" type="slidenum">
              <a:rPr kumimoji="0" lang="en-US" smtClean="0"/>
              <a:pPr/>
              <a:t>35</a:t>
            </a:fld>
            <a:endParaRPr kumimoji="0" lang="en-US" dirty="0"/>
          </a:p>
        </p:txBody>
      </p:sp>
      <p:sp>
        <p:nvSpPr>
          <p:cNvPr id="6" name="Content Placeholder 5">
            <a:extLst>
              <a:ext uri="{FF2B5EF4-FFF2-40B4-BE49-F238E27FC236}">
                <a16:creationId xmlns:a16="http://schemas.microsoft.com/office/drawing/2014/main" id="{79C604B5-DC8A-4ADF-BDBE-AB689601D221}"/>
              </a:ext>
            </a:extLst>
          </p:cNvPr>
          <p:cNvSpPr>
            <a:spLocks noGrp="1"/>
          </p:cNvSpPr>
          <p:nvPr>
            <p:ph sz="quarter" idx="1"/>
          </p:nvPr>
        </p:nvSpPr>
        <p:spPr/>
        <p:txBody>
          <a:bodyPr/>
          <a:lstStyle/>
          <a:p>
            <a:r>
              <a:rPr lang="en-IN" dirty="0"/>
              <a:t>Another problem with linear regression is that the predicted values may be </a:t>
            </a:r>
            <a:r>
              <a:rPr lang="en-IN" b="1" dirty="0"/>
              <a:t>out of range</a:t>
            </a:r>
            <a:r>
              <a:rPr lang="en-IN" dirty="0"/>
              <a:t>. We know that </a:t>
            </a:r>
            <a:r>
              <a:rPr lang="en-IN" b="1" dirty="0"/>
              <a:t>probability</a:t>
            </a:r>
            <a:r>
              <a:rPr lang="en-IN" dirty="0"/>
              <a:t> can be between </a:t>
            </a:r>
            <a:r>
              <a:rPr lang="en-IN" b="1" dirty="0"/>
              <a:t>0 and 1</a:t>
            </a:r>
            <a:r>
              <a:rPr lang="en-IN" dirty="0"/>
              <a:t>, but if we use linear regression this probability may exceed 1 or go below 0.</a:t>
            </a:r>
          </a:p>
          <a:p>
            <a:r>
              <a:rPr lang="en-IN" dirty="0"/>
              <a:t>Hence, we apply sigmoid function to </a:t>
            </a:r>
            <a:r>
              <a:rPr lang="en-IN" b="1" dirty="0"/>
              <a:t>squeeze</a:t>
            </a:r>
            <a:r>
              <a:rPr lang="en-IN" dirty="0"/>
              <a:t> the output between 0 to 1. </a:t>
            </a:r>
            <a:r>
              <a:rPr lang="en-IN" b="1" dirty="0"/>
              <a:t>Sigmoid squeezes a straight line into an S-curve.</a:t>
            </a:r>
          </a:p>
          <a:p>
            <a:endParaRPr lang="en-IN" b="1" dirty="0"/>
          </a:p>
        </p:txBody>
      </p:sp>
      <p:pic>
        <p:nvPicPr>
          <p:cNvPr id="8" name="Picture 7">
            <a:extLst>
              <a:ext uri="{FF2B5EF4-FFF2-40B4-BE49-F238E27FC236}">
                <a16:creationId xmlns:a16="http://schemas.microsoft.com/office/drawing/2014/main" id="{9D14842F-C9FF-4137-84BD-061DCA8AFDFB}"/>
              </a:ext>
            </a:extLst>
          </p:cNvPr>
          <p:cNvPicPr>
            <a:picLocks noChangeAspect="1"/>
          </p:cNvPicPr>
          <p:nvPr/>
        </p:nvPicPr>
        <p:blipFill>
          <a:blip r:embed="rId2"/>
          <a:stretch>
            <a:fillRect/>
          </a:stretch>
        </p:blipFill>
        <p:spPr>
          <a:xfrm>
            <a:off x="3154192" y="3600451"/>
            <a:ext cx="2001974" cy="995267"/>
          </a:xfrm>
          <a:prstGeom prst="rect">
            <a:avLst/>
          </a:prstGeom>
        </p:spPr>
      </p:pic>
    </p:spTree>
    <p:extLst>
      <p:ext uri="{BB962C8B-B14F-4D97-AF65-F5344CB8AC3E}">
        <p14:creationId xmlns:p14="http://schemas.microsoft.com/office/powerpoint/2010/main" val="10192436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7CD8-5246-4C49-85FC-C930D9D8BD4D}"/>
              </a:ext>
            </a:extLst>
          </p:cNvPr>
          <p:cNvSpPr>
            <a:spLocks noGrp="1"/>
          </p:cNvSpPr>
          <p:nvPr>
            <p:ph type="title"/>
          </p:nvPr>
        </p:nvSpPr>
        <p:spPr/>
        <p:txBody>
          <a:bodyPr>
            <a:normAutofit fontScale="90000"/>
          </a:bodyPr>
          <a:lstStyle/>
          <a:p>
            <a:r>
              <a:rPr lang="en-IN" dirty="0"/>
              <a:t>Cost Function in Logistic Regression ?</a:t>
            </a:r>
          </a:p>
        </p:txBody>
      </p:sp>
      <p:sp>
        <p:nvSpPr>
          <p:cNvPr id="3" name="Date Placeholder 2">
            <a:extLst>
              <a:ext uri="{FF2B5EF4-FFF2-40B4-BE49-F238E27FC236}">
                <a16:creationId xmlns:a16="http://schemas.microsoft.com/office/drawing/2014/main" id="{96C9630E-7A63-4EC3-8089-EBB862D87F2D}"/>
              </a:ext>
            </a:extLst>
          </p:cNvPr>
          <p:cNvSpPr>
            <a:spLocks noGrp="1"/>
          </p:cNvSpPr>
          <p:nvPr>
            <p:ph type="dt" sz="half" idx="10"/>
          </p:nvPr>
        </p:nvSpPr>
        <p:spPr/>
        <p:txBody>
          <a:bodyPr/>
          <a:lstStyle/>
          <a:p>
            <a:fld id="{519565DB-378F-4C93-896C-96FB5CDE8B99}" type="datetime1">
              <a:rPr lang="en-US" smtClean="0"/>
              <a:t>8/1/2025</a:t>
            </a:fld>
            <a:endParaRPr lang="en-US" dirty="0"/>
          </a:p>
        </p:txBody>
      </p:sp>
      <p:sp>
        <p:nvSpPr>
          <p:cNvPr id="4" name="Footer Placeholder 3">
            <a:extLst>
              <a:ext uri="{FF2B5EF4-FFF2-40B4-BE49-F238E27FC236}">
                <a16:creationId xmlns:a16="http://schemas.microsoft.com/office/drawing/2014/main" id="{49E297E7-BCAF-40AE-9961-51D73998C755}"/>
              </a:ext>
            </a:extLst>
          </p:cNvPr>
          <p:cNvSpPr>
            <a:spLocks noGrp="1"/>
          </p:cNvSpPr>
          <p:nvPr>
            <p:ph type="ftr" sz="quarter" idx="11"/>
          </p:nvPr>
        </p:nvSpPr>
        <p:spPr/>
        <p:txBody>
          <a:bodyPr/>
          <a:lstStyle/>
          <a:p>
            <a:r>
              <a:rPr lang="en-US"/>
              <a:t>Logistic Regression</a:t>
            </a:r>
            <a:endParaRPr lang="en-US" dirty="0"/>
          </a:p>
        </p:txBody>
      </p:sp>
      <p:sp>
        <p:nvSpPr>
          <p:cNvPr id="5" name="Slide Number Placeholder 4">
            <a:extLst>
              <a:ext uri="{FF2B5EF4-FFF2-40B4-BE49-F238E27FC236}">
                <a16:creationId xmlns:a16="http://schemas.microsoft.com/office/drawing/2014/main" id="{2C58B194-F738-4A86-82A2-283DD11EA1A4}"/>
              </a:ext>
            </a:extLst>
          </p:cNvPr>
          <p:cNvSpPr>
            <a:spLocks noGrp="1"/>
          </p:cNvSpPr>
          <p:nvPr>
            <p:ph type="sldNum" sz="quarter" idx="12"/>
          </p:nvPr>
        </p:nvSpPr>
        <p:spPr/>
        <p:txBody>
          <a:bodyPr>
            <a:normAutofit lnSpcReduction="10000"/>
          </a:bodyPr>
          <a:lstStyle/>
          <a:p>
            <a:fld id="{EA7C8D44-3667-46F6-9772-CC52308E2A7F}" type="slidenum">
              <a:rPr kumimoji="0" lang="en-US" smtClean="0"/>
              <a:pPr/>
              <a:t>36</a:t>
            </a:fld>
            <a:endParaRPr kumimoji="0" lang="en-US" dirty="0"/>
          </a:p>
        </p:txBody>
      </p:sp>
      <p:pic>
        <p:nvPicPr>
          <p:cNvPr id="7" name="Content Placeholder 6" descr="linear vs logistic regression">
            <a:extLst>
              <a:ext uri="{FF2B5EF4-FFF2-40B4-BE49-F238E27FC236}">
                <a16:creationId xmlns:a16="http://schemas.microsoft.com/office/drawing/2014/main" id="{AA0062CF-748A-429E-95CA-B74F78816435}"/>
              </a:ext>
            </a:extLst>
          </p:cNvPr>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824657" y="1314451"/>
            <a:ext cx="5179219" cy="2336006"/>
          </a:xfrm>
          <a:prstGeom prst="rect">
            <a:avLst/>
          </a:prstGeom>
          <a:noFill/>
          <a:ln>
            <a:noFill/>
          </a:ln>
        </p:spPr>
      </p:pic>
      <p:sp>
        <p:nvSpPr>
          <p:cNvPr id="8" name="Rectangle 7">
            <a:extLst>
              <a:ext uri="{FF2B5EF4-FFF2-40B4-BE49-F238E27FC236}">
                <a16:creationId xmlns:a16="http://schemas.microsoft.com/office/drawing/2014/main" id="{9CDA73BD-45CC-4BF8-B28D-E837B311379E}"/>
              </a:ext>
            </a:extLst>
          </p:cNvPr>
          <p:cNvSpPr/>
          <p:nvPr/>
        </p:nvSpPr>
        <p:spPr>
          <a:xfrm>
            <a:off x="1543050" y="3797772"/>
            <a:ext cx="5460825" cy="623248"/>
          </a:xfrm>
          <a:prstGeom prst="rect">
            <a:avLst/>
          </a:prstGeom>
        </p:spPr>
        <p:txBody>
          <a:bodyPr wrap="square">
            <a:spAutoFit/>
          </a:bodyPr>
          <a:lstStyle/>
          <a:p>
            <a:pPr algn="just">
              <a:lnSpc>
                <a:spcPct val="115000"/>
              </a:lnSpc>
              <a:spcAft>
                <a:spcPts val="600"/>
              </a:spcAft>
            </a:pPr>
            <a:r>
              <a:rPr lang="en-IN" sz="150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This is our logistic function, also called a sigmoid function. It squeezes a straight line into an S-curve.</a:t>
            </a:r>
            <a:endParaRPr lang="en-IN"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13306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16D1F-D5E8-4CB3-9746-A41FA16CC5F1}"/>
              </a:ext>
            </a:extLst>
          </p:cNvPr>
          <p:cNvSpPr>
            <a:spLocks noGrp="1"/>
          </p:cNvSpPr>
          <p:nvPr>
            <p:ph type="title"/>
          </p:nvPr>
        </p:nvSpPr>
        <p:spPr/>
        <p:txBody>
          <a:bodyPr>
            <a:normAutofit fontScale="90000"/>
          </a:bodyPr>
          <a:lstStyle/>
          <a:p>
            <a:r>
              <a:rPr lang="en-US" dirty="0"/>
              <a:t>Log Loss</a:t>
            </a:r>
            <a:r>
              <a:rPr lang="en-IN" dirty="0"/>
              <a:t> (BCE Loss) </a:t>
            </a:r>
          </a:p>
        </p:txBody>
      </p:sp>
      <p:sp>
        <p:nvSpPr>
          <p:cNvPr id="3" name="Date Placeholder 2">
            <a:extLst>
              <a:ext uri="{FF2B5EF4-FFF2-40B4-BE49-F238E27FC236}">
                <a16:creationId xmlns:a16="http://schemas.microsoft.com/office/drawing/2014/main" id="{ACCFAA35-139A-4D71-AA6F-F36BF4172CEA}"/>
              </a:ext>
            </a:extLst>
          </p:cNvPr>
          <p:cNvSpPr>
            <a:spLocks noGrp="1"/>
          </p:cNvSpPr>
          <p:nvPr>
            <p:ph type="dt" sz="half" idx="10"/>
          </p:nvPr>
        </p:nvSpPr>
        <p:spPr/>
        <p:txBody>
          <a:bodyPr/>
          <a:lstStyle/>
          <a:p>
            <a:fld id="{519565DB-378F-4C93-896C-96FB5CDE8B99}" type="datetime1">
              <a:rPr lang="en-US" smtClean="0"/>
              <a:t>8/1/2025</a:t>
            </a:fld>
            <a:endParaRPr lang="en-US" dirty="0"/>
          </a:p>
        </p:txBody>
      </p:sp>
      <p:sp>
        <p:nvSpPr>
          <p:cNvPr id="4" name="Footer Placeholder 3">
            <a:extLst>
              <a:ext uri="{FF2B5EF4-FFF2-40B4-BE49-F238E27FC236}">
                <a16:creationId xmlns:a16="http://schemas.microsoft.com/office/drawing/2014/main" id="{45BCF049-A6BD-4CC4-A3E1-1053E173FC09}"/>
              </a:ext>
            </a:extLst>
          </p:cNvPr>
          <p:cNvSpPr>
            <a:spLocks noGrp="1"/>
          </p:cNvSpPr>
          <p:nvPr>
            <p:ph type="ftr" sz="quarter" idx="11"/>
          </p:nvPr>
        </p:nvSpPr>
        <p:spPr/>
        <p:txBody>
          <a:bodyPr/>
          <a:lstStyle/>
          <a:p>
            <a:r>
              <a:rPr lang="en-US"/>
              <a:t>Logistic Regression</a:t>
            </a:r>
            <a:endParaRPr lang="en-US" dirty="0"/>
          </a:p>
        </p:txBody>
      </p:sp>
      <p:sp>
        <p:nvSpPr>
          <p:cNvPr id="5" name="Slide Number Placeholder 4">
            <a:extLst>
              <a:ext uri="{FF2B5EF4-FFF2-40B4-BE49-F238E27FC236}">
                <a16:creationId xmlns:a16="http://schemas.microsoft.com/office/drawing/2014/main" id="{B7E4B1D4-0E19-4CA6-B525-0DE5F6CD4A08}"/>
              </a:ext>
            </a:extLst>
          </p:cNvPr>
          <p:cNvSpPr>
            <a:spLocks noGrp="1"/>
          </p:cNvSpPr>
          <p:nvPr>
            <p:ph type="sldNum" sz="quarter" idx="12"/>
          </p:nvPr>
        </p:nvSpPr>
        <p:spPr/>
        <p:txBody>
          <a:bodyPr>
            <a:normAutofit lnSpcReduction="10000"/>
          </a:bodyPr>
          <a:lstStyle/>
          <a:p>
            <a:fld id="{EA7C8D44-3667-46F6-9772-CC52308E2A7F}" type="slidenum">
              <a:rPr kumimoji="0" lang="en-US" smtClean="0"/>
              <a:pPr/>
              <a:t>37</a:t>
            </a:fld>
            <a:endParaRPr kumimoji="0" lang="en-US" dirty="0"/>
          </a:p>
        </p:txBody>
      </p:sp>
      <p:sp>
        <p:nvSpPr>
          <p:cNvPr id="6" name="Content Placeholder 5">
            <a:extLst>
              <a:ext uri="{FF2B5EF4-FFF2-40B4-BE49-F238E27FC236}">
                <a16:creationId xmlns:a16="http://schemas.microsoft.com/office/drawing/2014/main" id="{F2079A57-4D7D-4256-A31D-AEC4FE63BBF3}"/>
              </a:ext>
            </a:extLst>
          </p:cNvPr>
          <p:cNvSpPr>
            <a:spLocks noGrp="1"/>
          </p:cNvSpPr>
          <p:nvPr>
            <p:ph sz="quarter" idx="1"/>
          </p:nvPr>
        </p:nvSpPr>
        <p:spPr>
          <a:xfrm>
            <a:off x="1406462" y="1087390"/>
            <a:ext cx="6377940" cy="3429000"/>
          </a:xfrm>
        </p:spPr>
        <p:txBody>
          <a:bodyPr/>
          <a:lstStyle/>
          <a:p>
            <a:r>
              <a:rPr lang="en-IN" dirty="0"/>
              <a:t>In order to solve this problem, we derive a different cost function for logistic regression called </a:t>
            </a:r>
            <a:r>
              <a:rPr lang="en-IN" b="1" i="1" dirty="0"/>
              <a:t>log loss</a:t>
            </a:r>
            <a:r>
              <a:rPr lang="en-IN" dirty="0"/>
              <a:t> (BCE Loss) which is also derived from the </a:t>
            </a:r>
            <a:r>
              <a:rPr lang="en-IN" b="1" i="1" dirty="0"/>
              <a:t>maximum likelihood estimation</a:t>
            </a:r>
            <a:r>
              <a:rPr lang="en-IN" dirty="0"/>
              <a:t> method.</a:t>
            </a:r>
          </a:p>
          <a:p>
            <a:endParaRPr lang="en-IN" dirty="0"/>
          </a:p>
        </p:txBody>
      </p:sp>
      <p:pic>
        <p:nvPicPr>
          <p:cNvPr id="7" name="Picture 6" descr="log loss logistic regression">
            <a:extLst>
              <a:ext uri="{FF2B5EF4-FFF2-40B4-BE49-F238E27FC236}">
                <a16:creationId xmlns:a16="http://schemas.microsoft.com/office/drawing/2014/main" id="{8551A715-3F24-4331-9267-72EA8E33442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385441" y="3055987"/>
            <a:ext cx="4015359" cy="773064"/>
          </a:xfrm>
          <a:prstGeom prst="rect">
            <a:avLst/>
          </a:prstGeom>
          <a:noFill/>
          <a:ln>
            <a:noFill/>
          </a:ln>
        </p:spPr>
      </p:pic>
    </p:spTree>
    <p:extLst>
      <p:ext uri="{BB962C8B-B14F-4D97-AF65-F5344CB8AC3E}">
        <p14:creationId xmlns:p14="http://schemas.microsoft.com/office/powerpoint/2010/main" val="944167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9"/>
          <p:cNvSpPr/>
          <p:nvPr/>
        </p:nvSpPr>
        <p:spPr>
          <a:xfrm>
            <a:off x="1787200" y="1973235"/>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9"/>
          <p:cNvSpPr/>
          <p:nvPr/>
        </p:nvSpPr>
        <p:spPr>
          <a:xfrm>
            <a:off x="1716875" y="2491823"/>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9"/>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Artificial Neuron</a:t>
            </a:r>
            <a:endParaRPr sz="2400">
              <a:solidFill>
                <a:schemeClr val="accent1"/>
              </a:solidFill>
              <a:latin typeface="Proxima Nova Semibold"/>
              <a:ea typeface="Proxima Nova Semibold"/>
              <a:cs typeface="Proxima Nova Semibold"/>
              <a:sym typeface="Proxima Nova Semibold"/>
            </a:endParaRPr>
          </a:p>
        </p:txBody>
      </p:sp>
      <p:sp>
        <p:nvSpPr>
          <p:cNvPr id="245" name="Google Shape;245;p29"/>
          <p:cNvSpPr txBox="1"/>
          <p:nvPr/>
        </p:nvSpPr>
        <p:spPr>
          <a:xfrm>
            <a:off x="486000" y="884925"/>
            <a:ext cx="519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Mathematical construct mimicking real neurons</a:t>
            </a:r>
            <a:endParaRPr sz="1600">
              <a:solidFill>
                <a:srgbClr val="434343"/>
              </a:solidFill>
              <a:latin typeface="Roboto Medium"/>
              <a:ea typeface="Roboto Medium"/>
              <a:cs typeface="Roboto Medium"/>
              <a:sym typeface="Roboto Medium"/>
            </a:endParaRPr>
          </a:p>
        </p:txBody>
      </p:sp>
      <p:sp>
        <p:nvSpPr>
          <p:cNvPr id="246" name="Google Shape;246;p29"/>
          <p:cNvSpPr/>
          <p:nvPr/>
        </p:nvSpPr>
        <p:spPr>
          <a:xfrm>
            <a:off x="3670050" y="2344600"/>
            <a:ext cx="1685100" cy="16851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7" name="Google Shape;247;p29"/>
          <p:cNvCxnSpPr/>
          <p:nvPr/>
        </p:nvCxnSpPr>
        <p:spPr>
          <a:xfrm>
            <a:off x="2309925" y="2271563"/>
            <a:ext cx="1247400" cy="431100"/>
          </a:xfrm>
          <a:prstGeom prst="straightConnector1">
            <a:avLst/>
          </a:prstGeom>
          <a:noFill/>
          <a:ln w="9525" cap="flat" cmpd="sng">
            <a:solidFill>
              <a:schemeClr val="dk2"/>
            </a:solidFill>
            <a:prstDash val="solid"/>
            <a:round/>
            <a:headEnd type="none" w="med" len="med"/>
            <a:tailEnd type="triangle" w="med" len="med"/>
          </a:ln>
        </p:spPr>
      </p:cxnSp>
      <p:cxnSp>
        <p:nvCxnSpPr>
          <p:cNvPr id="248" name="Google Shape;248;p29"/>
          <p:cNvCxnSpPr/>
          <p:nvPr/>
        </p:nvCxnSpPr>
        <p:spPr>
          <a:xfrm>
            <a:off x="2276550" y="2665000"/>
            <a:ext cx="1228500" cy="329100"/>
          </a:xfrm>
          <a:prstGeom prst="straightConnector1">
            <a:avLst/>
          </a:prstGeom>
          <a:noFill/>
          <a:ln w="9525" cap="flat" cmpd="sng">
            <a:solidFill>
              <a:schemeClr val="dk2"/>
            </a:solidFill>
            <a:prstDash val="solid"/>
            <a:round/>
            <a:headEnd type="none" w="med" len="med"/>
            <a:tailEnd type="triangle" w="med" len="med"/>
          </a:ln>
        </p:spPr>
      </p:cxnSp>
      <p:cxnSp>
        <p:nvCxnSpPr>
          <p:cNvPr id="249" name="Google Shape;249;p29"/>
          <p:cNvCxnSpPr/>
          <p:nvPr/>
        </p:nvCxnSpPr>
        <p:spPr>
          <a:xfrm rot="10800000" flipH="1">
            <a:off x="2252375" y="3251800"/>
            <a:ext cx="1206000" cy="2400"/>
          </a:xfrm>
          <a:prstGeom prst="straightConnector1">
            <a:avLst/>
          </a:prstGeom>
          <a:noFill/>
          <a:ln w="9525" cap="flat" cmpd="sng">
            <a:solidFill>
              <a:schemeClr val="dk2"/>
            </a:solidFill>
            <a:prstDash val="solid"/>
            <a:round/>
            <a:headEnd type="none" w="med" len="med"/>
            <a:tailEnd type="triangle" w="med" len="med"/>
          </a:ln>
        </p:spPr>
      </p:cxnSp>
      <p:cxnSp>
        <p:nvCxnSpPr>
          <p:cNvPr id="250" name="Google Shape;250;p29"/>
          <p:cNvCxnSpPr/>
          <p:nvPr/>
        </p:nvCxnSpPr>
        <p:spPr>
          <a:xfrm rot="10800000" flipH="1">
            <a:off x="2342025" y="3498500"/>
            <a:ext cx="1183200" cy="262200"/>
          </a:xfrm>
          <a:prstGeom prst="straightConnector1">
            <a:avLst/>
          </a:prstGeom>
          <a:noFill/>
          <a:ln w="9525" cap="flat" cmpd="sng">
            <a:solidFill>
              <a:schemeClr val="dk2"/>
            </a:solidFill>
            <a:prstDash val="solid"/>
            <a:round/>
            <a:headEnd type="none" w="med" len="med"/>
            <a:tailEnd type="triangle" w="med" len="med"/>
          </a:ln>
        </p:spPr>
      </p:cxnSp>
      <p:sp>
        <p:nvSpPr>
          <p:cNvPr id="251" name="Google Shape;251;p29"/>
          <p:cNvSpPr txBox="1"/>
          <p:nvPr/>
        </p:nvSpPr>
        <p:spPr>
          <a:xfrm>
            <a:off x="486000" y="1226025"/>
            <a:ext cx="76152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Each neuron takes in a set of inputs, each input has a certain amount of importance. These inputs along with their importances are combined to produce an output for the neuron.</a:t>
            </a:r>
            <a:endParaRPr>
              <a:solidFill>
                <a:srgbClr val="666666"/>
              </a:solidFill>
              <a:latin typeface="Roboto"/>
              <a:ea typeface="Roboto"/>
              <a:cs typeface="Roboto"/>
              <a:sym typeface="Roboto"/>
            </a:endParaRPr>
          </a:p>
        </p:txBody>
      </p:sp>
      <p:cxnSp>
        <p:nvCxnSpPr>
          <p:cNvPr id="252" name="Google Shape;252;p29"/>
          <p:cNvCxnSpPr/>
          <p:nvPr/>
        </p:nvCxnSpPr>
        <p:spPr>
          <a:xfrm rot="10800000" flipH="1">
            <a:off x="2532525" y="3783250"/>
            <a:ext cx="1109400" cy="459300"/>
          </a:xfrm>
          <a:prstGeom prst="straightConnector1">
            <a:avLst/>
          </a:prstGeom>
          <a:noFill/>
          <a:ln w="9525" cap="flat" cmpd="sng">
            <a:solidFill>
              <a:schemeClr val="dk2"/>
            </a:solidFill>
            <a:prstDash val="solid"/>
            <a:round/>
            <a:headEnd type="none" w="med" len="med"/>
            <a:tailEnd type="triangle" w="med" len="med"/>
          </a:ln>
        </p:spPr>
      </p:cxnSp>
      <p:cxnSp>
        <p:nvCxnSpPr>
          <p:cNvPr id="253" name="Google Shape;253;p29"/>
          <p:cNvCxnSpPr/>
          <p:nvPr/>
        </p:nvCxnSpPr>
        <p:spPr>
          <a:xfrm rot="10800000" flipH="1">
            <a:off x="5407950" y="3328000"/>
            <a:ext cx="1206000" cy="2400"/>
          </a:xfrm>
          <a:prstGeom prst="straightConnector1">
            <a:avLst/>
          </a:prstGeom>
          <a:noFill/>
          <a:ln w="9525" cap="flat" cmpd="sng">
            <a:solidFill>
              <a:schemeClr val="dk2"/>
            </a:solidFill>
            <a:prstDash val="solid"/>
            <a:round/>
            <a:headEnd type="none" w="med" len="med"/>
            <a:tailEnd type="triangle" w="med" len="med"/>
          </a:ln>
        </p:spPr>
      </p:cxnSp>
      <p:sp>
        <p:nvSpPr>
          <p:cNvPr id="254" name="Google Shape;254;p29"/>
          <p:cNvSpPr txBox="1"/>
          <p:nvPr/>
        </p:nvSpPr>
        <p:spPr>
          <a:xfrm>
            <a:off x="1750475" y="2471500"/>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1</a:t>
            </a:r>
            <a:endParaRPr sz="1500" b="1" baseline="-25000">
              <a:solidFill>
                <a:srgbClr val="434343"/>
              </a:solidFill>
              <a:latin typeface="Roboto"/>
              <a:ea typeface="Roboto"/>
              <a:cs typeface="Roboto"/>
              <a:sym typeface="Roboto"/>
            </a:endParaRPr>
          </a:p>
        </p:txBody>
      </p:sp>
      <p:sp>
        <p:nvSpPr>
          <p:cNvPr id="255" name="Google Shape;255;p29"/>
          <p:cNvSpPr txBox="1"/>
          <p:nvPr/>
        </p:nvSpPr>
        <p:spPr>
          <a:xfrm>
            <a:off x="1847700" y="1965563"/>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b</a:t>
            </a:r>
            <a:endParaRPr sz="1500" b="1" baseline="-25000">
              <a:solidFill>
                <a:srgbClr val="434343"/>
              </a:solidFill>
              <a:latin typeface="Roboto"/>
              <a:ea typeface="Roboto"/>
              <a:cs typeface="Roboto"/>
              <a:sym typeface="Roboto"/>
            </a:endParaRPr>
          </a:p>
        </p:txBody>
      </p:sp>
      <p:sp>
        <p:nvSpPr>
          <p:cNvPr id="256" name="Google Shape;256;p29"/>
          <p:cNvSpPr txBox="1"/>
          <p:nvPr/>
        </p:nvSpPr>
        <p:spPr>
          <a:xfrm>
            <a:off x="3729449" y="3011575"/>
            <a:ext cx="162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434343"/>
                </a:solidFill>
                <a:latin typeface="Roboto"/>
                <a:ea typeface="Roboto"/>
                <a:cs typeface="Roboto"/>
                <a:sym typeface="Roboto"/>
              </a:rPr>
              <a:t>Z = F ( Σw</a:t>
            </a:r>
            <a:r>
              <a:rPr lang="en" b="1" baseline="-25000">
                <a:solidFill>
                  <a:srgbClr val="434343"/>
                </a:solidFill>
                <a:latin typeface="Roboto"/>
                <a:ea typeface="Roboto"/>
                <a:cs typeface="Roboto"/>
                <a:sym typeface="Roboto"/>
              </a:rPr>
              <a:t>i</a:t>
            </a:r>
            <a:r>
              <a:rPr lang="en" b="1">
                <a:solidFill>
                  <a:srgbClr val="434343"/>
                </a:solidFill>
                <a:latin typeface="Roboto"/>
                <a:ea typeface="Roboto"/>
                <a:cs typeface="Roboto"/>
                <a:sym typeface="Roboto"/>
              </a:rPr>
              <a:t>x</a:t>
            </a:r>
            <a:r>
              <a:rPr lang="en" b="1" baseline="-25000">
                <a:solidFill>
                  <a:srgbClr val="434343"/>
                </a:solidFill>
                <a:latin typeface="Roboto"/>
                <a:ea typeface="Roboto"/>
                <a:cs typeface="Roboto"/>
                <a:sym typeface="Roboto"/>
              </a:rPr>
              <a:t>i</a:t>
            </a:r>
            <a:r>
              <a:rPr lang="en" b="1">
                <a:solidFill>
                  <a:srgbClr val="434343"/>
                </a:solidFill>
                <a:latin typeface="Roboto"/>
                <a:ea typeface="Roboto"/>
                <a:cs typeface="Roboto"/>
                <a:sym typeface="Roboto"/>
              </a:rPr>
              <a:t> + b )</a:t>
            </a:r>
            <a:endParaRPr b="1">
              <a:solidFill>
                <a:srgbClr val="434343"/>
              </a:solidFill>
              <a:latin typeface="Roboto"/>
              <a:ea typeface="Roboto"/>
              <a:cs typeface="Roboto"/>
              <a:sym typeface="Roboto"/>
            </a:endParaRPr>
          </a:p>
        </p:txBody>
      </p:sp>
      <p:sp>
        <p:nvSpPr>
          <p:cNvPr id="257" name="Google Shape;257;p29"/>
          <p:cNvSpPr txBox="1"/>
          <p:nvPr/>
        </p:nvSpPr>
        <p:spPr>
          <a:xfrm>
            <a:off x="6675450" y="3121450"/>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Z</a:t>
            </a:r>
            <a:endParaRPr sz="1500" b="1" baseline="-25000">
              <a:solidFill>
                <a:srgbClr val="434343"/>
              </a:solidFill>
              <a:latin typeface="Roboto"/>
              <a:ea typeface="Roboto"/>
              <a:cs typeface="Roboto"/>
              <a:sym typeface="Roboto"/>
            </a:endParaRPr>
          </a:p>
        </p:txBody>
      </p:sp>
      <p:sp>
        <p:nvSpPr>
          <p:cNvPr id="258" name="Google Shape;258;p29"/>
          <p:cNvSpPr txBox="1"/>
          <p:nvPr/>
        </p:nvSpPr>
        <p:spPr>
          <a:xfrm>
            <a:off x="2532525" y="2392713"/>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1</a:t>
            </a:r>
            <a:endParaRPr sz="1500" b="1" baseline="-25000">
              <a:solidFill>
                <a:srgbClr val="434343"/>
              </a:solidFill>
              <a:latin typeface="Roboto"/>
              <a:ea typeface="Roboto"/>
              <a:cs typeface="Roboto"/>
              <a:sym typeface="Roboto"/>
            </a:endParaRPr>
          </a:p>
        </p:txBody>
      </p:sp>
      <p:sp>
        <p:nvSpPr>
          <p:cNvPr id="259" name="Google Shape;259;p29"/>
          <p:cNvSpPr txBox="1"/>
          <p:nvPr/>
        </p:nvSpPr>
        <p:spPr>
          <a:xfrm>
            <a:off x="2424900" y="2846338"/>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2</a:t>
            </a:r>
            <a:endParaRPr sz="1500" b="1" baseline="-25000">
              <a:solidFill>
                <a:srgbClr val="434343"/>
              </a:solidFill>
              <a:latin typeface="Roboto"/>
              <a:ea typeface="Roboto"/>
              <a:cs typeface="Roboto"/>
              <a:sym typeface="Roboto"/>
            </a:endParaRPr>
          </a:p>
        </p:txBody>
      </p:sp>
      <p:sp>
        <p:nvSpPr>
          <p:cNvPr id="260" name="Google Shape;260;p29"/>
          <p:cNvSpPr txBox="1"/>
          <p:nvPr/>
        </p:nvSpPr>
        <p:spPr>
          <a:xfrm>
            <a:off x="2424900" y="3299938"/>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3</a:t>
            </a:r>
            <a:endParaRPr sz="1500" b="1" baseline="-25000">
              <a:solidFill>
                <a:srgbClr val="434343"/>
              </a:solidFill>
              <a:latin typeface="Roboto"/>
              <a:ea typeface="Roboto"/>
              <a:cs typeface="Roboto"/>
              <a:sym typeface="Roboto"/>
            </a:endParaRPr>
          </a:p>
        </p:txBody>
      </p:sp>
      <p:sp>
        <p:nvSpPr>
          <p:cNvPr id="261" name="Google Shape;261;p29"/>
          <p:cNvSpPr txBox="1"/>
          <p:nvPr/>
        </p:nvSpPr>
        <p:spPr>
          <a:xfrm>
            <a:off x="2532525" y="3728650"/>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4</a:t>
            </a:r>
            <a:endParaRPr sz="1500" b="1" baseline="-25000">
              <a:solidFill>
                <a:srgbClr val="434343"/>
              </a:solidFill>
              <a:latin typeface="Roboto"/>
              <a:ea typeface="Roboto"/>
              <a:cs typeface="Roboto"/>
              <a:sym typeface="Roboto"/>
            </a:endParaRPr>
          </a:p>
        </p:txBody>
      </p:sp>
      <p:sp>
        <p:nvSpPr>
          <p:cNvPr id="262" name="Google Shape;262;p29"/>
          <p:cNvSpPr/>
          <p:nvPr/>
        </p:nvSpPr>
        <p:spPr>
          <a:xfrm>
            <a:off x="1733675" y="3063060"/>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9"/>
          <p:cNvSpPr txBox="1"/>
          <p:nvPr/>
        </p:nvSpPr>
        <p:spPr>
          <a:xfrm>
            <a:off x="1767275" y="3042738"/>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2</a:t>
            </a:r>
            <a:endParaRPr sz="1500" b="1" baseline="-25000">
              <a:solidFill>
                <a:srgbClr val="434343"/>
              </a:solidFill>
              <a:latin typeface="Roboto"/>
              <a:ea typeface="Roboto"/>
              <a:cs typeface="Roboto"/>
              <a:sym typeface="Roboto"/>
            </a:endParaRPr>
          </a:p>
        </p:txBody>
      </p:sp>
      <p:sp>
        <p:nvSpPr>
          <p:cNvPr id="264" name="Google Shape;264;p29"/>
          <p:cNvSpPr/>
          <p:nvPr/>
        </p:nvSpPr>
        <p:spPr>
          <a:xfrm>
            <a:off x="1843475" y="3578398"/>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9"/>
          <p:cNvSpPr txBox="1"/>
          <p:nvPr/>
        </p:nvSpPr>
        <p:spPr>
          <a:xfrm>
            <a:off x="1877075" y="3558075"/>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3</a:t>
            </a:r>
            <a:endParaRPr sz="1500" b="1" baseline="-25000">
              <a:solidFill>
                <a:srgbClr val="434343"/>
              </a:solidFill>
              <a:latin typeface="Roboto"/>
              <a:ea typeface="Roboto"/>
              <a:cs typeface="Roboto"/>
              <a:sym typeface="Roboto"/>
            </a:endParaRPr>
          </a:p>
        </p:txBody>
      </p:sp>
      <p:sp>
        <p:nvSpPr>
          <p:cNvPr id="266" name="Google Shape;266;p29"/>
          <p:cNvSpPr/>
          <p:nvPr/>
        </p:nvSpPr>
        <p:spPr>
          <a:xfrm>
            <a:off x="2041800" y="4136998"/>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9"/>
          <p:cNvSpPr txBox="1"/>
          <p:nvPr/>
        </p:nvSpPr>
        <p:spPr>
          <a:xfrm>
            <a:off x="2075400" y="4116675"/>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4</a:t>
            </a:r>
            <a:endParaRPr sz="1500" b="1" baseline="-25000">
              <a:solidFill>
                <a:srgbClr val="434343"/>
              </a:solidFill>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5" name="Google Shape;275;p30"/>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Artificial Neural Network</a:t>
            </a:r>
            <a:endParaRPr sz="2400">
              <a:solidFill>
                <a:schemeClr val="accent1"/>
              </a:solidFill>
              <a:latin typeface="Proxima Nova Semibold"/>
              <a:ea typeface="Proxima Nova Semibold"/>
              <a:cs typeface="Proxima Nova Semibold"/>
              <a:sym typeface="Proxima Nova Semibold"/>
            </a:endParaRPr>
          </a:p>
        </p:txBody>
      </p:sp>
      <p:sp>
        <p:nvSpPr>
          <p:cNvPr id="276" name="Google Shape;276;p30"/>
          <p:cNvSpPr txBox="1"/>
          <p:nvPr/>
        </p:nvSpPr>
        <p:spPr>
          <a:xfrm>
            <a:off x="486000" y="884925"/>
            <a:ext cx="5845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Putting artificial neurons together to create an artificial brain</a:t>
            </a:r>
            <a:endParaRPr sz="1600">
              <a:solidFill>
                <a:srgbClr val="434343"/>
              </a:solidFill>
              <a:latin typeface="Roboto Medium"/>
              <a:ea typeface="Roboto Medium"/>
              <a:cs typeface="Roboto Medium"/>
              <a:sym typeface="Roboto Medium"/>
            </a:endParaRPr>
          </a:p>
        </p:txBody>
      </p:sp>
      <p:sp>
        <p:nvSpPr>
          <p:cNvPr id="277" name="Google Shape;277;p30"/>
          <p:cNvSpPr txBox="1"/>
          <p:nvPr/>
        </p:nvSpPr>
        <p:spPr>
          <a:xfrm>
            <a:off x="486000" y="1226025"/>
            <a:ext cx="76152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A set of neurons are organized in a layer, each network consists of multiple layers of these neurons. Each neuron of a layer is connected with each neuron of the adjacent layer. Hence the outputs of all neurons in a layer are passed as input to the next layer.</a:t>
            </a:r>
            <a:endParaRPr>
              <a:solidFill>
                <a:srgbClr val="666666"/>
              </a:solidFill>
              <a:latin typeface="Roboto"/>
              <a:ea typeface="Roboto"/>
              <a:cs typeface="Roboto"/>
              <a:sym typeface="Roboto"/>
            </a:endParaRPr>
          </a:p>
        </p:txBody>
      </p:sp>
      <p:sp>
        <p:nvSpPr>
          <p:cNvPr id="278" name="Google Shape;278;p30"/>
          <p:cNvSpPr/>
          <p:nvPr/>
        </p:nvSpPr>
        <p:spPr>
          <a:xfrm>
            <a:off x="2533875" y="218240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0"/>
          <p:cNvSpPr/>
          <p:nvPr/>
        </p:nvSpPr>
        <p:spPr>
          <a:xfrm>
            <a:off x="2533875" y="3004975"/>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0"/>
          <p:cNvSpPr/>
          <p:nvPr/>
        </p:nvSpPr>
        <p:spPr>
          <a:xfrm>
            <a:off x="2533875" y="382755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0"/>
          <p:cNvSpPr/>
          <p:nvPr/>
        </p:nvSpPr>
        <p:spPr>
          <a:xfrm>
            <a:off x="4320150" y="2523175"/>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0"/>
          <p:cNvSpPr/>
          <p:nvPr/>
        </p:nvSpPr>
        <p:spPr>
          <a:xfrm>
            <a:off x="4320138" y="340990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0"/>
          <p:cNvSpPr/>
          <p:nvPr/>
        </p:nvSpPr>
        <p:spPr>
          <a:xfrm>
            <a:off x="5550738" y="290340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4" name="Google Shape;284;p30"/>
          <p:cNvCxnSpPr/>
          <p:nvPr/>
        </p:nvCxnSpPr>
        <p:spPr>
          <a:xfrm rot="10800000" flipH="1">
            <a:off x="4952988" y="3361925"/>
            <a:ext cx="488700" cy="188100"/>
          </a:xfrm>
          <a:prstGeom prst="straightConnector1">
            <a:avLst/>
          </a:prstGeom>
          <a:noFill/>
          <a:ln w="9525" cap="flat" cmpd="sng">
            <a:solidFill>
              <a:schemeClr val="dk2"/>
            </a:solidFill>
            <a:prstDash val="solid"/>
            <a:round/>
            <a:headEnd type="none" w="med" len="med"/>
            <a:tailEnd type="triangle" w="med" len="med"/>
          </a:ln>
        </p:spPr>
      </p:cxnSp>
      <p:cxnSp>
        <p:nvCxnSpPr>
          <p:cNvPr id="285" name="Google Shape;285;p30"/>
          <p:cNvCxnSpPr/>
          <p:nvPr/>
        </p:nvCxnSpPr>
        <p:spPr>
          <a:xfrm>
            <a:off x="3194425" y="2413750"/>
            <a:ext cx="929400" cy="192900"/>
          </a:xfrm>
          <a:prstGeom prst="straightConnector1">
            <a:avLst/>
          </a:prstGeom>
          <a:noFill/>
          <a:ln w="9525" cap="flat" cmpd="sng">
            <a:solidFill>
              <a:schemeClr val="dk2"/>
            </a:solidFill>
            <a:prstDash val="solid"/>
            <a:round/>
            <a:headEnd type="none" w="med" len="med"/>
            <a:tailEnd type="triangle" w="med" len="med"/>
          </a:ln>
        </p:spPr>
      </p:cxnSp>
      <p:cxnSp>
        <p:nvCxnSpPr>
          <p:cNvPr id="286" name="Google Shape;286;p30"/>
          <p:cNvCxnSpPr/>
          <p:nvPr/>
        </p:nvCxnSpPr>
        <p:spPr>
          <a:xfrm>
            <a:off x="3172025" y="2588550"/>
            <a:ext cx="996600" cy="836100"/>
          </a:xfrm>
          <a:prstGeom prst="straightConnector1">
            <a:avLst/>
          </a:prstGeom>
          <a:noFill/>
          <a:ln w="9525" cap="flat" cmpd="sng">
            <a:solidFill>
              <a:schemeClr val="dk2"/>
            </a:solidFill>
            <a:prstDash val="solid"/>
            <a:round/>
            <a:headEnd type="none" w="med" len="med"/>
            <a:tailEnd type="triangle" w="med" len="med"/>
          </a:ln>
        </p:spPr>
      </p:cxnSp>
      <p:cxnSp>
        <p:nvCxnSpPr>
          <p:cNvPr id="287" name="Google Shape;287;p30"/>
          <p:cNvCxnSpPr/>
          <p:nvPr/>
        </p:nvCxnSpPr>
        <p:spPr>
          <a:xfrm rot="10800000" flipH="1">
            <a:off x="3160800" y="2976225"/>
            <a:ext cx="1030200" cy="889800"/>
          </a:xfrm>
          <a:prstGeom prst="straightConnector1">
            <a:avLst/>
          </a:prstGeom>
          <a:noFill/>
          <a:ln w="9525" cap="flat" cmpd="sng">
            <a:solidFill>
              <a:schemeClr val="dk2"/>
            </a:solidFill>
            <a:prstDash val="solid"/>
            <a:round/>
            <a:headEnd type="none" w="med" len="med"/>
            <a:tailEnd type="triangle" w="med" len="med"/>
          </a:ln>
        </p:spPr>
      </p:cxnSp>
      <p:cxnSp>
        <p:nvCxnSpPr>
          <p:cNvPr id="288" name="Google Shape;288;p30"/>
          <p:cNvCxnSpPr/>
          <p:nvPr/>
        </p:nvCxnSpPr>
        <p:spPr>
          <a:xfrm rot="10800000" flipH="1">
            <a:off x="3194425" y="3827950"/>
            <a:ext cx="985500" cy="262200"/>
          </a:xfrm>
          <a:prstGeom prst="straightConnector1">
            <a:avLst/>
          </a:prstGeom>
          <a:noFill/>
          <a:ln w="9525" cap="flat" cmpd="sng">
            <a:solidFill>
              <a:schemeClr val="dk2"/>
            </a:solidFill>
            <a:prstDash val="solid"/>
            <a:round/>
            <a:headEnd type="none" w="med" len="med"/>
            <a:tailEnd type="triangle" w="med" len="med"/>
          </a:ln>
        </p:spPr>
      </p:cxnSp>
      <p:cxnSp>
        <p:nvCxnSpPr>
          <p:cNvPr id="289" name="Google Shape;289;p30"/>
          <p:cNvCxnSpPr/>
          <p:nvPr/>
        </p:nvCxnSpPr>
        <p:spPr>
          <a:xfrm rot="10800000" flipH="1">
            <a:off x="3172025" y="2796925"/>
            <a:ext cx="951900" cy="318300"/>
          </a:xfrm>
          <a:prstGeom prst="straightConnector1">
            <a:avLst/>
          </a:prstGeom>
          <a:noFill/>
          <a:ln w="9525" cap="flat" cmpd="sng">
            <a:solidFill>
              <a:schemeClr val="dk2"/>
            </a:solidFill>
            <a:prstDash val="solid"/>
            <a:round/>
            <a:headEnd type="none" w="med" len="med"/>
            <a:tailEnd type="triangle" w="med" len="med"/>
          </a:ln>
        </p:spPr>
      </p:cxnSp>
      <p:cxnSp>
        <p:nvCxnSpPr>
          <p:cNvPr id="290" name="Google Shape;290;p30"/>
          <p:cNvCxnSpPr/>
          <p:nvPr/>
        </p:nvCxnSpPr>
        <p:spPr>
          <a:xfrm>
            <a:off x="3216850" y="3328150"/>
            <a:ext cx="918000" cy="331800"/>
          </a:xfrm>
          <a:prstGeom prst="straightConnector1">
            <a:avLst/>
          </a:prstGeom>
          <a:noFill/>
          <a:ln w="9525" cap="flat" cmpd="sng">
            <a:solidFill>
              <a:schemeClr val="dk2"/>
            </a:solidFill>
            <a:prstDash val="solid"/>
            <a:round/>
            <a:headEnd type="none" w="med" len="med"/>
            <a:tailEnd type="triangle" w="med" len="med"/>
          </a:ln>
        </p:spPr>
      </p:cxnSp>
      <p:cxnSp>
        <p:nvCxnSpPr>
          <p:cNvPr id="291" name="Google Shape;291;p30"/>
          <p:cNvCxnSpPr/>
          <p:nvPr/>
        </p:nvCxnSpPr>
        <p:spPr>
          <a:xfrm>
            <a:off x="6197600" y="3163300"/>
            <a:ext cx="564900" cy="0"/>
          </a:xfrm>
          <a:prstGeom prst="straightConnector1">
            <a:avLst/>
          </a:prstGeom>
          <a:noFill/>
          <a:ln w="9525" cap="flat" cmpd="sng">
            <a:solidFill>
              <a:schemeClr val="dk2"/>
            </a:solidFill>
            <a:prstDash val="solid"/>
            <a:round/>
            <a:headEnd type="none" w="med" len="med"/>
            <a:tailEnd type="triangle" w="med" len="med"/>
          </a:ln>
        </p:spPr>
      </p:cxnSp>
      <p:cxnSp>
        <p:nvCxnSpPr>
          <p:cNvPr id="292" name="Google Shape;292;p30"/>
          <p:cNvCxnSpPr/>
          <p:nvPr/>
        </p:nvCxnSpPr>
        <p:spPr>
          <a:xfrm>
            <a:off x="4975400" y="2823875"/>
            <a:ext cx="470100" cy="176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300" name="Google Shape;300;p31"/>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But how does this learn?</a:t>
            </a:r>
            <a:endParaRPr sz="2400">
              <a:solidFill>
                <a:schemeClr val="accent1"/>
              </a:solidFill>
              <a:latin typeface="Proxima Nova Semibold"/>
              <a:ea typeface="Proxima Nova Semibold"/>
              <a:cs typeface="Proxima Nova Semibold"/>
              <a:sym typeface="Proxima Nova Semibold"/>
            </a:endParaRPr>
          </a:p>
        </p:txBody>
      </p:sp>
      <p:sp>
        <p:nvSpPr>
          <p:cNvPr id="301" name="Google Shape;301;p31"/>
          <p:cNvSpPr txBox="1"/>
          <p:nvPr/>
        </p:nvSpPr>
        <p:spPr>
          <a:xfrm>
            <a:off x="486000" y="1189725"/>
            <a:ext cx="1732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Training an ANN</a:t>
            </a:r>
            <a:endParaRPr sz="1600">
              <a:solidFill>
                <a:srgbClr val="434343"/>
              </a:solidFill>
              <a:latin typeface="Roboto Medium"/>
              <a:ea typeface="Roboto Medium"/>
              <a:cs typeface="Roboto Medium"/>
              <a:sym typeface="Roboto Medium"/>
            </a:endParaRPr>
          </a:p>
        </p:txBody>
      </p:sp>
      <p:sp>
        <p:nvSpPr>
          <p:cNvPr id="302" name="Google Shape;302;p31"/>
          <p:cNvSpPr txBox="1"/>
          <p:nvPr/>
        </p:nvSpPr>
        <p:spPr>
          <a:xfrm>
            <a:off x="486000" y="1546100"/>
            <a:ext cx="3133500" cy="2339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We pass the ANN an input, initially it produces a random output. We inform the model that the output is wrong. It goes back and tweaks the </a:t>
            </a:r>
            <a:r>
              <a:rPr lang="en" b="1">
                <a:solidFill>
                  <a:srgbClr val="666666"/>
                </a:solidFill>
                <a:latin typeface="Roboto"/>
                <a:ea typeface="Roboto"/>
                <a:cs typeface="Roboto"/>
                <a:sym typeface="Roboto"/>
              </a:rPr>
              <a:t>‘importance’</a:t>
            </a:r>
            <a:r>
              <a:rPr lang="en">
                <a:solidFill>
                  <a:srgbClr val="666666"/>
                </a:solidFill>
                <a:latin typeface="Roboto"/>
                <a:ea typeface="Roboto"/>
                <a:cs typeface="Roboto"/>
                <a:sym typeface="Roboto"/>
              </a:rPr>
              <a:t> it gives to every input and this results in a slightly better result. The model is again informed of its errors and the process continues till it reaches the desired performance level.</a:t>
            </a:r>
            <a:endParaRPr>
              <a:solidFill>
                <a:srgbClr val="666666"/>
              </a:solidFill>
              <a:latin typeface="Roboto"/>
              <a:ea typeface="Roboto"/>
              <a:cs typeface="Roboto"/>
              <a:sym typeface="Roboto"/>
            </a:endParaRPr>
          </a:p>
        </p:txBody>
      </p:sp>
      <p:sp>
        <p:nvSpPr>
          <p:cNvPr id="303" name="Google Shape;303;p31"/>
          <p:cNvSpPr/>
          <p:nvPr/>
        </p:nvSpPr>
        <p:spPr>
          <a:xfrm>
            <a:off x="5472925" y="1835500"/>
            <a:ext cx="1299900" cy="554100"/>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Proxima Nova Semibold"/>
                <a:ea typeface="Proxima Nova Semibold"/>
                <a:cs typeface="Proxima Nova Semibold"/>
                <a:sym typeface="Proxima Nova Semibold"/>
              </a:rPr>
              <a:t>ANN Model</a:t>
            </a:r>
            <a:endParaRPr sz="1300">
              <a:latin typeface="Proxima Nova Semibold"/>
              <a:ea typeface="Proxima Nova Semibold"/>
              <a:cs typeface="Proxima Nova Semibold"/>
              <a:sym typeface="Proxima Nova Semibold"/>
            </a:endParaRPr>
          </a:p>
        </p:txBody>
      </p:sp>
      <p:cxnSp>
        <p:nvCxnSpPr>
          <p:cNvPr id="304" name="Google Shape;304;p31"/>
          <p:cNvCxnSpPr/>
          <p:nvPr/>
        </p:nvCxnSpPr>
        <p:spPr>
          <a:xfrm>
            <a:off x="4722163" y="2149300"/>
            <a:ext cx="609600" cy="0"/>
          </a:xfrm>
          <a:prstGeom prst="straightConnector1">
            <a:avLst/>
          </a:prstGeom>
          <a:noFill/>
          <a:ln w="9525" cap="flat" cmpd="sng">
            <a:solidFill>
              <a:schemeClr val="dk2"/>
            </a:solidFill>
            <a:prstDash val="solid"/>
            <a:round/>
            <a:headEnd type="none" w="med" len="med"/>
            <a:tailEnd type="triangle" w="med" len="med"/>
          </a:ln>
        </p:spPr>
      </p:cxnSp>
      <p:cxnSp>
        <p:nvCxnSpPr>
          <p:cNvPr id="305" name="Google Shape;305;p31"/>
          <p:cNvCxnSpPr/>
          <p:nvPr/>
        </p:nvCxnSpPr>
        <p:spPr>
          <a:xfrm rot="10800000" flipH="1">
            <a:off x="6965888" y="2143750"/>
            <a:ext cx="505800" cy="11100"/>
          </a:xfrm>
          <a:prstGeom prst="straightConnector1">
            <a:avLst/>
          </a:prstGeom>
          <a:noFill/>
          <a:ln w="9525" cap="flat" cmpd="sng">
            <a:solidFill>
              <a:schemeClr val="dk2"/>
            </a:solidFill>
            <a:prstDash val="solid"/>
            <a:round/>
            <a:headEnd type="none" w="med" len="med"/>
            <a:tailEnd type="triangle" w="med" len="med"/>
          </a:ln>
        </p:spPr>
      </p:cxnSp>
      <p:sp>
        <p:nvSpPr>
          <p:cNvPr id="306" name="Google Shape;306;p31"/>
          <p:cNvSpPr txBox="1"/>
          <p:nvPr/>
        </p:nvSpPr>
        <p:spPr>
          <a:xfrm>
            <a:off x="4114800" y="1964650"/>
            <a:ext cx="694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Proxima Nova Semibold"/>
                <a:ea typeface="Proxima Nova Semibold"/>
                <a:cs typeface="Proxima Nova Semibold"/>
                <a:sym typeface="Proxima Nova Semibold"/>
              </a:rPr>
              <a:t>INPUT</a:t>
            </a:r>
            <a:endParaRPr sz="1200">
              <a:latin typeface="Proxima Nova Semibold"/>
              <a:ea typeface="Proxima Nova Semibold"/>
              <a:cs typeface="Proxima Nova Semibold"/>
              <a:sym typeface="Proxima Nova Semibold"/>
            </a:endParaRPr>
          </a:p>
        </p:txBody>
      </p:sp>
      <p:sp>
        <p:nvSpPr>
          <p:cNvPr id="307" name="Google Shape;307;p31"/>
          <p:cNvSpPr txBox="1"/>
          <p:nvPr/>
        </p:nvSpPr>
        <p:spPr>
          <a:xfrm>
            <a:off x="7512350" y="1964650"/>
            <a:ext cx="923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Proxima Nova Semibold"/>
                <a:ea typeface="Proxima Nova Semibold"/>
                <a:cs typeface="Proxima Nova Semibold"/>
                <a:sym typeface="Proxima Nova Semibold"/>
              </a:rPr>
              <a:t>OUTPUT</a:t>
            </a:r>
            <a:endParaRPr sz="1200">
              <a:latin typeface="Proxima Nova Semibold"/>
              <a:ea typeface="Proxima Nova Semibold"/>
              <a:cs typeface="Proxima Nova Semibold"/>
              <a:sym typeface="Proxima Nova Semibold"/>
            </a:endParaRPr>
          </a:p>
        </p:txBody>
      </p:sp>
      <p:cxnSp>
        <p:nvCxnSpPr>
          <p:cNvPr id="308" name="Google Shape;308;p31"/>
          <p:cNvCxnSpPr/>
          <p:nvPr/>
        </p:nvCxnSpPr>
        <p:spPr>
          <a:xfrm rot="10800000">
            <a:off x="7850800" y="2443000"/>
            <a:ext cx="0" cy="963600"/>
          </a:xfrm>
          <a:prstGeom prst="straightConnector1">
            <a:avLst/>
          </a:prstGeom>
          <a:noFill/>
          <a:ln w="9525" cap="flat" cmpd="sng">
            <a:solidFill>
              <a:schemeClr val="dk2"/>
            </a:solidFill>
            <a:prstDash val="solid"/>
            <a:round/>
            <a:headEnd type="none" w="med" len="med"/>
            <a:tailEnd type="none" w="med" len="med"/>
          </a:ln>
        </p:spPr>
      </p:cxnSp>
      <p:cxnSp>
        <p:nvCxnSpPr>
          <p:cNvPr id="309" name="Google Shape;309;p31"/>
          <p:cNvCxnSpPr/>
          <p:nvPr/>
        </p:nvCxnSpPr>
        <p:spPr>
          <a:xfrm rot="10800000">
            <a:off x="6122875" y="2513500"/>
            <a:ext cx="0" cy="588300"/>
          </a:xfrm>
          <a:prstGeom prst="straightConnector1">
            <a:avLst/>
          </a:prstGeom>
          <a:noFill/>
          <a:ln w="9525" cap="flat" cmpd="sng">
            <a:solidFill>
              <a:schemeClr val="dk2"/>
            </a:solidFill>
            <a:prstDash val="solid"/>
            <a:round/>
            <a:headEnd type="none" w="med" len="med"/>
            <a:tailEnd type="triangle" w="med" len="med"/>
          </a:ln>
        </p:spPr>
      </p:cxnSp>
      <p:sp>
        <p:nvSpPr>
          <p:cNvPr id="310" name="Google Shape;310;p31"/>
          <p:cNvSpPr txBox="1"/>
          <p:nvPr/>
        </p:nvSpPr>
        <p:spPr>
          <a:xfrm>
            <a:off x="5661175" y="3225700"/>
            <a:ext cx="9234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Proxima Nova Semibold"/>
                <a:ea typeface="Proxima Nova Semibold"/>
                <a:cs typeface="Proxima Nova Semibold"/>
                <a:sym typeface="Proxima Nova Semibold"/>
              </a:rPr>
              <a:t>ERROR</a:t>
            </a:r>
            <a:endParaRPr sz="1200">
              <a:latin typeface="Proxima Nova Semibold"/>
              <a:ea typeface="Proxima Nova Semibold"/>
              <a:cs typeface="Proxima Nova Semibold"/>
              <a:sym typeface="Proxima Nova Semibold"/>
            </a:endParaRPr>
          </a:p>
        </p:txBody>
      </p:sp>
      <p:cxnSp>
        <p:nvCxnSpPr>
          <p:cNvPr id="311" name="Google Shape;311;p31"/>
          <p:cNvCxnSpPr/>
          <p:nvPr/>
        </p:nvCxnSpPr>
        <p:spPr>
          <a:xfrm rot="10800000">
            <a:off x="6584525" y="3410350"/>
            <a:ext cx="1270800" cy="0"/>
          </a:xfrm>
          <a:prstGeom prst="straightConnector1">
            <a:avLst/>
          </a:prstGeom>
          <a:noFill/>
          <a:ln w="9525" cap="flat" cmpd="sng">
            <a:solidFill>
              <a:schemeClr val="dk2"/>
            </a:solidFill>
            <a:prstDash val="solid"/>
            <a:round/>
            <a:headEnd type="none" w="med" len="med"/>
            <a:tailEnd type="triangle" w="med" len="med"/>
          </a:ln>
        </p:spPr>
      </p:cxnSp>
      <p:sp>
        <p:nvSpPr>
          <p:cNvPr id="312" name="Google Shape;312;p31"/>
          <p:cNvSpPr txBox="1"/>
          <p:nvPr/>
        </p:nvSpPr>
        <p:spPr>
          <a:xfrm>
            <a:off x="6584575" y="3414100"/>
            <a:ext cx="14751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434343"/>
                </a:solidFill>
                <a:latin typeface="Roboto"/>
                <a:ea typeface="Roboto"/>
                <a:cs typeface="Roboto"/>
                <a:sym typeface="Roboto"/>
              </a:rPr>
              <a:t>compare with correct output</a:t>
            </a:r>
            <a:endParaRPr sz="1200">
              <a:solidFill>
                <a:srgbClr val="434343"/>
              </a:solidFill>
              <a:latin typeface="Roboto"/>
              <a:ea typeface="Roboto"/>
              <a:cs typeface="Roboto"/>
              <a:sym typeface="Roboto"/>
            </a:endParaRPr>
          </a:p>
        </p:txBody>
      </p:sp>
      <p:sp>
        <p:nvSpPr>
          <p:cNvPr id="313" name="Google Shape;313;p31"/>
          <p:cNvSpPr txBox="1"/>
          <p:nvPr/>
        </p:nvSpPr>
        <p:spPr>
          <a:xfrm>
            <a:off x="4874575" y="2530600"/>
            <a:ext cx="1270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434343"/>
                </a:solidFill>
                <a:latin typeface="Roboto"/>
                <a:ea typeface="Roboto"/>
                <a:cs typeface="Roboto"/>
                <a:sym typeface="Roboto"/>
              </a:rPr>
              <a:t>modify importances</a:t>
            </a:r>
            <a:endParaRPr sz="1200">
              <a:solidFill>
                <a:srgbClr val="434343"/>
              </a:solidFill>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9" name="Google Shape;329;p33"/>
          <p:cNvSpPr txBox="1"/>
          <p:nvPr/>
        </p:nvSpPr>
        <p:spPr>
          <a:xfrm>
            <a:off x="2286589" y="4650137"/>
            <a:ext cx="45708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 sz="1200" b="1">
                <a:solidFill>
                  <a:srgbClr val="7F7F7F"/>
                </a:solidFill>
              </a:rPr>
              <a:t>Open House on AI for HealthCare</a:t>
            </a:r>
            <a:endParaRPr sz="1200" b="1" i="0" u="none" strike="noStrike" cap="none">
              <a:solidFill>
                <a:srgbClr val="000000"/>
              </a:solidFill>
              <a:latin typeface="Arial"/>
              <a:ea typeface="Arial"/>
              <a:cs typeface="Arial"/>
              <a:sym typeface="Arial"/>
            </a:endParaRPr>
          </a:p>
        </p:txBody>
      </p:sp>
      <p:sp>
        <p:nvSpPr>
          <p:cNvPr id="330" name="Google Shape;330;p33"/>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An example of a learning pass</a:t>
            </a:r>
            <a:endParaRPr sz="2400">
              <a:solidFill>
                <a:schemeClr val="accent1"/>
              </a:solidFill>
              <a:latin typeface="Proxima Nova Semibold"/>
              <a:ea typeface="Proxima Nova Semibold"/>
              <a:cs typeface="Proxima Nova Semibold"/>
              <a:sym typeface="Proxima Nova Semibold"/>
            </a:endParaRPr>
          </a:p>
        </p:txBody>
      </p:sp>
      <p:pic>
        <p:nvPicPr>
          <p:cNvPr id="331" name="Google Shape;331;p33"/>
          <p:cNvPicPr preferRelativeResize="0"/>
          <p:nvPr/>
        </p:nvPicPr>
        <p:blipFill>
          <a:blip r:embed="rId3">
            <a:alphaModFix/>
          </a:blip>
          <a:stretch>
            <a:fillRect/>
          </a:stretch>
        </p:blipFill>
        <p:spPr>
          <a:xfrm>
            <a:off x="1644225" y="1154988"/>
            <a:ext cx="5855550" cy="3302525"/>
          </a:xfrm>
          <a:prstGeom prst="rect">
            <a:avLst/>
          </a:prstGeom>
          <a:noFill/>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7" name="Google Shape;397;p40"/>
          <p:cNvPicPr preferRelativeResize="0"/>
          <p:nvPr/>
        </p:nvPicPr>
        <p:blipFill>
          <a:blip r:embed="rId3">
            <a:alphaModFix/>
          </a:blip>
          <a:stretch>
            <a:fillRect/>
          </a:stretch>
        </p:blipFill>
        <p:spPr>
          <a:xfrm>
            <a:off x="1271583" y="1168150"/>
            <a:ext cx="6600825" cy="3219450"/>
          </a:xfrm>
          <a:prstGeom prst="rect">
            <a:avLst/>
          </a:prstGeom>
          <a:noFill/>
          <a:ln>
            <a:noFill/>
          </a:ln>
        </p:spPr>
      </p:pic>
    </p:spTree>
    <p:extLst>
      <p:ext uri="{BB962C8B-B14F-4D97-AF65-F5344CB8AC3E}">
        <p14:creationId xmlns:p14="http://schemas.microsoft.com/office/powerpoint/2010/main" val="27406019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5654" y="347515"/>
            <a:ext cx="3129716" cy="453805"/>
          </a:xfrm>
          <a:prstGeom prst="rect">
            <a:avLst/>
          </a:prstGeom>
        </p:spPr>
        <p:txBody>
          <a:bodyPr spcFirstLastPara="1" vert="horz" wrap="square" lIns="0" tIns="9996" rIns="0" bIns="0" rtlCol="0" anchor="t" anchorCtr="0">
            <a:spAutoFit/>
          </a:bodyPr>
          <a:lstStyle/>
          <a:p>
            <a:pPr marL="9520">
              <a:spcBef>
                <a:spcPts val="79"/>
              </a:spcBef>
            </a:pPr>
            <a:r>
              <a:rPr spc="-11" dirty="0" smtClean="0"/>
              <a:t>History</a:t>
            </a:r>
            <a:r>
              <a:rPr lang="en-IN" spc="-11" dirty="0" smtClean="0"/>
              <a:t> of CNN</a:t>
            </a:r>
            <a:endParaRPr spc="-11" dirty="0"/>
          </a:p>
        </p:txBody>
      </p:sp>
      <p:sp>
        <p:nvSpPr>
          <p:cNvPr id="3" name="object 3"/>
          <p:cNvSpPr txBox="1"/>
          <p:nvPr/>
        </p:nvSpPr>
        <p:spPr>
          <a:xfrm>
            <a:off x="611539" y="1208400"/>
            <a:ext cx="3740542" cy="978245"/>
          </a:xfrm>
          <a:prstGeom prst="rect">
            <a:avLst/>
          </a:prstGeom>
        </p:spPr>
        <p:txBody>
          <a:bodyPr vert="horz" wrap="square" lIns="0" tIns="9045" rIns="0" bIns="0" rtlCol="0">
            <a:spAutoFit/>
          </a:bodyPr>
          <a:lstStyle/>
          <a:p>
            <a:pPr marL="266584" marR="3809" indent="-257539">
              <a:spcBef>
                <a:spcPts val="71"/>
              </a:spcBef>
              <a:buFont typeface="Arial"/>
              <a:buChar char="•"/>
              <a:tabLst>
                <a:tab pos="266584" algn="l"/>
                <a:tab pos="267059" algn="l"/>
              </a:tabLst>
            </a:pPr>
            <a:r>
              <a:rPr sz="2099" spc="-5" dirty="0">
                <a:latin typeface="Calibri"/>
                <a:cs typeface="Calibri"/>
              </a:rPr>
              <a:t>In 1995, </a:t>
            </a:r>
            <a:r>
              <a:rPr sz="2099" b="1" spc="-33" dirty="0">
                <a:latin typeface="Calibri"/>
                <a:cs typeface="Calibri"/>
              </a:rPr>
              <a:t>Yann </a:t>
            </a:r>
            <a:r>
              <a:rPr sz="2099" spc="-11" dirty="0">
                <a:latin typeface="Calibri"/>
                <a:cs typeface="Calibri"/>
              </a:rPr>
              <a:t>introduced </a:t>
            </a:r>
            <a:r>
              <a:rPr sz="2099" spc="-5" dirty="0">
                <a:latin typeface="Calibri"/>
                <a:cs typeface="Calibri"/>
              </a:rPr>
              <a:t>the </a:t>
            </a:r>
            <a:r>
              <a:rPr sz="2099" spc="-8" dirty="0">
                <a:latin typeface="Calibri"/>
                <a:cs typeface="Calibri"/>
              </a:rPr>
              <a:t>concept  </a:t>
            </a:r>
            <a:r>
              <a:rPr sz="2099" spc="-5" dirty="0">
                <a:latin typeface="Calibri"/>
                <a:cs typeface="Calibri"/>
              </a:rPr>
              <a:t>of </a:t>
            </a:r>
            <a:r>
              <a:rPr sz="2099" spc="-11" dirty="0">
                <a:latin typeface="Calibri"/>
                <a:cs typeface="Calibri"/>
              </a:rPr>
              <a:t>convolutional </a:t>
            </a:r>
            <a:r>
              <a:rPr sz="2099" spc="-14" dirty="0">
                <a:latin typeface="Calibri"/>
                <a:cs typeface="Calibri"/>
              </a:rPr>
              <a:t>neural  </a:t>
            </a:r>
            <a:r>
              <a:rPr sz="2099" spc="-11" dirty="0">
                <a:latin typeface="Calibri"/>
                <a:cs typeface="Calibri"/>
              </a:rPr>
              <a:t>networks.</a:t>
            </a:r>
            <a:endParaRPr sz="2099" dirty="0">
              <a:latin typeface="Calibri"/>
              <a:cs typeface="Calibri"/>
            </a:endParaRPr>
          </a:p>
        </p:txBody>
      </p:sp>
      <p:grpSp>
        <p:nvGrpSpPr>
          <p:cNvPr id="4" name="object 4"/>
          <p:cNvGrpSpPr/>
          <p:nvPr/>
        </p:nvGrpSpPr>
        <p:grpSpPr>
          <a:xfrm>
            <a:off x="4636859" y="919472"/>
            <a:ext cx="1182426" cy="1556099"/>
            <a:chOff x="4715255" y="1591055"/>
            <a:chExt cx="1577340" cy="2075814"/>
          </a:xfrm>
        </p:grpSpPr>
        <p:sp>
          <p:nvSpPr>
            <p:cNvPr id="5" name="object 5"/>
            <p:cNvSpPr/>
            <p:nvPr/>
          </p:nvSpPr>
          <p:spPr>
            <a:xfrm>
              <a:off x="4724399" y="1600199"/>
              <a:ext cx="1559052" cy="2057400"/>
            </a:xfrm>
            <a:prstGeom prst="rect">
              <a:avLst/>
            </a:prstGeom>
            <a:blipFill>
              <a:blip r:embed="rId2" cstate="print"/>
              <a:stretch>
                <a:fillRect/>
              </a:stretch>
            </a:blipFill>
          </p:spPr>
          <p:txBody>
            <a:bodyPr wrap="square" lIns="0" tIns="0" rIns="0" bIns="0" rtlCol="0"/>
            <a:lstStyle/>
            <a:p>
              <a:endParaRPr sz="1349"/>
            </a:p>
          </p:txBody>
        </p:sp>
        <p:sp>
          <p:nvSpPr>
            <p:cNvPr id="6" name="object 6"/>
            <p:cNvSpPr/>
            <p:nvPr/>
          </p:nvSpPr>
          <p:spPr>
            <a:xfrm>
              <a:off x="4719827" y="1595627"/>
              <a:ext cx="1568450" cy="2066925"/>
            </a:xfrm>
            <a:custGeom>
              <a:avLst/>
              <a:gdLst/>
              <a:ahLst/>
              <a:cxnLst/>
              <a:rect l="l" t="t" r="r" b="b"/>
              <a:pathLst>
                <a:path w="1568450" h="2066925">
                  <a:moveTo>
                    <a:pt x="0" y="2066544"/>
                  </a:moveTo>
                  <a:lnTo>
                    <a:pt x="1568196" y="2066544"/>
                  </a:lnTo>
                  <a:lnTo>
                    <a:pt x="1568196" y="0"/>
                  </a:lnTo>
                  <a:lnTo>
                    <a:pt x="0" y="0"/>
                  </a:lnTo>
                  <a:lnTo>
                    <a:pt x="0" y="2066544"/>
                  </a:lnTo>
                  <a:close/>
                </a:path>
              </a:pathLst>
            </a:custGeom>
            <a:ln w="9144">
              <a:solidFill>
                <a:srgbClr val="C0504D"/>
              </a:solidFill>
            </a:ln>
          </p:spPr>
          <p:txBody>
            <a:bodyPr wrap="square" lIns="0" tIns="0" rIns="0" bIns="0" rtlCol="0"/>
            <a:lstStyle/>
            <a:p>
              <a:endParaRPr sz="1349"/>
            </a:p>
          </p:txBody>
        </p:sp>
      </p:grpSp>
      <p:sp>
        <p:nvSpPr>
          <p:cNvPr id="7" name="object 2"/>
          <p:cNvSpPr/>
          <p:nvPr/>
        </p:nvSpPr>
        <p:spPr>
          <a:xfrm>
            <a:off x="611539" y="3009014"/>
            <a:ext cx="7894508" cy="1626864"/>
          </a:xfrm>
          <a:prstGeom prst="rect">
            <a:avLst/>
          </a:prstGeom>
          <a:blipFill>
            <a:blip r:embed="rId3" cstate="print"/>
            <a:stretch>
              <a:fillRect/>
            </a:stretch>
          </a:blipFill>
        </p:spPr>
        <p:txBody>
          <a:bodyPr wrap="square" lIns="0" tIns="0" rIns="0" bIns="0" rtlCol="0"/>
          <a:lstStyle/>
          <a:p>
            <a:endParaRPr sz="1799"/>
          </a:p>
        </p:txBody>
      </p:sp>
      <p:sp>
        <p:nvSpPr>
          <p:cNvPr id="8" name="Footer Placeholder 7"/>
          <p:cNvSpPr>
            <a:spLocks noGrp="1"/>
          </p:cNvSpPr>
          <p:nvPr>
            <p:ph type="ftr" sz="quarter" idx="11"/>
          </p:nvPr>
        </p:nvSpPr>
        <p:spPr/>
        <p:txBody>
          <a:bodyPr/>
          <a:lstStyle/>
          <a:p>
            <a:r>
              <a:rPr lang="en-US" dirty="0" smtClean="0"/>
              <a:t>Introduction to ML</a:t>
            </a:r>
            <a:endParaRPr lang="en-US" dirty="0"/>
          </a:p>
        </p:txBody>
      </p:sp>
    </p:spTree>
    <p:extLst>
      <p:ext uri="{BB962C8B-B14F-4D97-AF65-F5344CB8AC3E}">
        <p14:creationId xmlns:p14="http://schemas.microsoft.com/office/powerpoint/2010/main" val="130890481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9" name="Google Shape;339;p34"/>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Convolution Neural Networks</a:t>
            </a:r>
            <a:endParaRPr sz="2400">
              <a:solidFill>
                <a:schemeClr val="accent1"/>
              </a:solidFill>
              <a:latin typeface="Proxima Nova Semibold"/>
              <a:ea typeface="Proxima Nova Semibold"/>
              <a:cs typeface="Proxima Nova Semibold"/>
              <a:sym typeface="Proxima Nova Semibold"/>
            </a:endParaRPr>
          </a:p>
        </p:txBody>
      </p:sp>
      <p:sp>
        <p:nvSpPr>
          <p:cNvPr id="340" name="Google Shape;340;p34"/>
          <p:cNvSpPr txBox="1"/>
          <p:nvPr/>
        </p:nvSpPr>
        <p:spPr>
          <a:xfrm>
            <a:off x="486000" y="884925"/>
            <a:ext cx="519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Limitation of conventional ANNs</a:t>
            </a:r>
            <a:endParaRPr sz="1600">
              <a:solidFill>
                <a:srgbClr val="434343"/>
              </a:solidFill>
              <a:latin typeface="Roboto Medium"/>
              <a:ea typeface="Roboto Medium"/>
              <a:cs typeface="Roboto Medium"/>
              <a:sym typeface="Roboto Medium"/>
            </a:endParaRPr>
          </a:p>
        </p:txBody>
      </p:sp>
      <p:sp>
        <p:nvSpPr>
          <p:cNvPr id="341" name="Google Shape;341;p34"/>
          <p:cNvSpPr txBox="1"/>
          <p:nvPr/>
        </p:nvSpPr>
        <p:spPr>
          <a:xfrm>
            <a:off x="796851" y="2252775"/>
            <a:ext cx="3021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Roboto Medium"/>
                <a:ea typeface="Roboto Medium"/>
                <a:cs typeface="Roboto Medium"/>
                <a:sym typeface="Roboto Medium"/>
              </a:rPr>
              <a:t>Importance of CNNs</a:t>
            </a:r>
            <a:endParaRPr sz="1600">
              <a:solidFill>
                <a:schemeClr val="accent1"/>
              </a:solidFill>
              <a:latin typeface="Roboto Medium"/>
              <a:ea typeface="Roboto Medium"/>
              <a:cs typeface="Roboto Medium"/>
              <a:sym typeface="Roboto Medium"/>
            </a:endParaRPr>
          </a:p>
        </p:txBody>
      </p:sp>
      <p:sp>
        <p:nvSpPr>
          <p:cNvPr id="342" name="Google Shape;342;p34"/>
          <p:cNvSpPr txBox="1"/>
          <p:nvPr/>
        </p:nvSpPr>
        <p:spPr>
          <a:xfrm>
            <a:off x="486000" y="1226025"/>
            <a:ext cx="76152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The standard ANN in itself can only work with small images hence we use an alteration called a convolutional neural network (CNN) which takes an image as input and converts it into a smaller image by encoding each pixel with its neighbouring context.</a:t>
            </a:r>
            <a:endParaRPr>
              <a:solidFill>
                <a:srgbClr val="666666"/>
              </a:solidFill>
              <a:latin typeface="Roboto"/>
              <a:ea typeface="Roboto"/>
              <a:cs typeface="Roboto"/>
              <a:sym typeface="Roboto"/>
            </a:endParaRPr>
          </a:p>
        </p:txBody>
      </p:sp>
      <p:sp>
        <p:nvSpPr>
          <p:cNvPr id="343" name="Google Shape;343;p34"/>
          <p:cNvSpPr txBox="1"/>
          <p:nvPr/>
        </p:nvSpPr>
        <p:spPr>
          <a:xfrm>
            <a:off x="790800" y="2592800"/>
            <a:ext cx="3519000" cy="1046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CNNs allow us to process images faster with lesser compute. They have been used to create numerous models for various image related tasks.</a:t>
            </a:r>
            <a:endParaRPr>
              <a:solidFill>
                <a:srgbClr val="666666"/>
              </a:solidFill>
              <a:latin typeface="Roboto"/>
              <a:ea typeface="Roboto"/>
              <a:cs typeface="Roboto"/>
              <a:sym typeface="Roboto"/>
            </a:endParaRPr>
          </a:p>
        </p:txBody>
      </p:sp>
      <p:pic>
        <p:nvPicPr>
          <p:cNvPr id="344" name="Google Shape;344;p34"/>
          <p:cNvPicPr preferRelativeResize="0"/>
          <p:nvPr/>
        </p:nvPicPr>
        <p:blipFill>
          <a:blip r:embed="rId3">
            <a:alphaModFix/>
          </a:blip>
          <a:stretch>
            <a:fillRect/>
          </a:stretch>
        </p:blipFill>
        <p:spPr>
          <a:xfrm>
            <a:off x="5250125" y="2209725"/>
            <a:ext cx="2372086" cy="2288012"/>
          </a:xfrm>
          <a:prstGeom prst="rect">
            <a:avLst/>
          </a:prstGeom>
          <a:noFill/>
          <a:ln>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for post"/>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77094" y="1220788"/>
            <a:ext cx="7353300" cy="32766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p:txBody>
          <a:bodyPr/>
          <a:lstStyle/>
          <a:p>
            <a:r>
              <a:rPr lang="en-US" sz="1800" b="1" dirty="0"/>
              <a:t>Typical Structure of a CNN</a:t>
            </a:r>
            <a:endParaRPr lang="en-IN" sz="1800" b="1" dirty="0"/>
          </a:p>
        </p:txBody>
      </p:sp>
      <p:sp>
        <p:nvSpPr>
          <p:cNvPr id="6" name="Footer Placeholder 5"/>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3426046505"/>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4530</TotalTime>
  <Words>1877</Words>
  <Application>Microsoft Office PowerPoint</Application>
  <PresentationFormat>On-screen Show (16:9)</PresentationFormat>
  <Paragraphs>240</Paragraphs>
  <Slides>45</Slides>
  <Notes>17</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45</vt:i4>
      </vt:variant>
    </vt:vector>
  </HeadingPairs>
  <TitlesOfParts>
    <vt:vector size="63" baseType="lpstr">
      <vt:lpstr>Roboto</vt:lpstr>
      <vt:lpstr>Microsoft Sans Serif</vt:lpstr>
      <vt:lpstr>Wingdings</vt:lpstr>
      <vt:lpstr>Tahoma</vt:lpstr>
      <vt:lpstr>Helvetica</vt:lpstr>
      <vt:lpstr>Calibri Light</vt:lpstr>
      <vt:lpstr>D-DINExp</vt:lpstr>
      <vt:lpstr>Alfred Serif</vt:lpstr>
      <vt:lpstr>Courier New</vt:lpstr>
      <vt:lpstr>Lucida Sans Unicode</vt:lpstr>
      <vt:lpstr>Times New Roman</vt:lpstr>
      <vt:lpstr>Arial</vt:lpstr>
      <vt:lpstr>Proxima Nova Semibold</vt:lpstr>
      <vt:lpstr>Roboto Medium</vt:lpstr>
      <vt:lpstr>Trebuchet MS</vt:lpstr>
      <vt:lpstr>Google Sans</vt:lpstr>
      <vt:lpstr>Calibri</vt:lpstr>
      <vt:lpstr>Simple Light</vt:lpstr>
      <vt:lpstr>PowerPoint Presentation</vt:lpstr>
      <vt:lpstr>PowerPoint Presentation</vt:lpstr>
      <vt:lpstr>PowerPoint Presentation</vt:lpstr>
      <vt:lpstr>What is Artificial Intelligence ?</vt:lpstr>
      <vt:lpstr>PowerPoint Presentation</vt:lpstr>
      <vt:lpstr>PowerPoint Presentation</vt:lpstr>
      <vt:lpstr>Father of AI</vt:lpstr>
      <vt:lpstr>God Father of AI</vt:lpstr>
      <vt:lpstr>PowerPoint Presentation</vt:lpstr>
      <vt:lpstr>PowerPoint Presentation</vt:lpstr>
      <vt:lpstr>PowerPoint Presentation</vt:lpstr>
      <vt:lpstr>PowerPoint Presentation</vt:lpstr>
      <vt:lpstr>What is Learning?</vt:lpstr>
      <vt:lpstr>How Do Children Learn?</vt:lpstr>
      <vt:lpstr>Machine Learning</vt:lpstr>
      <vt:lpstr>Supervised vs Unsupervised Machine Learning</vt:lpstr>
      <vt:lpstr>PowerPoint Presentation</vt:lpstr>
      <vt:lpstr>Typical Training process of a ML Model</vt:lpstr>
      <vt:lpstr>Train – test splitting</vt:lpstr>
      <vt:lpstr>Anatomy of Supervised Learning Algorithm</vt:lpstr>
      <vt:lpstr>Predictive AI Vs Generative AI</vt:lpstr>
      <vt:lpstr>Generative AI</vt:lpstr>
      <vt:lpstr>PowerPoint Presentation</vt:lpstr>
      <vt:lpstr>Linear Regression</vt:lpstr>
      <vt:lpstr>Problem Definition</vt:lpstr>
      <vt:lpstr>Linear Regression</vt:lpstr>
      <vt:lpstr>PowerPoint Presentation</vt:lpstr>
      <vt:lpstr>PowerPoint Presentation</vt:lpstr>
      <vt:lpstr>Training the Linear Regression</vt:lpstr>
      <vt:lpstr>Gradient Descent</vt:lpstr>
      <vt:lpstr>Training the Linear Regression</vt:lpstr>
      <vt:lpstr>Logistic Regression</vt:lpstr>
      <vt:lpstr>PowerPoint Presentation</vt:lpstr>
      <vt:lpstr>PowerPoint Presentation</vt:lpstr>
      <vt:lpstr>PowerPoint Presentation</vt:lpstr>
      <vt:lpstr>Cost Function in Logistic Regression ?</vt:lpstr>
      <vt:lpstr>Log Loss (BCE Loss) </vt:lpstr>
      <vt:lpstr>PowerPoint Presentation</vt:lpstr>
      <vt:lpstr>PowerPoint Presentation</vt:lpstr>
      <vt:lpstr>PowerPoint Presentation</vt:lpstr>
      <vt:lpstr>PowerPoint Presentation</vt:lpstr>
      <vt:lpstr>PowerPoint Presentation</vt:lpstr>
      <vt:lpstr>History of CNN</vt:lpstr>
      <vt:lpstr>PowerPoint Presentation</vt:lpstr>
      <vt:lpstr>Typical Structure of a CNN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jayaraj</dc:creator>
  <cp:lastModifiedBy>Jayaraj P B</cp:lastModifiedBy>
  <cp:revision>20</cp:revision>
  <dcterms:modified xsi:type="dcterms:W3CDTF">2025-08-01T01:58:54Z</dcterms:modified>
</cp:coreProperties>
</file>