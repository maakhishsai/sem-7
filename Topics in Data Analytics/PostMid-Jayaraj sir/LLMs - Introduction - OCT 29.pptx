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68"/>
  </p:notesMasterIdLst>
  <p:sldIdLst>
    <p:sldId id="256" r:id="rId2"/>
    <p:sldId id="289" r:id="rId3"/>
    <p:sldId id="287" r:id="rId4"/>
    <p:sldId id="288" r:id="rId5"/>
    <p:sldId id="345" r:id="rId6"/>
    <p:sldId id="324" r:id="rId7"/>
    <p:sldId id="339" r:id="rId8"/>
    <p:sldId id="349" r:id="rId9"/>
    <p:sldId id="350" r:id="rId10"/>
    <p:sldId id="351" r:id="rId11"/>
    <p:sldId id="314" r:id="rId12"/>
    <p:sldId id="283" r:id="rId13"/>
    <p:sldId id="327" r:id="rId14"/>
    <p:sldId id="328" r:id="rId15"/>
    <p:sldId id="346" r:id="rId16"/>
    <p:sldId id="293" r:id="rId17"/>
    <p:sldId id="358" r:id="rId18"/>
    <p:sldId id="347" r:id="rId19"/>
    <p:sldId id="359" r:id="rId20"/>
    <p:sldId id="303" r:id="rId21"/>
    <p:sldId id="304" r:id="rId22"/>
    <p:sldId id="305" r:id="rId23"/>
    <p:sldId id="330" r:id="rId24"/>
    <p:sldId id="334" r:id="rId25"/>
    <p:sldId id="354" r:id="rId26"/>
    <p:sldId id="331" r:id="rId27"/>
    <p:sldId id="352" r:id="rId28"/>
    <p:sldId id="355" r:id="rId29"/>
    <p:sldId id="333" r:id="rId30"/>
    <p:sldId id="335" r:id="rId31"/>
    <p:sldId id="336" r:id="rId32"/>
    <p:sldId id="361" r:id="rId33"/>
    <p:sldId id="365" r:id="rId34"/>
    <p:sldId id="353" r:id="rId35"/>
    <p:sldId id="381" r:id="rId36"/>
    <p:sldId id="367" r:id="rId37"/>
    <p:sldId id="368" r:id="rId38"/>
    <p:sldId id="369" r:id="rId39"/>
    <p:sldId id="370" r:id="rId40"/>
    <p:sldId id="371" r:id="rId41"/>
    <p:sldId id="372" r:id="rId42"/>
    <p:sldId id="373" r:id="rId43"/>
    <p:sldId id="374" r:id="rId44"/>
    <p:sldId id="375" r:id="rId45"/>
    <p:sldId id="376" r:id="rId46"/>
    <p:sldId id="377" r:id="rId47"/>
    <p:sldId id="378" r:id="rId48"/>
    <p:sldId id="379" r:id="rId49"/>
    <p:sldId id="380" r:id="rId50"/>
    <p:sldId id="363" r:id="rId51"/>
    <p:sldId id="326" r:id="rId52"/>
    <p:sldId id="360" r:id="rId53"/>
    <p:sldId id="294" r:id="rId54"/>
    <p:sldId id="356" r:id="rId55"/>
    <p:sldId id="315" r:id="rId56"/>
    <p:sldId id="366" r:id="rId57"/>
    <p:sldId id="357" r:id="rId58"/>
    <p:sldId id="317" r:id="rId59"/>
    <p:sldId id="309" r:id="rId60"/>
    <p:sldId id="362" r:id="rId61"/>
    <p:sldId id="319" r:id="rId62"/>
    <p:sldId id="323" r:id="rId63"/>
    <p:sldId id="318" r:id="rId64"/>
    <p:sldId id="364" r:id="rId65"/>
    <p:sldId id="338" r:id="rId66"/>
    <p:sldId id="267" r:id="rId6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9" roundtripDataSignature="AMtx7mhT4kbF31e5rSXuAK4IbTpqSngjS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40" autoAdjust="0"/>
    <p:restoredTop sz="94660"/>
  </p:normalViewPr>
  <p:slideViewPr>
    <p:cSldViewPr snapToGrid="0">
      <p:cViewPr varScale="1">
        <p:scale>
          <a:sx n="72" d="100"/>
          <a:sy n="72" d="100"/>
        </p:scale>
        <p:origin x="5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customschemas.google.com/relationships/presentationmetadata" Target="meta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
        <p:cNvGrpSpPr/>
        <p:nvPr/>
      </p:nvGrpSpPr>
      <p:grpSpPr>
        <a:xfrm>
          <a:off x="0" y="0"/>
          <a:ext cx="0" cy="0"/>
          <a:chOff x="0" y="0"/>
          <a:chExt cx="0" cy="0"/>
        </a:xfrm>
      </p:grpSpPr>
      <p:sp>
        <p:nvSpPr>
          <p:cNvPr id="14" name="Google Shape;1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 name="Google Shape;15;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Calibri"/>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d5b15f0a3_5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d5b15f0a3_5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187025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35a9ea7adb9_0_1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35a9ea7adb9_0_1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847559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723630543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723630543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486608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723630543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723630543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74916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1089328af3c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6" name="Google Shape;146;g1089328af3c_0_1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Calibri"/>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marR="0" lvl="0" algn="ctr"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2"/>
        <p:cNvGrpSpPr/>
        <p:nvPr/>
      </p:nvGrpSpPr>
      <p:grpSpPr>
        <a:xfrm>
          <a:off x="0" y="0"/>
          <a:ext cx="0" cy="0"/>
          <a:chOff x="0" y="0"/>
          <a:chExt cx="0" cy="0"/>
        </a:xfrm>
      </p:grpSpPr>
      <p:sp>
        <p:nvSpPr>
          <p:cNvPr id="123" name="Google Shape;123;p12"/>
          <p:cNvSpPr txBox="1">
            <a:spLocks noGrp="1"/>
          </p:cNvSpPr>
          <p:nvPr>
            <p:ph type="sldNum" idx="12"/>
          </p:nvPr>
        </p:nvSpPr>
        <p:spPr>
          <a:xfrm>
            <a:off x="11187645" y="6058224"/>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 smtClean="0"/>
              <a:pPr algn="r"/>
              <a:t>‹#›</a:t>
            </a:fld>
            <a:endParaRPr lang="en"/>
          </a:p>
        </p:txBody>
      </p:sp>
    </p:spTree>
    <p:extLst>
      <p:ext uri="{BB962C8B-B14F-4D97-AF65-F5344CB8AC3E}">
        <p14:creationId xmlns:p14="http://schemas.microsoft.com/office/powerpoint/2010/main" val="30228353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188" b="0" i="0">
                <a:solidFill>
                  <a:srgbClr val="454553"/>
                </a:solidFill>
                <a:latin typeface="Cambria"/>
                <a:cs typeface="Cambria"/>
              </a:defRPr>
            </a:lvl1pPr>
          </a:lstStyle>
          <a:p>
            <a:endParaRPr/>
          </a:p>
        </p:txBody>
      </p:sp>
      <p:sp>
        <p:nvSpPr>
          <p:cNvPr id="3" name="Holder 3"/>
          <p:cNvSpPr>
            <a:spLocks noGrp="1"/>
          </p:cNvSpPr>
          <p:nvPr>
            <p:ph type="body" idx="1"/>
          </p:nvPr>
        </p:nvSpPr>
        <p:spPr/>
        <p:txBody>
          <a:bodyPr lIns="0" tIns="0" rIns="0" bIns="0"/>
          <a:lstStyle>
            <a:lvl1pPr>
              <a:defRPr sz="2578"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10/30/2025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10536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1_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10/30/2025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98509046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jpg"/><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43.jp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image" Target="../media/image44.jp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image" Target="../media/image45.jp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image" Target="../media/image46.jp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3.xml"/><Relationship Id="rId4" Type="http://schemas.openxmlformats.org/officeDocument/2006/relationships/image" Target="../media/image52.png"/></Relationships>
</file>

<file path=ppt/slides/_rels/slide5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
        <p:cNvGrpSpPr/>
        <p:nvPr/>
      </p:nvGrpSpPr>
      <p:grpSpPr>
        <a:xfrm>
          <a:off x="0" y="0"/>
          <a:ext cx="0" cy="0"/>
          <a:chOff x="0" y="0"/>
          <a:chExt cx="0" cy="0"/>
        </a:xfrm>
      </p:grpSpPr>
      <p:sp>
        <p:nvSpPr>
          <p:cNvPr id="22" name="Google Shape;22;p1"/>
          <p:cNvSpPr txBox="1"/>
          <p:nvPr/>
        </p:nvSpPr>
        <p:spPr>
          <a:xfrm>
            <a:off x="2235300" y="1725700"/>
            <a:ext cx="7721400" cy="1785074"/>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5200" dirty="0" smtClean="0">
                <a:solidFill>
                  <a:schemeClr val="dk1"/>
                </a:solidFill>
              </a:rPr>
              <a:t>Large Language Models &amp; Transformers</a:t>
            </a:r>
            <a:endParaRPr dirty="0"/>
          </a:p>
        </p:txBody>
      </p:sp>
      <p:sp>
        <p:nvSpPr>
          <p:cNvPr id="23" name="Google Shape;23;p1"/>
          <p:cNvSpPr txBox="1"/>
          <p:nvPr/>
        </p:nvSpPr>
        <p:spPr>
          <a:xfrm>
            <a:off x="1729900" y="3752800"/>
            <a:ext cx="10126200" cy="1477297"/>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IN" sz="2100" dirty="0" smtClean="0">
                <a:solidFill>
                  <a:schemeClr val="dk1"/>
                </a:solidFill>
              </a:rPr>
              <a:t>Jayaraj P B</a:t>
            </a:r>
            <a:endParaRPr sz="2100" dirty="0">
              <a:solidFill>
                <a:schemeClr val="dk1"/>
              </a:solidFill>
            </a:endParaRPr>
          </a:p>
          <a:p>
            <a:pPr marL="0" lvl="0" indent="0" algn="r" rtl="0">
              <a:spcBef>
                <a:spcPts val="0"/>
              </a:spcBef>
              <a:spcAft>
                <a:spcPts val="0"/>
              </a:spcAft>
              <a:buNone/>
            </a:pPr>
            <a:r>
              <a:rPr lang="en-US" sz="2100" dirty="0" smtClean="0">
                <a:solidFill>
                  <a:schemeClr val="dk1"/>
                </a:solidFill>
              </a:rPr>
              <a:t>Associate </a:t>
            </a:r>
            <a:r>
              <a:rPr lang="en-US" sz="2100" dirty="0">
                <a:solidFill>
                  <a:schemeClr val="dk1"/>
                </a:solidFill>
              </a:rPr>
              <a:t>Professor</a:t>
            </a:r>
            <a:endParaRPr sz="2100" dirty="0">
              <a:solidFill>
                <a:schemeClr val="dk1"/>
              </a:solidFill>
            </a:endParaRPr>
          </a:p>
          <a:p>
            <a:pPr marL="0" lvl="0" indent="0" algn="r" rtl="0">
              <a:spcBef>
                <a:spcPts val="0"/>
              </a:spcBef>
              <a:spcAft>
                <a:spcPts val="0"/>
              </a:spcAft>
              <a:buNone/>
            </a:pPr>
            <a:r>
              <a:rPr lang="en-US" sz="2100" dirty="0">
                <a:solidFill>
                  <a:schemeClr val="dk1"/>
                </a:solidFill>
              </a:rPr>
              <a:t>Department of Computer Science and Engineering</a:t>
            </a:r>
            <a:endParaRPr sz="2100" dirty="0">
              <a:solidFill>
                <a:schemeClr val="dk1"/>
              </a:solidFill>
            </a:endParaRPr>
          </a:p>
          <a:p>
            <a:pPr marL="0" lvl="0" indent="0" algn="r" rtl="0">
              <a:spcBef>
                <a:spcPts val="0"/>
              </a:spcBef>
              <a:spcAft>
                <a:spcPts val="0"/>
              </a:spcAft>
              <a:buNone/>
            </a:pPr>
            <a:r>
              <a:rPr lang="en-US" sz="2100" dirty="0">
                <a:solidFill>
                  <a:schemeClr val="dk1"/>
                </a:solidFill>
              </a:rPr>
              <a:t>National Institute of Technology Calicut, Kerala, </a:t>
            </a:r>
            <a:r>
              <a:rPr lang="en-US" sz="2100" dirty="0" smtClean="0">
                <a:solidFill>
                  <a:schemeClr val="dk1"/>
                </a:solidFill>
              </a:rPr>
              <a:t>India</a:t>
            </a:r>
            <a:endParaRPr sz="2100" dirty="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696174" y="1533378"/>
            <a:ext cx="8467266" cy="3918414"/>
          </a:xfrm>
          <a:prstGeom prst="rect">
            <a:avLst/>
          </a:prstGeom>
        </p:spPr>
      </p:pic>
      <p:pic>
        <p:nvPicPr>
          <p:cNvPr id="4" name="object 2"/>
          <p:cNvPicPr/>
          <p:nvPr/>
        </p:nvPicPr>
        <p:blipFill>
          <a:blip r:embed="rId3" cstate="print"/>
          <a:stretch>
            <a:fillRect/>
          </a:stretch>
        </p:blipFill>
        <p:spPr>
          <a:xfrm>
            <a:off x="9993240" y="2633914"/>
            <a:ext cx="1316082" cy="1316082"/>
          </a:xfrm>
          <a:prstGeom prst="rect">
            <a:avLst/>
          </a:prstGeom>
        </p:spPr>
      </p:pic>
    </p:spTree>
    <p:extLst>
      <p:ext uri="{BB962C8B-B14F-4D97-AF65-F5344CB8AC3E}">
        <p14:creationId xmlns:p14="http://schemas.microsoft.com/office/powerpoint/2010/main" val="15060233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5" name="Google Shape;135;p14"/>
          <p:cNvSpPr txBox="1">
            <a:spLocks noGrp="1"/>
          </p:cNvSpPr>
          <p:nvPr>
            <p:ph type="title" idx="4294967295"/>
          </p:nvPr>
        </p:nvSpPr>
        <p:spPr>
          <a:xfrm>
            <a:off x="396320" y="314533"/>
            <a:ext cx="12320874" cy="4090000"/>
          </a:xfrm>
          <a:prstGeom prst="rect">
            <a:avLst/>
          </a:prstGeom>
        </p:spPr>
        <p:txBody>
          <a:bodyPr spcFirstLastPara="1" wrap="square" lIns="121900" tIns="121900" rIns="121900" bIns="121900" anchor="t" anchorCtr="0">
            <a:noAutofit/>
          </a:bodyPr>
          <a:lstStyle/>
          <a:p>
            <a:pPr marL="609585" indent="-518147">
              <a:lnSpc>
                <a:spcPct val="115000"/>
              </a:lnSpc>
              <a:buSzPts val="2520"/>
              <a:buFont typeface="Lato"/>
              <a:buChar char="●"/>
            </a:pPr>
            <a:r>
              <a:rPr lang="en" sz="2600" dirty="0">
                <a:latin typeface="Lato"/>
                <a:ea typeface="Lato"/>
                <a:cs typeface="Lato"/>
                <a:sym typeface="Lato"/>
              </a:rPr>
              <a:t>An LLM is a neural network designed to understand, generate, and respond to human like text.</a:t>
            </a:r>
            <a:endParaRPr sz="2600" dirty="0">
              <a:latin typeface="Lato"/>
              <a:ea typeface="Lato"/>
              <a:cs typeface="Lato"/>
              <a:sym typeface="Lato"/>
            </a:endParaRPr>
          </a:p>
          <a:p>
            <a:pPr>
              <a:lnSpc>
                <a:spcPct val="115000"/>
              </a:lnSpc>
              <a:spcBef>
                <a:spcPts val="2133"/>
              </a:spcBef>
              <a:buSzPts val="990"/>
            </a:pPr>
            <a:endParaRPr sz="3360" dirty="0">
              <a:latin typeface="Lato"/>
              <a:ea typeface="Lato"/>
              <a:cs typeface="Lato"/>
              <a:sym typeface="Lato"/>
            </a:endParaRPr>
          </a:p>
          <a:p>
            <a:pPr>
              <a:lnSpc>
                <a:spcPct val="115000"/>
              </a:lnSpc>
              <a:spcBef>
                <a:spcPts val="2133"/>
              </a:spcBef>
              <a:buSzPts val="990"/>
            </a:pPr>
            <a:endParaRPr sz="3360" dirty="0">
              <a:latin typeface="Lato"/>
              <a:ea typeface="Lato"/>
              <a:cs typeface="Lato"/>
              <a:sym typeface="Lato"/>
            </a:endParaRPr>
          </a:p>
          <a:p>
            <a:pPr>
              <a:lnSpc>
                <a:spcPct val="115000"/>
              </a:lnSpc>
              <a:spcBef>
                <a:spcPts val="2133"/>
              </a:spcBef>
              <a:spcAft>
                <a:spcPts val="2133"/>
              </a:spcAft>
              <a:buSzPts val="990"/>
            </a:pPr>
            <a:endParaRPr sz="3360" dirty="0">
              <a:latin typeface="Lato"/>
              <a:ea typeface="Lato"/>
              <a:cs typeface="Lato"/>
              <a:sym typeface="Lato"/>
            </a:endParaRPr>
          </a:p>
        </p:txBody>
      </p:sp>
      <p:pic>
        <p:nvPicPr>
          <p:cNvPr id="136" name="Google Shape;136;p14"/>
          <p:cNvPicPr preferRelativeResize="0"/>
          <p:nvPr/>
        </p:nvPicPr>
        <p:blipFill>
          <a:blip r:embed="rId3">
            <a:alphaModFix/>
          </a:blip>
          <a:stretch>
            <a:fillRect/>
          </a:stretch>
        </p:blipFill>
        <p:spPr>
          <a:xfrm>
            <a:off x="2110156" y="1271809"/>
            <a:ext cx="6879100" cy="3694759"/>
          </a:xfrm>
          <a:prstGeom prst="rect">
            <a:avLst/>
          </a:prstGeom>
          <a:noFill/>
          <a:ln>
            <a:noFill/>
          </a:ln>
        </p:spPr>
      </p:pic>
      <p:sp>
        <p:nvSpPr>
          <p:cNvPr id="137" name="Google Shape;137;p14"/>
          <p:cNvSpPr txBox="1">
            <a:spLocks noGrp="1"/>
          </p:cNvSpPr>
          <p:nvPr>
            <p:ph type="title" idx="4294967295"/>
          </p:nvPr>
        </p:nvSpPr>
        <p:spPr>
          <a:xfrm>
            <a:off x="902757" y="4813000"/>
            <a:ext cx="10702000" cy="4090000"/>
          </a:xfrm>
          <a:prstGeom prst="rect">
            <a:avLst/>
          </a:prstGeom>
        </p:spPr>
        <p:txBody>
          <a:bodyPr spcFirstLastPara="1" wrap="square" lIns="121900" tIns="121900" rIns="121900" bIns="121900" anchor="t" anchorCtr="0">
            <a:noAutofit/>
          </a:bodyPr>
          <a:lstStyle/>
          <a:p>
            <a:pPr marL="609585" indent="-518147">
              <a:lnSpc>
                <a:spcPct val="115000"/>
              </a:lnSpc>
              <a:buSzPts val="2520"/>
              <a:buFont typeface="Lato"/>
              <a:buChar char="●"/>
            </a:pPr>
            <a:r>
              <a:rPr lang="en" sz="2600" dirty="0">
                <a:latin typeface="Lato"/>
                <a:ea typeface="Lato"/>
                <a:cs typeface="Lato"/>
                <a:sym typeface="Lato"/>
              </a:rPr>
              <a:t>The “large” in “large language model” refers </a:t>
            </a:r>
            <a:r>
              <a:rPr lang="en" sz="2600" b="1" dirty="0">
                <a:latin typeface="Lato"/>
                <a:ea typeface="Lato"/>
                <a:cs typeface="Lato"/>
                <a:sym typeface="Lato"/>
              </a:rPr>
              <a:t>to both the model’s size</a:t>
            </a:r>
            <a:r>
              <a:rPr lang="en" sz="2600" dirty="0">
                <a:latin typeface="Lato"/>
                <a:ea typeface="Lato"/>
                <a:cs typeface="Lato"/>
                <a:sym typeface="Lato"/>
              </a:rPr>
              <a:t> in terms of </a:t>
            </a:r>
            <a:r>
              <a:rPr lang="en" sz="2600" b="1" dirty="0">
                <a:latin typeface="Lato"/>
                <a:ea typeface="Lato"/>
                <a:cs typeface="Lato"/>
                <a:sym typeface="Lato"/>
              </a:rPr>
              <a:t>parameters</a:t>
            </a:r>
            <a:r>
              <a:rPr lang="en" sz="2600" dirty="0">
                <a:latin typeface="Lato"/>
                <a:ea typeface="Lato"/>
                <a:cs typeface="Lato"/>
                <a:sym typeface="Lato"/>
              </a:rPr>
              <a:t> and the </a:t>
            </a:r>
            <a:r>
              <a:rPr lang="en" sz="2600" b="1" dirty="0">
                <a:latin typeface="Lato"/>
                <a:ea typeface="Lato"/>
                <a:cs typeface="Lato"/>
                <a:sym typeface="Lato"/>
              </a:rPr>
              <a:t>immense</a:t>
            </a:r>
            <a:r>
              <a:rPr lang="en" sz="2600" dirty="0">
                <a:latin typeface="Lato"/>
                <a:ea typeface="Lato"/>
                <a:cs typeface="Lato"/>
                <a:sym typeface="Lato"/>
              </a:rPr>
              <a:t> </a:t>
            </a:r>
            <a:r>
              <a:rPr lang="en" sz="2600" b="1" dirty="0">
                <a:latin typeface="Lato"/>
                <a:ea typeface="Lato"/>
                <a:cs typeface="Lato"/>
                <a:sym typeface="Lato"/>
              </a:rPr>
              <a:t>dataset</a:t>
            </a:r>
            <a:r>
              <a:rPr lang="en" sz="2600" dirty="0">
                <a:latin typeface="Lato"/>
                <a:ea typeface="Lato"/>
                <a:cs typeface="Lato"/>
                <a:sym typeface="Lato"/>
              </a:rPr>
              <a:t> on which it’s trained.</a:t>
            </a:r>
            <a:endParaRPr sz="2600" dirty="0">
              <a:latin typeface="Lato"/>
              <a:ea typeface="Lato"/>
              <a:cs typeface="Lato"/>
              <a:sym typeface="Lato"/>
            </a:endParaRPr>
          </a:p>
          <a:p>
            <a:pPr>
              <a:lnSpc>
                <a:spcPct val="115000"/>
              </a:lnSpc>
              <a:spcBef>
                <a:spcPts val="2133"/>
              </a:spcBef>
              <a:buSzPts val="990"/>
            </a:pPr>
            <a:endParaRPr sz="2800" dirty="0">
              <a:latin typeface="Lato"/>
              <a:ea typeface="Lato"/>
              <a:cs typeface="Lato"/>
              <a:sym typeface="Lato"/>
            </a:endParaRPr>
          </a:p>
          <a:p>
            <a:pPr>
              <a:lnSpc>
                <a:spcPct val="115000"/>
              </a:lnSpc>
              <a:spcBef>
                <a:spcPts val="2133"/>
              </a:spcBef>
              <a:spcAft>
                <a:spcPts val="2133"/>
              </a:spcAft>
              <a:buSzPts val="990"/>
            </a:pPr>
            <a:endParaRPr sz="2800" dirty="0">
              <a:latin typeface="Lato"/>
              <a:ea typeface="Lato"/>
              <a:cs typeface="Lato"/>
              <a:sym typeface="Lato"/>
            </a:endParaRPr>
          </a:p>
        </p:txBody>
      </p:sp>
    </p:spTree>
    <p:extLst>
      <p:ext uri="{BB962C8B-B14F-4D97-AF65-F5344CB8AC3E}">
        <p14:creationId xmlns:p14="http://schemas.microsoft.com/office/powerpoint/2010/main" val="173919864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628271" y="466099"/>
            <a:ext cx="6231988" cy="694059"/>
          </a:xfrm>
          <a:prstGeom prst="rect">
            <a:avLst/>
          </a:prstGeom>
        </p:spPr>
        <p:txBody>
          <a:bodyPr vert="horz" wrap="square" lIns="0" tIns="138707" rIns="0" bIns="0" rtlCol="0">
            <a:spAutoFit/>
          </a:bodyPr>
          <a:lstStyle/>
          <a:p>
            <a:pPr marL="239910">
              <a:spcBef>
                <a:spcPts val="103"/>
              </a:spcBef>
            </a:pPr>
            <a:r>
              <a:rPr lang="en-US" sz="3600" b="1" spc="-56" dirty="0" smtClean="0">
                <a:solidFill>
                  <a:srgbClr val="000000"/>
                </a:solidFill>
                <a:latin typeface="Times New Roman"/>
                <a:cs typeface="Times New Roman"/>
              </a:rPr>
              <a:t>LLM</a:t>
            </a:r>
            <a:endParaRPr sz="3600" b="1" spc="-56" dirty="0">
              <a:solidFill>
                <a:srgbClr val="000000"/>
              </a:solidFill>
              <a:latin typeface="Times New Roman"/>
              <a:cs typeface="Times New Roman"/>
            </a:endParaRPr>
          </a:p>
        </p:txBody>
      </p:sp>
      <p:sp>
        <p:nvSpPr>
          <p:cNvPr id="4" name="object 4"/>
          <p:cNvSpPr txBox="1"/>
          <p:nvPr/>
        </p:nvSpPr>
        <p:spPr>
          <a:xfrm>
            <a:off x="928468" y="1747544"/>
            <a:ext cx="10508566" cy="3425417"/>
          </a:xfrm>
          <a:prstGeom prst="rect">
            <a:avLst/>
          </a:prstGeom>
        </p:spPr>
        <p:txBody>
          <a:bodyPr vert="horz" wrap="square" lIns="0" tIns="26789" rIns="0" bIns="0" rtlCol="0">
            <a:spAutoFit/>
          </a:bodyPr>
          <a:lstStyle/>
          <a:p>
            <a:pPr marL="469106" marR="4763" indent="-457200" algn="just">
              <a:lnSpc>
                <a:spcPts val="2747"/>
              </a:lnSpc>
              <a:spcBef>
                <a:spcPts val="211"/>
              </a:spcBef>
              <a:buFont typeface="Arial" panose="020B0604020202020204" pitchFamily="34" charset="0"/>
              <a:buChar char="•"/>
            </a:pPr>
            <a:r>
              <a:rPr sz="2600" spc="113" dirty="0">
                <a:latin typeface="Times New Roman"/>
                <a:cs typeface="Times New Roman"/>
              </a:rPr>
              <a:t>A</a:t>
            </a:r>
            <a:r>
              <a:rPr sz="2600" dirty="0">
                <a:latin typeface="Times New Roman"/>
                <a:cs typeface="Times New Roman"/>
              </a:rPr>
              <a:t>  </a:t>
            </a:r>
            <a:r>
              <a:rPr sz="2600" b="1" dirty="0">
                <a:latin typeface="Times New Roman"/>
                <a:cs typeface="Times New Roman"/>
              </a:rPr>
              <a:t>Large</a:t>
            </a:r>
            <a:r>
              <a:rPr sz="2600" b="1" spc="9" dirty="0">
                <a:latin typeface="Times New Roman"/>
                <a:cs typeface="Times New Roman"/>
              </a:rPr>
              <a:t>  </a:t>
            </a:r>
            <a:r>
              <a:rPr sz="2600" b="1" dirty="0">
                <a:latin typeface="Times New Roman"/>
                <a:cs typeface="Times New Roman"/>
              </a:rPr>
              <a:t>Language</a:t>
            </a:r>
            <a:r>
              <a:rPr sz="2600" b="1" spc="5" dirty="0">
                <a:latin typeface="Times New Roman"/>
                <a:cs typeface="Times New Roman"/>
              </a:rPr>
              <a:t>  </a:t>
            </a:r>
            <a:r>
              <a:rPr sz="2600" b="1" dirty="0">
                <a:latin typeface="Times New Roman"/>
                <a:cs typeface="Times New Roman"/>
              </a:rPr>
              <a:t>Model  (LLM)</a:t>
            </a:r>
            <a:r>
              <a:rPr sz="2600" b="1" spc="5" dirty="0">
                <a:latin typeface="Times New Roman"/>
                <a:cs typeface="Times New Roman"/>
              </a:rPr>
              <a:t>  </a:t>
            </a:r>
            <a:r>
              <a:rPr sz="2600" dirty="0">
                <a:latin typeface="Times New Roman"/>
                <a:cs typeface="Times New Roman"/>
              </a:rPr>
              <a:t>is</a:t>
            </a:r>
            <a:r>
              <a:rPr sz="2600" spc="5" dirty="0">
                <a:latin typeface="Times New Roman"/>
                <a:cs typeface="Times New Roman"/>
              </a:rPr>
              <a:t>  </a:t>
            </a:r>
            <a:r>
              <a:rPr sz="2600" spc="127" dirty="0">
                <a:latin typeface="Times New Roman"/>
                <a:cs typeface="Times New Roman"/>
              </a:rPr>
              <a:t>an</a:t>
            </a:r>
            <a:r>
              <a:rPr sz="2600" dirty="0">
                <a:latin typeface="Times New Roman"/>
                <a:cs typeface="Times New Roman"/>
              </a:rPr>
              <a:t>  </a:t>
            </a:r>
            <a:r>
              <a:rPr sz="2600" spc="75" dirty="0">
                <a:latin typeface="Times New Roman"/>
                <a:cs typeface="Times New Roman"/>
              </a:rPr>
              <a:t>advanced</a:t>
            </a:r>
            <a:r>
              <a:rPr sz="2600" spc="5" dirty="0">
                <a:latin typeface="Times New Roman"/>
                <a:cs typeface="Times New Roman"/>
              </a:rPr>
              <a:t>  </a:t>
            </a:r>
            <a:r>
              <a:rPr sz="2600" spc="38" dirty="0">
                <a:latin typeface="Times New Roman"/>
                <a:cs typeface="Times New Roman"/>
              </a:rPr>
              <a:t>artificial </a:t>
            </a:r>
            <a:r>
              <a:rPr sz="2600" dirty="0">
                <a:latin typeface="Times New Roman"/>
                <a:cs typeface="Times New Roman"/>
              </a:rPr>
              <a:t>intelligence</a:t>
            </a:r>
            <a:r>
              <a:rPr sz="2600" spc="272" dirty="0">
                <a:latin typeface="Times New Roman"/>
                <a:cs typeface="Times New Roman"/>
              </a:rPr>
              <a:t>  </a:t>
            </a:r>
            <a:r>
              <a:rPr sz="2600" dirty="0">
                <a:latin typeface="Times New Roman"/>
                <a:cs typeface="Times New Roman"/>
              </a:rPr>
              <a:t>system</a:t>
            </a:r>
            <a:r>
              <a:rPr sz="2600" spc="281" dirty="0">
                <a:latin typeface="Times New Roman"/>
                <a:cs typeface="Times New Roman"/>
              </a:rPr>
              <a:t>  </a:t>
            </a:r>
            <a:r>
              <a:rPr sz="2600" spc="42" dirty="0">
                <a:latin typeface="Times New Roman"/>
                <a:cs typeface="Times New Roman"/>
              </a:rPr>
              <a:t>designed</a:t>
            </a:r>
            <a:r>
              <a:rPr sz="2600" spc="281" dirty="0">
                <a:latin typeface="Times New Roman"/>
                <a:cs typeface="Times New Roman"/>
              </a:rPr>
              <a:t>  </a:t>
            </a:r>
            <a:r>
              <a:rPr sz="2600" spc="127" dirty="0">
                <a:latin typeface="Times New Roman"/>
                <a:cs typeface="Times New Roman"/>
              </a:rPr>
              <a:t>to</a:t>
            </a:r>
            <a:r>
              <a:rPr sz="2600" spc="281" dirty="0">
                <a:latin typeface="Times New Roman"/>
                <a:cs typeface="Times New Roman"/>
              </a:rPr>
              <a:t>  </a:t>
            </a:r>
            <a:r>
              <a:rPr sz="2600" b="1" dirty="0">
                <a:latin typeface="Times New Roman"/>
                <a:cs typeface="Times New Roman"/>
              </a:rPr>
              <a:t>process,</a:t>
            </a:r>
            <a:r>
              <a:rPr sz="2600" b="1" spc="281" dirty="0">
                <a:latin typeface="Times New Roman"/>
                <a:cs typeface="Times New Roman"/>
              </a:rPr>
              <a:t>  </a:t>
            </a:r>
            <a:r>
              <a:rPr sz="2600" b="1" dirty="0">
                <a:latin typeface="Times New Roman"/>
                <a:cs typeface="Times New Roman"/>
              </a:rPr>
              <a:t>understand,</a:t>
            </a:r>
            <a:r>
              <a:rPr sz="2600" b="1" spc="281" dirty="0">
                <a:latin typeface="Times New Roman"/>
                <a:cs typeface="Times New Roman"/>
              </a:rPr>
              <a:t>  </a:t>
            </a:r>
            <a:r>
              <a:rPr sz="2600" spc="103" dirty="0">
                <a:latin typeface="Times New Roman"/>
                <a:cs typeface="Times New Roman"/>
              </a:rPr>
              <a:t>and </a:t>
            </a:r>
            <a:r>
              <a:rPr sz="2600" b="1" spc="-23" dirty="0">
                <a:latin typeface="Times New Roman"/>
                <a:cs typeface="Times New Roman"/>
              </a:rPr>
              <a:t>generate</a:t>
            </a:r>
            <a:r>
              <a:rPr sz="2600" b="1" spc="9" dirty="0">
                <a:latin typeface="Times New Roman"/>
                <a:cs typeface="Times New Roman"/>
              </a:rPr>
              <a:t> </a:t>
            </a:r>
            <a:r>
              <a:rPr sz="2600" spc="103" dirty="0">
                <a:latin typeface="Times New Roman"/>
                <a:cs typeface="Times New Roman"/>
              </a:rPr>
              <a:t>human-</a:t>
            </a:r>
            <a:r>
              <a:rPr sz="2600" dirty="0">
                <a:latin typeface="Times New Roman"/>
                <a:cs typeface="Times New Roman"/>
              </a:rPr>
              <a:t>like</a:t>
            </a:r>
            <a:r>
              <a:rPr sz="2600" spc="9" dirty="0">
                <a:latin typeface="Times New Roman"/>
                <a:cs typeface="Times New Roman"/>
              </a:rPr>
              <a:t> </a:t>
            </a:r>
            <a:r>
              <a:rPr sz="2600" spc="42" dirty="0">
                <a:latin typeface="Times New Roman"/>
                <a:cs typeface="Times New Roman"/>
              </a:rPr>
              <a:t>text.</a:t>
            </a:r>
            <a:endParaRPr sz="2600" dirty="0">
              <a:latin typeface="Times New Roman"/>
              <a:cs typeface="Times New Roman"/>
            </a:endParaRPr>
          </a:p>
          <a:p>
            <a:pPr marL="469106" indent="-457200">
              <a:spcBef>
                <a:spcPts val="2630"/>
              </a:spcBef>
              <a:buFont typeface="Arial" panose="020B0604020202020204" pitchFamily="34" charset="0"/>
              <a:buChar char="•"/>
            </a:pPr>
            <a:r>
              <a:rPr sz="2600" spc="56" dirty="0">
                <a:latin typeface="Times New Roman"/>
                <a:cs typeface="Times New Roman"/>
              </a:rPr>
              <a:t>Pre-</a:t>
            </a:r>
            <a:r>
              <a:rPr sz="2600" spc="89" dirty="0">
                <a:latin typeface="Times New Roman"/>
                <a:cs typeface="Times New Roman"/>
              </a:rPr>
              <a:t>trained</a:t>
            </a:r>
            <a:r>
              <a:rPr sz="2600" spc="42" dirty="0">
                <a:latin typeface="Times New Roman"/>
                <a:cs typeface="Times New Roman"/>
              </a:rPr>
              <a:t> </a:t>
            </a:r>
            <a:r>
              <a:rPr sz="2600" spc="47" dirty="0">
                <a:latin typeface="Times New Roman"/>
                <a:cs typeface="Times New Roman"/>
              </a:rPr>
              <a:t>using </a:t>
            </a:r>
            <a:r>
              <a:rPr sz="2600" spc="131" dirty="0">
                <a:latin typeface="Times New Roman"/>
                <a:cs typeface="Times New Roman"/>
              </a:rPr>
              <a:t>a</a:t>
            </a:r>
            <a:r>
              <a:rPr sz="2600" spc="42" dirty="0">
                <a:latin typeface="Times New Roman"/>
                <a:cs typeface="Times New Roman"/>
              </a:rPr>
              <a:t> </a:t>
            </a:r>
            <a:r>
              <a:rPr sz="2600" dirty="0">
                <a:latin typeface="Times New Roman"/>
                <a:cs typeface="Times New Roman"/>
              </a:rPr>
              <a:t>massive</a:t>
            </a:r>
            <a:r>
              <a:rPr sz="2600" spc="47" dirty="0">
                <a:latin typeface="Times New Roman"/>
                <a:cs typeface="Times New Roman"/>
              </a:rPr>
              <a:t> </a:t>
            </a:r>
            <a:r>
              <a:rPr sz="2600" spc="80" dirty="0">
                <a:latin typeface="Times New Roman"/>
                <a:cs typeface="Times New Roman"/>
              </a:rPr>
              <a:t>corpus</a:t>
            </a:r>
            <a:r>
              <a:rPr sz="2600" spc="42" dirty="0">
                <a:latin typeface="Times New Roman"/>
                <a:cs typeface="Times New Roman"/>
              </a:rPr>
              <a:t> </a:t>
            </a:r>
            <a:r>
              <a:rPr sz="2600" spc="66" dirty="0">
                <a:latin typeface="Times New Roman"/>
                <a:cs typeface="Times New Roman"/>
              </a:rPr>
              <a:t>of</a:t>
            </a:r>
            <a:r>
              <a:rPr sz="2600" spc="47" dirty="0">
                <a:latin typeface="Times New Roman"/>
                <a:cs typeface="Times New Roman"/>
              </a:rPr>
              <a:t> </a:t>
            </a:r>
            <a:r>
              <a:rPr sz="2600" spc="61" dirty="0">
                <a:latin typeface="Times New Roman"/>
                <a:cs typeface="Times New Roman"/>
              </a:rPr>
              <a:t>text</a:t>
            </a:r>
            <a:r>
              <a:rPr sz="2600" spc="42" dirty="0">
                <a:latin typeface="Times New Roman"/>
                <a:cs typeface="Times New Roman"/>
              </a:rPr>
              <a:t> </a:t>
            </a:r>
            <a:r>
              <a:rPr sz="2600" spc="94" dirty="0">
                <a:latin typeface="Times New Roman"/>
                <a:cs typeface="Times New Roman"/>
              </a:rPr>
              <a:t>data.</a:t>
            </a:r>
            <a:endParaRPr sz="2600" dirty="0">
              <a:latin typeface="Times New Roman"/>
              <a:cs typeface="Times New Roman"/>
            </a:endParaRPr>
          </a:p>
          <a:p>
            <a:pPr marL="457200" indent="-457200">
              <a:spcBef>
                <a:spcPts val="89"/>
              </a:spcBef>
              <a:buFont typeface="Arial" panose="020B0604020202020204" pitchFamily="34" charset="0"/>
              <a:buChar char="•"/>
            </a:pPr>
            <a:endParaRPr sz="2600" dirty="0">
              <a:latin typeface="Times New Roman"/>
              <a:cs typeface="Times New Roman"/>
            </a:endParaRPr>
          </a:p>
          <a:p>
            <a:pPr marL="469106" indent="-457200">
              <a:buFont typeface="Arial" panose="020B0604020202020204" pitchFamily="34" charset="0"/>
              <a:buChar char="•"/>
            </a:pPr>
            <a:r>
              <a:rPr sz="2600" spc="75" dirty="0">
                <a:latin typeface="Times New Roman"/>
                <a:cs typeface="Times New Roman"/>
              </a:rPr>
              <a:t>The</a:t>
            </a:r>
            <a:r>
              <a:rPr sz="2600" spc="9" dirty="0">
                <a:latin typeface="Times New Roman"/>
                <a:cs typeface="Times New Roman"/>
              </a:rPr>
              <a:t> </a:t>
            </a:r>
            <a:r>
              <a:rPr sz="2600" b="1" spc="-61" dirty="0">
                <a:latin typeface="Times New Roman"/>
                <a:cs typeface="Times New Roman"/>
              </a:rPr>
              <a:t>underlying</a:t>
            </a:r>
            <a:r>
              <a:rPr sz="2600" b="1" spc="19" dirty="0">
                <a:latin typeface="Times New Roman"/>
                <a:cs typeface="Times New Roman"/>
              </a:rPr>
              <a:t> </a:t>
            </a:r>
            <a:r>
              <a:rPr sz="2600" b="1" spc="-19" dirty="0">
                <a:latin typeface="Times New Roman"/>
                <a:cs typeface="Times New Roman"/>
              </a:rPr>
              <a:t>technology</a:t>
            </a:r>
            <a:r>
              <a:rPr sz="2600" b="1" spc="19" dirty="0">
                <a:latin typeface="Times New Roman"/>
                <a:cs typeface="Times New Roman"/>
              </a:rPr>
              <a:t> </a:t>
            </a:r>
            <a:r>
              <a:rPr sz="2600" spc="61" dirty="0">
                <a:latin typeface="Times New Roman"/>
                <a:cs typeface="Times New Roman"/>
              </a:rPr>
              <a:t>of</a:t>
            </a:r>
            <a:r>
              <a:rPr sz="2600" spc="19" dirty="0">
                <a:latin typeface="Times New Roman"/>
                <a:cs typeface="Times New Roman"/>
              </a:rPr>
              <a:t> </a:t>
            </a:r>
            <a:r>
              <a:rPr sz="2600" spc="117" dirty="0">
                <a:latin typeface="Times New Roman"/>
                <a:cs typeface="Times New Roman"/>
              </a:rPr>
              <a:t>LLMs</a:t>
            </a:r>
            <a:r>
              <a:rPr sz="2600" spc="23" dirty="0">
                <a:latin typeface="Times New Roman"/>
                <a:cs typeface="Times New Roman"/>
              </a:rPr>
              <a:t> </a:t>
            </a:r>
            <a:r>
              <a:rPr sz="2600" dirty="0">
                <a:latin typeface="Times New Roman"/>
                <a:cs typeface="Times New Roman"/>
              </a:rPr>
              <a:t>is</a:t>
            </a:r>
            <a:r>
              <a:rPr sz="2600" spc="19" dirty="0">
                <a:latin typeface="Times New Roman"/>
                <a:cs typeface="Times New Roman"/>
              </a:rPr>
              <a:t> </a:t>
            </a:r>
            <a:r>
              <a:rPr sz="2600" dirty="0">
                <a:latin typeface="Times New Roman"/>
                <a:cs typeface="Times New Roman"/>
              </a:rPr>
              <a:t>called</a:t>
            </a:r>
            <a:r>
              <a:rPr sz="2600" spc="23" dirty="0">
                <a:latin typeface="Times New Roman"/>
                <a:cs typeface="Times New Roman"/>
              </a:rPr>
              <a:t> </a:t>
            </a:r>
            <a:r>
              <a:rPr sz="2600" b="1" spc="-9" dirty="0">
                <a:latin typeface="Times New Roman"/>
                <a:cs typeface="Times New Roman"/>
              </a:rPr>
              <a:t>transformer.</a:t>
            </a:r>
            <a:endParaRPr sz="2600" dirty="0">
              <a:latin typeface="Times New Roman"/>
              <a:cs typeface="Times New Roman"/>
            </a:endParaRPr>
          </a:p>
          <a:p>
            <a:pPr marL="457200" indent="-457200">
              <a:spcBef>
                <a:spcPts val="84"/>
              </a:spcBef>
              <a:buFont typeface="Arial" panose="020B0604020202020204" pitchFamily="34" charset="0"/>
              <a:buChar char="•"/>
            </a:pPr>
            <a:endParaRPr sz="2600" dirty="0">
              <a:latin typeface="Times New Roman"/>
              <a:cs typeface="Times New Roman"/>
            </a:endParaRPr>
          </a:p>
          <a:p>
            <a:pPr marL="469106" indent="-457200">
              <a:buFont typeface="Arial" panose="020B0604020202020204" pitchFamily="34" charset="0"/>
              <a:buChar char="•"/>
            </a:pPr>
            <a:r>
              <a:rPr sz="2600" spc="89" dirty="0">
                <a:latin typeface="Times New Roman"/>
                <a:cs typeface="Times New Roman"/>
              </a:rPr>
              <a:t>Transformer</a:t>
            </a:r>
            <a:r>
              <a:rPr sz="2600" spc="-23" dirty="0">
                <a:latin typeface="Times New Roman"/>
                <a:cs typeface="Times New Roman"/>
              </a:rPr>
              <a:t> </a:t>
            </a:r>
            <a:r>
              <a:rPr sz="2600" dirty="0">
                <a:latin typeface="Times New Roman"/>
                <a:cs typeface="Times New Roman"/>
              </a:rPr>
              <a:t>is</a:t>
            </a:r>
            <a:r>
              <a:rPr sz="2600" spc="-23" dirty="0">
                <a:latin typeface="Times New Roman"/>
                <a:cs typeface="Times New Roman"/>
              </a:rPr>
              <a:t> </a:t>
            </a:r>
            <a:r>
              <a:rPr sz="2600" spc="131" dirty="0">
                <a:latin typeface="Times New Roman"/>
                <a:cs typeface="Times New Roman"/>
              </a:rPr>
              <a:t>a</a:t>
            </a:r>
            <a:r>
              <a:rPr sz="2600" spc="-23" dirty="0">
                <a:latin typeface="Times New Roman"/>
                <a:cs typeface="Times New Roman"/>
              </a:rPr>
              <a:t> </a:t>
            </a:r>
            <a:r>
              <a:rPr sz="2600" b="1" spc="-52" dirty="0">
                <a:latin typeface="Times New Roman"/>
                <a:cs typeface="Times New Roman"/>
              </a:rPr>
              <a:t>neural</a:t>
            </a:r>
            <a:r>
              <a:rPr sz="2600" b="1" spc="-19" dirty="0">
                <a:latin typeface="Times New Roman"/>
                <a:cs typeface="Times New Roman"/>
              </a:rPr>
              <a:t> </a:t>
            </a:r>
            <a:r>
              <a:rPr sz="2600" b="1" spc="-42" dirty="0">
                <a:latin typeface="Times New Roman"/>
                <a:cs typeface="Times New Roman"/>
              </a:rPr>
              <a:t>network</a:t>
            </a:r>
            <a:r>
              <a:rPr sz="2600" b="1" spc="-19" dirty="0">
                <a:latin typeface="Times New Roman"/>
                <a:cs typeface="Times New Roman"/>
              </a:rPr>
              <a:t> </a:t>
            </a:r>
            <a:r>
              <a:rPr sz="2600" b="1" spc="-42" dirty="0">
                <a:latin typeface="Times New Roman"/>
                <a:cs typeface="Times New Roman"/>
              </a:rPr>
              <a:t>architecture</a:t>
            </a:r>
            <a:r>
              <a:rPr sz="2600" b="1" spc="-28" dirty="0">
                <a:latin typeface="Times New Roman"/>
                <a:cs typeface="Times New Roman"/>
              </a:rPr>
              <a:t> </a:t>
            </a:r>
            <a:r>
              <a:rPr sz="2600" spc="56" dirty="0">
                <a:latin typeface="Times New Roman"/>
                <a:cs typeface="Times New Roman"/>
              </a:rPr>
              <a:t>in</a:t>
            </a:r>
            <a:r>
              <a:rPr sz="2600" spc="-19" dirty="0">
                <a:latin typeface="Times New Roman"/>
                <a:cs typeface="Times New Roman"/>
              </a:rPr>
              <a:t> </a:t>
            </a:r>
            <a:r>
              <a:rPr sz="2600" spc="56" dirty="0">
                <a:latin typeface="Times New Roman"/>
                <a:cs typeface="Times New Roman"/>
              </a:rPr>
              <a:t>deep</a:t>
            </a:r>
            <a:r>
              <a:rPr sz="2600" spc="-23" dirty="0">
                <a:latin typeface="Times New Roman"/>
                <a:cs typeface="Times New Roman"/>
              </a:rPr>
              <a:t> </a:t>
            </a:r>
            <a:r>
              <a:rPr sz="2600" spc="47" dirty="0">
                <a:latin typeface="Times New Roman"/>
                <a:cs typeface="Times New Roman"/>
              </a:rPr>
              <a:t>learning.</a:t>
            </a:r>
            <a:endParaRPr sz="2600" dirty="0">
              <a:latin typeface="Times New Roman"/>
              <a:cs typeface="Times New Roman"/>
            </a:endParaRPr>
          </a:p>
        </p:txBody>
      </p:sp>
    </p:spTree>
    <p:extLst>
      <p:ext uri="{BB962C8B-B14F-4D97-AF65-F5344CB8AC3E}">
        <p14:creationId xmlns:p14="http://schemas.microsoft.com/office/powerpoint/2010/main" val="208128541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pic>
        <p:nvPicPr>
          <p:cNvPr id="142" name="Google Shape;142;p15"/>
          <p:cNvPicPr preferRelativeResize="0"/>
          <p:nvPr/>
        </p:nvPicPr>
        <p:blipFill>
          <a:blip r:embed="rId3">
            <a:alphaModFix/>
          </a:blip>
          <a:stretch>
            <a:fillRect/>
          </a:stretch>
        </p:blipFill>
        <p:spPr>
          <a:xfrm>
            <a:off x="203200" y="512584"/>
            <a:ext cx="11785603" cy="5832837"/>
          </a:xfrm>
          <a:prstGeom prst="rect">
            <a:avLst/>
          </a:prstGeom>
          <a:noFill/>
          <a:ln>
            <a:noFill/>
          </a:ln>
        </p:spPr>
      </p:pic>
    </p:spTree>
    <p:extLst>
      <p:ext uri="{BB962C8B-B14F-4D97-AF65-F5344CB8AC3E}">
        <p14:creationId xmlns:p14="http://schemas.microsoft.com/office/powerpoint/2010/main" val="420068486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147072" y="1295102"/>
            <a:ext cx="9897856" cy="4267796"/>
          </a:xfrm>
          <a:prstGeom prst="rect">
            <a:avLst/>
          </a:prstGeom>
        </p:spPr>
      </p:pic>
    </p:spTree>
    <p:extLst>
      <p:ext uri="{BB962C8B-B14F-4D97-AF65-F5344CB8AC3E}">
        <p14:creationId xmlns:p14="http://schemas.microsoft.com/office/powerpoint/2010/main" val="267316582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52052" y="1223890"/>
            <a:ext cx="10256166" cy="4164036"/>
          </a:xfrm>
          <a:prstGeom prst="rect">
            <a:avLst/>
          </a:prstGeom>
        </p:spPr>
      </p:pic>
    </p:spTree>
    <p:extLst>
      <p:ext uri="{BB962C8B-B14F-4D97-AF65-F5344CB8AC3E}">
        <p14:creationId xmlns:p14="http://schemas.microsoft.com/office/powerpoint/2010/main" val="90725042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flipH="1">
            <a:off x="1523999" y="1"/>
            <a:ext cx="10098157" cy="657696"/>
          </a:xfrm>
          <a:prstGeom prst="rect">
            <a:avLst/>
          </a:prstGeom>
        </p:spPr>
        <p:txBody>
          <a:bodyPr vert="horz" wrap="square" lIns="0" tIns="165496" rIns="0" bIns="0" rtlCol="0">
            <a:spAutoFit/>
          </a:bodyPr>
          <a:lstStyle/>
          <a:p>
            <a:pPr marL="239910">
              <a:spcBef>
                <a:spcPts val="103"/>
              </a:spcBef>
            </a:pPr>
            <a:r>
              <a:rPr b="1" spc="191" dirty="0">
                <a:solidFill>
                  <a:srgbClr val="000000"/>
                </a:solidFill>
              </a:rPr>
              <a:t>RNNs'</a:t>
            </a:r>
            <a:r>
              <a:rPr b="1" spc="159" dirty="0">
                <a:solidFill>
                  <a:srgbClr val="000000"/>
                </a:solidFill>
              </a:rPr>
              <a:t> </a:t>
            </a:r>
            <a:r>
              <a:rPr b="1" spc="164" dirty="0">
                <a:solidFill>
                  <a:srgbClr val="000000"/>
                </a:solidFill>
              </a:rPr>
              <a:t>problems</a:t>
            </a:r>
          </a:p>
        </p:txBody>
      </p:sp>
      <p:pic>
        <p:nvPicPr>
          <p:cNvPr id="3" name="object 3"/>
          <p:cNvPicPr/>
          <p:nvPr/>
        </p:nvPicPr>
        <p:blipFill>
          <a:blip r:embed="rId2" cstate="print"/>
          <a:stretch>
            <a:fillRect/>
          </a:stretch>
        </p:blipFill>
        <p:spPr>
          <a:xfrm>
            <a:off x="8299463" y="3154017"/>
            <a:ext cx="3892537" cy="3566331"/>
          </a:xfrm>
          <a:prstGeom prst="rect">
            <a:avLst/>
          </a:prstGeom>
        </p:spPr>
      </p:pic>
      <p:pic>
        <p:nvPicPr>
          <p:cNvPr id="4" name="object 4"/>
          <p:cNvPicPr/>
          <p:nvPr/>
        </p:nvPicPr>
        <p:blipFill>
          <a:blip r:embed="rId3" cstate="print"/>
          <a:stretch>
            <a:fillRect/>
          </a:stretch>
        </p:blipFill>
        <p:spPr>
          <a:xfrm>
            <a:off x="2293738" y="1995785"/>
            <a:ext cx="71438" cy="71437"/>
          </a:xfrm>
          <a:prstGeom prst="rect">
            <a:avLst/>
          </a:prstGeom>
        </p:spPr>
      </p:pic>
      <p:sp>
        <p:nvSpPr>
          <p:cNvPr id="5" name="object 5"/>
          <p:cNvSpPr txBox="1"/>
          <p:nvPr/>
        </p:nvSpPr>
        <p:spPr>
          <a:xfrm>
            <a:off x="2478704" y="1787693"/>
            <a:ext cx="5320903" cy="2494658"/>
          </a:xfrm>
          <a:prstGeom prst="rect">
            <a:avLst/>
          </a:prstGeom>
        </p:spPr>
        <p:txBody>
          <a:bodyPr vert="horz" wrap="square" lIns="0" tIns="14288" rIns="0" bIns="0" rtlCol="0">
            <a:spAutoFit/>
          </a:bodyPr>
          <a:lstStyle/>
          <a:p>
            <a:pPr marL="11906">
              <a:spcBef>
                <a:spcPts val="113"/>
              </a:spcBef>
            </a:pPr>
            <a:r>
              <a:rPr sz="2297" spc="52" dirty="0">
                <a:latin typeface="Times New Roman"/>
                <a:cs typeface="Times New Roman"/>
              </a:rPr>
              <a:t>Vanishing</a:t>
            </a:r>
            <a:r>
              <a:rPr sz="2297" spc="14" dirty="0">
                <a:latin typeface="Times New Roman"/>
                <a:cs typeface="Times New Roman"/>
              </a:rPr>
              <a:t> </a:t>
            </a:r>
            <a:r>
              <a:rPr sz="2297" spc="127" dirty="0">
                <a:latin typeface="Times New Roman"/>
                <a:cs typeface="Times New Roman"/>
              </a:rPr>
              <a:t>and</a:t>
            </a:r>
            <a:r>
              <a:rPr sz="2297" spc="14" dirty="0">
                <a:latin typeface="Times New Roman"/>
                <a:cs typeface="Times New Roman"/>
              </a:rPr>
              <a:t> </a:t>
            </a:r>
            <a:r>
              <a:rPr sz="2297" spc="66" dirty="0">
                <a:latin typeface="Times New Roman"/>
                <a:cs typeface="Times New Roman"/>
              </a:rPr>
              <a:t>Exploding</a:t>
            </a:r>
            <a:r>
              <a:rPr sz="2297" spc="14" dirty="0">
                <a:latin typeface="Times New Roman"/>
                <a:cs typeface="Times New Roman"/>
              </a:rPr>
              <a:t> </a:t>
            </a:r>
            <a:r>
              <a:rPr sz="2297" spc="80" dirty="0">
                <a:latin typeface="Times New Roman"/>
                <a:cs typeface="Times New Roman"/>
              </a:rPr>
              <a:t>Gradients.</a:t>
            </a:r>
            <a:endParaRPr sz="2297">
              <a:latin typeface="Times New Roman"/>
              <a:cs typeface="Times New Roman"/>
            </a:endParaRPr>
          </a:p>
          <a:p>
            <a:pPr marL="11906" marR="4763">
              <a:lnSpc>
                <a:spcPct val="199000"/>
              </a:lnSpc>
            </a:pPr>
            <a:r>
              <a:rPr sz="2297" spc="47" dirty="0">
                <a:latin typeface="Times New Roman"/>
                <a:cs typeface="Times New Roman"/>
              </a:rPr>
              <a:t>Difficulty</a:t>
            </a:r>
            <a:r>
              <a:rPr sz="2297" spc="14" dirty="0">
                <a:latin typeface="Times New Roman"/>
                <a:cs typeface="Times New Roman"/>
              </a:rPr>
              <a:t> </a:t>
            </a:r>
            <a:r>
              <a:rPr sz="2297" spc="61" dirty="0">
                <a:latin typeface="Times New Roman"/>
                <a:cs typeface="Times New Roman"/>
              </a:rPr>
              <a:t>with</a:t>
            </a:r>
            <a:r>
              <a:rPr sz="2297" spc="19" dirty="0">
                <a:latin typeface="Times New Roman"/>
                <a:cs typeface="Times New Roman"/>
              </a:rPr>
              <a:t> </a:t>
            </a:r>
            <a:r>
              <a:rPr sz="2297" spc="70" dirty="0">
                <a:latin typeface="Times New Roman"/>
                <a:cs typeface="Times New Roman"/>
              </a:rPr>
              <a:t>Long-</a:t>
            </a:r>
            <a:r>
              <a:rPr sz="2297" spc="94" dirty="0">
                <a:latin typeface="Times New Roman"/>
                <a:cs typeface="Times New Roman"/>
              </a:rPr>
              <a:t>Range</a:t>
            </a:r>
            <a:r>
              <a:rPr sz="2297" spc="19" dirty="0">
                <a:latin typeface="Times New Roman"/>
                <a:cs typeface="Times New Roman"/>
              </a:rPr>
              <a:t> </a:t>
            </a:r>
            <a:r>
              <a:rPr sz="2297" spc="42" dirty="0">
                <a:latin typeface="Times New Roman"/>
                <a:cs typeface="Times New Roman"/>
              </a:rPr>
              <a:t>Dependencies </a:t>
            </a:r>
            <a:r>
              <a:rPr sz="2297" spc="56" dirty="0">
                <a:latin typeface="Times New Roman"/>
                <a:cs typeface="Times New Roman"/>
              </a:rPr>
              <a:t>Sequential</a:t>
            </a:r>
            <a:r>
              <a:rPr sz="2297" spc="33" dirty="0">
                <a:latin typeface="Times New Roman"/>
                <a:cs typeface="Times New Roman"/>
              </a:rPr>
              <a:t> </a:t>
            </a:r>
            <a:r>
              <a:rPr sz="2297" spc="103" dirty="0">
                <a:latin typeface="Times New Roman"/>
                <a:cs typeface="Times New Roman"/>
              </a:rPr>
              <a:t>Computation</a:t>
            </a:r>
            <a:endParaRPr sz="2297">
              <a:latin typeface="Times New Roman"/>
              <a:cs typeface="Times New Roman"/>
            </a:endParaRPr>
          </a:p>
          <a:p>
            <a:pPr>
              <a:spcBef>
                <a:spcPts val="84"/>
              </a:spcBef>
            </a:pPr>
            <a:endParaRPr sz="2297">
              <a:latin typeface="Times New Roman"/>
              <a:cs typeface="Times New Roman"/>
            </a:endParaRPr>
          </a:p>
          <a:p>
            <a:pPr marL="11906">
              <a:spcBef>
                <a:spcPts val="5"/>
              </a:spcBef>
            </a:pPr>
            <a:r>
              <a:rPr sz="2297" spc="66" dirty="0">
                <a:latin typeface="Times New Roman"/>
                <a:cs typeface="Times New Roman"/>
              </a:rPr>
              <a:t>Limited</a:t>
            </a:r>
            <a:r>
              <a:rPr sz="2297" spc="19" dirty="0">
                <a:latin typeface="Times New Roman"/>
                <a:cs typeface="Times New Roman"/>
              </a:rPr>
              <a:t> </a:t>
            </a:r>
            <a:r>
              <a:rPr sz="2297" spc="98" dirty="0">
                <a:latin typeface="Times New Roman"/>
                <a:cs typeface="Times New Roman"/>
              </a:rPr>
              <a:t>Memory</a:t>
            </a:r>
            <a:r>
              <a:rPr sz="2297" spc="19" dirty="0">
                <a:latin typeface="Times New Roman"/>
                <a:cs typeface="Times New Roman"/>
              </a:rPr>
              <a:t> </a:t>
            </a:r>
            <a:r>
              <a:rPr sz="2297" spc="66" dirty="0">
                <a:latin typeface="Times New Roman"/>
                <a:cs typeface="Times New Roman"/>
              </a:rPr>
              <a:t>Capacity</a:t>
            </a:r>
            <a:endParaRPr sz="2297">
              <a:latin typeface="Times New Roman"/>
              <a:cs typeface="Times New Roman"/>
            </a:endParaRPr>
          </a:p>
        </p:txBody>
      </p:sp>
      <p:pic>
        <p:nvPicPr>
          <p:cNvPr id="6" name="object 6"/>
          <p:cNvPicPr/>
          <p:nvPr/>
        </p:nvPicPr>
        <p:blipFill>
          <a:blip r:embed="rId4" cstate="print"/>
          <a:stretch>
            <a:fillRect/>
          </a:stretch>
        </p:blipFill>
        <p:spPr>
          <a:xfrm>
            <a:off x="2293738" y="2692301"/>
            <a:ext cx="71438" cy="71437"/>
          </a:xfrm>
          <a:prstGeom prst="rect">
            <a:avLst/>
          </a:prstGeom>
        </p:spPr>
      </p:pic>
      <p:pic>
        <p:nvPicPr>
          <p:cNvPr id="7" name="object 7"/>
          <p:cNvPicPr/>
          <p:nvPr/>
        </p:nvPicPr>
        <p:blipFill>
          <a:blip r:embed="rId4" cstate="print"/>
          <a:stretch>
            <a:fillRect/>
          </a:stretch>
        </p:blipFill>
        <p:spPr>
          <a:xfrm>
            <a:off x="2293738" y="3388816"/>
            <a:ext cx="71438" cy="71437"/>
          </a:xfrm>
          <a:prstGeom prst="rect">
            <a:avLst/>
          </a:prstGeom>
        </p:spPr>
      </p:pic>
      <p:pic>
        <p:nvPicPr>
          <p:cNvPr id="8" name="object 8"/>
          <p:cNvPicPr/>
          <p:nvPr/>
        </p:nvPicPr>
        <p:blipFill>
          <a:blip r:embed="rId4" cstate="print"/>
          <a:stretch>
            <a:fillRect/>
          </a:stretch>
        </p:blipFill>
        <p:spPr>
          <a:xfrm>
            <a:off x="2293738" y="4085332"/>
            <a:ext cx="71438" cy="71437"/>
          </a:xfrm>
          <a:prstGeom prst="rect">
            <a:avLst/>
          </a:prstGeom>
        </p:spPr>
      </p:pic>
    </p:spTree>
    <p:extLst>
      <p:ext uri="{BB962C8B-B14F-4D97-AF65-F5344CB8AC3E}">
        <p14:creationId xmlns:p14="http://schemas.microsoft.com/office/powerpoint/2010/main" val="317162316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flipH="1">
            <a:off x="1523998" y="453774"/>
            <a:ext cx="10323444" cy="675729"/>
          </a:xfrm>
          <a:prstGeom prst="rect">
            <a:avLst/>
          </a:prstGeom>
        </p:spPr>
        <p:txBody>
          <a:bodyPr vert="horz" wrap="square" lIns="0" tIns="183355" rIns="0" bIns="0" rtlCol="0">
            <a:spAutoFit/>
          </a:bodyPr>
          <a:lstStyle/>
          <a:p>
            <a:pPr marL="239910">
              <a:spcBef>
                <a:spcPts val="103"/>
              </a:spcBef>
            </a:pPr>
            <a:r>
              <a:rPr b="1" dirty="0">
                <a:solidFill>
                  <a:srgbClr val="000000"/>
                </a:solidFill>
                <a:latin typeface="Times New Roman"/>
                <a:cs typeface="Times New Roman"/>
              </a:rPr>
              <a:t>LSTMs</a:t>
            </a:r>
            <a:r>
              <a:rPr b="1" spc="145" dirty="0">
                <a:solidFill>
                  <a:srgbClr val="000000"/>
                </a:solidFill>
                <a:latin typeface="Times New Roman"/>
                <a:cs typeface="Times New Roman"/>
              </a:rPr>
              <a:t> </a:t>
            </a:r>
            <a:r>
              <a:rPr b="1" spc="-9" dirty="0">
                <a:solidFill>
                  <a:srgbClr val="000000"/>
                </a:solidFill>
                <a:latin typeface="Times New Roman"/>
                <a:cs typeface="Times New Roman"/>
              </a:rPr>
              <a:t>problems</a:t>
            </a:r>
          </a:p>
        </p:txBody>
      </p:sp>
      <p:pic>
        <p:nvPicPr>
          <p:cNvPr id="3" name="object 3"/>
          <p:cNvPicPr/>
          <p:nvPr/>
        </p:nvPicPr>
        <p:blipFill>
          <a:blip r:embed="rId2" cstate="print"/>
          <a:stretch>
            <a:fillRect/>
          </a:stretch>
        </p:blipFill>
        <p:spPr>
          <a:xfrm>
            <a:off x="6705601" y="3591339"/>
            <a:ext cx="5486400" cy="3266661"/>
          </a:xfrm>
          <a:prstGeom prst="rect">
            <a:avLst/>
          </a:prstGeom>
        </p:spPr>
      </p:pic>
      <p:pic>
        <p:nvPicPr>
          <p:cNvPr id="4" name="object 4"/>
          <p:cNvPicPr/>
          <p:nvPr/>
        </p:nvPicPr>
        <p:blipFill>
          <a:blip r:embed="rId3" cstate="print"/>
          <a:stretch>
            <a:fillRect/>
          </a:stretch>
        </p:blipFill>
        <p:spPr>
          <a:xfrm>
            <a:off x="2293738" y="1995785"/>
            <a:ext cx="71438" cy="71437"/>
          </a:xfrm>
          <a:prstGeom prst="rect">
            <a:avLst/>
          </a:prstGeom>
        </p:spPr>
      </p:pic>
      <p:sp>
        <p:nvSpPr>
          <p:cNvPr id="5" name="object 5"/>
          <p:cNvSpPr txBox="1"/>
          <p:nvPr/>
        </p:nvSpPr>
        <p:spPr>
          <a:xfrm>
            <a:off x="2478705" y="1787693"/>
            <a:ext cx="5197673" cy="2494658"/>
          </a:xfrm>
          <a:prstGeom prst="rect">
            <a:avLst/>
          </a:prstGeom>
        </p:spPr>
        <p:txBody>
          <a:bodyPr vert="horz" wrap="square" lIns="0" tIns="14288" rIns="0" bIns="0" rtlCol="0">
            <a:spAutoFit/>
          </a:bodyPr>
          <a:lstStyle/>
          <a:p>
            <a:pPr marL="11906">
              <a:spcBef>
                <a:spcPts val="113"/>
              </a:spcBef>
            </a:pPr>
            <a:r>
              <a:rPr sz="2297" dirty="0">
                <a:latin typeface="Times New Roman"/>
                <a:cs typeface="Times New Roman"/>
              </a:rPr>
              <a:t>Still</a:t>
            </a:r>
            <a:r>
              <a:rPr sz="2297" spc="113" dirty="0">
                <a:latin typeface="Times New Roman"/>
                <a:cs typeface="Times New Roman"/>
              </a:rPr>
              <a:t> </a:t>
            </a:r>
            <a:r>
              <a:rPr sz="2297" spc="47" dirty="0">
                <a:latin typeface="Times New Roman"/>
                <a:cs typeface="Times New Roman"/>
              </a:rPr>
              <a:t>Sequential</a:t>
            </a:r>
            <a:endParaRPr sz="2297">
              <a:latin typeface="Times New Roman"/>
              <a:cs typeface="Times New Roman"/>
            </a:endParaRPr>
          </a:p>
          <a:p>
            <a:pPr>
              <a:spcBef>
                <a:spcPts val="89"/>
              </a:spcBef>
            </a:pPr>
            <a:endParaRPr sz="2297">
              <a:latin typeface="Times New Roman"/>
              <a:cs typeface="Times New Roman"/>
            </a:endParaRPr>
          </a:p>
          <a:p>
            <a:pPr marL="11906"/>
            <a:r>
              <a:rPr sz="2297" spc="66" dirty="0">
                <a:latin typeface="Times New Roman"/>
                <a:cs typeface="Times New Roman"/>
              </a:rPr>
              <a:t>Limited</a:t>
            </a:r>
            <a:r>
              <a:rPr sz="2297" spc="23" dirty="0">
                <a:latin typeface="Times New Roman"/>
                <a:cs typeface="Times New Roman"/>
              </a:rPr>
              <a:t> </a:t>
            </a:r>
            <a:r>
              <a:rPr sz="2297" spc="84" dirty="0">
                <a:latin typeface="Times New Roman"/>
                <a:cs typeface="Times New Roman"/>
              </a:rPr>
              <a:t>Context</a:t>
            </a:r>
            <a:r>
              <a:rPr sz="2297" spc="28" dirty="0">
                <a:latin typeface="Times New Roman"/>
                <a:cs typeface="Times New Roman"/>
              </a:rPr>
              <a:t> </a:t>
            </a:r>
            <a:r>
              <a:rPr sz="2297" spc="66" dirty="0">
                <a:latin typeface="Times New Roman"/>
                <a:cs typeface="Times New Roman"/>
              </a:rPr>
              <a:t>Window</a:t>
            </a:r>
            <a:endParaRPr sz="2297">
              <a:latin typeface="Times New Roman"/>
              <a:cs typeface="Times New Roman"/>
            </a:endParaRPr>
          </a:p>
          <a:p>
            <a:pPr marL="11906" marR="4763">
              <a:lnSpc>
                <a:spcPct val="199000"/>
              </a:lnSpc>
            </a:pPr>
            <a:r>
              <a:rPr sz="2297" spc="47" dirty="0">
                <a:latin typeface="Times New Roman"/>
                <a:cs typeface="Times New Roman"/>
              </a:rPr>
              <a:t>Difficulty</a:t>
            </a:r>
            <a:r>
              <a:rPr sz="2297" spc="80" dirty="0">
                <a:latin typeface="Times New Roman"/>
                <a:cs typeface="Times New Roman"/>
              </a:rPr>
              <a:t> </a:t>
            </a:r>
            <a:r>
              <a:rPr sz="2297" dirty="0">
                <a:latin typeface="Times New Roman"/>
                <a:cs typeface="Times New Roman"/>
              </a:rPr>
              <a:t>Scaling</a:t>
            </a:r>
            <a:r>
              <a:rPr sz="2297" spc="75" dirty="0">
                <a:latin typeface="Times New Roman"/>
                <a:cs typeface="Times New Roman"/>
              </a:rPr>
              <a:t> </a:t>
            </a:r>
            <a:r>
              <a:rPr sz="2297" spc="127" dirty="0">
                <a:latin typeface="Times New Roman"/>
                <a:cs typeface="Times New Roman"/>
              </a:rPr>
              <a:t>to</a:t>
            </a:r>
            <a:r>
              <a:rPr sz="2297" spc="80" dirty="0">
                <a:latin typeface="Times New Roman"/>
                <a:cs typeface="Times New Roman"/>
              </a:rPr>
              <a:t> </a:t>
            </a:r>
            <a:r>
              <a:rPr sz="2297" dirty="0">
                <a:latin typeface="Times New Roman"/>
                <a:cs typeface="Times New Roman"/>
              </a:rPr>
              <a:t>Very</a:t>
            </a:r>
            <a:r>
              <a:rPr sz="2297" spc="80" dirty="0">
                <a:latin typeface="Times New Roman"/>
                <a:cs typeface="Times New Roman"/>
              </a:rPr>
              <a:t> </a:t>
            </a:r>
            <a:r>
              <a:rPr sz="2297" spc="70" dirty="0">
                <a:latin typeface="Times New Roman"/>
                <a:cs typeface="Times New Roman"/>
              </a:rPr>
              <a:t>Large</a:t>
            </a:r>
            <a:r>
              <a:rPr sz="2297" spc="75" dirty="0">
                <a:latin typeface="Times New Roman"/>
                <a:cs typeface="Times New Roman"/>
              </a:rPr>
              <a:t> </a:t>
            </a:r>
            <a:r>
              <a:rPr sz="2297" spc="80" dirty="0">
                <a:latin typeface="Times New Roman"/>
                <a:cs typeface="Times New Roman"/>
              </a:rPr>
              <a:t>Datasets </a:t>
            </a:r>
            <a:r>
              <a:rPr sz="2297" spc="47" dirty="0">
                <a:latin typeface="Times New Roman"/>
                <a:cs typeface="Times New Roman"/>
              </a:rPr>
              <a:t>Complexity</a:t>
            </a:r>
            <a:endParaRPr sz="2297">
              <a:latin typeface="Times New Roman"/>
              <a:cs typeface="Times New Roman"/>
            </a:endParaRPr>
          </a:p>
        </p:txBody>
      </p:sp>
      <p:pic>
        <p:nvPicPr>
          <p:cNvPr id="6" name="object 6"/>
          <p:cNvPicPr/>
          <p:nvPr/>
        </p:nvPicPr>
        <p:blipFill>
          <a:blip r:embed="rId4" cstate="print"/>
          <a:stretch>
            <a:fillRect/>
          </a:stretch>
        </p:blipFill>
        <p:spPr>
          <a:xfrm>
            <a:off x="2293738" y="2692301"/>
            <a:ext cx="71438" cy="71437"/>
          </a:xfrm>
          <a:prstGeom prst="rect">
            <a:avLst/>
          </a:prstGeom>
        </p:spPr>
      </p:pic>
      <p:pic>
        <p:nvPicPr>
          <p:cNvPr id="7" name="object 7"/>
          <p:cNvPicPr/>
          <p:nvPr/>
        </p:nvPicPr>
        <p:blipFill>
          <a:blip r:embed="rId4" cstate="print"/>
          <a:stretch>
            <a:fillRect/>
          </a:stretch>
        </p:blipFill>
        <p:spPr>
          <a:xfrm>
            <a:off x="2293738" y="3388816"/>
            <a:ext cx="71438" cy="71437"/>
          </a:xfrm>
          <a:prstGeom prst="rect">
            <a:avLst/>
          </a:prstGeom>
        </p:spPr>
      </p:pic>
      <p:pic>
        <p:nvPicPr>
          <p:cNvPr id="8" name="object 8"/>
          <p:cNvPicPr/>
          <p:nvPr/>
        </p:nvPicPr>
        <p:blipFill>
          <a:blip r:embed="rId4" cstate="print"/>
          <a:stretch>
            <a:fillRect/>
          </a:stretch>
        </p:blipFill>
        <p:spPr>
          <a:xfrm>
            <a:off x="2293738" y="4085332"/>
            <a:ext cx="71438" cy="71437"/>
          </a:xfrm>
          <a:prstGeom prst="rect">
            <a:avLst/>
          </a:prstGeom>
        </p:spPr>
      </p:pic>
    </p:spTree>
    <p:extLst>
      <p:ext uri="{BB962C8B-B14F-4D97-AF65-F5344CB8AC3E}">
        <p14:creationId xmlns:p14="http://schemas.microsoft.com/office/powerpoint/2010/main" val="172410456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flipH="1">
            <a:off x="1934816" y="1417982"/>
            <a:ext cx="10257184" cy="675729"/>
          </a:xfrm>
          <a:prstGeom prst="rect">
            <a:avLst/>
          </a:prstGeom>
        </p:spPr>
        <p:txBody>
          <a:bodyPr vert="horz" wrap="square" lIns="0" tIns="183355" rIns="0" bIns="0" rtlCol="0">
            <a:spAutoFit/>
          </a:bodyPr>
          <a:lstStyle/>
          <a:p>
            <a:pPr marL="239910">
              <a:spcBef>
                <a:spcPts val="103"/>
              </a:spcBef>
            </a:pPr>
            <a:r>
              <a:rPr b="1" dirty="0">
                <a:solidFill>
                  <a:srgbClr val="000000"/>
                </a:solidFill>
                <a:latin typeface="Times New Roman"/>
                <a:cs typeface="Times New Roman"/>
              </a:rPr>
              <a:t>Main</a:t>
            </a:r>
            <a:r>
              <a:rPr b="1" spc="113" dirty="0">
                <a:solidFill>
                  <a:srgbClr val="000000"/>
                </a:solidFill>
                <a:latin typeface="Times New Roman"/>
                <a:cs typeface="Times New Roman"/>
              </a:rPr>
              <a:t> </a:t>
            </a:r>
            <a:r>
              <a:rPr b="1" spc="-9" dirty="0">
                <a:solidFill>
                  <a:srgbClr val="000000"/>
                </a:solidFill>
                <a:latin typeface="Times New Roman"/>
                <a:cs typeface="Times New Roman"/>
              </a:rPr>
              <a:t>problems</a:t>
            </a:r>
          </a:p>
        </p:txBody>
      </p:sp>
      <p:sp>
        <p:nvSpPr>
          <p:cNvPr id="3" name="object 3"/>
          <p:cNvSpPr txBox="1"/>
          <p:nvPr/>
        </p:nvSpPr>
        <p:spPr>
          <a:xfrm>
            <a:off x="490331" y="2931974"/>
            <a:ext cx="11463130" cy="2220160"/>
          </a:xfrm>
          <a:prstGeom prst="rect">
            <a:avLst/>
          </a:prstGeom>
        </p:spPr>
        <p:txBody>
          <a:bodyPr vert="horz" wrap="square" lIns="0" tIns="14288" rIns="0" bIns="0" rtlCol="0">
            <a:spAutoFit/>
          </a:bodyPr>
          <a:lstStyle/>
          <a:p>
            <a:pPr marL="469106" marR="4763" indent="-457200">
              <a:spcBef>
                <a:spcPts val="113"/>
              </a:spcBef>
              <a:buFont typeface="Arial" panose="020B0604020202020204" pitchFamily="34" charset="0"/>
              <a:buChar char="•"/>
              <a:tabLst>
                <a:tab pos="431006" algn="l"/>
              </a:tabLst>
            </a:pPr>
            <a:r>
              <a:rPr sz="2578" b="1" spc="66" dirty="0">
                <a:latin typeface="Times New Roman"/>
                <a:cs typeface="Times New Roman"/>
              </a:rPr>
              <a:t>They</a:t>
            </a:r>
            <a:r>
              <a:rPr sz="2578" b="1" spc="14" dirty="0">
                <a:latin typeface="Times New Roman"/>
                <a:cs typeface="Times New Roman"/>
              </a:rPr>
              <a:t> </a:t>
            </a:r>
            <a:r>
              <a:rPr sz="2578" b="1" spc="52" dirty="0">
                <a:latin typeface="Times New Roman"/>
                <a:cs typeface="Times New Roman"/>
              </a:rPr>
              <a:t>process</a:t>
            </a:r>
            <a:r>
              <a:rPr sz="2578" b="1" spc="14" dirty="0">
                <a:latin typeface="Times New Roman"/>
                <a:cs typeface="Times New Roman"/>
              </a:rPr>
              <a:t> </a:t>
            </a:r>
            <a:r>
              <a:rPr sz="2578" b="1" spc="89" dirty="0">
                <a:latin typeface="Times New Roman"/>
                <a:cs typeface="Times New Roman"/>
              </a:rPr>
              <a:t>the</a:t>
            </a:r>
            <a:r>
              <a:rPr sz="2578" b="1" spc="14" dirty="0">
                <a:latin typeface="Times New Roman"/>
                <a:cs typeface="Times New Roman"/>
              </a:rPr>
              <a:t> </a:t>
            </a:r>
            <a:r>
              <a:rPr sz="2578" b="1" spc="107" dirty="0">
                <a:latin typeface="Times New Roman"/>
                <a:cs typeface="Times New Roman"/>
              </a:rPr>
              <a:t>input</a:t>
            </a:r>
            <a:r>
              <a:rPr sz="2578" b="1" spc="19" dirty="0">
                <a:latin typeface="Times New Roman"/>
                <a:cs typeface="Times New Roman"/>
              </a:rPr>
              <a:t> </a:t>
            </a:r>
            <a:r>
              <a:rPr sz="2578" b="1" spc="145" dirty="0">
                <a:latin typeface="Times New Roman"/>
                <a:cs typeface="Times New Roman"/>
              </a:rPr>
              <a:t>data</a:t>
            </a:r>
            <a:r>
              <a:rPr sz="2578" b="1" spc="14" dirty="0">
                <a:latin typeface="Times New Roman"/>
                <a:cs typeface="Times New Roman"/>
              </a:rPr>
              <a:t> </a:t>
            </a:r>
            <a:r>
              <a:rPr sz="2578" b="1" spc="52" dirty="0">
                <a:latin typeface="Times New Roman"/>
                <a:cs typeface="Times New Roman"/>
              </a:rPr>
              <a:t>sequentially</a:t>
            </a:r>
            <a:r>
              <a:rPr sz="2578" spc="52" dirty="0">
                <a:latin typeface="Times New Roman"/>
                <a:cs typeface="Times New Roman"/>
              </a:rPr>
              <a:t>,</a:t>
            </a:r>
            <a:r>
              <a:rPr sz="2578" spc="14" dirty="0">
                <a:latin typeface="Times New Roman"/>
                <a:cs typeface="Times New Roman"/>
              </a:rPr>
              <a:t> </a:t>
            </a:r>
            <a:r>
              <a:rPr sz="2578" spc="84" dirty="0">
                <a:latin typeface="Times New Roman"/>
                <a:cs typeface="Times New Roman"/>
              </a:rPr>
              <a:t>one</a:t>
            </a:r>
            <a:r>
              <a:rPr sz="2578" spc="19" dirty="0">
                <a:latin typeface="Times New Roman"/>
                <a:cs typeface="Times New Roman"/>
              </a:rPr>
              <a:t> </a:t>
            </a:r>
            <a:r>
              <a:rPr sz="2578" spc="84" dirty="0">
                <a:latin typeface="Times New Roman"/>
                <a:cs typeface="Times New Roman"/>
              </a:rPr>
              <a:t>after</a:t>
            </a:r>
            <a:r>
              <a:rPr sz="2578" spc="14" dirty="0">
                <a:latin typeface="Times New Roman"/>
                <a:cs typeface="Times New Roman"/>
              </a:rPr>
              <a:t> </a:t>
            </a:r>
            <a:r>
              <a:rPr sz="2578" spc="66" dirty="0">
                <a:latin typeface="Times New Roman"/>
                <a:cs typeface="Times New Roman"/>
              </a:rPr>
              <a:t>the </a:t>
            </a:r>
            <a:r>
              <a:rPr sz="2578" spc="89" dirty="0">
                <a:latin typeface="Times New Roman"/>
                <a:cs typeface="Times New Roman"/>
              </a:rPr>
              <a:t>other.</a:t>
            </a:r>
            <a:endParaRPr sz="2578" dirty="0">
              <a:latin typeface="Times New Roman"/>
              <a:cs typeface="Times New Roman"/>
            </a:endParaRPr>
          </a:p>
          <a:p>
            <a:pPr marL="157758"/>
            <a:r>
              <a:rPr lang="en-IN" sz="2297" spc="47" dirty="0" smtClean="0">
                <a:latin typeface="Times New Roman"/>
                <a:cs typeface="Times New Roman"/>
              </a:rPr>
              <a:t>    </a:t>
            </a:r>
            <a:r>
              <a:rPr sz="2297" spc="47" dirty="0" smtClean="0">
                <a:latin typeface="Times New Roman"/>
                <a:cs typeface="Times New Roman"/>
              </a:rPr>
              <a:t>This</a:t>
            </a:r>
            <a:r>
              <a:rPr sz="2297" spc="66" dirty="0" smtClean="0">
                <a:latin typeface="Times New Roman"/>
                <a:cs typeface="Times New Roman"/>
              </a:rPr>
              <a:t> </a:t>
            </a:r>
            <a:r>
              <a:rPr sz="2297" spc="56" dirty="0">
                <a:latin typeface="Times New Roman"/>
                <a:cs typeface="Times New Roman"/>
              </a:rPr>
              <a:t>makes</a:t>
            </a:r>
            <a:r>
              <a:rPr sz="2297" spc="66" dirty="0">
                <a:latin typeface="Times New Roman"/>
                <a:cs typeface="Times New Roman"/>
              </a:rPr>
              <a:t> </a:t>
            </a:r>
            <a:r>
              <a:rPr sz="2297" spc="70" dirty="0">
                <a:latin typeface="Times New Roman"/>
                <a:cs typeface="Times New Roman"/>
              </a:rPr>
              <a:t>the</a:t>
            </a:r>
            <a:r>
              <a:rPr sz="2297" spc="66" dirty="0">
                <a:latin typeface="Times New Roman"/>
                <a:cs typeface="Times New Roman"/>
              </a:rPr>
              <a:t> training</a:t>
            </a:r>
            <a:r>
              <a:rPr sz="2297" spc="70" dirty="0">
                <a:latin typeface="Times New Roman"/>
                <a:cs typeface="Times New Roman"/>
              </a:rPr>
              <a:t> </a:t>
            </a:r>
            <a:r>
              <a:rPr sz="2297" spc="52" dirty="0">
                <a:latin typeface="Times New Roman"/>
                <a:cs typeface="Times New Roman"/>
              </a:rPr>
              <a:t>of</a:t>
            </a:r>
            <a:r>
              <a:rPr sz="2297" spc="66" dirty="0">
                <a:latin typeface="Times New Roman"/>
                <a:cs typeface="Times New Roman"/>
              </a:rPr>
              <a:t> </a:t>
            </a:r>
            <a:r>
              <a:rPr sz="2297" dirty="0">
                <a:latin typeface="Times New Roman"/>
                <a:cs typeface="Times New Roman"/>
              </a:rPr>
              <a:t>such</a:t>
            </a:r>
            <a:r>
              <a:rPr sz="2297" spc="70" dirty="0">
                <a:latin typeface="Times New Roman"/>
                <a:cs typeface="Times New Roman"/>
              </a:rPr>
              <a:t> </a:t>
            </a:r>
            <a:r>
              <a:rPr sz="2297" dirty="0">
                <a:latin typeface="Times New Roman"/>
                <a:cs typeface="Times New Roman"/>
              </a:rPr>
              <a:t>models</a:t>
            </a:r>
            <a:r>
              <a:rPr sz="2297" spc="66" dirty="0">
                <a:latin typeface="Times New Roman"/>
                <a:cs typeface="Times New Roman"/>
              </a:rPr>
              <a:t> </a:t>
            </a:r>
            <a:r>
              <a:rPr sz="2297" spc="61" dirty="0">
                <a:latin typeface="Times New Roman"/>
                <a:cs typeface="Times New Roman"/>
              </a:rPr>
              <a:t>quite</a:t>
            </a:r>
            <a:r>
              <a:rPr sz="2297" spc="66" dirty="0">
                <a:latin typeface="Times New Roman"/>
                <a:cs typeface="Times New Roman"/>
              </a:rPr>
              <a:t> </a:t>
            </a:r>
            <a:r>
              <a:rPr sz="2297" spc="-9" dirty="0">
                <a:latin typeface="Times New Roman"/>
                <a:cs typeface="Times New Roman"/>
              </a:rPr>
              <a:t>slow.</a:t>
            </a:r>
            <a:endParaRPr sz="2297" dirty="0">
              <a:latin typeface="Times New Roman"/>
              <a:cs typeface="Times New Roman"/>
            </a:endParaRPr>
          </a:p>
          <a:p>
            <a:pPr marL="354806" marR="406003" indent="-342900">
              <a:buFont typeface="Arial" panose="020B0604020202020204" pitchFamily="34" charset="0"/>
              <a:buChar char="•"/>
              <a:tabLst>
                <a:tab pos="513755" algn="l"/>
              </a:tabLst>
            </a:pPr>
            <a:endParaRPr lang="en-IN" sz="2297" dirty="0">
              <a:latin typeface="Times New Roman"/>
              <a:cs typeface="Times New Roman"/>
            </a:endParaRPr>
          </a:p>
          <a:p>
            <a:pPr marL="469106" marR="406003" indent="-457200">
              <a:buFont typeface="Arial" panose="020B0604020202020204" pitchFamily="34" charset="0"/>
              <a:buChar char="•"/>
              <a:tabLst>
                <a:tab pos="513755" algn="l"/>
              </a:tabLst>
            </a:pPr>
            <a:r>
              <a:rPr sz="2578" dirty="0" smtClean="0">
                <a:latin typeface="Times New Roman"/>
                <a:cs typeface="Times New Roman"/>
              </a:rPr>
              <a:t>Become</a:t>
            </a:r>
            <a:r>
              <a:rPr sz="2578" spc="84" dirty="0" smtClean="0">
                <a:latin typeface="Times New Roman"/>
                <a:cs typeface="Times New Roman"/>
              </a:rPr>
              <a:t> </a:t>
            </a:r>
            <a:r>
              <a:rPr sz="2578" dirty="0">
                <a:latin typeface="Times New Roman"/>
                <a:cs typeface="Times New Roman"/>
              </a:rPr>
              <a:t>ineffective</a:t>
            </a:r>
            <a:r>
              <a:rPr sz="2578" spc="80" dirty="0">
                <a:latin typeface="Times New Roman"/>
                <a:cs typeface="Times New Roman"/>
              </a:rPr>
              <a:t> </a:t>
            </a:r>
            <a:r>
              <a:rPr sz="2578" spc="66" dirty="0" smtClean="0">
                <a:latin typeface="Times New Roman"/>
                <a:cs typeface="Times New Roman"/>
              </a:rPr>
              <a:t>when</a:t>
            </a:r>
            <a:r>
              <a:rPr sz="2578" spc="84" dirty="0" smtClean="0">
                <a:latin typeface="Times New Roman"/>
                <a:cs typeface="Times New Roman"/>
              </a:rPr>
              <a:t> </a:t>
            </a:r>
            <a:r>
              <a:rPr sz="2578" b="1" spc="42" dirty="0" smtClean="0">
                <a:latin typeface="Times New Roman"/>
                <a:cs typeface="Times New Roman"/>
              </a:rPr>
              <a:t>elements</a:t>
            </a:r>
            <a:r>
              <a:rPr sz="2578" b="1" spc="80" dirty="0" smtClean="0">
                <a:latin typeface="Times New Roman"/>
                <a:cs typeface="Times New Roman"/>
              </a:rPr>
              <a:t> </a:t>
            </a:r>
            <a:r>
              <a:rPr sz="2578" b="1" spc="89" dirty="0" smtClean="0">
                <a:latin typeface="Times New Roman"/>
                <a:cs typeface="Times New Roman"/>
              </a:rPr>
              <a:t>are</a:t>
            </a:r>
            <a:r>
              <a:rPr sz="2578" b="1" spc="84" dirty="0" smtClean="0">
                <a:latin typeface="Times New Roman"/>
                <a:cs typeface="Times New Roman"/>
              </a:rPr>
              <a:t> </a:t>
            </a:r>
            <a:r>
              <a:rPr sz="2578" b="1" spc="98" dirty="0" smtClean="0">
                <a:latin typeface="Times New Roman"/>
                <a:cs typeface="Times New Roman"/>
              </a:rPr>
              <a:t>distant</a:t>
            </a:r>
            <a:r>
              <a:rPr sz="2578" b="1" spc="80" dirty="0" smtClean="0">
                <a:latin typeface="Times New Roman"/>
                <a:cs typeface="Times New Roman"/>
              </a:rPr>
              <a:t> from </a:t>
            </a:r>
            <a:r>
              <a:rPr sz="2578" b="1" spc="84" dirty="0" smtClean="0">
                <a:latin typeface="Times New Roman"/>
                <a:cs typeface="Times New Roman"/>
              </a:rPr>
              <a:t>one</a:t>
            </a:r>
            <a:r>
              <a:rPr sz="2578" b="1" spc="14" dirty="0" smtClean="0">
                <a:latin typeface="Times New Roman"/>
                <a:cs typeface="Times New Roman"/>
              </a:rPr>
              <a:t> </a:t>
            </a:r>
            <a:r>
              <a:rPr sz="2578" b="1" spc="98" dirty="0" smtClean="0">
                <a:latin typeface="Times New Roman"/>
                <a:cs typeface="Times New Roman"/>
              </a:rPr>
              <a:t>another</a:t>
            </a:r>
            <a:r>
              <a:rPr sz="2578" spc="98" dirty="0" smtClean="0">
                <a:latin typeface="Times New Roman"/>
                <a:cs typeface="Times New Roman"/>
              </a:rPr>
              <a:t>.</a:t>
            </a:r>
            <a:endParaRPr sz="2578" dirty="0">
              <a:latin typeface="Times New Roman"/>
              <a:cs typeface="Times New Roman"/>
            </a:endParaRPr>
          </a:p>
          <a:p>
            <a:pPr marL="11906" marR="8930" indent="218480">
              <a:lnSpc>
                <a:spcPts val="2747"/>
              </a:lnSpc>
              <a:spcBef>
                <a:spcPts val="98"/>
              </a:spcBef>
              <a:tabLst>
                <a:tab pos="6983016" algn="l"/>
              </a:tabLst>
            </a:pPr>
            <a:r>
              <a:rPr lang="en-IN" sz="2297" spc="89" dirty="0" smtClean="0">
                <a:latin typeface="Times New Roman"/>
                <a:cs typeface="Times New Roman"/>
              </a:rPr>
              <a:t>    </a:t>
            </a:r>
            <a:r>
              <a:rPr sz="2297" spc="89" dirty="0" smtClean="0">
                <a:latin typeface="Times New Roman"/>
                <a:cs typeface="Times New Roman"/>
              </a:rPr>
              <a:t>Information</a:t>
            </a:r>
            <a:r>
              <a:rPr sz="2297" spc="23" dirty="0" smtClean="0">
                <a:latin typeface="Times New Roman"/>
                <a:cs typeface="Times New Roman"/>
              </a:rPr>
              <a:t> </a:t>
            </a:r>
            <a:r>
              <a:rPr sz="2297" dirty="0">
                <a:latin typeface="Times New Roman"/>
                <a:cs typeface="Times New Roman"/>
              </a:rPr>
              <a:t>is</a:t>
            </a:r>
            <a:r>
              <a:rPr sz="2297" spc="28" dirty="0">
                <a:latin typeface="Times New Roman"/>
                <a:cs typeface="Times New Roman"/>
              </a:rPr>
              <a:t> </a:t>
            </a:r>
            <a:r>
              <a:rPr sz="2297" spc="47" dirty="0">
                <a:latin typeface="Times New Roman"/>
                <a:cs typeface="Times New Roman"/>
              </a:rPr>
              <a:t>passed</a:t>
            </a:r>
            <a:r>
              <a:rPr sz="2297" spc="28" dirty="0">
                <a:latin typeface="Times New Roman"/>
                <a:cs typeface="Times New Roman"/>
              </a:rPr>
              <a:t> </a:t>
            </a:r>
            <a:r>
              <a:rPr sz="2297" spc="122" dirty="0">
                <a:latin typeface="Times New Roman"/>
                <a:cs typeface="Times New Roman"/>
              </a:rPr>
              <a:t>at</a:t>
            </a:r>
            <a:r>
              <a:rPr sz="2297" spc="23" dirty="0">
                <a:latin typeface="Times New Roman"/>
                <a:cs typeface="Times New Roman"/>
              </a:rPr>
              <a:t> </a:t>
            </a:r>
            <a:r>
              <a:rPr sz="2297" dirty="0">
                <a:latin typeface="Times New Roman"/>
                <a:cs typeface="Times New Roman"/>
              </a:rPr>
              <a:t>each</a:t>
            </a:r>
            <a:r>
              <a:rPr sz="2297" spc="28" dirty="0">
                <a:latin typeface="Times New Roman"/>
                <a:cs typeface="Times New Roman"/>
              </a:rPr>
              <a:t> </a:t>
            </a:r>
            <a:r>
              <a:rPr sz="2297" spc="47" dirty="0">
                <a:latin typeface="Times New Roman"/>
                <a:cs typeface="Times New Roman"/>
              </a:rPr>
              <a:t>step</a:t>
            </a:r>
            <a:r>
              <a:rPr sz="2297" spc="28" dirty="0">
                <a:latin typeface="Times New Roman"/>
                <a:cs typeface="Times New Roman"/>
              </a:rPr>
              <a:t> </a:t>
            </a:r>
            <a:r>
              <a:rPr sz="2297" spc="113" dirty="0">
                <a:latin typeface="Times New Roman"/>
                <a:cs typeface="Times New Roman"/>
              </a:rPr>
              <a:t>and</a:t>
            </a:r>
            <a:r>
              <a:rPr sz="2297" spc="23" dirty="0">
                <a:latin typeface="Times New Roman"/>
                <a:cs typeface="Times New Roman"/>
              </a:rPr>
              <a:t> </a:t>
            </a:r>
            <a:r>
              <a:rPr sz="2297" spc="70" dirty="0">
                <a:latin typeface="Times New Roman"/>
                <a:cs typeface="Times New Roman"/>
              </a:rPr>
              <a:t>the</a:t>
            </a:r>
            <a:r>
              <a:rPr sz="2297" spc="28" dirty="0">
                <a:latin typeface="Times New Roman"/>
                <a:cs typeface="Times New Roman"/>
              </a:rPr>
              <a:t> </a:t>
            </a:r>
            <a:r>
              <a:rPr sz="2297" spc="47" dirty="0">
                <a:latin typeface="Times New Roman"/>
                <a:cs typeface="Times New Roman"/>
              </a:rPr>
              <a:t>longer</a:t>
            </a:r>
            <a:r>
              <a:rPr sz="2297" spc="28" dirty="0">
                <a:latin typeface="Times New Roman"/>
                <a:cs typeface="Times New Roman"/>
              </a:rPr>
              <a:t> </a:t>
            </a:r>
            <a:r>
              <a:rPr sz="2297" spc="47" dirty="0">
                <a:latin typeface="Times New Roman"/>
                <a:cs typeface="Times New Roman"/>
              </a:rPr>
              <a:t>the</a:t>
            </a:r>
            <a:r>
              <a:rPr sz="2297" dirty="0">
                <a:latin typeface="Times New Roman"/>
                <a:cs typeface="Times New Roman"/>
              </a:rPr>
              <a:t>	</a:t>
            </a:r>
            <a:r>
              <a:rPr sz="2297" spc="56" dirty="0">
                <a:latin typeface="Times New Roman"/>
                <a:cs typeface="Times New Roman"/>
              </a:rPr>
              <a:t>chain</a:t>
            </a:r>
            <a:r>
              <a:rPr sz="2297" spc="19" dirty="0">
                <a:latin typeface="Times New Roman"/>
                <a:cs typeface="Times New Roman"/>
              </a:rPr>
              <a:t> </a:t>
            </a:r>
            <a:r>
              <a:rPr sz="2297" spc="-23" dirty="0">
                <a:latin typeface="Times New Roman"/>
                <a:cs typeface="Times New Roman"/>
              </a:rPr>
              <a:t>is, </a:t>
            </a:r>
            <a:r>
              <a:rPr sz="2297" spc="70" dirty="0">
                <a:latin typeface="Times New Roman"/>
                <a:cs typeface="Times New Roman"/>
              </a:rPr>
              <a:t>the</a:t>
            </a:r>
            <a:r>
              <a:rPr sz="2297" spc="5" dirty="0">
                <a:latin typeface="Times New Roman"/>
                <a:cs typeface="Times New Roman"/>
              </a:rPr>
              <a:t> </a:t>
            </a:r>
            <a:r>
              <a:rPr sz="2297" spc="75" dirty="0">
                <a:latin typeface="Times New Roman"/>
                <a:cs typeface="Times New Roman"/>
              </a:rPr>
              <a:t>more</a:t>
            </a:r>
            <a:r>
              <a:rPr sz="2297" spc="9" dirty="0">
                <a:latin typeface="Times New Roman"/>
                <a:cs typeface="Times New Roman"/>
              </a:rPr>
              <a:t> </a:t>
            </a:r>
            <a:r>
              <a:rPr sz="2297" spc="80" dirty="0">
                <a:latin typeface="Times New Roman"/>
                <a:cs typeface="Times New Roman"/>
              </a:rPr>
              <a:t>probable</a:t>
            </a:r>
            <a:r>
              <a:rPr sz="2297" spc="9" dirty="0">
                <a:latin typeface="Times New Roman"/>
                <a:cs typeface="Times New Roman"/>
              </a:rPr>
              <a:t> </a:t>
            </a:r>
            <a:r>
              <a:rPr sz="2297" spc="70" dirty="0" smtClean="0">
                <a:latin typeface="Times New Roman"/>
                <a:cs typeface="Times New Roman"/>
              </a:rPr>
              <a:t>the</a:t>
            </a:r>
            <a:endParaRPr lang="en-IN" sz="2297" spc="70" dirty="0" smtClean="0">
              <a:latin typeface="Times New Roman"/>
              <a:cs typeface="Times New Roman"/>
            </a:endParaRPr>
          </a:p>
          <a:p>
            <a:pPr marL="11906" marR="8930" indent="218480">
              <a:lnSpc>
                <a:spcPts val="2747"/>
              </a:lnSpc>
              <a:spcBef>
                <a:spcPts val="98"/>
              </a:spcBef>
              <a:tabLst>
                <a:tab pos="6983016" algn="l"/>
              </a:tabLst>
            </a:pPr>
            <a:r>
              <a:rPr lang="en-IN" sz="2297" spc="70" dirty="0">
                <a:latin typeface="Times New Roman"/>
                <a:cs typeface="Times New Roman"/>
              </a:rPr>
              <a:t> </a:t>
            </a:r>
            <a:r>
              <a:rPr lang="en-IN" sz="2297" spc="70" dirty="0" smtClean="0">
                <a:latin typeface="Times New Roman"/>
                <a:cs typeface="Times New Roman"/>
              </a:rPr>
              <a:t>  </a:t>
            </a:r>
            <a:r>
              <a:rPr sz="2297" spc="5" dirty="0" smtClean="0">
                <a:latin typeface="Times New Roman"/>
                <a:cs typeface="Times New Roman"/>
              </a:rPr>
              <a:t> </a:t>
            </a:r>
            <a:r>
              <a:rPr sz="2297" spc="75" dirty="0">
                <a:latin typeface="Times New Roman"/>
                <a:cs typeface="Times New Roman"/>
              </a:rPr>
              <a:t>information</a:t>
            </a:r>
            <a:r>
              <a:rPr sz="2297" spc="9" dirty="0">
                <a:latin typeface="Times New Roman"/>
                <a:cs typeface="Times New Roman"/>
              </a:rPr>
              <a:t> </a:t>
            </a:r>
            <a:r>
              <a:rPr sz="2297" dirty="0">
                <a:latin typeface="Times New Roman"/>
                <a:cs typeface="Times New Roman"/>
              </a:rPr>
              <a:t>is</a:t>
            </a:r>
            <a:r>
              <a:rPr sz="2297" spc="9" dirty="0">
                <a:latin typeface="Times New Roman"/>
                <a:cs typeface="Times New Roman"/>
              </a:rPr>
              <a:t> </a:t>
            </a:r>
            <a:r>
              <a:rPr sz="2297" spc="52" dirty="0">
                <a:latin typeface="Times New Roman"/>
                <a:cs typeface="Times New Roman"/>
              </a:rPr>
              <a:t>lost</a:t>
            </a:r>
            <a:r>
              <a:rPr sz="2297" spc="5" dirty="0">
                <a:latin typeface="Times New Roman"/>
                <a:cs typeface="Times New Roman"/>
              </a:rPr>
              <a:t> </a:t>
            </a:r>
            <a:r>
              <a:rPr sz="2297" spc="61" dirty="0">
                <a:latin typeface="Times New Roman"/>
                <a:cs typeface="Times New Roman"/>
              </a:rPr>
              <a:t>along</a:t>
            </a:r>
            <a:r>
              <a:rPr sz="2297" spc="9" dirty="0">
                <a:latin typeface="Times New Roman"/>
                <a:cs typeface="Times New Roman"/>
              </a:rPr>
              <a:t> </a:t>
            </a:r>
            <a:r>
              <a:rPr sz="2297" spc="70" dirty="0">
                <a:latin typeface="Times New Roman"/>
                <a:cs typeface="Times New Roman"/>
              </a:rPr>
              <a:t>the</a:t>
            </a:r>
            <a:r>
              <a:rPr sz="2297" spc="9" dirty="0">
                <a:latin typeface="Times New Roman"/>
                <a:cs typeface="Times New Roman"/>
              </a:rPr>
              <a:t> </a:t>
            </a:r>
            <a:r>
              <a:rPr sz="2297" spc="47" dirty="0">
                <a:latin typeface="Times New Roman"/>
                <a:cs typeface="Times New Roman"/>
              </a:rPr>
              <a:t>chain.</a:t>
            </a:r>
            <a:endParaRPr sz="2297" dirty="0">
              <a:latin typeface="Times New Roman"/>
              <a:cs typeface="Times New Roman"/>
            </a:endParaRPr>
          </a:p>
        </p:txBody>
      </p:sp>
    </p:spTree>
    <p:extLst>
      <p:ext uri="{BB962C8B-B14F-4D97-AF65-F5344CB8AC3E}">
        <p14:creationId xmlns:p14="http://schemas.microsoft.com/office/powerpoint/2010/main" val="403933552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354;p48"/>
          <p:cNvPicPr preferRelativeResize="0"/>
          <p:nvPr/>
        </p:nvPicPr>
        <p:blipFill>
          <a:blip r:embed="rId2">
            <a:alphaModFix/>
          </a:blip>
          <a:stretch>
            <a:fillRect/>
          </a:stretch>
        </p:blipFill>
        <p:spPr>
          <a:xfrm>
            <a:off x="858129" y="450167"/>
            <a:ext cx="9355015" cy="4197212"/>
          </a:xfrm>
          <a:prstGeom prst="rect">
            <a:avLst/>
          </a:prstGeom>
          <a:noFill/>
          <a:ln>
            <a:noFill/>
          </a:ln>
        </p:spPr>
      </p:pic>
      <p:sp>
        <p:nvSpPr>
          <p:cNvPr id="3" name="Google Shape;355;p48"/>
          <p:cNvSpPr txBox="1"/>
          <p:nvPr/>
        </p:nvSpPr>
        <p:spPr>
          <a:xfrm>
            <a:off x="661182" y="5031977"/>
            <a:ext cx="10508566" cy="166196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400" dirty="0">
                <a:solidFill>
                  <a:schemeClr val="accent5"/>
                </a:solidFill>
                <a:latin typeface="Nunito"/>
                <a:ea typeface="Nunito"/>
                <a:cs typeface="Nunito"/>
                <a:sym typeface="Nunito"/>
              </a:rPr>
              <a:t>Interestingly, we have reached a point where the gap between closed-source and open-source models is negligible. For instance, LlaMa-3.1 which had comparable  performance to GPT-4o is an open-source model while GPT-4o is closed-source </a:t>
            </a:r>
            <a:endParaRPr sz="2400" dirty="0">
              <a:solidFill>
                <a:schemeClr val="accent5"/>
              </a:solidFill>
              <a:latin typeface="Nunito"/>
              <a:ea typeface="Nunito"/>
              <a:cs typeface="Nunito"/>
              <a:sym typeface="Nunito"/>
            </a:endParaRPr>
          </a:p>
        </p:txBody>
      </p:sp>
    </p:spTree>
    <p:extLst>
      <p:ext uri="{BB962C8B-B14F-4D97-AF65-F5344CB8AC3E}">
        <p14:creationId xmlns:p14="http://schemas.microsoft.com/office/powerpoint/2010/main" val="316818849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702191" y="773509"/>
            <a:ext cx="8032651" cy="5567759"/>
          </a:xfrm>
          <a:prstGeom prst="rect">
            <a:avLst/>
          </a:prstGeom>
        </p:spPr>
      </p:pic>
    </p:spTree>
    <p:extLst>
      <p:ext uri="{BB962C8B-B14F-4D97-AF65-F5344CB8AC3E}">
        <p14:creationId xmlns:p14="http://schemas.microsoft.com/office/powerpoint/2010/main" val="321029812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566230" y="1604708"/>
            <a:ext cx="9059539" cy="3648584"/>
          </a:xfrm>
          <a:prstGeom prst="rect">
            <a:avLst/>
          </a:prstGeom>
        </p:spPr>
      </p:pic>
    </p:spTree>
    <p:extLst>
      <p:ext uri="{BB962C8B-B14F-4D97-AF65-F5344CB8AC3E}">
        <p14:creationId xmlns:p14="http://schemas.microsoft.com/office/powerpoint/2010/main" val="16091668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139483" y="1102471"/>
            <a:ext cx="9519494" cy="4468335"/>
          </a:xfrm>
          <a:prstGeom prst="rect">
            <a:avLst/>
          </a:prstGeom>
        </p:spPr>
      </p:pic>
    </p:spTree>
    <p:extLst>
      <p:ext uri="{BB962C8B-B14F-4D97-AF65-F5344CB8AC3E}">
        <p14:creationId xmlns:p14="http://schemas.microsoft.com/office/powerpoint/2010/main" val="13589255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pic>
        <p:nvPicPr>
          <p:cNvPr id="147" name="Google Shape;147;p16"/>
          <p:cNvPicPr preferRelativeResize="0"/>
          <p:nvPr/>
        </p:nvPicPr>
        <p:blipFill>
          <a:blip r:embed="rId3">
            <a:alphaModFix/>
          </a:blip>
          <a:stretch>
            <a:fillRect/>
          </a:stretch>
        </p:blipFill>
        <p:spPr>
          <a:xfrm>
            <a:off x="-248166" y="0"/>
            <a:ext cx="12688335" cy="6858000"/>
          </a:xfrm>
          <a:prstGeom prst="rect">
            <a:avLst/>
          </a:prstGeom>
          <a:noFill/>
          <a:ln>
            <a:noFill/>
          </a:ln>
        </p:spPr>
      </p:pic>
      <p:pic>
        <p:nvPicPr>
          <p:cNvPr id="148" name="Google Shape;148;p16"/>
          <p:cNvPicPr preferRelativeResize="0"/>
          <p:nvPr/>
        </p:nvPicPr>
        <p:blipFill>
          <a:blip r:embed="rId4">
            <a:alphaModFix/>
          </a:blip>
          <a:stretch>
            <a:fillRect/>
          </a:stretch>
        </p:blipFill>
        <p:spPr>
          <a:xfrm>
            <a:off x="358779" y="131966"/>
            <a:ext cx="11024277" cy="6594067"/>
          </a:xfrm>
          <a:prstGeom prst="rect">
            <a:avLst/>
          </a:prstGeom>
          <a:noFill/>
          <a:ln>
            <a:noFill/>
          </a:ln>
        </p:spPr>
      </p:pic>
    </p:spTree>
    <p:extLst>
      <p:ext uri="{BB962C8B-B14F-4D97-AF65-F5344CB8AC3E}">
        <p14:creationId xmlns:p14="http://schemas.microsoft.com/office/powerpoint/2010/main" val="39973210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59;p18"/>
          <p:cNvSpPr txBox="1"/>
          <p:nvPr/>
        </p:nvSpPr>
        <p:spPr>
          <a:xfrm>
            <a:off x="557633" y="1684567"/>
            <a:ext cx="11108800" cy="5180737"/>
          </a:xfrm>
          <a:prstGeom prst="rect">
            <a:avLst/>
          </a:prstGeom>
          <a:noFill/>
          <a:ln>
            <a:noFill/>
          </a:ln>
        </p:spPr>
        <p:txBody>
          <a:bodyPr spcFirstLastPara="1" wrap="square" lIns="121900" tIns="121900" rIns="121900" bIns="121900" anchor="t" anchorCtr="0">
            <a:spAutoFit/>
          </a:bodyPr>
          <a:lstStyle/>
          <a:p>
            <a:pPr marL="609585" indent="-465655">
              <a:buClr>
                <a:srgbClr val="1155CC"/>
              </a:buClr>
              <a:buSzPts val="1900"/>
              <a:buFont typeface="Calibri"/>
              <a:buChar char="●"/>
            </a:pPr>
            <a:r>
              <a:rPr lang="en" sz="2700" dirty="0">
                <a:solidFill>
                  <a:schemeClr val="tx1"/>
                </a:solidFill>
                <a:latin typeface="Calibri"/>
                <a:ea typeface="Calibri"/>
                <a:cs typeface="Calibri"/>
                <a:sym typeface="Calibri"/>
              </a:rPr>
              <a:t>The first step in creating an LLM is to train it on a large corpus of text data, sometimes referred to as raw text</a:t>
            </a:r>
            <a:r>
              <a:rPr lang="en" sz="2700" dirty="0" smtClean="0">
                <a:solidFill>
                  <a:schemeClr val="tx1"/>
                </a:solidFill>
                <a:latin typeface="Calibri"/>
                <a:ea typeface="Calibri"/>
                <a:cs typeface="Calibri"/>
                <a:sym typeface="Calibri"/>
              </a:rPr>
              <a:t>.</a:t>
            </a:r>
          </a:p>
          <a:p>
            <a:pPr marL="609585" indent="-465655">
              <a:buClr>
                <a:srgbClr val="1155CC"/>
              </a:buClr>
              <a:buSzPts val="1900"/>
              <a:buFont typeface="Calibri"/>
              <a:buChar char="●"/>
            </a:pPr>
            <a:endParaRPr sz="2700" dirty="0">
              <a:solidFill>
                <a:schemeClr val="tx1"/>
              </a:solidFill>
              <a:latin typeface="Calibri"/>
              <a:ea typeface="Calibri"/>
              <a:cs typeface="Calibri"/>
              <a:sym typeface="Calibri"/>
            </a:endParaRPr>
          </a:p>
          <a:p>
            <a:pPr marL="609585" indent="-465655">
              <a:buClr>
                <a:srgbClr val="1155CC"/>
              </a:buClr>
              <a:buSzPts val="1900"/>
              <a:buFont typeface="Calibri"/>
              <a:buChar char="●"/>
            </a:pPr>
            <a:r>
              <a:rPr lang="en" sz="2700" dirty="0">
                <a:solidFill>
                  <a:schemeClr val="tx1"/>
                </a:solidFill>
                <a:latin typeface="Calibri"/>
                <a:ea typeface="Calibri"/>
                <a:cs typeface="Calibri"/>
                <a:sym typeface="Calibri"/>
              </a:rPr>
              <a:t>Here, “raw” refers to the fact that this </a:t>
            </a:r>
            <a:r>
              <a:rPr lang="en" sz="2700" dirty="0" smtClean="0">
                <a:solidFill>
                  <a:schemeClr val="tx1"/>
                </a:solidFill>
                <a:latin typeface="Calibri"/>
                <a:ea typeface="Calibri"/>
                <a:cs typeface="Calibri"/>
                <a:sym typeface="Calibri"/>
              </a:rPr>
              <a:t>data </a:t>
            </a:r>
            <a:r>
              <a:rPr lang="en" sz="2700" dirty="0">
                <a:solidFill>
                  <a:schemeClr val="tx1"/>
                </a:solidFill>
                <a:latin typeface="Calibri"/>
                <a:ea typeface="Calibri"/>
                <a:cs typeface="Calibri"/>
                <a:sym typeface="Calibri"/>
              </a:rPr>
              <a:t>is just regular text without any </a:t>
            </a:r>
            <a:r>
              <a:rPr lang="en" sz="2700" dirty="0" smtClean="0">
                <a:solidFill>
                  <a:schemeClr val="tx1"/>
                </a:solidFill>
                <a:latin typeface="Calibri"/>
                <a:ea typeface="Calibri"/>
                <a:cs typeface="Calibri"/>
                <a:sym typeface="Calibri"/>
              </a:rPr>
              <a:t> labeling </a:t>
            </a:r>
            <a:r>
              <a:rPr lang="en" sz="2700" dirty="0">
                <a:solidFill>
                  <a:schemeClr val="tx1"/>
                </a:solidFill>
                <a:latin typeface="Calibri"/>
                <a:ea typeface="Calibri"/>
                <a:cs typeface="Calibri"/>
                <a:sym typeface="Calibri"/>
              </a:rPr>
              <a:t>information</a:t>
            </a:r>
            <a:r>
              <a:rPr lang="en" sz="2700" dirty="0" smtClean="0">
                <a:solidFill>
                  <a:schemeClr val="tx1"/>
                </a:solidFill>
                <a:latin typeface="Calibri"/>
                <a:ea typeface="Calibri"/>
                <a:cs typeface="Calibri"/>
                <a:sym typeface="Calibri"/>
              </a:rPr>
              <a:t>.</a:t>
            </a:r>
          </a:p>
          <a:p>
            <a:pPr marL="609585" indent="-465655">
              <a:buClr>
                <a:srgbClr val="1155CC"/>
              </a:buClr>
              <a:buSzPts val="1900"/>
              <a:buFont typeface="Calibri"/>
              <a:buChar char="●"/>
            </a:pPr>
            <a:endParaRPr sz="2700" dirty="0">
              <a:solidFill>
                <a:schemeClr val="tx1"/>
              </a:solidFill>
              <a:latin typeface="Calibri"/>
              <a:ea typeface="Calibri"/>
              <a:cs typeface="Calibri"/>
              <a:sym typeface="Calibri"/>
            </a:endParaRPr>
          </a:p>
          <a:p>
            <a:pPr marL="609585" indent="-465655">
              <a:buClr>
                <a:schemeClr val="accent1"/>
              </a:buClr>
              <a:buSzPts val="1900"/>
              <a:buFont typeface="Calibri"/>
              <a:buChar char="●"/>
            </a:pPr>
            <a:r>
              <a:rPr lang="en" sz="2700" dirty="0">
                <a:solidFill>
                  <a:schemeClr val="tx1"/>
                </a:solidFill>
                <a:latin typeface="Calibri"/>
                <a:ea typeface="Calibri"/>
                <a:cs typeface="Calibri"/>
                <a:sym typeface="Calibri"/>
              </a:rPr>
              <a:t>This first training stage of an LLM is also </a:t>
            </a:r>
            <a:r>
              <a:rPr lang="en" sz="2700" dirty="0" smtClean="0">
                <a:solidFill>
                  <a:schemeClr val="tx1"/>
                </a:solidFill>
                <a:latin typeface="Calibri"/>
                <a:ea typeface="Calibri"/>
                <a:cs typeface="Calibri"/>
                <a:sym typeface="Calibri"/>
              </a:rPr>
              <a:t>known </a:t>
            </a:r>
            <a:r>
              <a:rPr lang="en" sz="2700" dirty="0">
                <a:solidFill>
                  <a:schemeClr val="tx1"/>
                </a:solidFill>
                <a:latin typeface="Calibri"/>
                <a:ea typeface="Calibri"/>
                <a:cs typeface="Calibri"/>
                <a:sym typeface="Calibri"/>
              </a:rPr>
              <a:t>as pre training</a:t>
            </a:r>
            <a:r>
              <a:rPr lang="en" sz="2700" dirty="0" smtClean="0">
                <a:solidFill>
                  <a:schemeClr val="tx1"/>
                </a:solidFill>
                <a:latin typeface="Calibri"/>
                <a:ea typeface="Calibri"/>
                <a:cs typeface="Calibri"/>
                <a:sym typeface="Calibri"/>
              </a:rPr>
              <a:t>.</a:t>
            </a:r>
          </a:p>
          <a:p>
            <a:pPr marL="609585" indent="-465655">
              <a:buClr>
                <a:schemeClr val="accent1"/>
              </a:buClr>
              <a:buSzPts val="1900"/>
              <a:buFont typeface="Calibri"/>
              <a:buChar char="●"/>
            </a:pPr>
            <a:endParaRPr sz="2700" dirty="0">
              <a:solidFill>
                <a:schemeClr val="tx1"/>
              </a:solidFill>
              <a:latin typeface="Calibri"/>
              <a:ea typeface="Calibri"/>
              <a:cs typeface="Calibri"/>
              <a:sym typeface="Calibri"/>
            </a:endParaRPr>
          </a:p>
          <a:p>
            <a:pPr marL="609585" indent="-465655">
              <a:buClr>
                <a:schemeClr val="accent1"/>
              </a:buClr>
              <a:buSzPts val="1900"/>
              <a:buFont typeface="Calibri"/>
              <a:buChar char="●"/>
            </a:pPr>
            <a:r>
              <a:rPr lang="en" sz="2700" dirty="0">
                <a:solidFill>
                  <a:schemeClr val="tx1"/>
                </a:solidFill>
                <a:latin typeface="Calibri"/>
                <a:ea typeface="Calibri"/>
                <a:cs typeface="Calibri"/>
                <a:sym typeface="Calibri"/>
              </a:rPr>
              <a:t>A typical example of such a model is the GPT-3 model (the precursor of the original model offered in ChatGPT)</a:t>
            </a:r>
            <a:endParaRPr sz="2700" dirty="0">
              <a:solidFill>
                <a:schemeClr val="tx1"/>
              </a:solidFill>
              <a:latin typeface="Calibri"/>
              <a:ea typeface="Calibri"/>
              <a:cs typeface="Calibri"/>
              <a:sym typeface="Calibri"/>
            </a:endParaRPr>
          </a:p>
          <a:p>
            <a:pPr marL="609585"/>
            <a:endParaRPr sz="2533" dirty="0">
              <a:solidFill>
                <a:schemeClr val="accent6"/>
              </a:solidFill>
              <a:latin typeface="Calibri"/>
              <a:ea typeface="Calibri"/>
              <a:cs typeface="Calibri"/>
              <a:sym typeface="Calibri"/>
            </a:endParaRPr>
          </a:p>
          <a:p>
            <a:endParaRPr sz="2533" dirty="0">
              <a:solidFill>
                <a:schemeClr val="accent6"/>
              </a:solidFill>
              <a:latin typeface="Calibri"/>
              <a:ea typeface="Calibri"/>
              <a:cs typeface="Calibri"/>
              <a:sym typeface="Calibri"/>
            </a:endParaRPr>
          </a:p>
        </p:txBody>
      </p:sp>
      <p:sp>
        <p:nvSpPr>
          <p:cNvPr id="3" name="Google Shape;158;p18"/>
          <p:cNvSpPr txBox="1">
            <a:spLocks/>
          </p:cNvSpPr>
          <p:nvPr/>
        </p:nvSpPr>
        <p:spPr>
          <a:xfrm>
            <a:off x="3234583" y="733192"/>
            <a:ext cx="3124013" cy="5973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smtClean="0">
                <a:latin typeface="Calibri" panose="020F0502020204030204" pitchFamily="34" charset="0"/>
                <a:ea typeface="Calibri" panose="020F0502020204030204" pitchFamily="34" charset="0"/>
                <a:cs typeface="Calibri" panose="020F0502020204030204" pitchFamily="34" charset="0"/>
              </a:rPr>
              <a:t>PRE TRAIN</a:t>
            </a:r>
            <a:endParaRPr lang="en-IN" sz="3200" b="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850613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73;p20"/>
          <p:cNvSpPr txBox="1">
            <a:spLocks/>
          </p:cNvSpPr>
          <p:nvPr/>
        </p:nvSpPr>
        <p:spPr>
          <a:xfrm>
            <a:off x="1027967" y="186845"/>
            <a:ext cx="3638400" cy="796400"/>
          </a:xfrm>
          <a:prstGeom prst="rect">
            <a:avLst/>
          </a:prstGeom>
        </p:spPr>
        <p:txBody>
          <a:bodyPr spcFirstLastPara="1" wrap="square" lIns="121900" tIns="121900" rIns="121900" bIns="121900" anchor="ctr" anchorCtr="0">
            <a:normAutofit fontScale="97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3200" b="1" dirty="0" smtClean="0"/>
              <a:t>FINE TUNING</a:t>
            </a:r>
            <a:endParaRPr lang="en-IN" sz="3200" b="1" dirty="0"/>
          </a:p>
        </p:txBody>
      </p:sp>
      <p:sp>
        <p:nvSpPr>
          <p:cNvPr id="3" name="Google Shape;174;p20"/>
          <p:cNvSpPr txBox="1"/>
          <p:nvPr/>
        </p:nvSpPr>
        <p:spPr>
          <a:xfrm>
            <a:off x="1083200" y="1154812"/>
            <a:ext cx="11108800" cy="4923615"/>
          </a:xfrm>
          <a:prstGeom prst="rect">
            <a:avLst/>
          </a:prstGeom>
          <a:noFill/>
          <a:ln>
            <a:noFill/>
          </a:ln>
        </p:spPr>
        <p:txBody>
          <a:bodyPr spcFirstLastPara="1" wrap="square" lIns="121900" tIns="121900" rIns="121900" bIns="121900" anchor="t" anchorCtr="0">
            <a:spAutoFit/>
          </a:bodyPr>
          <a:lstStyle/>
          <a:p>
            <a:pPr marL="609585" indent="-465655">
              <a:buClr>
                <a:srgbClr val="0B5394"/>
              </a:buClr>
              <a:buSzPts val="1900"/>
              <a:buFont typeface="Calibri"/>
              <a:buChar char="●"/>
            </a:pPr>
            <a:r>
              <a:rPr lang="en" sz="2533" dirty="0">
                <a:solidFill>
                  <a:srgbClr val="0B5394"/>
                </a:solidFill>
                <a:latin typeface="Calibri"/>
                <a:ea typeface="Calibri"/>
                <a:cs typeface="Calibri"/>
                <a:sym typeface="Calibri"/>
              </a:rPr>
              <a:t>Refers to refinement by training on a  narrower dataset, specific to a </a:t>
            </a:r>
            <a:r>
              <a:rPr lang="en" sz="2533" dirty="0" smtClean="0">
                <a:solidFill>
                  <a:srgbClr val="0B5394"/>
                </a:solidFill>
                <a:latin typeface="Calibri"/>
                <a:ea typeface="Calibri"/>
                <a:cs typeface="Calibri"/>
                <a:sym typeface="Calibri"/>
              </a:rPr>
              <a:t>particular task </a:t>
            </a:r>
            <a:r>
              <a:rPr lang="en" sz="2533" dirty="0">
                <a:solidFill>
                  <a:srgbClr val="0B5394"/>
                </a:solidFill>
                <a:latin typeface="Calibri"/>
                <a:ea typeface="Calibri"/>
                <a:cs typeface="Calibri"/>
                <a:sym typeface="Calibri"/>
              </a:rPr>
              <a:t>or domain.</a:t>
            </a:r>
            <a:endParaRPr sz="2533" dirty="0">
              <a:solidFill>
                <a:srgbClr val="0B5394"/>
              </a:solidFill>
              <a:latin typeface="Calibri"/>
              <a:ea typeface="Calibri"/>
              <a:cs typeface="Calibri"/>
              <a:sym typeface="Calibri"/>
            </a:endParaRPr>
          </a:p>
          <a:p>
            <a:pPr marL="609585" indent="-465655">
              <a:buClr>
                <a:srgbClr val="0B5394"/>
              </a:buClr>
              <a:buSzPts val="1900"/>
              <a:buFont typeface="Calibri"/>
              <a:buChar char="●"/>
            </a:pPr>
            <a:r>
              <a:rPr lang="en" sz="2533" dirty="0">
                <a:solidFill>
                  <a:srgbClr val="0B5394"/>
                </a:solidFill>
                <a:highlight>
                  <a:srgbClr val="FFFFFF"/>
                </a:highlight>
                <a:latin typeface="Calibri"/>
                <a:ea typeface="Calibri"/>
                <a:cs typeface="Calibri"/>
                <a:sym typeface="Calibri"/>
              </a:rPr>
              <a:t>It's a form of transfer learning where a model, already trained on a broad range of data, is further trained on a smaller, </a:t>
            </a:r>
            <a:r>
              <a:rPr lang="en" sz="2533" dirty="0" smtClean="0">
                <a:solidFill>
                  <a:srgbClr val="0B5394"/>
                </a:solidFill>
                <a:highlight>
                  <a:srgbClr val="FFFFFF"/>
                </a:highlight>
                <a:latin typeface="Calibri"/>
                <a:ea typeface="Calibri"/>
                <a:cs typeface="Calibri"/>
                <a:sym typeface="Calibri"/>
              </a:rPr>
              <a:t> more </a:t>
            </a:r>
            <a:r>
              <a:rPr lang="en" sz="2533" dirty="0">
                <a:solidFill>
                  <a:srgbClr val="0B5394"/>
                </a:solidFill>
                <a:highlight>
                  <a:srgbClr val="FFFFFF"/>
                </a:highlight>
                <a:latin typeface="Calibri"/>
                <a:ea typeface="Calibri"/>
                <a:cs typeface="Calibri"/>
                <a:sym typeface="Calibri"/>
              </a:rPr>
              <a:t>relevant dataset to improve </a:t>
            </a:r>
            <a:r>
              <a:rPr lang="en" sz="2533" dirty="0" smtClean="0">
                <a:solidFill>
                  <a:srgbClr val="0B5394"/>
                </a:solidFill>
                <a:highlight>
                  <a:srgbClr val="FFFFFF"/>
                </a:highlight>
                <a:latin typeface="Calibri"/>
                <a:ea typeface="Calibri"/>
                <a:cs typeface="Calibri"/>
                <a:sym typeface="Calibri"/>
              </a:rPr>
              <a:t>its performance </a:t>
            </a:r>
            <a:r>
              <a:rPr lang="en" sz="2533" dirty="0">
                <a:solidFill>
                  <a:srgbClr val="0B5394"/>
                </a:solidFill>
                <a:highlight>
                  <a:srgbClr val="FFFFFF"/>
                </a:highlight>
                <a:latin typeface="Calibri"/>
                <a:ea typeface="Calibri"/>
                <a:cs typeface="Calibri"/>
                <a:sym typeface="Calibri"/>
              </a:rPr>
              <a:t>on that specific task. </a:t>
            </a:r>
            <a:endParaRPr sz="2533" dirty="0">
              <a:solidFill>
                <a:srgbClr val="0B5394"/>
              </a:solidFill>
              <a:latin typeface="Calibri"/>
              <a:ea typeface="Calibri"/>
              <a:cs typeface="Calibri"/>
              <a:sym typeface="Calibri"/>
            </a:endParaRPr>
          </a:p>
          <a:p>
            <a:pPr marL="609585" indent="-465655">
              <a:buClr>
                <a:schemeClr val="accent1"/>
              </a:buClr>
              <a:buSzPts val="1900"/>
              <a:buFont typeface="Calibri"/>
              <a:buChar char="●"/>
            </a:pPr>
            <a:r>
              <a:rPr lang="en" sz="2533" dirty="0">
                <a:solidFill>
                  <a:schemeClr val="accent1"/>
                </a:solidFill>
                <a:latin typeface="Calibri"/>
                <a:ea typeface="Calibri"/>
                <a:cs typeface="Calibri"/>
                <a:sym typeface="Calibri"/>
              </a:rPr>
              <a:t>For instance, SK Telecom fine-tuned GPT-4</a:t>
            </a:r>
            <a:endParaRPr sz="2533" dirty="0">
              <a:solidFill>
                <a:schemeClr val="accent1"/>
              </a:solidFill>
              <a:latin typeface="Calibri"/>
              <a:ea typeface="Calibri"/>
              <a:cs typeface="Calibri"/>
              <a:sym typeface="Calibri"/>
            </a:endParaRPr>
          </a:p>
          <a:p>
            <a:pPr marL="609585"/>
            <a:r>
              <a:rPr lang="en" sz="2533" dirty="0">
                <a:solidFill>
                  <a:schemeClr val="accent1"/>
                </a:solidFill>
                <a:latin typeface="Calibri"/>
                <a:ea typeface="Calibri"/>
                <a:cs typeface="Calibri"/>
                <a:sym typeface="Calibri"/>
              </a:rPr>
              <a:t>to improve customer service </a:t>
            </a:r>
            <a:r>
              <a:rPr lang="en" sz="2533" dirty="0" smtClean="0">
                <a:solidFill>
                  <a:schemeClr val="accent1"/>
                </a:solidFill>
                <a:latin typeface="Calibri"/>
                <a:ea typeface="Calibri"/>
                <a:cs typeface="Calibri"/>
                <a:sym typeface="Calibri"/>
              </a:rPr>
              <a:t>interactions</a:t>
            </a:r>
          </a:p>
          <a:p>
            <a:pPr marL="609585"/>
            <a:r>
              <a:rPr lang="en" sz="2533" dirty="0" smtClean="0">
                <a:solidFill>
                  <a:schemeClr val="accent1"/>
                </a:solidFill>
                <a:latin typeface="Calibri"/>
                <a:ea typeface="Calibri"/>
                <a:cs typeface="Calibri"/>
                <a:sym typeface="Calibri"/>
              </a:rPr>
              <a:t> </a:t>
            </a:r>
            <a:r>
              <a:rPr lang="en" sz="2533" dirty="0">
                <a:solidFill>
                  <a:schemeClr val="accent1"/>
                </a:solidFill>
                <a:latin typeface="Calibri"/>
                <a:ea typeface="Calibri"/>
                <a:cs typeface="Calibri"/>
                <a:sym typeface="Calibri"/>
              </a:rPr>
              <a:t>specifically for telecom-related conversations in Korean.</a:t>
            </a:r>
            <a:endParaRPr sz="2533" dirty="0">
              <a:solidFill>
                <a:schemeClr val="accent1"/>
              </a:solidFill>
              <a:latin typeface="Calibri"/>
              <a:ea typeface="Calibri"/>
              <a:cs typeface="Calibri"/>
              <a:sym typeface="Calibri"/>
            </a:endParaRPr>
          </a:p>
          <a:p>
            <a:pPr marL="609585" indent="-465655">
              <a:buClr>
                <a:schemeClr val="accent1"/>
              </a:buClr>
              <a:buSzPts val="1900"/>
              <a:buFont typeface="Calibri"/>
              <a:buChar char="●"/>
            </a:pPr>
            <a:r>
              <a:rPr lang="en" sz="2533" dirty="0">
                <a:solidFill>
                  <a:schemeClr val="accent1"/>
                </a:solidFill>
                <a:latin typeface="Calibri"/>
                <a:ea typeface="Calibri"/>
                <a:cs typeface="Calibri"/>
                <a:sym typeface="Calibri"/>
              </a:rPr>
              <a:t>Another example, Harvey, an AI native legal tool for attorneys, and OpenAI partnered to create a custom LLM for case law.</a:t>
            </a:r>
            <a:endParaRPr sz="2533" dirty="0">
              <a:solidFill>
                <a:schemeClr val="accent1"/>
              </a:solidFill>
              <a:latin typeface="Calibri"/>
              <a:ea typeface="Calibri"/>
              <a:cs typeface="Calibri"/>
              <a:sym typeface="Calibri"/>
            </a:endParaRPr>
          </a:p>
          <a:p>
            <a:pPr marL="609585"/>
            <a:endParaRPr sz="2533" dirty="0">
              <a:solidFill>
                <a:schemeClr val="accent6"/>
              </a:solidFill>
              <a:latin typeface="Calibri"/>
              <a:ea typeface="Calibri"/>
              <a:cs typeface="Calibri"/>
              <a:sym typeface="Calibri"/>
            </a:endParaRPr>
          </a:p>
          <a:p>
            <a:endParaRPr sz="2533" dirty="0">
              <a:solidFill>
                <a:schemeClr val="accent6"/>
              </a:solidFill>
              <a:latin typeface="Calibri"/>
              <a:ea typeface="Calibri"/>
              <a:cs typeface="Calibri"/>
              <a:sym typeface="Calibri"/>
            </a:endParaRPr>
          </a:p>
        </p:txBody>
      </p:sp>
      <p:pic>
        <p:nvPicPr>
          <p:cNvPr id="4" name="Google Shape;175;p20"/>
          <p:cNvPicPr preferRelativeResize="0"/>
          <p:nvPr/>
        </p:nvPicPr>
        <p:blipFill>
          <a:blip r:embed="rId2">
            <a:alphaModFix/>
          </a:blip>
          <a:stretch>
            <a:fillRect/>
          </a:stretch>
        </p:blipFill>
        <p:spPr>
          <a:xfrm>
            <a:off x="7974547" y="2940760"/>
            <a:ext cx="3693538" cy="948827"/>
          </a:xfrm>
          <a:prstGeom prst="rect">
            <a:avLst/>
          </a:prstGeom>
          <a:noFill/>
          <a:ln>
            <a:noFill/>
          </a:ln>
        </p:spPr>
      </p:pic>
    </p:spTree>
    <p:extLst>
      <p:ext uri="{BB962C8B-B14F-4D97-AF65-F5344CB8AC3E}">
        <p14:creationId xmlns:p14="http://schemas.microsoft.com/office/powerpoint/2010/main" val="37713705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pic>
        <p:nvPicPr>
          <p:cNvPr id="147" name="Google Shape;147;p16"/>
          <p:cNvPicPr preferRelativeResize="0"/>
          <p:nvPr/>
        </p:nvPicPr>
        <p:blipFill>
          <a:blip r:embed="rId3">
            <a:alphaModFix/>
          </a:blip>
          <a:stretch>
            <a:fillRect/>
          </a:stretch>
        </p:blipFill>
        <p:spPr>
          <a:xfrm>
            <a:off x="-248166" y="0"/>
            <a:ext cx="12688335" cy="6858000"/>
          </a:xfrm>
          <a:prstGeom prst="rect">
            <a:avLst/>
          </a:prstGeom>
          <a:noFill/>
          <a:ln>
            <a:noFill/>
          </a:ln>
        </p:spPr>
      </p:pic>
      <p:pic>
        <p:nvPicPr>
          <p:cNvPr id="148" name="Google Shape;148;p16"/>
          <p:cNvPicPr preferRelativeResize="0"/>
          <p:nvPr/>
        </p:nvPicPr>
        <p:blipFill>
          <a:blip r:embed="rId4">
            <a:alphaModFix/>
          </a:blip>
          <a:stretch>
            <a:fillRect/>
          </a:stretch>
        </p:blipFill>
        <p:spPr>
          <a:xfrm>
            <a:off x="358779" y="131966"/>
            <a:ext cx="11024277" cy="6594067"/>
          </a:xfrm>
          <a:prstGeom prst="rect">
            <a:avLst/>
          </a:prstGeom>
          <a:noFill/>
          <a:ln>
            <a:noFill/>
          </a:ln>
        </p:spPr>
      </p:pic>
    </p:spTree>
    <p:extLst>
      <p:ext uri="{BB962C8B-B14F-4D97-AF65-F5344CB8AC3E}">
        <p14:creationId xmlns:p14="http://schemas.microsoft.com/office/powerpoint/2010/main" val="3446763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183;p21"/>
          <p:cNvPicPr preferRelativeResize="0"/>
          <p:nvPr/>
        </p:nvPicPr>
        <p:blipFill>
          <a:blip r:embed="rId2">
            <a:alphaModFix/>
          </a:blip>
          <a:stretch>
            <a:fillRect/>
          </a:stretch>
        </p:blipFill>
        <p:spPr>
          <a:xfrm>
            <a:off x="305251" y="619568"/>
            <a:ext cx="11581500" cy="5618865"/>
          </a:xfrm>
          <a:prstGeom prst="rect">
            <a:avLst/>
          </a:prstGeom>
          <a:noFill/>
          <a:ln>
            <a:noFill/>
          </a:ln>
        </p:spPr>
      </p:pic>
    </p:spTree>
    <p:extLst>
      <p:ext uri="{BB962C8B-B14F-4D97-AF65-F5344CB8AC3E}">
        <p14:creationId xmlns:p14="http://schemas.microsoft.com/office/powerpoint/2010/main" val="28046678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00;p24"/>
          <p:cNvPicPr preferRelativeResize="0"/>
          <p:nvPr/>
        </p:nvPicPr>
        <p:blipFill>
          <a:blip r:embed="rId2">
            <a:alphaModFix/>
          </a:blip>
          <a:stretch>
            <a:fillRect/>
          </a:stretch>
        </p:blipFill>
        <p:spPr>
          <a:xfrm>
            <a:off x="801858" y="450167"/>
            <a:ext cx="10213145" cy="5593824"/>
          </a:xfrm>
          <a:prstGeom prst="rect">
            <a:avLst/>
          </a:prstGeom>
          <a:noFill/>
          <a:ln>
            <a:noFill/>
          </a:ln>
        </p:spPr>
      </p:pic>
    </p:spTree>
    <p:extLst>
      <p:ext uri="{BB962C8B-B14F-4D97-AF65-F5344CB8AC3E}">
        <p14:creationId xmlns:p14="http://schemas.microsoft.com/office/powerpoint/2010/main" val="1800270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05;p25"/>
          <p:cNvPicPr preferRelativeResize="0"/>
          <p:nvPr/>
        </p:nvPicPr>
        <p:blipFill>
          <a:blip r:embed="rId2">
            <a:alphaModFix/>
          </a:blip>
          <a:stretch>
            <a:fillRect/>
          </a:stretch>
        </p:blipFill>
        <p:spPr>
          <a:xfrm>
            <a:off x="591827" y="305074"/>
            <a:ext cx="8622511" cy="6025388"/>
          </a:xfrm>
          <a:prstGeom prst="rect">
            <a:avLst/>
          </a:prstGeom>
          <a:noFill/>
          <a:ln>
            <a:noFill/>
          </a:ln>
        </p:spPr>
      </p:pic>
      <p:sp>
        <p:nvSpPr>
          <p:cNvPr id="3" name="Google Shape;206;p25"/>
          <p:cNvSpPr txBox="1"/>
          <p:nvPr/>
        </p:nvSpPr>
        <p:spPr>
          <a:xfrm>
            <a:off x="8972193" y="1416421"/>
            <a:ext cx="2774329" cy="4124176"/>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 sz="1600" dirty="0">
                <a:solidFill>
                  <a:schemeClr val="dk2"/>
                </a:solidFill>
                <a:latin typeface="Nunito"/>
                <a:ea typeface="Nunito"/>
                <a:cs typeface="Nunito"/>
                <a:sym typeface="Nunito"/>
              </a:rPr>
              <a:t>Simplified depiction of original transformer architecture</a:t>
            </a:r>
            <a:endParaRPr sz="1600" dirty="0">
              <a:solidFill>
                <a:schemeClr val="dk2"/>
              </a:solidFill>
              <a:latin typeface="Nunito"/>
              <a:ea typeface="Nunito"/>
              <a:cs typeface="Nunito"/>
              <a:sym typeface="Nunito"/>
            </a:endParaRPr>
          </a:p>
          <a:p>
            <a:pPr marL="0" lvl="0" indent="0" rtl="0">
              <a:spcBef>
                <a:spcPts val="0"/>
              </a:spcBef>
              <a:spcAft>
                <a:spcPts val="0"/>
              </a:spcAft>
              <a:buNone/>
            </a:pPr>
            <a:endParaRPr sz="1600" dirty="0">
              <a:solidFill>
                <a:schemeClr val="dk2"/>
              </a:solidFill>
              <a:latin typeface="Nunito"/>
              <a:ea typeface="Nunito"/>
              <a:cs typeface="Nunito"/>
              <a:sym typeface="Nunito"/>
            </a:endParaRPr>
          </a:p>
          <a:p>
            <a:pPr marL="457200" lvl="0" indent="-311150" rtl="0">
              <a:spcBef>
                <a:spcPts val="0"/>
              </a:spcBef>
              <a:spcAft>
                <a:spcPts val="0"/>
              </a:spcAft>
              <a:buClr>
                <a:schemeClr val="dk2"/>
              </a:buClr>
              <a:buSzPts val="1300"/>
              <a:buFont typeface="Nunito"/>
              <a:buChar char="●"/>
            </a:pPr>
            <a:r>
              <a:rPr lang="en" sz="1600" dirty="0">
                <a:solidFill>
                  <a:schemeClr val="dk2"/>
                </a:solidFill>
                <a:latin typeface="Nunito"/>
                <a:ea typeface="Nunito"/>
                <a:cs typeface="Nunito"/>
                <a:sym typeface="Nunito"/>
              </a:rPr>
              <a:t>Step 2 - preprocessing refers to tokenization mostly</a:t>
            </a:r>
            <a:endParaRPr sz="1600" dirty="0">
              <a:solidFill>
                <a:schemeClr val="dk2"/>
              </a:solidFill>
              <a:latin typeface="Nunito"/>
              <a:ea typeface="Nunito"/>
              <a:cs typeface="Nunito"/>
              <a:sym typeface="Nunito"/>
            </a:endParaRPr>
          </a:p>
          <a:p>
            <a:pPr marL="457200" lvl="0" indent="-311150" rtl="0">
              <a:spcBef>
                <a:spcPts val="0"/>
              </a:spcBef>
              <a:spcAft>
                <a:spcPts val="0"/>
              </a:spcAft>
              <a:buClr>
                <a:schemeClr val="dk2"/>
              </a:buClr>
              <a:buSzPts val="1300"/>
              <a:buFont typeface="Nunito"/>
              <a:buChar char="●"/>
            </a:pPr>
            <a:r>
              <a:rPr lang="en" sz="1600" dirty="0">
                <a:solidFill>
                  <a:schemeClr val="dk2"/>
                </a:solidFill>
                <a:latin typeface="Nunito"/>
                <a:ea typeface="Nunito"/>
                <a:cs typeface="Nunito"/>
                <a:sym typeface="Nunito"/>
              </a:rPr>
              <a:t>Step 3 - produces the encoded numerical representation</a:t>
            </a:r>
            <a:endParaRPr sz="1600" dirty="0">
              <a:solidFill>
                <a:schemeClr val="dk2"/>
              </a:solidFill>
              <a:latin typeface="Nunito"/>
              <a:ea typeface="Nunito"/>
              <a:cs typeface="Nunito"/>
              <a:sym typeface="Nunito"/>
            </a:endParaRPr>
          </a:p>
          <a:p>
            <a:pPr marL="457200" lvl="0" indent="-311150" rtl="0">
              <a:spcBef>
                <a:spcPts val="0"/>
              </a:spcBef>
              <a:spcAft>
                <a:spcPts val="0"/>
              </a:spcAft>
              <a:buClr>
                <a:schemeClr val="dk2"/>
              </a:buClr>
              <a:buSzPts val="1300"/>
              <a:buFont typeface="Nunito"/>
              <a:buChar char="●"/>
            </a:pPr>
            <a:r>
              <a:rPr lang="en" sz="1600" dirty="0">
                <a:solidFill>
                  <a:schemeClr val="dk2"/>
                </a:solidFill>
                <a:latin typeface="Nunito"/>
                <a:ea typeface="Nunito"/>
                <a:cs typeface="Nunito"/>
                <a:sym typeface="Nunito"/>
              </a:rPr>
              <a:t>This model generates one word after another in the output</a:t>
            </a:r>
            <a:endParaRPr sz="1600" dirty="0">
              <a:solidFill>
                <a:schemeClr val="dk2"/>
              </a:solidFill>
              <a:latin typeface="Nunito"/>
              <a:ea typeface="Nunito"/>
              <a:cs typeface="Nunito"/>
              <a:sym typeface="Nunito"/>
            </a:endParaRPr>
          </a:p>
          <a:p>
            <a:pPr marL="457200" lvl="0" indent="-311150" rtl="0">
              <a:spcBef>
                <a:spcPts val="0"/>
              </a:spcBef>
              <a:spcAft>
                <a:spcPts val="0"/>
              </a:spcAft>
              <a:buClr>
                <a:schemeClr val="dk2"/>
              </a:buClr>
              <a:buSzPts val="1300"/>
              <a:buFont typeface="Nunito"/>
              <a:buChar char="●"/>
            </a:pPr>
            <a:r>
              <a:rPr lang="en" sz="1600" dirty="0">
                <a:solidFill>
                  <a:schemeClr val="dk2"/>
                </a:solidFill>
                <a:latin typeface="Nunito"/>
                <a:ea typeface="Nunito"/>
                <a:cs typeface="Nunito"/>
                <a:sym typeface="Nunito"/>
              </a:rPr>
              <a:t>Attention mechanism is conveniently avoided here.</a:t>
            </a:r>
            <a:endParaRPr sz="1600" dirty="0">
              <a:solidFill>
                <a:schemeClr val="dk2"/>
              </a:solidFill>
              <a:latin typeface="Nunito"/>
              <a:ea typeface="Nunito"/>
              <a:cs typeface="Nunito"/>
              <a:sym typeface="Nunito"/>
            </a:endParaRPr>
          </a:p>
        </p:txBody>
      </p:sp>
    </p:spTree>
    <p:extLst>
      <p:ext uri="{BB962C8B-B14F-4D97-AF65-F5344CB8AC3E}">
        <p14:creationId xmlns:p14="http://schemas.microsoft.com/office/powerpoint/2010/main" val="37827222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11;p26"/>
          <p:cNvPicPr preferRelativeResize="0"/>
          <p:nvPr/>
        </p:nvPicPr>
        <p:blipFill>
          <a:blip r:embed="rId2">
            <a:alphaModFix/>
          </a:blip>
          <a:stretch>
            <a:fillRect/>
          </a:stretch>
        </p:blipFill>
        <p:spPr>
          <a:xfrm>
            <a:off x="606628" y="1055077"/>
            <a:ext cx="7676254" cy="5092504"/>
          </a:xfrm>
          <a:prstGeom prst="rect">
            <a:avLst/>
          </a:prstGeom>
          <a:noFill/>
          <a:ln>
            <a:noFill/>
          </a:ln>
        </p:spPr>
      </p:pic>
      <p:sp>
        <p:nvSpPr>
          <p:cNvPr id="3" name="Google Shape;212;p26"/>
          <p:cNvSpPr txBox="1"/>
          <p:nvPr/>
        </p:nvSpPr>
        <p:spPr>
          <a:xfrm>
            <a:off x="8282882" y="2043147"/>
            <a:ext cx="3741464" cy="2400627"/>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Clr>
                <a:schemeClr val="dk2"/>
              </a:buClr>
              <a:buSzPts val="1400"/>
              <a:buFont typeface="Nunito"/>
              <a:buChar char="●"/>
            </a:pPr>
            <a:r>
              <a:rPr lang="en" sz="1600" dirty="0">
                <a:solidFill>
                  <a:schemeClr val="dk2"/>
                </a:solidFill>
                <a:latin typeface="Nunito"/>
                <a:ea typeface="Nunito"/>
                <a:cs typeface="Nunito"/>
                <a:sym typeface="Nunito"/>
              </a:rPr>
              <a:t>In this case, the tokenizer uses </a:t>
            </a:r>
            <a:r>
              <a:rPr lang="en" sz="1600" b="1" dirty="0">
                <a:solidFill>
                  <a:schemeClr val="dk2"/>
                </a:solidFill>
                <a:highlight>
                  <a:srgbClr val="FFFFFF"/>
                </a:highlight>
                <a:latin typeface="Nunito"/>
                <a:ea typeface="Nunito"/>
                <a:cs typeface="Nunito"/>
                <a:sym typeface="Nunito"/>
              </a:rPr>
              <a:t>subword-based tokenization</a:t>
            </a:r>
            <a:r>
              <a:rPr lang="en" sz="1600" dirty="0">
                <a:solidFill>
                  <a:schemeClr val="dk2"/>
                </a:solidFill>
                <a:latin typeface="Nunito"/>
                <a:ea typeface="Nunito"/>
                <a:cs typeface="Nunito"/>
                <a:sym typeface="Nunito"/>
              </a:rPr>
              <a:t>. It makes use of the </a:t>
            </a:r>
            <a:r>
              <a:rPr lang="en" sz="1600" b="1" dirty="0">
                <a:solidFill>
                  <a:schemeClr val="dk2"/>
                </a:solidFill>
                <a:latin typeface="Nunito"/>
                <a:ea typeface="Nunito"/>
                <a:cs typeface="Nunito"/>
                <a:sym typeface="Nunito"/>
              </a:rPr>
              <a:t>Word Piece </a:t>
            </a:r>
            <a:r>
              <a:rPr lang="en" sz="1600" dirty="0">
                <a:solidFill>
                  <a:schemeClr val="dk2"/>
                </a:solidFill>
                <a:latin typeface="Nunito"/>
                <a:ea typeface="Nunito"/>
                <a:cs typeface="Nunito"/>
                <a:sym typeface="Nunito"/>
              </a:rPr>
              <a:t>algorithm. </a:t>
            </a:r>
            <a:endParaRPr sz="1600" dirty="0">
              <a:solidFill>
                <a:schemeClr val="dk2"/>
              </a:solidFill>
              <a:latin typeface="Nunito"/>
              <a:ea typeface="Nunito"/>
              <a:cs typeface="Nunito"/>
              <a:sym typeface="Nunito"/>
            </a:endParaRPr>
          </a:p>
          <a:p>
            <a:pPr marL="0" lvl="0" indent="0" algn="l" rtl="0">
              <a:spcBef>
                <a:spcPts val="0"/>
              </a:spcBef>
              <a:spcAft>
                <a:spcPts val="0"/>
              </a:spcAft>
              <a:buNone/>
            </a:pPr>
            <a:endParaRPr sz="1600" dirty="0">
              <a:solidFill>
                <a:schemeClr val="dk2"/>
              </a:solidFill>
              <a:latin typeface="Nunito"/>
              <a:ea typeface="Nunito"/>
              <a:cs typeface="Nunito"/>
              <a:sym typeface="Nunito"/>
            </a:endParaRPr>
          </a:p>
          <a:p>
            <a:pPr marL="457200" lvl="0" indent="-317500" algn="l" rtl="0">
              <a:spcBef>
                <a:spcPts val="0"/>
              </a:spcBef>
              <a:spcAft>
                <a:spcPts val="0"/>
              </a:spcAft>
              <a:buClr>
                <a:schemeClr val="dk2"/>
              </a:buClr>
              <a:buSzPts val="1400"/>
              <a:buFont typeface="Nunito"/>
              <a:buChar char="●"/>
            </a:pPr>
            <a:r>
              <a:rPr lang="en" sz="1600" dirty="0">
                <a:solidFill>
                  <a:schemeClr val="dk2"/>
                </a:solidFill>
                <a:latin typeface="Nunito"/>
                <a:ea typeface="Nunito"/>
                <a:cs typeface="Nunito"/>
                <a:sym typeface="Nunito"/>
              </a:rPr>
              <a:t>This algorithm generates subwords based on the likelihood of characters occurring together.</a:t>
            </a:r>
            <a:endParaRPr sz="1600" dirty="0">
              <a:solidFill>
                <a:schemeClr val="dk2"/>
              </a:solidFill>
              <a:latin typeface="Nunito"/>
              <a:ea typeface="Nunito"/>
              <a:cs typeface="Nunito"/>
              <a:sym typeface="Nunito"/>
            </a:endParaRPr>
          </a:p>
          <a:p>
            <a:pPr marL="0" lvl="0" indent="0" algn="l" rtl="0">
              <a:spcBef>
                <a:spcPts val="0"/>
              </a:spcBef>
              <a:spcAft>
                <a:spcPts val="0"/>
              </a:spcAft>
              <a:buNone/>
            </a:pPr>
            <a:endParaRPr sz="1600" dirty="0">
              <a:solidFill>
                <a:schemeClr val="dk2"/>
              </a:solidFill>
              <a:latin typeface="Nunito"/>
              <a:ea typeface="Nunito"/>
              <a:cs typeface="Nunito"/>
              <a:sym typeface="Nunito"/>
            </a:endParaRPr>
          </a:p>
        </p:txBody>
      </p:sp>
    </p:spTree>
    <p:extLst>
      <p:ext uri="{BB962C8B-B14F-4D97-AF65-F5344CB8AC3E}">
        <p14:creationId xmlns:p14="http://schemas.microsoft.com/office/powerpoint/2010/main" val="2181237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37958" y="1153551"/>
            <a:ext cx="8969536" cy="3963566"/>
          </a:xfrm>
          <a:prstGeom prst="rect">
            <a:avLst/>
          </a:prstGeom>
        </p:spPr>
      </p:pic>
    </p:spTree>
    <p:extLst>
      <p:ext uri="{BB962C8B-B14F-4D97-AF65-F5344CB8AC3E}">
        <p14:creationId xmlns:p14="http://schemas.microsoft.com/office/powerpoint/2010/main" val="20663739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067951" y="756332"/>
            <a:ext cx="7274115" cy="5461588"/>
          </a:xfrm>
          <a:prstGeom prst="rect">
            <a:avLst/>
          </a:prstGeom>
        </p:spPr>
      </p:pic>
    </p:spTree>
    <p:extLst>
      <p:ext uri="{BB962C8B-B14F-4D97-AF65-F5344CB8AC3E}">
        <p14:creationId xmlns:p14="http://schemas.microsoft.com/office/powerpoint/2010/main" val="39704592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73373" y="1274961"/>
            <a:ext cx="6754325" cy="4836880"/>
          </a:xfrm>
          <a:prstGeom prst="rect">
            <a:avLst/>
          </a:prstGeom>
        </p:spPr>
      </p:pic>
    </p:spTree>
    <p:extLst>
      <p:ext uri="{BB962C8B-B14F-4D97-AF65-F5344CB8AC3E}">
        <p14:creationId xmlns:p14="http://schemas.microsoft.com/office/powerpoint/2010/main" val="30694242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993173" y="931450"/>
            <a:ext cx="8222389" cy="4746095"/>
          </a:xfrm>
          <a:prstGeom prst="rect">
            <a:avLst/>
          </a:prstGeom>
        </p:spPr>
      </p:pic>
    </p:spTree>
    <p:extLst>
      <p:ext uri="{BB962C8B-B14F-4D97-AF65-F5344CB8AC3E}">
        <p14:creationId xmlns:p14="http://schemas.microsoft.com/office/powerpoint/2010/main" val="32045783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533766" y="5091649"/>
            <a:ext cx="71438" cy="71437"/>
          </a:xfrm>
          <a:prstGeom prst="rect">
            <a:avLst/>
          </a:prstGeom>
        </p:spPr>
      </p:pic>
      <p:sp>
        <p:nvSpPr>
          <p:cNvPr id="3" name="object 3"/>
          <p:cNvSpPr txBox="1"/>
          <p:nvPr/>
        </p:nvSpPr>
        <p:spPr>
          <a:xfrm>
            <a:off x="2724174" y="4881504"/>
            <a:ext cx="5926931" cy="1130413"/>
          </a:xfrm>
          <a:prstGeom prst="rect">
            <a:avLst/>
          </a:prstGeom>
        </p:spPr>
        <p:txBody>
          <a:bodyPr vert="horz" wrap="square" lIns="0" tIns="13692" rIns="0" bIns="0" rtlCol="0">
            <a:spAutoFit/>
          </a:bodyPr>
          <a:lstStyle/>
          <a:p>
            <a:pPr marL="11906">
              <a:spcBef>
                <a:spcPts val="108"/>
              </a:spcBef>
            </a:pPr>
            <a:r>
              <a:rPr sz="2391" spc="75" dirty="0">
                <a:latin typeface="Times New Roman"/>
                <a:cs typeface="Times New Roman"/>
              </a:rPr>
              <a:t>Need</a:t>
            </a:r>
            <a:r>
              <a:rPr sz="2391" spc="70" dirty="0">
                <a:latin typeface="Times New Roman"/>
                <a:cs typeface="Times New Roman"/>
              </a:rPr>
              <a:t> </a:t>
            </a:r>
            <a:r>
              <a:rPr sz="2391" spc="127" dirty="0">
                <a:latin typeface="Times New Roman"/>
                <a:cs typeface="Times New Roman"/>
              </a:rPr>
              <a:t>to</a:t>
            </a:r>
            <a:r>
              <a:rPr sz="2391" spc="84" dirty="0">
                <a:latin typeface="Times New Roman"/>
                <a:cs typeface="Times New Roman"/>
              </a:rPr>
              <a:t> </a:t>
            </a:r>
            <a:r>
              <a:rPr sz="2391" dirty="0">
                <a:latin typeface="Times New Roman"/>
                <a:cs typeface="Times New Roman"/>
              </a:rPr>
              <a:t>identify</a:t>
            </a:r>
            <a:r>
              <a:rPr sz="2391" spc="84" dirty="0">
                <a:latin typeface="Times New Roman"/>
                <a:cs typeface="Times New Roman"/>
              </a:rPr>
              <a:t> </a:t>
            </a:r>
            <a:r>
              <a:rPr sz="2391" spc="61" dirty="0">
                <a:latin typeface="Times New Roman"/>
                <a:cs typeface="Times New Roman"/>
              </a:rPr>
              <a:t>context</a:t>
            </a:r>
            <a:r>
              <a:rPr sz="2391" spc="84" dirty="0">
                <a:latin typeface="Times New Roman"/>
                <a:cs typeface="Times New Roman"/>
              </a:rPr>
              <a:t> </a:t>
            </a:r>
            <a:r>
              <a:rPr sz="2391" spc="38" dirty="0">
                <a:latin typeface="Times New Roman"/>
                <a:cs typeface="Times New Roman"/>
              </a:rPr>
              <a:t>here.</a:t>
            </a:r>
            <a:endParaRPr sz="2391">
              <a:latin typeface="Times New Roman"/>
              <a:cs typeface="Times New Roman"/>
            </a:endParaRPr>
          </a:p>
          <a:p>
            <a:pPr>
              <a:spcBef>
                <a:spcPts val="145"/>
              </a:spcBef>
            </a:pPr>
            <a:endParaRPr sz="2391">
              <a:latin typeface="Times New Roman"/>
              <a:cs typeface="Times New Roman"/>
            </a:endParaRPr>
          </a:p>
          <a:p>
            <a:pPr marL="11906">
              <a:tabLst>
                <a:tab pos="3064668" algn="l"/>
              </a:tabLst>
            </a:pPr>
            <a:r>
              <a:rPr sz="2391" spc="127" dirty="0">
                <a:latin typeface="Times New Roman"/>
                <a:cs typeface="Times New Roman"/>
              </a:rPr>
              <a:t>To</a:t>
            </a:r>
            <a:r>
              <a:rPr sz="2391" spc="28" dirty="0">
                <a:latin typeface="Times New Roman"/>
                <a:cs typeface="Times New Roman"/>
              </a:rPr>
              <a:t> </a:t>
            </a:r>
            <a:r>
              <a:rPr sz="2391" dirty="0">
                <a:latin typeface="Times New Roman"/>
                <a:cs typeface="Times New Roman"/>
              </a:rPr>
              <a:t>solve</a:t>
            </a:r>
            <a:r>
              <a:rPr sz="2391" spc="33" dirty="0">
                <a:latin typeface="Times New Roman"/>
                <a:cs typeface="Times New Roman"/>
              </a:rPr>
              <a:t> </a:t>
            </a:r>
            <a:r>
              <a:rPr sz="2391" spc="52" dirty="0">
                <a:latin typeface="Times New Roman"/>
                <a:cs typeface="Times New Roman"/>
              </a:rPr>
              <a:t>this</a:t>
            </a:r>
            <a:r>
              <a:rPr sz="2391" spc="33" dirty="0">
                <a:latin typeface="Times New Roman"/>
                <a:cs typeface="Times New Roman"/>
              </a:rPr>
              <a:t> </a:t>
            </a:r>
            <a:r>
              <a:rPr sz="2391" spc="56" dirty="0">
                <a:latin typeface="Times New Roman"/>
                <a:cs typeface="Times New Roman"/>
              </a:rPr>
              <a:t>problem:</a:t>
            </a:r>
            <a:r>
              <a:rPr sz="2391" dirty="0">
                <a:latin typeface="Times New Roman"/>
                <a:cs typeface="Times New Roman"/>
              </a:rPr>
              <a:t>	</a:t>
            </a:r>
            <a:r>
              <a:rPr sz="2391" spc="89" dirty="0">
                <a:latin typeface="Times New Roman"/>
                <a:cs typeface="Times New Roman"/>
              </a:rPr>
              <a:t>Attention</a:t>
            </a:r>
            <a:r>
              <a:rPr sz="2391" spc="14" dirty="0">
                <a:latin typeface="Times New Roman"/>
                <a:cs typeface="Times New Roman"/>
              </a:rPr>
              <a:t> </a:t>
            </a:r>
            <a:r>
              <a:rPr sz="2391" spc="61" dirty="0">
                <a:latin typeface="Times New Roman"/>
                <a:cs typeface="Times New Roman"/>
              </a:rPr>
              <a:t>Mechanism</a:t>
            </a:r>
            <a:endParaRPr sz="2391">
              <a:latin typeface="Times New Roman"/>
              <a:cs typeface="Times New Roman"/>
            </a:endParaRPr>
          </a:p>
        </p:txBody>
      </p:sp>
      <p:pic>
        <p:nvPicPr>
          <p:cNvPr id="4" name="object 4"/>
          <p:cNvPicPr/>
          <p:nvPr/>
        </p:nvPicPr>
        <p:blipFill>
          <a:blip r:embed="rId2" cstate="print"/>
          <a:stretch>
            <a:fillRect/>
          </a:stretch>
        </p:blipFill>
        <p:spPr>
          <a:xfrm>
            <a:off x="2533766" y="5823883"/>
            <a:ext cx="71438" cy="71437"/>
          </a:xfrm>
          <a:prstGeom prst="rect">
            <a:avLst/>
          </a:prstGeom>
        </p:spPr>
      </p:pic>
      <p:pic>
        <p:nvPicPr>
          <p:cNvPr id="5" name="object 5"/>
          <p:cNvPicPr/>
          <p:nvPr/>
        </p:nvPicPr>
        <p:blipFill>
          <a:blip r:embed="rId3" cstate="print"/>
          <a:stretch>
            <a:fillRect/>
          </a:stretch>
        </p:blipFill>
        <p:spPr>
          <a:xfrm>
            <a:off x="1981199" y="304800"/>
            <a:ext cx="8225501" cy="4090472"/>
          </a:xfrm>
          <a:prstGeom prst="rect">
            <a:avLst/>
          </a:prstGeom>
        </p:spPr>
      </p:pic>
    </p:spTree>
    <p:extLst>
      <p:ext uri="{BB962C8B-B14F-4D97-AF65-F5344CB8AC3E}">
        <p14:creationId xmlns:p14="http://schemas.microsoft.com/office/powerpoint/2010/main" val="42824732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17;p27"/>
          <p:cNvPicPr preferRelativeResize="0"/>
          <p:nvPr/>
        </p:nvPicPr>
        <p:blipFill>
          <a:blip r:embed="rId2">
            <a:alphaModFix/>
          </a:blip>
          <a:stretch>
            <a:fillRect/>
          </a:stretch>
        </p:blipFill>
        <p:spPr>
          <a:xfrm>
            <a:off x="211016" y="534573"/>
            <a:ext cx="8525021" cy="4909624"/>
          </a:xfrm>
          <a:prstGeom prst="rect">
            <a:avLst/>
          </a:prstGeom>
          <a:noFill/>
          <a:ln>
            <a:noFill/>
          </a:ln>
        </p:spPr>
      </p:pic>
      <p:sp>
        <p:nvSpPr>
          <p:cNvPr id="3" name="Google Shape;392;p52"/>
          <p:cNvSpPr txBox="1">
            <a:spLocks/>
          </p:cNvSpPr>
          <p:nvPr/>
        </p:nvSpPr>
        <p:spPr>
          <a:xfrm>
            <a:off x="8904849" y="407963"/>
            <a:ext cx="3094893" cy="559894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342900" algn="just">
              <a:buClr>
                <a:schemeClr val="accent5"/>
              </a:buClr>
              <a:buSzPts val="1800"/>
              <a:buFont typeface="Arial"/>
              <a:buChar char="●"/>
            </a:pPr>
            <a:r>
              <a:rPr lang="en-US" sz="1500" dirty="0" smtClean="0">
                <a:solidFill>
                  <a:schemeClr val="tx1"/>
                </a:solidFill>
              </a:rPr>
              <a:t>Consider the case of Dog and Puppy</a:t>
            </a:r>
          </a:p>
          <a:p>
            <a:pPr marL="457200" indent="-342900" algn="just">
              <a:buClr>
                <a:schemeClr val="accent5"/>
              </a:buClr>
              <a:buSzPts val="1800"/>
              <a:buFont typeface="Arial"/>
              <a:buChar char="●"/>
            </a:pPr>
            <a:r>
              <a:rPr lang="en-US" sz="1500" dirty="0" smtClean="0">
                <a:solidFill>
                  <a:schemeClr val="tx1"/>
                </a:solidFill>
              </a:rPr>
              <a:t>In </a:t>
            </a:r>
            <a:r>
              <a:rPr lang="en-US" sz="1500" dirty="0">
                <a:solidFill>
                  <a:schemeClr val="tx1"/>
                </a:solidFill>
              </a:rPr>
              <a:t>machine learning, </a:t>
            </a:r>
            <a:r>
              <a:rPr lang="en-US" sz="1500" b="1" dirty="0" smtClean="0">
                <a:solidFill>
                  <a:schemeClr val="tx1"/>
                </a:solidFill>
              </a:rPr>
              <a:t>embedding </a:t>
            </a:r>
            <a:r>
              <a:rPr lang="en-US" sz="1500" dirty="0" smtClean="0">
                <a:solidFill>
                  <a:schemeClr val="tx1"/>
                </a:solidFill>
              </a:rPr>
              <a:t>is </a:t>
            </a:r>
            <a:r>
              <a:rPr lang="en-US" sz="1500" dirty="0">
                <a:solidFill>
                  <a:schemeClr val="tx1"/>
                </a:solidFill>
              </a:rPr>
              <a:t>a way of representing data as numerical vectors in a continuous space</a:t>
            </a:r>
            <a:r>
              <a:rPr lang="en-US" sz="1500" dirty="0" smtClean="0">
                <a:solidFill>
                  <a:schemeClr val="tx1"/>
                </a:solidFill>
              </a:rPr>
              <a:t>.</a:t>
            </a:r>
          </a:p>
          <a:p>
            <a:pPr marL="457200" indent="-342900" algn="just">
              <a:buClr>
                <a:schemeClr val="accent5"/>
              </a:buClr>
              <a:buSzPts val="1800"/>
              <a:buFont typeface="Arial"/>
              <a:buChar char="●"/>
            </a:pPr>
            <a:r>
              <a:rPr lang="en-US" sz="1500" dirty="0" smtClean="0">
                <a:solidFill>
                  <a:schemeClr val="tx1"/>
                </a:solidFill>
              </a:rPr>
              <a:t> </a:t>
            </a:r>
            <a:r>
              <a:rPr lang="en-US" sz="1500" dirty="0">
                <a:solidFill>
                  <a:schemeClr val="tx1"/>
                </a:solidFill>
              </a:rPr>
              <a:t>They capture the meaning or relationship between data points, so that similar items are placed closer together while dissimilar ones are farther apart. </a:t>
            </a:r>
            <a:endParaRPr lang="en-US" sz="1500" dirty="0" smtClean="0">
              <a:solidFill>
                <a:schemeClr val="tx1"/>
              </a:solidFill>
            </a:endParaRPr>
          </a:p>
          <a:p>
            <a:pPr marL="457200" indent="-342900" algn="just">
              <a:buClr>
                <a:schemeClr val="accent5"/>
              </a:buClr>
              <a:buSzPts val="1800"/>
              <a:buFont typeface="Arial"/>
              <a:buChar char="●"/>
            </a:pPr>
            <a:r>
              <a:rPr lang="en-US" sz="1500" dirty="0" smtClean="0">
                <a:solidFill>
                  <a:schemeClr val="tx1"/>
                </a:solidFill>
              </a:rPr>
              <a:t>This </a:t>
            </a:r>
            <a:r>
              <a:rPr lang="en-US" sz="1500" dirty="0">
                <a:solidFill>
                  <a:schemeClr val="tx1"/>
                </a:solidFill>
              </a:rPr>
              <a:t>makes it easier for algorithms to work with complex data such as words, images or audios in a recommendation system</a:t>
            </a:r>
            <a:r>
              <a:rPr lang="en-US" dirty="0"/>
              <a:t>.</a:t>
            </a:r>
          </a:p>
          <a:p>
            <a:pPr marL="457200" indent="-342900" algn="just">
              <a:buClr>
                <a:schemeClr val="accent5"/>
              </a:buClr>
              <a:buSzPts val="1800"/>
              <a:buFont typeface="Arial"/>
              <a:buChar char="●"/>
            </a:pPr>
            <a:endParaRPr lang="en-US" sz="1600" dirty="0">
              <a:solidFill>
                <a:schemeClr val="accent5"/>
              </a:solidFill>
            </a:endParaRPr>
          </a:p>
        </p:txBody>
      </p:sp>
    </p:spTree>
    <p:extLst>
      <p:ext uri="{BB962C8B-B14F-4D97-AF65-F5344CB8AC3E}">
        <p14:creationId xmlns:p14="http://schemas.microsoft.com/office/powerpoint/2010/main" val="10068946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347352" y="1721683"/>
            <a:ext cx="7924058" cy="3637828"/>
          </a:xfrm>
          <a:prstGeom prst="rect">
            <a:avLst/>
          </a:prstGeom>
        </p:spPr>
      </p:pic>
    </p:spTree>
    <p:extLst>
      <p:ext uri="{BB962C8B-B14F-4D97-AF65-F5344CB8AC3E}">
        <p14:creationId xmlns:p14="http://schemas.microsoft.com/office/powerpoint/2010/main" val="12806386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219201" y="1099335"/>
            <a:ext cx="10312571" cy="4258425"/>
          </a:xfrm>
          <a:prstGeom prst="rect">
            <a:avLst/>
          </a:prstGeom>
        </p:spPr>
      </p:pic>
    </p:spTree>
    <p:extLst>
      <p:ext uri="{BB962C8B-B14F-4D97-AF65-F5344CB8AC3E}">
        <p14:creationId xmlns:p14="http://schemas.microsoft.com/office/powerpoint/2010/main" val="1426354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955409" y="1346644"/>
            <a:ext cx="8943035" cy="4497565"/>
          </a:xfrm>
          <a:prstGeom prst="rect">
            <a:avLst/>
          </a:prstGeom>
        </p:spPr>
      </p:pic>
    </p:spTree>
    <p:extLst>
      <p:ext uri="{BB962C8B-B14F-4D97-AF65-F5344CB8AC3E}">
        <p14:creationId xmlns:p14="http://schemas.microsoft.com/office/powerpoint/2010/main" val="39037491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oogle Shape;370;p50"/>
          <p:cNvGrpSpPr/>
          <p:nvPr/>
        </p:nvGrpSpPr>
        <p:grpSpPr>
          <a:xfrm>
            <a:off x="1974720" y="1389683"/>
            <a:ext cx="8326292" cy="1348230"/>
            <a:chOff x="-314707" y="1323164"/>
            <a:chExt cx="8326292" cy="731700"/>
          </a:xfrm>
        </p:grpSpPr>
        <p:sp>
          <p:nvSpPr>
            <p:cNvPr id="3" name="Google Shape;371;p50"/>
            <p:cNvSpPr txBox="1"/>
            <p:nvPr/>
          </p:nvSpPr>
          <p:spPr>
            <a:xfrm>
              <a:off x="-314707" y="1367628"/>
              <a:ext cx="2897700" cy="6297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None/>
              </a:pPr>
              <a:r>
                <a:rPr lang="en" sz="2400" dirty="0">
                  <a:solidFill>
                    <a:srgbClr val="085630"/>
                  </a:solidFill>
                  <a:latin typeface="Roboto Medium"/>
                  <a:ea typeface="Roboto Medium"/>
                  <a:cs typeface="Roboto Medium"/>
                  <a:sym typeface="Roboto Medium"/>
                </a:rPr>
                <a:t>ZERO SHOT</a:t>
              </a:r>
              <a:endParaRPr sz="2400" dirty="0">
                <a:solidFill>
                  <a:srgbClr val="085630"/>
                </a:solidFill>
                <a:latin typeface="Roboto Medium"/>
                <a:ea typeface="Roboto Medium"/>
                <a:cs typeface="Roboto Medium"/>
                <a:sym typeface="Roboto Medium"/>
              </a:endParaRPr>
            </a:p>
            <a:p>
              <a:pPr marL="0" lvl="0" indent="0" algn="r" rtl="0">
                <a:lnSpc>
                  <a:spcPct val="90000"/>
                </a:lnSpc>
                <a:spcBef>
                  <a:spcPts val="0"/>
                </a:spcBef>
                <a:spcAft>
                  <a:spcPts val="0"/>
                </a:spcAft>
                <a:buNone/>
              </a:pPr>
              <a:r>
                <a:rPr lang="en" sz="2400" dirty="0">
                  <a:solidFill>
                    <a:srgbClr val="085630"/>
                  </a:solidFill>
                  <a:latin typeface="Roboto Medium"/>
                  <a:ea typeface="Roboto Medium"/>
                  <a:cs typeface="Roboto Medium"/>
                  <a:sym typeface="Roboto Medium"/>
                </a:rPr>
                <a:t>LEARNING</a:t>
              </a:r>
              <a:endParaRPr sz="2400" dirty="0">
                <a:solidFill>
                  <a:srgbClr val="085630"/>
                </a:solidFill>
                <a:latin typeface="Roboto Medium"/>
                <a:ea typeface="Roboto Medium"/>
                <a:cs typeface="Roboto Medium"/>
                <a:sym typeface="Roboto Medium"/>
              </a:endParaRPr>
            </a:p>
          </p:txBody>
        </p:sp>
        <p:sp>
          <p:nvSpPr>
            <p:cNvPr id="4" name="Google Shape;372;p50"/>
            <p:cNvSpPr/>
            <p:nvPr/>
          </p:nvSpPr>
          <p:spPr>
            <a:xfrm>
              <a:off x="2789785" y="1323164"/>
              <a:ext cx="5221800" cy="731700"/>
            </a:xfrm>
            <a:prstGeom prst="rect">
              <a:avLst/>
            </a:prstGeom>
            <a:solidFill>
              <a:srgbClr val="085630"/>
            </a:solid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
          <p:nvSpPr>
            <p:cNvPr id="5" name="Google Shape;373;p50"/>
            <p:cNvSpPr txBox="1"/>
            <p:nvPr/>
          </p:nvSpPr>
          <p:spPr>
            <a:xfrm>
              <a:off x="2914389" y="1407440"/>
              <a:ext cx="4765800" cy="575400"/>
            </a:xfrm>
            <a:prstGeom prst="rect">
              <a:avLst/>
            </a:prstGeom>
            <a:noFill/>
            <a:ln>
              <a:noFill/>
            </a:ln>
          </p:spPr>
          <p:txBody>
            <a:bodyPr spcFirstLastPara="1" wrap="square" lIns="91425" tIns="45700" rIns="91425" bIns="45700" anchor="ctr" anchorCtr="0">
              <a:noAutofit/>
            </a:bodyPr>
            <a:lstStyle/>
            <a:p>
              <a:pPr marL="0" lvl="0" indent="0" algn="l" rtl="0">
                <a:lnSpc>
                  <a:spcPct val="115000"/>
                </a:lnSpc>
                <a:spcBef>
                  <a:spcPts val="0"/>
                </a:spcBef>
                <a:spcAft>
                  <a:spcPts val="0"/>
                </a:spcAft>
                <a:buNone/>
              </a:pPr>
              <a:r>
                <a:rPr lang="en" sz="1900" dirty="0">
                  <a:solidFill>
                    <a:srgbClr val="FFFFFF"/>
                  </a:solidFill>
                  <a:latin typeface="Roboto"/>
                  <a:ea typeface="Roboto"/>
                  <a:cs typeface="Roboto"/>
                  <a:sym typeface="Roboto"/>
                </a:rPr>
                <a:t>Ability to generalize to completely unseen tasks without the need for any example</a:t>
              </a:r>
              <a:endParaRPr sz="1900" dirty="0">
                <a:solidFill>
                  <a:srgbClr val="FFFFFF"/>
                </a:solidFill>
                <a:latin typeface="Roboto"/>
                <a:ea typeface="Roboto"/>
                <a:cs typeface="Roboto"/>
                <a:sym typeface="Roboto"/>
              </a:endParaRPr>
            </a:p>
          </p:txBody>
        </p:sp>
      </p:grpSp>
      <p:sp>
        <p:nvSpPr>
          <p:cNvPr id="6" name="Google Shape;374;p50"/>
          <p:cNvSpPr txBox="1"/>
          <p:nvPr/>
        </p:nvSpPr>
        <p:spPr>
          <a:xfrm>
            <a:off x="1852230" y="3933723"/>
            <a:ext cx="2921700" cy="11064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None/>
            </a:pPr>
            <a:r>
              <a:rPr lang="en" sz="2400" dirty="0">
                <a:solidFill>
                  <a:srgbClr val="38761D"/>
                </a:solidFill>
                <a:latin typeface="Roboto Medium"/>
                <a:ea typeface="Roboto Medium"/>
                <a:cs typeface="Roboto Medium"/>
                <a:sym typeface="Roboto Medium"/>
              </a:rPr>
              <a:t>FEW SHOT</a:t>
            </a:r>
            <a:endParaRPr sz="2400" dirty="0">
              <a:solidFill>
                <a:srgbClr val="38761D"/>
              </a:solidFill>
              <a:latin typeface="Roboto Medium"/>
              <a:ea typeface="Roboto Medium"/>
              <a:cs typeface="Roboto Medium"/>
              <a:sym typeface="Roboto Medium"/>
            </a:endParaRPr>
          </a:p>
          <a:p>
            <a:pPr marL="0" lvl="0" indent="0" algn="r" rtl="0">
              <a:lnSpc>
                <a:spcPct val="90000"/>
              </a:lnSpc>
              <a:spcBef>
                <a:spcPts val="0"/>
              </a:spcBef>
              <a:spcAft>
                <a:spcPts val="0"/>
              </a:spcAft>
              <a:buNone/>
            </a:pPr>
            <a:r>
              <a:rPr lang="en" sz="2400" dirty="0">
                <a:solidFill>
                  <a:srgbClr val="38761D"/>
                </a:solidFill>
                <a:latin typeface="Roboto Medium"/>
                <a:ea typeface="Roboto Medium"/>
                <a:cs typeface="Roboto Medium"/>
                <a:sym typeface="Roboto Medium"/>
              </a:rPr>
              <a:t>LEARNING</a:t>
            </a:r>
            <a:endParaRPr sz="2400" dirty="0">
              <a:solidFill>
                <a:srgbClr val="38761D"/>
              </a:solidFill>
              <a:latin typeface="Roboto Medium"/>
              <a:ea typeface="Roboto Medium"/>
              <a:cs typeface="Roboto Medium"/>
              <a:sym typeface="Roboto Medium"/>
            </a:endParaRPr>
          </a:p>
        </p:txBody>
      </p:sp>
      <p:grpSp>
        <p:nvGrpSpPr>
          <p:cNvPr id="7" name="Google Shape;375;p50"/>
          <p:cNvGrpSpPr/>
          <p:nvPr/>
        </p:nvGrpSpPr>
        <p:grpSpPr>
          <a:xfrm>
            <a:off x="1895322" y="2737914"/>
            <a:ext cx="8405583" cy="1106477"/>
            <a:chOff x="-633641" y="3088620"/>
            <a:chExt cx="7920828" cy="731700"/>
          </a:xfrm>
        </p:grpSpPr>
        <p:sp>
          <p:nvSpPr>
            <p:cNvPr id="8" name="Google Shape;376;p50"/>
            <p:cNvSpPr txBox="1"/>
            <p:nvPr/>
          </p:nvSpPr>
          <p:spPr>
            <a:xfrm>
              <a:off x="-633641" y="3139619"/>
              <a:ext cx="2736000" cy="6297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None/>
              </a:pPr>
              <a:r>
                <a:rPr lang="en" sz="2400" dirty="0">
                  <a:solidFill>
                    <a:srgbClr val="0B7743"/>
                  </a:solidFill>
                  <a:latin typeface="Roboto Medium"/>
                  <a:ea typeface="Roboto Medium"/>
                  <a:cs typeface="Roboto Medium"/>
                  <a:sym typeface="Roboto Medium"/>
                </a:rPr>
                <a:t>ONE SHOT LEARNING</a:t>
              </a:r>
              <a:endParaRPr sz="2400" dirty="0">
                <a:solidFill>
                  <a:srgbClr val="0B7743"/>
                </a:solidFill>
                <a:latin typeface="Roboto Medium"/>
                <a:ea typeface="Roboto Medium"/>
                <a:cs typeface="Roboto Medium"/>
                <a:sym typeface="Roboto Medium"/>
              </a:endParaRPr>
            </a:p>
          </p:txBody>
        </p:sp>
        <p:sp>
          <p:nvSpPr>
            <p:cNvPr id="9" name="Google Shape;377;p50"/>
            <p:cNvSpPr/>
            <p:nvPr/>
          </p:nvSpPr>
          <p:spPr>
            <a:xfrm>
              <a:off x="2366587" y="3088620"/>
              <a:ext cx="4920600" cy="731700"/>
            </a:xfrm>
            <a:prstGeom prst="rect">
              <a:avLst/>
            </a:prstGeom>
            <a:solidFill>
              <a:srgbClr val="0B7743"/>
            </a:solid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
          <p:nvSpPr>
            <p:cNvPr id="10" name="Google Shape;378;p50"/>
            <p:cNvSpPr txBox="1"/>
            <p:nvPr/>
          </p:nvSpPr>
          <p:spPr>
            <a:xfrm>
              <a:off x="2551283" y="3295174"/>
              <a:ext cx="4491000" cy="330600"/>
            </a:xfrm>
            <a:prstGeom prst="rect">
              <a:avLst/>
            </a:prstGeom>
            <a:noFill/>
            <a:ln>
              <a:noFill/>
            </a:ln>
          </p:spPr>
          <p:txBody>
            <a:bodyPr spcFirstLastPara="1" wrap="square" lIns="91425" tIns="45700" rIns="91425" bIns="45700" anchor="ctr" anchorCtr="0">
              <a:noAutofit/>
            </a:bodyPr>
            <a:lstStyle/>
            <a:p>
              <a:pPr marL="0" lvl="0" indent="0" algn="l" rtl="0">
                <a:lnSpc>
                  <a:spcPct val="115000"/>
                </a:lnSpc>
                <a:spcBef>
                  <a:spcPts val="0"/>
                </a:spcBef>
                <a:spcAft>
                  <a:spcPts val="0"/>
                </a:spcAft>
                <a:buNone/>
              </a:pPr>
              <a:r>
                <a:rPr lang="en" sz="1900" dirty="0">
                  <a:solidFill>
                    <a:srgbClr val="FFFFFF"/>
                  </a:solidFill>
                  <a:latin typeface="Roboto"/>
                  <a:ea typeface="Roboto"/>
                  <a:cs typeface="Roboto"/>
                  <a:sym typeface="Roboto"/>
                </a:rPr>
                <a:t>In addition to the task description, the model sees a single example for the task which user inputs</a:t>
              </a:r>
              <a:endParaRPr sz="1900" dirty="0">
                <a:solidFill>
                  <a:srgbClr val="FFFFFF"/>
                </a:solidFill>
                <a:latin typeface="Roboto"/>
                <a:ea typeface="Roboto"/>
                <a:cs typeface="Roboto"/>
                <a:sym typeface="Roboto"/>
              </a:endParaRPr>
            </a:p>
          </p:txBody>
        </p:sp>
      </p:grpSp>
      <p:sp>
        <p:nvSpPr>
          <p:cNvPr id="11" name="Google Shape;379;p50"/>
          <p:cNvSpPr/>
          <p:nvPr/>
        </p:nvSpPr>
        <p:spPr>
          <a:xfrm>
            <a:off x="5080952" y="3844402"/>
            <a:ext cx="5220000" cy="1397100"/>
          </a:xfrm>
          <a:prstGeom prst="rect">
            <a:avLst/>
          </a:prstGeom>
          <a:solidFill>
            <a:srgbClr val="38761D"/>
          </a:solidFill>
          <a:ln>
            <a:noFill/>
          </a:ln>
        </p:spPr>
        <p:txBody>
          <a:bodyPr spcFirstLastPara="1" wrap="square" lIns="91425" tIns="45700" rIns="91425" bIns="45700" anchor="ctr" anchorCtr="0">
            <a:noAutofit/>
          </a:bodyPr>
          <a:lstStyle/>
          <a:p>
            <a:pPr marL="0" lvl="0" indent="0" algn="ctr" rtl="0">
              <a:lnSpc>
                <a:spcPct val="115000"/>
              </a:lnSpc>
              <a:spcBef>
                <a:spcPts val="0"/>
              </a:spcBef>
              <a:spcAft>
                <a:spcPts val="0"/>
              </a:spcAft>
              <a:buNone/>
            </a:pPr>
            <a:endParaRPr sz="1900">
              <a:solidFill>
                <a:schemeClr val="dk1"/>
              </a:solidFill>
              <a:highlight>
                <a:srgbClr val="38761D"/>
              </a:highlight>
              <a:latin typeface="Roboto"/>
              <a:ea typeface="Roboto"/>
              <a:cs typeface="Roboto"/>
              <a:sym typeface="Roboto"/>
            </a:endParaRPr>
          </a:p>
          <a:p>
            <a:pPr marL="0" lvl="0" indent="0" algn="ctr" rtl="0">
              <a:lnSpc>
                <a:spcPct val="115000"/>
              </a:lnSpc>
              <a:spcBef>
                <a:spcPts val="0"/>
              </a:spcBef>
              <a:spcAft>
                <a:spcPts val="0"/>
              </a:spcAft>
              <a:buNone/>
            </a:pPr>
            <a:endParaRPr sz="1900">
              <a:solidFill>
                <a:schemeClr val="dk1"/>
              </a:solidFill>
              <a:highlight>
                <a:srgbClr val="38761D"/>
              </a:highlight>
              <a:latin typeface="Roboto"/>
              <a:ea typeface="Roboto"/>
              <a:cs typeface="Roboto"/>
              <a:sym typeface="Roboto"/>
            </a:endParaRPr>
          </a:p>
          <a:p>
            <a:pPr marL="0" lvl="0" indent="0" algn="ctr" rtl="0">
              <a:spcBef>
                <a:spcPts val="0"/>
              </a:spcBef>
              <a:spcAft>
                <a:spcPts val="0"/>
              </a:spcAft>
              <a:buNone/>
            </a:pPr>
            <a:endParaRPr>
              <a:highlight>
                <a:srgbClr val="38761D"/>
              </a:highlight>
              <a:latin typeface="Calibri"/>
              <a:ea typeface="Calibri"/>
              <a:cs typeface="Calibri"/>
              <a:sym typeface="Calibri"/>
            </a:endParaRPr>
          </a:p>
          <a:p>
            <a:pPr marL="0" lvl="0" indent="0" algn="l" rtl="0">
              <a:spcBef>
                <a:spcPts val="0"/>
              </a:spcBef>
              <a:spcAft>
                <a:spcPts val="0"/>
              </a:spcAft>
              <a:buNone/>
            </a:pPr>
            <a:endParaRPr/>
          </a:p>
        </p:txBody>
      </p:sp>
      <p:sp>
        <p:nvSpPr>
          <p:cNvPr id="12" name="Google Shape;380;p50"/>
          <p:cNvSpPr txBox="1"/>
          <p:nvPr/>
        </p:nvSpPr>
        <p:spPr>
          <a:xfrm>
            <a:off x="5275090" y="4012844"/>
            <a:ext cx="4765800" cy="1060200"/>
          </a:xfrm>
          <a:prstGeom prst="rect">
            <a:avLst/>
          </a:prstGeom>
          <a:noFill/>
          <a:ln>
            <a:noFill/>
          </a:ln>
        </p:spPr>
        <p:txBody>
          <a:bodyPr spcFirstLastPara="1" wrap="square" lIns="91425" tIns="45700" rIns="91425" bIns="45700" anchor="ctr" anchorCtr="0">
            <a:noAutofit/>
          </a:bodyPr>
          <a:lstStyle/>
          <a:p>
            <a:pPr marL="0" lvl="0" indent="0" algn="l" rtl="0">
              <a:lnSpc>
                <a:spcPct val="115000"/>
              </a:lnSpc>
              <a:spcBef>
                <a:spcPts val="0"/>
              </a:spcBef>
              <a:spcAft>
                <a:spcPts val="0"/>
              </a:spcAft>
              <a:buNone/>
            </a:pPr>
            <a:r>
              <a:rPr lang="en" sz="1900" dirty="0">
                <a:solidFill>
                  <a:schemeClr val="dk1"/>
                </a:solidFill>
                <a:highlight>
                  <a:srgbClr val="38761D"/>
                </a:highlight>
                <a:latin typeface="Roboto"/>
                <a:ea typeface="Roboto"/>
                <a:cs typeface="Roboto"/>
                <a:sym typeface="Roboto"/>
              </a:rPr>
              <a:t>Learning from a few examples before generating the output. The user has to provide the examples as input</a:t>
            </a:r>
            <a:endParaRPr sz="1900" dirty="0">
              <a:solidFill>
                <a:srgbClr val="FFFFFF"/>
              </a:solidFill>
              <a:latin typeface="Roboto"/>
              <a:ea typeface="Roboto"/>
              <a:cs typeface="Roboto"/>
              <a:sym typeface="Roboto"/>
            </a:endParaRPr>
          </a:p>
        </p:txBody>
      </p:sp>
      <p:sp>
        <p:nvSpPr>
          <p:cNvPr id="13" name="Google Shape;381;p50"/>
          <p:cNvSpPr txBox="1"/>
          <p:nvPr/>
        </p:nvSpPr>
        <p:spPr>
          <a:xfrm>
            <a:off x="1073426" y="5573156"/>
            <a:ext cx="10068185" cy="73863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dirty="0">
                <a:solidFill>
                  <a:schemeClr val="dk2"/>
                </a:solidFill>
                <a:latin typeface="Nunito"/>
                <a:ea typeface="Nunito"/>
                <a:cs typeface="Nunito"/>
                <a:sym typeface="Nunito"/>
              </a:rPr>
              <a:t>GPT-3 proved to be very effective provided the prompts give to it followed the few-shot pattern. </a:t>
            </a:r>
            <a:r>
              <a:rPr lang="en" sz="1800" dirty="0" smtClean="0">
                <a:solidFill>
                  <a:schemeClr val="dk2"/>
                </a:solidFill>
                <a:latin typeface="Nunito"/>
                <a:ea typeface="Nunito"/>
                <a:cs typeface="Nunito"/>
                <a:sym typeface="Nunito"/>
              </a:rPr>
              <a:t>  It </a:t>
            </a:r>
            <a:r>
              <a:rPr lang="en" sz="1800" dirty="0">
                <a:solidFill>
                  <a:schemeClr val="dk2"/>
                </a:solidFill>
                <a:latin typeface="Nunito"/>
                <a:ea typeface="Nunito"/>
                <a:cs typeface="Nunito"/>
                <a:sym typeface="Nunito"/>
              </a:rPr>
              <a:t>also has zero-shot capabilities, but its few-shot capabilities are much stronger</a:t>
            </a:r>
            <a:r>
              <a:rPr lang="en" sz="1800" dirty="0" smtClean="0">
                <a:solidFill>
                  <a:schemeClr val="dk2"/>
                </a:solidFill>
                <a:latin typeface="Nunito"/>
                <a:ea typeface="Nunito"/>
                <a:cs typeface="Nunito"/>
                <a:sym typeface="Nunito"/>
              </a:rPr>
              <a:t>.    </a:t>
            </a:r>
            <a:endParaRPr sz="1800" dirty="0">
              <a:solidFill>
                <a:schemeClr val="dk2"/>
              </a:solidFill>
              <a:latin typeface="Nunito"/>
              <a:ea typeface="Nunito"/>
              <a:cs typeface="Nunito"/>
              <a:sym typeface="Nunito"/>
            </a:endParaRPr>
          </a:p>
        </p:txBody>
      </p:sp>
    </p:spTree>
    <p:extLst>
      <p:ext uri="{BB962C8B-B14F-4D97-AF65-F5344CB8AC3E}">
        <p14:creationId xmlns:p14="http://schemas.microsoft.com/office/powerpoint/2010/main" val="19222663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94209" y="0"/>
            <a:ext cx="9920781" cy="6775938"/>
          </a:xfrm>
          <a:prstGeom prst="rect">
            <a:avLst/>
          </a:prstGeom>
        </p:spPr>
      </p:pic>
    </p:spTree>
    <p:extLst>
      <p:ext uri="{BB962C8B-B14F-4D97-AF65-F5344CB8AC3E}">
        <p14:creationId xmlns:p14="http://schemas.microsoft.com/office/powerpoint/2010/main" val="30514644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flipH="1">
            <a:off x="1622474" y="587152"/>
            <a:ext cx="8154572" cy="675729"/>
          </a:xfrm>
          <a:prstGeom prst="rect">
            <a:avLst/>
          </a:prstGeom>
        </p:spPr>
        <p:txBody>
          <a:bodyPr vert="horz" wrap="square" lIns="0" tIns="183355" rIns="0" bIns="0" rtlCol="0">
            <a:spAutoFit/>
          </a:bodyPr>
          <a:lstStyle/>
          <a:p>
            <a:pPr marL="239910">
              <a:spcBef>
                <a:spcPts val="103"/>
              </a:spcBef>
            </a:pPr>
            <a:r>
              <a:rPr b="1" dirty="0">
                <a:solidFill>
                  <a:srgbClr val="000000"/>
                </a:solidFill>
                <a:latin typeface="Times New Roman"/>
                <a:cs typeface="Times New Roman"/>
              </a:rPr>
              <a:t>Attention</a:t>
            </a:r>
            <a:r>
              <a:rPr b="1" spc="197" dirty="0">
                <a:solidFill>
                  <a:srgbClr val="000000"/>
                </a:solidFill>
                <a:latin typeface="Times New Roman"/>
                <a:cs typeface="Times New Roman"/>
              </a:rPr>
              <a:t> </a:t>
            </a:r>
            <a:r>
              <a:rPr b="1" spc="-9" dirty="0">
                <a:solidFill>
                  <a:srgbClr val="000000"/>
                </a:solidFill>
                <a:latin typeface="Times New Roman"/>
                <a:cs typeface="Times New Roman"/>
              </a:rPr>
              <a:t>Mechanism</a:t>
            </a:r>
          </a:p>
        </p:txBody>
      </p:sp>
      <p:sp>
        <p:nvSpPr>
          <p:cNvPr id="4" name="object 4"/>
          <p:cNvSpPr txBox="1"/>
          <p:nvPr/>
        </p:nvSpPr>
        <p:spPr>
          <a:xfrm>
            <a:off x="1622474" y="2261207"/>
            <a:ext cx="7493198" cy="807850"/>
          </a:xfrm>
          <a:prstGeom prst="rect">
            <a:avLst/>
          </a:prstGeom>
        </p:spPr>
        <p:txBody>
          <a:bodyPr vert="horz" wrap="square" lIns="0" tIns="14288" rIns="0" bIns="0" rtlCol="0">
            <a:spAutoFit/>
          </a:bodyPr>
          <a:lstStyle/>
          <a:p>
            <a:pPr marL="469106" indent="-457200">
              <a:spcBef>
                <a:spcPts val="113"/>
              </a:spcBef>
              <a:buFont typeface="Arial" panose="020B0604020202020204" pitchFamily="34" charset="0"/>
              <a:buChar char="•"/>
            </a:pPr>
            <a:r>
              <a:rPr sz="2578" spc="70" dirty="0">
                <a:latin typeface="Times New Roman"/>
                <a:cs typeface="Times New Roman"/>
              </a:rPr>
              <a:t>Helps</a:t>
            </a:r>
            <a:r>
              <a:rPr sz="2578" spc="14" dirty="0">
                <a:latin typeface="Times New Roman"/>
                <a:cs typeface="Times New Roman"/>
              </a:rPr>
              <a:t> </a:t>
            </a:r>
            <a:r>
              <a:rPr sz="2578" spc="141" dirty="0">
                <a:latin typeface="Times New Roman"/>
                <a:cs typeface="Times New Roman"/>
              </a:rPr>
              <a:t>LLMs</a:t>
            </a:r>
            <a:r>
              <a:rPr sz="2578" spc="14" dirty="0">
                <a:latin typeface="Times New Roman"/>
                <a:cs typeface="Times New Roman"/>
              </a:rPr>
              <a:t> </a:t>
            </a:r>
            <a:r>
              <a:rPr sz="2578" spc="145" dirty="0">
                <a:latin typeface="Times New Roman"/>
                <a:cs typeface="Times New Roman"/>
              </a:rPr>
              <a:t>to</a:t>
            </a:r>
            <a:r>
              <a:rPr sz="2578" spc="14" dirty="0">
                <a:latin typeface="Times New Roman"/>
                <a:cs typeface="Times New Roman"/>
              </a:rPr>
              <a:t> </a:t>
            </a:r>
            <a:r>
              <a:rPr sz="2578" spc="107" dirty="0">
                <a:latin typeface="Times New Roman"/>
                <a:cs typeface="Times New Roman"/>
              </a:rPr>
              <a:t>understand</a:t>
            </a:r>
            <a:r>
              <a:rPr sz="2578" spc="19" dirty="0">
                <a:latin typeface="Times New Roman"/>
                <a:cs typeface="Times New Roman"/>
              </a:rPr>
              <a:t> </a:t>
            </a:r>
            <a:r>
              <a:rPr sz="2578" spc="47" dirty="0">
                <a:latin typeface="Times New Roman"/>
                <a:cs typeface="Times New Roman"/>
              </a:rPr>
              <a:t>whole</a:t>
            </a:r>
            <a:r>
              <a:rPr sz="2578" spc="14" dirty="0">
                <a:latin typeface="Times New Roman"/>
                <a:cs typeface="Times New Roman"/>
              </a:rPr>
              <a:t> </a:t>
            </a:r>
            <a:r>
              <a:rPr sz="2578" spc="75" dirty="0">
                <a:latin typeface="Times New Roman"/>
                <a:cs typeface="Times New Roman"/>
              </a:rPr>
              <a:t>context</a:t>
            </a:r>
            <a:r>
              <a:rPr sz="2578" spc="14" dirty="0">
                <a:latin typeface="Times New Roman"/>
                <a:cs typeface="Times New Roman"/>
              </a:rPr>
              <a:t> </a:t>
            </a:r>
            <a:r>
              <a:rPr sz="2578" spc="70" dirty="0">
                <a:latin typeface="Times New Roman"/>
                <a:cs typeface="Times New Roman"/>
              </a:rPr>
              <a:t>of</a:t>
            </a:r>
            <a:r>
              <a:rPr sz="2578" spc="19" dirty="0">
                <a:latin typeface="Times New Roman"/>
                <a:cs typeface="Times New Roman"/>
              </a:rPr>
              <a:t> </a:t>
            </a:r>
            <a:r>
              <a:rPr sz="2578" spc="89" dirty="0">
                <a:latin typeface="Times New Roman"/>
                <a:cs typeface="Times New Roman"/>
              </a:rPr>
              <a:t>the</a:t>
            </a:r>
            <a:r>
              <a:rPr sz="2578" spc="14" dirty="0">
                <a:latin typeface="Times New Roman"/>
                <a:cs typeface="Times New Roman"/>
              </a:rPr>
              <a:t> </a:t>
            </a:r>
            <a:r>
              <a:rPr sz="2578" spc="56" dirty="0">
                <a:latin typeface="Times New Roman"/>
                <a:cs typeface="Times New Roman"/>
              </a:rPr>
              <a:t>text.</a:t>
            </a:r>
            <a:endParaRPr sz="2578" dirty="0">
              <a:latin typeface="Times New Roman"/>
              <a:cs typeface="Times New Roman"/>
            </a:endParaRPr>
          </a:p>
        </p:txBody>
      </p:sp>
    </p:spTree>
    <p:extLst>
      <p:ext uri="{BB962C8B-B14F-4D97-AF65-F5344CB8AC3E}">
        <p14:creationId xmlns:p14="http://schemas.microsoft.com/office/powerpoint/2010/main" val="11016447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85455" y="540328"/>
            <a:ext cx="8409272" cy="5613486"/>
          </a:xfrm>
          <a:prstGeom prst="rect">
            <a:avLst/>
          </a:prstGeom>
        </p:spPr>
      </p:pic>
    </p:spTree>
    <p:extLst>
      <p:ext uri="{BB962C8B-B14F-4D97-AF65-F5344CB8AC3E}">
        <p14:creationId xmlns:p14="http://schemas.microsoft.com/office/powerpoint/2010/main" val="19816463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985962" y="1603330"/>
            <a:ext cx="8225476" cy="2575099"/>
          </a:xfrm>
          <a:prstGeom prst="rect">
            <a:avLst/>
          </a:prstGeom>
        </p:spPr>
      </p:pic>
    </p:spTree>
    <p:extLst>
      <p:ext uri="{BB962C8B-B14F-4D97-AF65-F5344CB8AC3E}">
        <p14:creationId xmlns:p14="http://schemas.microsoft.com/office/powerpoint/2010/main" val="12283353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981200" y="1527944"/>
            <a:ext cx="8228727" cy="4319635"/>
          </a:xfrm>
          <a:prstGeom prst="rect">
            <a:avLst/>
          </a:prstGeom>
        </p:spPr>
      </p:pic>
    </p:spTree>
    <p:extLst>
      <p:ext uri="{BB962C8B-B14F-4D97-AF65-F5344CB8AC3E}">
        <p14:creationId xmlns:p14="http://schemas.microsoft.com/office/powerpoint/2010/main" val="25329953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404962" y="1525587"/>
            <a:ext cx="7227547" cy="4054568"/>
          </a:xfrm>
          <a:prstGeom prst="rect">
            <a:avLst/>
          </a:prstGeom>
        </p:spPr>
      </p:pic>
    </p:spTree>
    <p:extLst>
      <p:ext uri="{BB962C8B-B14F-4D97-AF65-F5344CB8AC3E}">
        <p14:creationId xmlns:p14="http://schemas.microsoft.com/office/powerpoint/2010/main" val="2323713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981199" y="1518907"/>
            <a:ext cx="8225698" cy="4161864"/>
          </a:xfrm>
          <a:prstGeom prst="rect">
            <a:avLst/>
          </a:prstGeom>
        </p:spPr>
      </p:pic>
    </p:spTree>
    <p:extLst>
      <p:ext uri="{BB962C8B-B14F-4D97-AF65-F5344CB8AC3E}">
        <p14:creationId xmlns:p14="http://schemas.microsoft.com/office/powerpoint/2010/main" val="7295492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981199" y="1497820"/>
            <a:ext cx="8226993" cy="4100126"/>
          </a:xfrm>
          <a:prstGeom prst="rect">
            <a:avLst/>
          </a:prstGeom>
        </p:spPr>
      </p:pic>
    </p:spTree>
    <p:extLst>
      <p:ext uri="{BB962C8B-B14F-4D97-AF65-F5344CB8AC3E}">
        <p14:creationId xmlns:p14="http://schemas.microsoft.com/office/powerpoint/2010/main" val="183330022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981199" y="1681819"/>
            <a:ext cx="8234362" cy="4132523"/>
          </a:xfrm>
          <a:prstGeom prst="rect">
            <a:avLst/>
          </a:prstGeom>
        </p:spPr>
      </p:pic>
    </p:spTree>
    <p:extLst>
      <p:ext uri="{BB962C8B-B14F-4D97-AF65-F5344CB8AC3E}">
        <p14:creationId xmlns:p14="http://schemas.microsoft.com/office/powerpoint/2010/main" val="71070752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976438" y="1601831"/>
            <a:ext cx="8113828" cy="3952530"/>
          </a:xfrm>
          <a:prstGeom prst="rect">
            <a:avLst/>
          </a:prstGeom>
        </p:spPr>
      </p:pic>
    </p:spTree>
    <p:extLst>
      <p:ext uri="{BB962C8B-B14F-4D97-AF65-F5344CB8AC3E}">
        <p14:creationId xmlns:p14="http://schemas.microsoft.com/office/powerpoint/2010/main" val="25573692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579844" y="1941690"/>
            <a:ext cx="6696678" cy="4035040"/>
          </a:xfrm>
          <a:prstGeom prst="rect">
            <a:avLst/>
          </a:prstGeom>
        </p:spPr>
      </p:pic>
    </p:spTree>
    <p:extLst>
      <p:ext uri="{BB962C8B-B14F-4D97-AF65-F5344CB8AC3E}">
        <p14:creationId xmlns:p14="http://schemas.microsoft.com/office/powerpoint/2010/main" val="38594620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098681" y="1391944"/>
            <a:ext cx="8056423" cy="4230834"/>
          </a:xfrm>
          <a:prstGeom prst="rect">
            <a:avLst/>
          </a:prstGeom>
        </p:spPr>
      </p:pic>
    </p:spTree>
    <p:extLst>
      <p:ext uri="{BB962C8B-B14F-4D97-AF65-F5344CB8AC3E}">
        <p14:creationId xmlns:p14="http://schemas.microsoft.com/office/powerpoint/2010/main" val="33296598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981199" y="1491796"/>
            <a:ext cx="8056423" cy="4230834"/>
          </a:xfrm>
          <a:prstGeom prst="rect">
            <a:avLst/>
          </a:prstGeom>
        </p:spPr>
      </p:pic>
    </p:spTree>
    <p:extLst>
      <p:ext uri="{BB962C8B-B14F-4D97-AF65-F5344CB8AC3E}">
        <p14:creationId xmlns:p14="http://schemas.microsoft.com/office/powerpoint/2010/main" val="98153984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981199" y="1497821"/>
            <a:ext cx="8063953" cy="4236046"/>
          </a:xfrm>
          <a:prstGeom prst="rect">
            <a:avLst/>
          </a:prstGeom>
        </p:spPr>
      </p:pic>
    </p:spTree>
    <p:extLst>
      <p:ext uri="{BB962C8B-B14F-4D97-AF65-F5344CB8AC3E}">
        <p14:creationId xmlns:p14="http://schemas.microsoft.com/office/powerpoint/2010/main" val="114679616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981200" y="1509870"/>
            <a:ext cx="8139222" cy="4355783"/>
          </a:xfrm>
          <a:prstGeom prst="rect">
            <a:avLst/>
          </a:prstGeom>
        </p:spPr>
      </p:pic>
    </p:spTree>
    <p:extLst>
      <p:ext uri="{BB962C8B-B14F-4D97-AF65-F5344CB8AC3E}">
        <p14:creationId xmlns:p14="http://schemas.microsoft.com/office/powerpoint/2010/main" val="16616188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981199" y="1509870"/>
            <a:ext cx="8124163" cy="4355783"/>
          </a:xfrm>
          <a:prstGeom prst="rect">
            <a:avLst/>
          </a:prstGeom>
        </p:spPr>
      </p:pic>
    </p:spTree>
    <p:extLst>
      <p:ext uri="{BB962C8B-B14F-4D97-AF65-F5344CB8AC3E}">
        <p14:creationId xmlns:p14="http://schemas.microsoft.com/office/powerpoint/2010/main" val="35082201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981199" y="1494809"/>
            <a:ext cx="8054280" cy="4234041"/>
          </a:xfrm>
          <a:prstGeom prst="rect">
            <a:avLst/>
          </a:prstGeom>
        </p:spPr>
      </p:pic>
    </p:spTree>
    <p:extLst>
      <p:ext uri="{BB962C8B-B14F-4D97-AF65-F5344CB8AC3E}">
        <p14:creationId xmlns:p14="http://schemas.microsoft.com/office/powerpoint/2010/main" val="322768482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279;p37"/>
          <p:cNvSpPr txBox="1">
            <a:spLocks/>
          </p:cNvSpPr>
          <p:nvPr/>
        </p:nvSpPr>
        <p:spPr>
          <a:xfrm>
            <a:off x="584376" y="1026470"/>
            <a:ext cx="5933400" cy="6168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990"/>
            </a:pPr>
            <a:r>
              <a:rPr lang="en-IN" sz="1800" dirty="0" smtClean="0"/>
              <a:t>SELF-ATTENTION MECHANISM</a:t>
            </a:r>
            <a:endParaRPr lang="en-IN" sz="1800" dirty="0"/>
          </a:p>
        </p:txBody>
      </p:sp>
      <p:sp>
        <p:nvSpPr>
          <p:cNvPr id="4" name="Google Shape;280;p37"/>
          <p:cNvSpPr txBox="1">
            <a:spLocks/>
          </p:cNvSpPr>
          <p:nvPr/>
        </p:nvSpPr>
        <p:spPr>
          <a:xfrm>
            <a:off x="742123" y="1643270"/>
            <a:ext cx="10283686" cy="3906815"/>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311150">
              <a:buSzPts val="1300"/>
              <a:buFont typeface="Nunito"/>
              <a:buChar char="●"/>
            </a:pPr>
            <a:r>
              <a:rPr lang="en-US" sz="1800" dirty="0" smtClean="0">
                <a:latin typeface="Nunito"/>
                <a:ea typeface="Nunito"/>
                <a:cs typeface="Nunito"/>
                <a:sym typeface="Nunito"/>
              </a:rPr>
              <a:t>Allows the model to weigh importance of different words/tokens relative to each other</a:t>
            </a:r>
          </a:p>
          <a:p>
            <a:pPr marL="457200" indent="-311150">
              <a:buSzPts val="1300"/>
              <a:buFont typeface="Nunito"/>
              <a:buChar char="●"/>
            </a:pPr>
            <a:r>
              <a:rPr lang="en-US" sz="1800" dirty="0" smtClean="0">
                <a:latin typeface="Nunito"/>
                <a:ea typeface="Nunito"/>
                <a:cs typeface="Nunito"/>
                <a:sym typeface="Nunito"/>
              </a:rPr>
              <a:t>Allows model to capture long range dependencies (drawback of RNNs and LSTMs)</a:t>
            </a:r>
          </a:p>
          <a:p>
            <a:pPr marL="457200" indent="-311150">
              <a:buSzPts val="1300"/>
              <a:buFont typeface="Nunito"/>
              <a:buChar char="●"/>
            </a:pPr>
            <a:endParaRPr lang="en-US" sz="1800" dirty="0" smtClean="0">
              <a:latin typeface="Nunito"/>
              <a:ea typeface="Nunito"/>
              <a:cs typeface="Nunito"/>
              <a:sym typeface="Nunito"/>
            </a:endParaRPr>
          </a:p>
          <a:p>
            <a:pPr>
              <a:spcBef>
                <a:spcPts val="1200"/>
              </a:spcBef>
            </a:pPr>
            <a:r>
              <a:rPr lang="en-US" sz="1800" dirty="0" smtClean="0">
                <a:latin typeface="Nunito"/>
                <a:ea typeface="Nunito"/>
                <a:cs typeface="Nunito"/>
                <a:sym typeface="Nunito"/>
              </a:rPr>
              <a:t>ORIGIN OF ATTENTION</a:t>
            </a:r>
          </a:p>
          <a:p>
            <a:pPr marL="457200" indent="-311150">
              <a:spcBef>
                <a:spcPts val="1200"/>
              </a:spcBef>
              <a:buSzPts val="1300"/>
              <a:buFont typeface="Nunito"/>
              <a:buChar char="●"/>
            </a:pPr>
            <a:r>
              <a:rPr lang="en-US" sz="1800" dirty="0" smtClean="0">
                <a:latin typeface="Nunito"/>
                <a:ea typeface="Nunito"/>
                <a:cs typeface="Nunito"/>
                <a:sym typeface="Nunito"/>
              </a:rPr>
              <a:t>Initial language tasks were translation tasks - word by word translation never works. This was realized when </a:t>
            </a:r>
            <a:r>
              <a:rPr lang="en-US" sz="1800" b="1" dirty="0" smtClean="0">
                <a:latin typeface="Nunito"/>
                <a:ea typeface="Nunito"/>
                <a:cs typeface="Nunito"/>
                <a:sym typeface="Nunito"/>
              </a:rPr>
              <a:t>long sequence modeling</a:t>
            </a:r>
            <a:r>
              <a:rPr lang="en-US" sz="1800" dirty="0" smtClean="0">
                <a:latin typeface="Nunito"/>
                <a:ea typeface="Nunito"/>
                <a:cs typeface="Nunito"/>
                <a:sym typeface="Nunito"/>
              </a:rPr>
              <a:t> was done</a:t>
            </a:r>
          </a:p>
          <a:p>
            <a:pPr>
              <a:spcBef>
                <a:spcPts val="1200"/>
              </a:spcBef>
            </a:pPr>
            <a:endParaRPr lang="en-US" sz="1800" dirty="0" smtClean="0">
              <a:latin typeface="Nunito"/>
              <a:ea typeface="Nunito"/>
              <a:cs typeface="Nunito"/>
              <a:sym typeface="Nunito"/>
            </a:endParaRPr>
          </a:p>
          <a:p>
            <a:pPr>
              <a:spcBef>
                <a:spcPts val="1200"/>
              </a:spcBef>
            </a:pPr>
            <a:endParaRPr lang="en-US" sz="1800" dirty="0" smtClean="0">
              <a:latin typeface="Nunito"/>
              <a:ea typeface="Nunito"/>
              <a:cs typeface="Nunito"/>
              <a:sym typeface="Nunito"/>
            </a:endParaRPr>
          </a:p>
          <a:p>
            <a:pPr>
              <a:spcBef>
                <a:spcPts val="1200"/>
              </a:spcBef>
            </a:pPr>
            <a:endParaRPr lang="en-US" sz="1800" dirty="0" smtClean="0">
              <a:latin typeface="Nunito"/>
              <a:ea typeface="Nunito"/>
              <a:cs typeface="Nunito"/>
              <a:sym typeface="Nunito"/>
            </a:endParaRPr>
          </a:p>
          <a:p>
            <a:pPr>
              <a:spcBef>
                <a:spcPts val="1200"/>
              </a:spcBef>
            </a:pPr>
            <a:endParaRPr lang="en-US" sz="1800" dirty="0" smtClean="0">
              <a:latin typeface="Nunito"/>
              <a:ea typeface="Nunito"/>
              <a:cs typeface="Nunito"/>
              <a:sym typeface="Nunito"/>
            </a:endParaRPr>
          </a:p>
          <a:p>
            <a:pPr>
              <a:spcBef>
                <a:spcPts val="1200"/>
              </a:spcBef>
            </a:pPr>
            <a:endParaRPr lang="en-US" sz="1800" dirty="0" smtClean="0">
              <a:latin typeface="Nunito"/>
              <a:ea typeface="Nunito"/>
              <a:cs typeface="Nunito"/>
              <a:sym typeface="Nunito"/>
            </a:endParaRPr>
          </a:p>
          <a:p>
            <a:pPr marL="457200" indent="-311150">
              <a:spcBef>
                <a:spcPts val="1200"/>
              </a:spcBef>
              <a:buSzPts val="1300"/>
              <a:buFont typeface="Nunito"/>
              <a:buChar char="●"/>
            </a:pPr>
            <a:r>
              <a:rPr lang="en-US" sz="1800" dirty="0" smtClean="0">
                <a:latin typeface="Nunito"/>
                <a:ea typeface="Nunito"/>
                <a:cs typeface="Nunito"/>
                <a:sym typeface="Nunito"/>
              </a:rPr>
              <a:t>Sometimes, the translated text contains different number of words </a:t>
            </a:r>
            <a:endParaRPr lang="en-US" sz="1800" dirty="0">
              <a:latin typeface="Nunito"/>
              <a:ea typeface="Nunito"/>
              <a:cs typeface="Nunito"/>
              <a:sym typeface="Nunito"/>
            </a:endParaRPr>
          </a:p>
        </p:txBody>
      </p:sp>
      <p:pic>
        <p:nvPicPr>
          <p:cNvPr id="5" name="Google Shape;281;p37"/>
          <p:cNvPicPr preferRelativeResize="0"/>
          <p:nvPr/>
        </p:nvPicPr>
        <p:blipFill>
          <a:blip r:embed="rId2">
            <a:alphaModFix/>
          </a:blip>
          <a:stretch>
            <a:fillRect/>
          </a:stretch>
        </p:blipFill>
        <p:spPr>
          <a:xfrm>
            <a:off x="1567527" y="4010200"/>
            <a:ext cx="5355526" cy="1714975"/>
          </a:xfrm>
          <a:prstGeom prst="rect">
            <a:avLst/>
          </a:prstGeom>
          <a:noFill/>
          <a:ln>
            <a:noFill/>
          </a:ln>
        </p:spPr>
      </p:pic>
      <p:pic>
        <p:nvPicPr>
          <p:cNvPr id="6" name="Google Shape;282;p37"/>
          <p:cNvPicPr preferRelativeResize="0"/>
          <p:nvPr/>
        </p:nvPicPr>
        <p:blipFill>
          <a:blip r:embed="rId3">
            <a:alphaModFix/>
          </a:blip>
          <a:stretch>
            <a:fillRect/>
          </a:stretch>
        </p:blipFill>
        <p:spPr>
          <a:xfrm>
            <a:off x="7238943" y="4443934"/>
            <a:ext cx="3208024" cy="1058525"/>
          </a:xfrm>
          <a:prstGeom prst="rect">
            <a:avLst/>
          </a:prstGeom>
          <a:noFill/>
          <a:ln>
            <a:noFill/>
          </a:ln>
        </p:spPr>
      </p:pic>
    </p:spTree>
    <p:extLst>
      <p:ext uri="{BB962C8B-B14F-4D97-AF65-F5344CB8AC3E}">
        <p14:creationId xmlns:p14="http://schemas.microsoft.com/office/powerpoint/2010/main" val="293011996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904150" y="2066735"/>
            <a:ext cx="10383699" cy="2724530"/>
          </a:xfrm>
          <a:prstGeom prst="rect">
            <a:avLst/>
          </a:prstGeom>
        </p:spPr>
      </p:pic>
    </p:spTree>
    <p:extLst>
      <p:ext uri="{BB962C8B-B14F-4D97-AF65-F5344CB8AC3E}">
        <p14:creationId xmlns:p14="http://schemas.microsoft.com/office/powerpoint/2010/main" val="293252071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Text Placeholder 2"/>
          <p:cNvSpPr>
            <a:spLocks noGrp="1"/>
          </p:cNvSpPr>
          <p:nvPr>
            <p:ph type="body" idx="1"/>
          </p:nvPr>
        </p:nvSpPr>
        <p:spPr/>
        <p:txBody>
          <a:bodyPr/>
          <a:lstStyle/>
          <a:p>
            <a:endParaRPr lang="en-IN" dirty="0"/>
          </a:p>
        </p:txBody>
      </p:sp>
      <p:pic>
        <p:nvPicPr>
          <p:cNvPr id="4" name="Picture 3"/>
          <p:cNvPicPr>
            <a:picLocks noChangeAspect="1"/>
          </p:cNvPicPr>
          <p:nvPr/>
        </p:nvPicPr>
        <p:blipFill>
          <a:blip r:embed="rId2"/>
          <a:stretch>
            <a:fillRect/>
          </a:stretch>
        </p:blipFill>
        <p:spPr>
          <a:xfrm>
            <a:off x="1192696" y="0"/>
            <a:ext cx="6963507" cy="3277419"/>
          </a:xfrm>
          <a:prstGeom prst="rect">
            <a:avLst/>
          </a:prstGeom>
        </p:spPr>
      </p:pic>
      <p:pic>
        <p:nvPicPr>
          <p:cNvPr id="5" name="Picture 4"/>
          <p:cNvPicPr>
            <a:picLocks noChangeAspect="1"/>
          </p:cNvPicPr>
          <p:nvPr/>
        </p:nvPicPr>
        <p:blipFill>
          <a:blip r:embed="rId3"/>
          <a:stretch>
            <a:fillRect/>
          </a:stretch>
        </p:blipFill>
        <p:spPr>
          <a:xfrm>
            <a:off x="5653173" y="3481855"/>
            <a:ext cx="6302943" cy="2838507"/>
          </a:xfrm>
          <a:prstGeom prst="rect">
            <a:avLst/>
          </a:prstGeom>
        </p:spPr>
      </p:pic>
      <p:pic>
        <p:nvPicPr>
          <p:cNvPr id="6" name="Picture 5"/>
          <p:cNvPicPr>
            <a:picLocks noChangeAspect="1"/>
          </p:cNvPicPr>
          <p:nvPr/>
        </p:nvPicPr>
        <p:blipFill>
          <a:blip r:embed="rId4"/>
          <a:stretch>
            <a:fillRect/>
          </a:stretch>
        </p:blipFill>
        <p:spPr>
          <a:xfrm>
            <a:off x="0" y="3727938"/>
            <a:ext cx="4222806" cy="3130062"/>
          </a:xfrm>
          <a:prstGeom prst="rect">
            <a:avLst/>
          </a:prstGeom>
        </p:spPr>
      </p:pic>
    </p:spTree>
    <p:extLst>
      <p:ext uri="{BB962C8B-B14F-4D97-AF65-F5344CB8AC3E}">
        <p14:creationId xmlns:p14="http://schemas.microsoft.com/office/powerpoint/2010/main" val="197981678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165;p19"/>
          <p:cNvPicPr preferRelativeResize="0"/>
          <p:nvPr/>
        </p:nvPicPr>
        <p:blipFill>
          <a:blip r:embed="rId2">
            <a:alphaModFix/>
          </a:blip>
          <a:stretch>
            <a:fillRect/>
          </a:stretch>
        </p:blipFill>
        <p:spPr>
          <a:xfrm>
            <a:off x="283398" y="1722547"/>
            <a:ext cx="9368433" cy="3412933"/>
          </a:xfrm>
          <a:prstGeom prst="rect">
            <a:avLst/>
          </a:prstGeom>
          <a:noFill/>
          <a:ln>
            <a:noFill/>
          </a:ln>
        </p:spPr>
      </p:pic>
      <p:sp>
        <p:nvSpPr>
          <p:cNvPr id="3" name="Google Shape;166;p19"/>
          <p:cNvSpPr txBox="1"/>
          <p:nvPr/>
        </p:nvSpPr>
        <p:spPr>
          <a:xfrm>
            <a:off x="80733" y="292934"/>
            <a:ext cx="11108800" cy="1025753"/>
          </a:xfrm>
          <a:prstGeom prst="rect">
            <a:avLst/>
          </a:prstGeom>
          <a:noFill/>
          <a:ln>
            <a:noFill/>
          </a:ln>
        </p:spPr>
        <p:txBody>
          <a:bodyPr spcFirstLastPara="1" wrap="square" lIns="121900" tIns="121900" rIns="121900" bIns="121900" anchor="t" anchorCtr="0">
            <a:spAutoFit/>
          </a:bodyPr>
          <a:lstStyle/>
          <a:p>
            <a:pPr marL="609585" indent="-465655">
              <a:buClr>
                <a:srgbClr val="0B5394"/>
              </a:buClr>
              <a:buSzPts val="1900"/>
              <a:buFont typeface="Calibri"/>
              <a:buChar char="●"/>
            </a:pPr>
            <a:r>
              <a:rPr lang="en" sz="2533" dirty="0">
                <a:solidFill>
                  <a:srgbClr val="0B5394"/>
                </a:solidFill>
                <a:latin typeface="Calibri"/>
                <a:ea typeface="Calibri"/>
                <a:cs typeface="Calibri"/>
                <a:sym typeface="Calibri"/>
              </a:rPr>
              <a:t>Pre trained model </a:t>
            </a:r>
            <a:r>
              <a:rPr lang="en" sz="2533" dirty="0" smtClean="0">
                <a:solidFill>
                  <a:schemeClr val="lt1"/>
                </a:solidFill>
                <a:latin typeface="Calibri"/>
                <a:ea typeface="Calibri"/>
                <a:cs typeface="Calibri"/>
                <a:sym typeface="Calibri"/>
              </a:rPr>
              <a:t>MODEL</a:t>
            </a:r>
            <a:endParaRPr sz="2533" dirty="0">
              <a:solidFill>
                <a:schemeClr val="lt1"/>
              </a:solidFill>
              <a:latin typeface="Calibri"/>
              <a:ea typeface="Calibri"/>
              <a:cs typeface="Calibri"/>
              <a:sym typeface="Calibri"/>
            </a:endParaRPr>
          </a:p>
          <a:p>
            <a:pPr marL="609585" indent="-465655">
              <a:buClr>
                <a:srgbClr val="0B5394"/>
              </a:buClr>
              <a:buSzPts val="1900"/>
              <a:buFont typeface="Calibri"/>
              <a:buChar char="●"/>
            </a:pPr>
            <a:r>
              <a:rPr lang="en" sz="2533" dirty="0">
                <a:solidFill>
                  <a:srgbClr val="0B5394"/>
                </a:solidFill>
                <a:latin typeface="Calibri"/>
                <a:ea typeface="Calibri"/>
                <a:cs typeface="Calibri"/>
                <a:sym typeface="Calibri"/>
              </a:rPr>
              <a:t>Fine Tuning is performed on this model</a:t>
            </a:r>
            <a:endParaRPr sz="2533" dirty="0">
              <a:solidFill>
                <a:srgbClr val="0B5394"/>
              </a:solidFill>
              <a:latin typeface="Calibri"/>
              <a:ea typeface="Calibri"/>
              <a:cs typeface="Calibri"/>
              <a:sym typeface="Calibri"/>
            </a:endParaRPr>
          </a:p>
        </p:txBody>
      </p:sp>
      <p:sp>
        <p:nvSpPr>
          <p:cNvPr id="4" name="Google Shape;167;p19"/>
          <p:cNvSpPr txBox="1"/>
          <p:nvPr/>
        </p:nvSpPr>
        <p:spPr>
          <a:xfrm>
            <a:off x="202867" y="5373500"/>
            <a:ext cx="11108800" cy="635968"/>
          </a:xfrm>
          <a:prstGeom prst="rect">
            <a:avLst/>
          </a:prstGeom>
          <a:noFill/>
          <a:ln>
            <a:noFill/>
          </a:ln>
        </p:spPr>
        <p:txBody>
          <a:bodyPr spcFirstLastPara="1" wrap="square" lIns="121900" tIns="121900" rIns="121900" bIns="121900" anchor="t" anchorCtr="0">
            <a:spAutoFit/>
          </a:bodyPr>
          <a:lstStyle/>
          <a:p>
            <a:pPr marL="609585" indent="-465655">
              <a:buClr>
                <a:schemeClr val="accent1"/>
              </a:buClr>
              <a:buSzPts val="1900"/>
              <a:buFont typeface="Calibri"/>
              <a:buChar char="●"/>
            </a:pPr>
            <a:r>
              <a:rPr lang="en" sz="2533">
                <a:solidFill>
                  <a:schemeClr val="accent1"/>
                </a:solidFill>
                <a:latin typeface="Calibri"/>
                <a:ea typeface="Calibri"/>
                <a:cs typeface="Calibri"/>
                <a:sym typeface="Calibri"/>
              </a:rPr>
              <a:t>The total pre-training costs for GPT-3 was nearly 4.6 million dollars!</a:t>
            </a:r>
            <a:endParaRPr sz="2533">
              <a:solidFill>
                <a:schemeClr val="accent1"/>
              </a:solidFill>
              <a:latin typeface="Calibri"/>
              <a:ea typeface="Calibri"/>
              <a:cs typeface="Calibri"/>
              <a:sym typeface="Calibri"/>
            </a:endParaRPr>
          </a:p>
        </p:txBody>
      </p:sp>
      <p:sp>
        <p:nvSpPr>
          <p:cNvPr id="5" name="Google Shape;168;p19"/>
          <p:cNvSpPr txBox="1"/>
          <p:nvPr/>
        </p:nvSpPr>
        <p:spPr>
          <a:xfrm>
            <a:off x="9868109" y="3161285"/>
            <a:ext cx="2018800" cy="1395470"/>
          </a:xfrm>
          <a:prstGeom prst="rect">
            <a:avLst/>
          </a:prstGeom>
          <a:noFill/>
          <a:ln>
            <a:noFill/>
          </a:ln>
        </p:spPr>
        <p:txBody>
          <a:bodyPr spcFirstLastPara="1" wrap="square" lIns="121900" tIns="121900" rIns="121900" bIns="121900" anchor="t" anchorCtr="0">
            <a:spAutoFit/>
          </a:bodyPr>
          <a:lstStyle/>
          <a:p>
            <a:r>
              <a:rPr lang="en" sz="1867" dirty="0">
                <a:solidFill>
                  <a:schemeClr val="accent5"/>
                </a:solidFill>
                <a:latin typeface="Nunito"/>
                <a:ea typeface="Nunito"/>
                <a:cs typeface="Nunito"/>
                <a:sym typeface="Nunito"/>
              </a:rPr>
              <a:t>From this, roughly 300B tokens were used for training</a:t>
            </a:r>
            <a:endParaRPr sz="1867" dirty="0">
              <a:solidFill>
                <a:schemeClr val="accent5"/>
              </a:solidFill>
              <a:latin typeface="Nunito"/>
              <a:ea typeface="Nunito"/>
              <a:cs typeface="Nunito"/>
              <a:sym typeface="Nunito"/>
            </a:endParaRPr>
          </a:p>
        </p:txBody>
      </p:sp>
    </p:spTree>
    <p:extLst>
      <p:ext uri="{BB962C8B-B14F-4D97-AF65-F5344CB8AC3E}">
        <p14:creationId xmlns:p14="http://schemas.microsoft.com/office/powerpoint/2010/main" val="16650971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716258" y="404922"/>
            <a:ext cx="7199535" cy="5618556"/>
          </a:xfrm>
          <a:prstGeom prst="rect">
            <a:avLst/>
          </a:prstGeom>
        </p:spPr>
      </p:pic>
    </p:spTree>
    <p:extLst>
      <p:ext uri="{BB962C8B-B14F-4D97-AF65-F5344CB8AC3E}">
        <p14:creationId xmlns:p14="http://schemas.microsoft.com/office/powerpoint/2010/main" val="389810802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60;p49"/>
          <p:cNvSpPr txBox="1">
            <a:spLocks/>
          </p:cNvSpPr>
          <p:nvPr/>
        </p:nvSpPr>
        <p:spPr>
          <a:xfrm>
            <a:off x="1228449" y="673744"/>
            <a:ext cx="6759300" cy="13830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2400" b="1" dirty="0" smtClean="0"/>
              <a:t>Generative </a:t>
            </a:r>
            <a:r>
              <a:rPr lang="en-IN" sz="2400" b="1" dirty="0" err="1" smtClean="0"/>
              <a:t>Pretrained</a:t>
            </a:r>
            <a:r>
              <a:rPr lang="en-IN" sz="2400" b="1" dirty="0" smtClean="0"/>
              <a:t> Transformer</a:t>
            </a:r>
            <a:endParaRPr lang="en-IN" sz="2400" b="1" dirty="0"/>
          </a:p>
        </p:txBody>
      </p:sp>
      <p:sp>
        <p:nvSpPr>
          <p:cNvPr id="3" name="Google Shape;361;p49"/>
          <p:cNvSpPr txBox="1">
            <a:spLocks/>
          </p:cNvSpPr>
          <p:nvPr/>
        </p:nvSpPr>
        <p:spPr>
          <a:xfrm>
            <a:off x="1228448" y="1585642"/>
            <a:ext cx="9863621" cy="40317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311150">
              <a:buSzPts val="1300"/>
              <a:buFont typeface="Nunito"/>
              <a:buChar char="●"/>
            </a:pPr>
            <a:r>
              <a:rPr lang="en-US" sz="2000" dirty="0" err="1" smtClean="0">
                <a:latin typeface="Nunito"/>
                <a:ea typeface="Nunito"/>
                <a:cs typeface="Nunito"/>
                <a:sym typeface="Nunito"/>
              </a:rPr>
              <a:t>OpenAI</a:t>
            </a:r>
            <a:r>
              <a:rPr lang="en-US" sz="2000" dirty="0" smtClean="0">
                <a:latin typeface="Nunito"/>
                <a:ea typeface="Nunito"/>
                <a:cs typeface="Nunito"/>
                <a:sym typeface="Nunito"/>
              </a:rPr>
              <a:t> came up with the idea that generative pre-training on a large corpus of </a:t>
            </a:r>
            <a:r>
              <a:rPr lang="en-US" sz="2000" dirty="0" err="1" smtClean="0">
                <a:latin typeface="Nunito"/>
                <a:ea typeface="Nunito"/>
                <a:cs typeface="Nunito"/>
                <a:sym typeface="Nunito"/>
              </a:rPr>
              <a:t>unlabelled</a:t>
            </a:r>
            <a:r>
              <a:rPr lang="en-US" sz="2000" dirty="0" smtClean="0">
                <a:latin typeface="Nunito"/>
                <a:ea typeface="Nunito"/>
                <a:cs typeface="Nunito"/>
                <a:sym typeface="Nunito"/>
              </a:rPr>
              <a:t> data followed by discriminative fine tuning had significant advantages</a:t>
            </a:r>
          </a:p>
          <a:p>
            <a:pPr marL="457200" indent="-311150">
              <a:buSzPts val="1300"/>
              <a:buFont typeface="Nunito"/>
              <a:buChar char="●"/>
            </a:pPr>
            <a:r>
              <a:rPr lang="en-US" sz="2000" dirty="0">
                <a:latin typeface="Nunito"/>
                <a:ea typeface="Nunito"/>
                <a:cs typeface="Nunito"/>
                <a:sym typeface="Nunito"/>
              </a:rPr>
              <a:t> </a:t>
            </a:r>
            <a:endParaRPr lang="en-US" sz="2000" dirty="0" smtClean="0">
              <a:latin typeface="Nunito"/>
              <a:ea typeface="Nunito"/>
              <a:cs typeface="Nunito"/>
              <a:sym typeface="Nunito"/>
            </a:endParaRPr>
          </a:p>
          <a:p>
            <a:pPr marL="457200" indent="-311150">
              <a:buSzPts val="1300"/>
              <a:buFont typeface="Nunito"/>
              <a:buChar char="●"/>
            </a:pPr>
            <a:r>
              <a:rPr lang="en-US" sz="2000" dirty="0" smtClean="0">
                <a:latin typeface="Nunito"/>
                <a:ea typeface="Nunito"/>
                <a:cs typeface="Nunito"/>
                <a:sym typeface="Nunito"/>
              </a:rPr>
              <a:t>Parameters typically refer to the weights in neural network</a:t>
            </a:r>
          </a:p>
          <a:p>
            <a:pPr>
              <a:spcBef>
                <a:spcPts val="1200"/>
              </a:spcBef>
              <a:spcAft>
                <a:spcPts val="1200"/>
              </a:spcAft>
            </a:pPr>
            <a:endParaRPr lang="en-US" sz="2000" dirty="0">
              <a:latin typeface="Nunito"/>
              <a:ea typeface="Nunito"/>
              <a:cs typeface="Nunito"/>
              <a:sym typeface="Nunito"/>
            </a:endParaRPr>
          </a:p>
        </p:txBody>
      </p:sp>
      <p:pic>
        <p:nvPicPr>
          <p:cNvPr id="4" name="Google Shape;362;p49"/>
          <p:cNvPicPr preferRelativeResize="0"/>
          <p:nvPr/>
        </p:nvPicPr>
        <p:blipFill>
          <a:blip r:embed="rId2">
            <a:alphaModFix/>
          </a:blip>
          <a:stretch>
            <a:fillRect/>
          </a:stretch>
        </p:blipFill>
        <p:spPr>
          <a:xfrm>
            <a:off x="5300348" y="4617778"/>
            <a:ext cx="6891651" cy="2240222"/>
          </a:xfrm>
          <a:prstGeom prst="rect">
            <a:avLst/>
          </a:prstGeom>
          <a:noFill/>
          <a:ln>
            <a:noFill/>
          </a:ln>
        </p:spPr>
      </p:pic>
      <p:pic>
        <p:nvPicPr>
          <p:cNvPr id="5" name="Google Shape;363;p49"/>
          <p:cNvPicPr preferRelativeResize="0"/>
          <p:nvPr/>
        </p:nvPicPr>
        <p:blipFill>
          <a:blip r:embed="rId3">
            <a:alphaModFix/>
          </a:blip>
          <a:stretch>
            <a:fillRect/>
          </a:stretch>
        </p:blipFill>
        <p:spPr>
          <a:xfrm>
            <a:off x="1431236" y="3127513"/>
            <a:ext cx="3869114" cy="1653484"/>
          </a:xfrm>
          <a:prstGeom prst="rect">
            <a:avLst/>
          </a:prstGeom>
          <a:noFill/>
          <a:ln>
            <a:noFill/>
          </a:ln>
        </p:spPr>
      </p:pic>
      <p:sp>
        <p:nvSpPr>
          <p:cNvPr id="6" name="Google Shape;364;p49"/>
          <p:cNvSpPr txBox="1"/>
          <p:nvPr/>
        </p:nvSpPr>
        <p:spPr>
          <a:xfrm>
            <a:off x="5584149" y="3338256"/>
            <a:ext cx="48771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dirty="0">
                <a:solidFill>
                  <a:schemeClr val="dk2"/>
                </a:solidFill>
                <a:latin typeface="Nunito"/>
                <a:ea typeface="Nunito"/>
                <a:cs typeface="Nunito"/>
                <a:sym typeface="Nunito"/>
              </a:rPr>
              <a:t>4 Versions of GPT-2</a:t>
            </a:r>
            <a:endParaRPr sz="1800" dirty="0">
              <a:solidFill>
                <a:schemeClr val="dk2"/>
              </a:solidFill>
              <a:latin typeface="Nunito"/>
              <a:ea typeface="Nunito"/>
              <a:cs typeface="Nunito"/>
              <a:sym typeface="Nunito"/>
            </a:endParaRPr>
          </a:p>
        </p:txBody>
      </p:sp>
      <p:sp>
        <p:nvSpPr>
          <p:cNvPr id="7" name="Google Shape;365;p49"/>
          <p:cNvSpPr txBox="1"/>
          <p:nvPr/>
        </p:nvSpPr>
        <p:spPr>
          <a:xfrm>
            <a:off x="2522006" y="5254715"/>
            <a:ext cx="22842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dirty="0">
                <a:solidFill>
                  <a:schemeClr val="dk2"/>
                </a:solidFill>
                <a:latin typeface="Nunito"/>
                <a:ea typeface="Nunito"/>
                <a:cs typeface="Nunito"/>
                <a:sym typeface="Nunito"/>
              </a:rPr>
              <a:t>8 Versions of GPT-3</a:t>
            </a:r>
            <a:endParaRPr sz="1800" dirty="0">
              <a:solidFill>
                <a:schemeClr val="dk2"/>
              </a:solidFill>
              <a:latin typeface="Nunito"/>
              <a:ea typeface="Nunito"/>
              <a:cs typeface="Nunito"/>
              <a:sym typeface="Nunito"/>
            </a:endParaRPr>
          </a:p>
        </p:txBody>
      </p:sp>
    </p:spTree>
    <p:extLst>
      <p:ext uri="{BB962C8B-B14F-4D97-AF65-F5344CB8AC3E}">
        <p14:creationId xmlns:p14="http://schemas.microsoft.com/office/powerpoint/2010/main" val="110624643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384965" y="1757129"/>
            <a:ext cx="11422069" cy="3343742"/>
          </a:xfrm>
          <a:prstGeom prst="rect">
            <a:avLst/>
          </a:prstGeom>
        </p:spPr>
      </p:pic>
    </p:spTree>
    <p:extLst>
      <p:ext uri="{BB962C8B-B14F-4D97-AF65-F5344CB8AC3E}">
        <p14:creationId xmlns:p14="http://schemas.microsoft.com/office/powerpoint/2010/main" val="282564851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75463" y="1434905"/>
            <a:ext cx="10126954" cy="2841495"/>
          </a:xfrm>
          <a:prstGeom prst="rect">
            <a:avLst/>
          </a:prstGeom>
        </p:spPr>
      </p:pic>
    </p:spTree>
    <p:extLst>
      <p:ext uri="{BB962C8B-B14F-4D97-AF65-F5344CB8AC3E}">
        <p14:creationId xmlns:p14="http://schemas.microsoft.com/office/powerpoint/2010/main" val="101445933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92;p52"/>
          <p:cNvSpPr txBox="1">
            <a:spLocks/>
          </p:cNvSpPr>
          <p:nvPr/>
        </p:nvSpPr>
        <p:spPr>
          <a:xfrm>
            <a:off x="196948" y="660363"/>
            <a:ext cx="3553418" cy="47508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342900" algn="just">
              <a:buClr>
                <a:schemeClr val="accent5"/>
              </a:buClr>
              <a:buSzPts val="1800"/>
              <a:buFont typeface="Arial"/>
              <a:buChar char="●"/>
            </a:pPr>
            <a:r>
              <a:rPr lang="en-US" sz="2000" dirty="0" smtClean="0">
                <a:solidFill>
                  <a:schemeClr val="accent5"/>
                </a:solidFill>
              </a:rPr>
              <a:t>Although the dataset is </a:t>
            </a:r>
            <a:r>
              <a:rPr lang="en-US" sz="2000" dirty="0" err="1" smtClean="0">
                <a:solidFill>
                  <a:schemeClr val="accent5"/>
                </a:solidFill>
              </a:rPr>
              <a:t>unlabelled</a:t>
            </a:r>
            <a:r>
              <a:rPr lang="en-US" sz="2000" dirty="0" smtClean="0">
                <a:solidFill>
                  <a:schemeClr val="accent5"/>
                </a:solidFill>
              </a:rPr>
              <a:t>, the correct output serves as a label enabling self-supervised learning.</a:t>
            </a:r>
          </a:p>
          <a:p>
            <a:pPr marL="457200" indent="-342900" algn="just">
              <a:buClr>
                <a:schemeClr val="accent5"/>
              </a:buClr>
              <a:buSzPts val="1800"/>
              <a:buFont typeface="Arial"/>
              <a:buChar char="●"/>
            </a:pPr>
            <a:r>
              <a:rPr lang="en-US" sz="2000" dirty="0" err="1" smtClean="0">
                <a:solidFill>
                  <a:schemeClr val="accent5"/>
                </a:solidFill>
              </a:rPr>
              <a:t>Everytime</a:t>
            </a:r>
            <a:r>
              <a:rPr lang="en-US" sz="2000" dirty="0" smtClean="0">
                <a:solidFill>
                  <a:schemeClr val="accent5"/>
                </a:solidFill>
              </a:rPr>
              <a:t> an incorrect label (here, word) is predicted, error is calculated and weights are updated accordingly ensuring better prediction in the next attempt.</a:t>
            </a:r>
          </a:p>
          <a:p>
            <a:pPr marL="457200" indent="-342900" algn="just">
              <a:buClr>
                <a:schemeClr val="accent5"/>
              </a:buClr>
              <a:buSzPts val="1800"/>
              <a:buFont typeface="Arial"/>
              <a:buChar char="●"/>
            </a:pPr>
            <a:r>
              <a:rPr lang="en-US" sz="2000" dirty="0" smtClean="0">
                <a:solidFill>
                  <a:schemeClr val="accent5"/>
                </a:solidFill>
              </a:rPr>
              <a:t>Original transformer used 6 encoder-decoder blocks</a:t>
            </a:r>
          </a:p>
          <a:p>
            <a:pPr marL="457200" indent="-342900" algn="just">
              <a:buClr>
                <a:schemeClr val="accent5"/>
              </a:buClr>
              <a:buSzPts val="1800"/>
              <a:buFont typeface="Arial"/>
              <a:buChar char="●"/>
            </a:pPr>
            <a:r>
              <a:rPr lang="en-US" sz="2000" dirty="0" smtClean="0">
                <a:solidFill>
                  <a:schemeClr val="accent5"/>
                </a:solidFill>
              </a:rPr>
              <a:t>GPT-3 uses 96 transformer layers (decoder only) constituting 175B </a:t>
            </a:r>
            <a:r>
              <a:rPr lang="en-US" sz="2000" dirty="0" err="1" smtClean="0">
                <a:solidFill>
                  <a:schemeClr val="accent5"/>
                </a:solidFill>
              </a:rPr>
              <a:t>params</a:t>
            </a:r>
            <a:endParaRPr lang="en-US" sz="2000" dirty="0">
              <a:solidFill>
                <a:schemeClr val="accent5"/>
              </a:solidFill>
            </a:endParaRPr>
          </a:p>
        </p:txBody>
      </p:sp>
      <p:pic>
        <p:nvPicPr>
          <p:cNvPr id="3" name="Google Shape;393;p52"/>
          <p:cNvPicPr preferRelativeResize="0"/>
          <p:nvPr/>
        </p:nvPicPr>
        <p:blipFill>
          <a:blip r:embed="rId2">
            <a:alphaModFix/>
          </a:blip>
          <a:stretch>
            <a:fillRect/>
          </a:stretch>
        </p:blipFill>
        <p:spPr>
          <a:xfrm>
            <a:off x="3750366" y="1722783"/>
            <a:ext cx="8319713" cy="3688380"/>
          </a:xfrm>
          <a:prstGeom prst="rect">
            <a:avLst/>
          </a:prstGeom>
          <a:noFill/>
          <a:ln>
            <a:noFill/>
          </a:ln>
        </p:spPr>
      </p:pic>
    </p:spTree>
    <p:extLst>
      <p:ext uri="{BB962C8B-B14F-4D97-AF65-F5344CB8AC3E}">
        <p14:creationId xmlns:p14="http://schemas.microsoft.com/office/powerpoint/2010/main" val="288867182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55;p33"/>
          <p:cNvSpPr txBox="1">
            <a:spLocks/>
          </p:cNvSpPr>
          <p:nvPr/>
        </p:nvSpPr>
        <p:spPr>
          <a:xfrm>
            <a:off x="617918" y="295612"/>
            <a:ext cx="8745900" cy="4719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311150">
              <a:buSzPts val="1300"/>
              <a:buFont typeface="Nunito"/>
              <a:buChar char="●"/>
            </a:pPr>
            <a:r>
              <a:rPr lang="en-US" sz="2000" dirty="0" smtClean="0">
                <a:latin typeface="Nunito"/>
                <a:ea typeface="Nunito"/>
                <a:cs typeface="Nunito"/>
                <a:sym typeface="Nunito"/>
              </a:rPr>
              <a:t>GPT (Generative </a:t>
            </a:r>
            <a:r>
              <a:rPr lang="en-US" sz="2000" dirty="0" err="1" smtClean="0">
                <a:latin typeface="Nunito"/>
                <a:ea typeface="Nunito"/>
                <a:cs typeface="Nunito"/>
                <a:sym typeface="Nunito"/>
              </a:rPr>
              <a:t>Pretrained</a:t>
            </a:r>
            <a:r>
              <a:rPr lang="en-US" sz="2000" dirty="0" smtClean="0">
                <a:latin typeface="Nunito"/>
                <a:ea typeface="Nunito"/>
                <a:cs typeface="Nunito"/>
                <a:sym typeface="Nunito"/>
              </a:rPr>
              <a:t> Transformers) is designed for generative tasks - decoder only architecture</a:t>
            </a:r>
          </a:p>
          <a:p>
            <a:pPr marL="457200" indent="-311150">
              <a:buSzPts val="1300"/>
              <a:buFont typeface="Nunito"/>
              <a:buChar char="●"/>
            </a:pPr>
            <a:r>
              <a:rPr lang="en-US" sz="2000" dirty="0" smtClean="0">
                <a:latin typeface="Nunito"/>
                <a:ea typeface="Nunito"/>
                <a:cs typeface="Nunito"/>
                <a:sym typeface="Nunito"/>
              </a:rPr>
              <a:t>BERT (Bidirectional Encoder Representations from Transformers)  and its variants specialize in masked word prediction</a:t>
            </a:r>
          </a:p>
          <a:p>
            <a:pPr>
              <a:spcBef>
                <a:spcPts val="1200"/>
              </a:spcBef>
              <a:spcAft>
                <a:spcPts val="1200"/>
              </a:spcAft>
            </a:pPr>
            <a:endParaRPr lang="en-US" sz="2000" dirty="0">
              <a:latin typeface="Nunito"/>
              <a:ea typeface="Nunito"/>
              <a:cs typeface="Nunito"/>
              <a:sym typeface="Nunito"/>
            </a:endParaRPr>
          </a:p>
        </p:txBody>
      </p:sp>
      <p:pic>
        <p:nvPicPr>
          <p:cNvPr id="3" name="Google Shape;256;p33"/>
          <p:cNvPicPr preferRelativeResize="0"/>
          <p:nvPr/>
        </p:nvPicPr>
        <p:blipFill>
          <a:blip r:embed="rId2">
            <a:alphaModFix/>
          </a:blip>
          <a:stretch>
            <a:fillRect/>
          </a:stretch>
        </p:blipFill>
        <p:spPr>
          <a:xfrm>
            <a:off x="1463041" y="2489981"/>
            <a:ext cx="6493742" cy="2933194"/>
          </a:xfrm>
          <a:prstGeom prst="rect">
            <a:avLst/>
          </a:prstGeom>
          <a:noFill/>
          <a:ln>
            <a:noFill/>
          </a:ln>
        </p:spPr>
      </p:pic>
      <p:sp>
        <p:nvSpPr>
          <p:cNvPr id="4" name="Google Shape;257;p33"/>
          <p:cNvSpPr txBox="1"/>
          <p:nvPr/>
        </p:nvSpPr>
        <p:spPr>
          <a:xfrm>
            <a:off x="9011714" y="716574"/>
            <a:ext cx="2698800" cy="5914538"/>
          </a:xfrm>
          <a:prstGeom prst="rect">
            <a:avLst/>
          </a:prstGeom>
          <a:noFill/>
          <a:ln>
            <a:noFill/>
          </a:ln>
        </p:spPr>
        <p:txBody>
          <a:bodyPr spcFirstLastPara="1" wrap="square" lIns="91425" tIns="91425" rIns="91425" bIns="91425" anchor="t" anchorCtr="0">
            <a:spAutoFit/>
          </a:bodyPr>
          <a:lstStyle/>
          <a:p>
            <a:pPr marL="457200" lvl="0" indent="-311150" algn="l" rtl="0">
              <a:spcBef>
                <a:spcPts val="0"/>
              </a:spcBef>
              <a:spcAft>
                <a:spcPts val="0"/>
              </a:spcAft>
              <a:buSzPts val="1300"/>
              <a:buFont typeface="Calibri"/>
              <a:buChar char="●"/>
            </a:pPr>
            <a:r>
              <a:rPr lang="en" sz="1600" b="1" dirty="0">
                <a:solidFill>
                  <a:schemeClr val="accent1"/>
                </a:solidFill>
                <a:highlight>
                  <a:schemeClr val="dk1"/>
                </a:highlight>
                <a:latin typeface="Nunito"/>
                <a:ea typeface="Nunito"/>
                <a:cs typeface="Nunito"/>
                <a:sym typeface="Nunito"/>
              </a:rPr>
              <a:t>[CLS] </a:t>
            </a:r>
            <a:r>
              <a:rPr lang="en" sz="1600" dirty="0">
                <a:highlight>
                  <a:schemeClr val="dk1"/>
                </a:highlight>
                <a:latin typeface="Nunito"/>
                <a:ea typeface="Nunito"/>
                <a:cs typeface="Nunito"/>
                <a:sym typeface="Nunito"/>
              </a:rPr>
              <a:t>token marks the beginning of input sequence</a:t>
            </a:r>
            <a:endParaRPr sz="1600" dirty="0">
              <a:highlight>
                <a:schemeClr val="dk1"/>
              </a:highlight>
              <a:latin typeface="Nunito"/>
              <a:ea typeface="Nunito"/>
              <a:cs typeface="Nunito"/>
              <a:sym typeface="Nunito"/>
            </a:endParaRPr>
          </a:p>
          <a:p>
            <a:pPr marL="457200" lvl="0" indent="-311150" algn="l" rtl="0">
              <a:spcBef>
                <a:spcPts val="0"/>
              </a:spcBef>
              <a:spcAft>
                <a:spcPts val="0"/>
              </a:spcAft>
              <a:buSzPts val="1300"/>
              <a:buFont typeface="Calibri"/>
              <a:buChar char="●"/>
            </a:pPr>
            <a:r>
              <a:rPr lang="en" sz="1600" b="1" dirty="0">
                <a:solidFill>
                  <a:schemeClr val="accent1"/>
                </a:solidFill>
                <a:highlight>
                  <a:schemeClr val="dk1"/>
                </a:highlight>
                <a:latin typeface="Nunito"/>
                <a:ea typeface="Nunito"/>
                <a:cs typeface="Nunito"/>
                <a:sym typeface="Nunito"/>
              </a:rPr>
              <a:t>[SEP]</a:t>
            </a:r>
            <a:r>
              <a:rPr lang="en" sz="1600" dirty="0">
                <a:highlight>
                  <a:schemeClr val="dk1"/>
                </a:highlight>
                <a:latin typeface="Nunito"/>
                <a:ea typeface="Nunito"/>
                <a:cs typeface="Nunito"/>
                <a:sym typeface="Nunito"/>
              </a:rPr>
              <a:t> token separates different sentences or parts of sentences within a single input sequence</a:t>
            </a:r>
            <a:endParaRPr sz="1600" dirty="0">
              <a:highlight>
                <a:schemeClr val="dk1"/>
              </a:highlight>
              <a:latin typeface="Nunito"/>
              <a:ea typeface="Nunito"/>
              <a:cs typeface="Nunito"/>
              <a:sym typeface="Nunito"/>
            </a:endParaRPr>
          </a:p>
          <a:p>
            <a:pPr marL="0" lvl="0" indent="0" algn="l" rtl="0">
              <a:lnSpc>
                <a:spcPct val="144444"/>
              </a:lnSpc>
              <a:spcBef>
                <a:spcPts val="1500"/>
              </a:spcBef>
              <a:spcAft>
                <a:spcPts val="0"/>
              </a:spcAft>
              <a:buNone/>
            </a:pPr>
            <a:r>
              <a:rPr lang="en" sz="1600" dirty="0">
                <a:solidFill>
                  <a:srgbClr val="001D35"/>
                </a:solidFill>
                <a:highlight>
                  <a:srgbClr val="FFFFFF"/>
                </a:highlight>
              </a:rPr>
              <a:t>Example:</a:t>
            </a:r>
            <a:endParaRPr sz="1600" dirty="0">
              <a:solidFill>
                <a:srgbClr val="001D35"/>
              </a:solidFill>
              <a:highlight>
                <a:srgbClr val="FFFFFF"/>
              </a:highlight>
            </a:endParaRPr>
          </a:p>
          <a:p>
            <a:pPr marL="457200" lvl="0" indent="-304800" algn="l" rtl="0">
              <a:lnSpc>
                <a:spcPct val="137500"/>
              </a:lnSpc>
              <a:spcBef>
                <a:spcPts val="800"/>
              </a:spcBef>
              <a:spcAft>
                <a:spcPts val="0"/>
              </a:spcAft>
              <a:buClr>
                <a:srgbClr val="001D35"/>
              </a:buClr>
              <a:buSzPts val="1200"/>
              <a:buChar char="●"/>
            </a:pPr>
            <a:r>
              <a:rPr lang="en" sz="1600" b="1" dirty="0">
                <a:solidFill>
                  <a:srgbClr val="001D35"/>
                </a:solidFill>
                <a:highlight>
                  <a:srgbClr val="FFFFFF"/>
                </a:highlight>
              </a:rPr>
              <a:t>Single sentence: </a:t>
            </a:r>
            <a:r>
              <a:rPr lang="en" sz="1600" dirty="0">
                <a:solidFill>
                  <a:srgbClr val="001D35"/>
                </a:solidFill>
                <a:highlight>
                  <a:srgbClr val="E5EDFF"/>
                </a:highlight>
                <a:latin typeface="Roboto Mono"/>
                <a:ea typeface="Roboto Mono"/>
                <a:cs typeface="Roboto Mono"/>
                <a:sym typeface="Roboto Mono"/>
              </a:rPr>
              <a:t>[CLS] This is a sentence.</a:t>
            </a:r>
            <a:r>
              <a:rPr lang="en" sz="1600" dirty="0">
                <a:solidFill>
                  <a:srgbClr val="001D35"/>
                </a:solidFill>
                <a:highlight>
                  <a:srgbClr val="FFFFFF"/>
                </a:highlight>
              </a:rPr>
              <a:t> </a:t>
            </a:r>
            <a:r>
              <a:rPr lang="en" sz="1600" dirty="0">
                <a:solidFill>
                  <a:srgbClr val="001D35"/>
                </a:solidFill>
                <a:highlight>
                  <a:srgbClr val="E5EDFF"/>
                </a:highlight>
                <a:latin typeface="Roboto Mono"/>
                <a:ea typeface="Roboto Mono"/>
                <a:cs typeface="Roboto Mono"/>
                <a:sym typeface="Roboto Mono"/>
              </a:rPr>
              <a:t>[SEP]</a:t>
            </a:r>
            <a:endParaRPr sz="1600" dirty="0">
              <a:solidFill>
                <a:srgbClr val="001D35"/>
              </a:solidFill>
              <a:highlight>
                <a:srgbClr val="E5EDFF"/>
              </a:highlight>
              <a:latin typeface="Roboto Mono"/>
              <a:ea typeface="Roboto Mono"/>
              <a:cs typeface="Roboto Mono"/>
              <a:sym typeface="Roboto Mono"/>
            </a:endParaRPr>
          </a:p>
          <a:p>
            <a:pPr marL="457200" lvl="0" indent="-304800" algn="l" rtl="0">
              <a:lnSpc>
                <a:spcPct val="137500"/>
              </a:lnSpc>
              <a:spcBef>
                <a:spcPts val="0"/>
              </a:spcBef>
              <a:spcAft>
                <a:spcPts val="0"/>
              </a:spcAft>
              <a:buClr>
                <a:srgbClr val="001D35"/>
              </a:buClr>
              <a:buSzPts val="1200"/>
              <a:buChar char="●"/>
            </a:pPr>
            <a:r>
              <a:rPr lang="en" sz="1600" b="1" dirty="0">
                <a:solidFill>
                  <a:srgbClr val="001D35"/>
                </a:solidFill>
                <a:highlight>
                  <a:srgbClr val="FFFFFF"/>
                </a:highlight>
              </a:rPr>
              <a:t>Sentence pair:</a:t>
            </a:r>
            <a:r>
              <a:rPr lang="en" sz="1600" dirty="0">
                <a:solidFill>
                  <a:srgbClr val="001D35"/>
                </a:solidFill>
                <a:highlight>
                  <a:srgbClr val="FFFFFF"/>
                </a:highlight>
              </a:rPr>
              <a:t> </a:t>
            </a:r>
            <a:r>
              <a:rPr lang="en" sz="1600" dirty="0">
                <a:solidFill>
                  <a:srgbClr val="001D35"/>
                </a:solidFill>
                <a:highlight>
                  <a:srgbClr val="E5EDFF"/>
                </a:highlight>
                <a:latin typeface="Roboto Mono"/>
                <a:ea typeface="Roboto Mono"/>
                <a:cs typeface="Roboto Mono"/>
                <a:sym typeface="Roboto Mono"/>
              </a:rPr>
              <a:t>[CLS] This is the first sentence.</a:t>
            </a:r>
            <a:r>
              <a:rPr lang="en" sz="1600" dirty="0">
                <a:solidFill>
                  <a:srgbClr val="001D35"/>
                </a:solidFill>
                <a:highlight>
                  <a:srgbClr val="FFFFFF"/>
                </a:highlight>
              </a:rPr>
              <a:t> </a:t>
            </a:r>
            <a:r>
              <a:rPr lang="en" sz="1600" dirty="0">
                <a:solidFill>
                  <a:srgbClr val="001D35"/>
                </a:solidFill>
                <a:highlight>
                  <a:srgbClr val="E5EDFF"/>
                </a:highlight>
                <a:latin typeface="Roboto Mono"/>
                <a:ea typeface="Roboto Mono"/>
                <a:cs typeface="Roboto Mono"/>
                <a:sym typeface="Roboto Mono"/>
              </a:rPr>
              <a:t>[SEP] This is the second sentence.</a:t>
            </a:r>
            <a:r>
              <a:rPr lang="en" sz="1600" dirty="0">
                <a:solidFill>
                  <a:srgbClr val="001D35"/>
                </a:solidFill>
                <a:highlight>
                  <a:srgbClr val="FFFFFF"/>
                </a:highlight>
              </a:rPr>
              <a:t> </a:t>
            </a:r>
            <a:r>
              <a:rPr lang="en" sz="1600" dirty="0">
                <a:solidFill>
                  <a:srgbClr val="001D35"/>
                </a:solidFill>
                <a:highlight>
                  <a:srgbClr val="E5EDFF"/>
                </a:highlight>
                <a:latin typeface="Roboto Mono"/>
                <a:ea typeface="Roboto Mono"/>
                <a:cs typeface="Roboto Mono"/>
                <a:sym typeface="Roboto Mono"/>
              </a:rPr>
              <a:t>[SEP]</a:t>
            </a:r>
            <a:r>
              <a:rPr lang="en" sz="1600" dirty="0">
                <a:solidFill>
                  <a:srgbClr val="001D35"/>
                </a:solidFill>
                <a:highlight>
                  <a:srgbClr val="FFFFFF"/>
                </a:highlight>
              </a:rPr>
              <a:t> </a:t>
            </a:r>
            <a:endParaRPr sz="1600" dirty="0">
              <a:solidFill>
                <a:srgbClr val="001D35"/>
              </a:solidFill>
              <a:highlight>
                <a:srgbClr val="FFFFFF"/>
              </a:highlight>
            </a:endParaRPr>
          </a:p>
          <a:p>
            <a:pPr marL="0" lvl="0" indent="0" algn="l" rtl="0">
              <a:spcBef>
                <a:spcPts val="1500"/>
              </a:spcBef>
              <a:spcAft>
                <a:spcPts val="0"/>
              </a:spcAft>
              <a:buNone/>
            </a:pPr>
            <a:endParaRPr sz="1300" dirty="0">
              <a:solidFill>
                <a:schemeClr val="dk2"/>
              </a:solidFill>
              <a:latin typeface="Calibri"/>
              <a:ea typeface="Calibri"/>
              <a:cs typeface="Calibri"/>
              <a:sym typeface="Calibri"/>
            </a:endParaRPr>
          </a:p>
        </p:txBody>
      </p:sp>
    </p:spTree>
    <p:extLst>
      <p:ext uri="{BB962C8B-B14F-4D97-AF65-F5344CB8AC3E}">
        <p14:creationId xmlns:p14="http://schemas.microsoft.com/office/powerpoint/2010/main" val="230092889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62;p34"/>
          <p:cNvPicPr preferRelativeResize="0"/>
          <p:nvPr/>
        </p:nvPicPr>
        <p:blipFill>
          <a:blip r:embed="rId2">
            <a:alphaModFix/>
          </a:blip>
          <a:stretch>
            <a:fillRect/>
          </a:stretch>
        </p:blipFill>
        <p:spPr>
          <a:xfrm>
            <a:off x="1280160" y="492369"/>
            <a:ext cx="9242474" cy="4248443"/>
          </a:xfrm>
          <a:prstGeom prst="rect">
            <a:avLst/>
          </a:prstGeom>
          <a:noFill/>
          <a:ln>
            <a:noFill/>
          </a:ln>
        </p:spPr>
      </p:pic>
      <p:sp>
        <p:nvSpPr>
          <p:cNvPr id="3" name="Google Shape;263;p34"/>
          <p:cNvSpPr txBox="1"/>
          <p:nvPr/>
        </p:nvSpPr>
        <p:spPr>
          <a:xfrm>
            <a:off x="766267" y="5188374"/>
            <a:ext cx="10895849" cy="1415742"/>
          </a:xfrm>
          <a:prstGeom prst="rect">
            <a:avLst/>
          </a:prstGeom>
          <a:noFill/>
          <a:ln>
            <a:noFill/>
          </a:ln>
        </p:spPr>
        <p:txBody>
          <a:bodyPr spcFirstLastPara="1" wrap="square" lIns="91425" tIns="91425" rIns="91425" bIns="91425" anchor="t" anchorCtr="0">
            <a:spAutoFit/>
          </a:bodyPr>
          <a:lstStyle/>
          <a:p>
            <a:pPr marL="457200" lvl="0" indent="-311150" algn="l" rtl="0">
              <a:spcBef>
                <a:spcPts val="0"/>
              </a:spcBef>
              <a:spcAft>
                <a:spcPts val="0"/>
              </a:spcAft>
              <a:buClr>
                <a:schemeClr val="dk2"/>
              </a:buClr>
              <a:buSzPts val="1300"/>
              <a:buChar char="●"/>
            </a:pPr>
            <a:r>
              <a:rPr lang="en" sz="2000" dirty="0">
                <a:solidFill>
                  <a:schemeClr val="dk2"/>
                </a:solidFill>
              </a:rPr>
              <a:t>BERT is bidirectional because it tries to find the missing word from both sides. This enables it to capture relationship between words important for understanding the context. (It effectively differentiates between homonyms by looking at nearby words)</a:t>
            </a:r>
            <a:endParaRPr sz="2000" dirty="0">
              <a:solidFill>
                <a:schemeClr val="dk2"/>
              </a:solidFill>
            </a:endParaRPr>
          </a:p>
          <a:p>
            <a:pPr marL="457200" lvl="0" indent="-311150" algn="l" rtl="0">
              <a:spcBef>
                <a:spcPts val="0"/>
              </a:spcBef>
              <a:spcAft>
                <a:spcPts val="0"/>
              </a:spcAft>
              <a:buClr>
                <a:schemeClr val="dk2"/>
              </a:buClr>
              <a:buSzPts val="1300"/>
              <a:buChar char="●"/>
            </a:pPr>
            <a:r>
              <a:rPr lang="en" sz="2000" dirty="0">
                <a:solidFill>
                  <a:schemeClr val="dk2"/>
                </a:solidFill>
              </a:rPr>
              <a:t>GPT on the other hand, only predicts the last word i.e, only the word at the end</a:t>
            </a:r>
            <a:endParaRPr sz="2000" dirty="0">
              <a:solidFill>
                <a:schemeClr val="dk2"/>
              </a:solidFill>
            </a:endParaRPr>
          </a:p>
        </p:txBody>
      </p:sp>
    </p:spTree>
    <p:extLst>
      <p:ext uri="{BB962C8B-B14F-4D97-AF65-F5344CB8AC3E}">
        <p14:creationId xmlns:p14="http://schemas.microsoft.com/office/powerpoint/2010/main" val="80707299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405;p54"/>
          <p:cNvPicPr preferRelativeResize="0"/>
          <p:nvPr/>
        </p:nvPicPr>
        <p:blipFill>
          <a:blip r:embed="rId2">
            <a:alphaModFix/>
          </a:blip>
          <a:stretch>
            <a:fillRect/>
          </a:stretch>
        </p:blipFill>
        <p:spPr>
          <a:xfrm>
            <a:off x="238725" y="139452"/>
            <a:ext cx="4995884" cy="4101243"/>
          </a:xfrm>
          <a:prstGeom prst="rect">
            <a:avLst/>
          </a:prstGeom>
          <a:noFill/>
          <a:ln>
            <a:noFill/>
          </a:ln>
        </p:spPr>
      </p:pic>
      <p:pic>
        <p:nvPicPr>
          <p:cNvPr id="3" name="Google Shape;507;p70"/>
          <p:cNvPicPr preferRelativeResize="0"/>
          <p:nvPr/>
        </p:nvPicPr>
        <p:blipFill>
          <a:blip r:embed="rId3">
            <a:alphaModFix/>
          </a:blip>
          <a:stretch>
            <a:fillRect/>
          </a:stretch>
        </p:blipFill>
        <p:spPr>
          <a:xfrm>
            <a:off x="5804452" y="2478157"/>
            <a:ext cx="5568769" cy="3937131"/>
          </a:xfrm>
          <a:prstGeom prst="rect">
            <a:avLst/>
          </a:prstGeom>
          <a:noFill/>
          <a:ln>
            <a:noFill/>
          </a:ln>
        </p:spPr>
      </p:pic>
    </p:spTree>
    <p:extLst>
      <p:ext uri="{BB962C8B-B14F-4D97-AF65-F5344CB8AC3E}">
        <p14:creationId xmlns:p14="http://schemas.microsoft.com/office/powerpoint/2010/main" val="374931748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517;p72"/>
          <p:cNvSpPr txBox="1">
            <a:spLocks/>
          </p:cNvSpPr>
          <p:nvPr/>
        </p:nvSpPr>
        <p:spPr>
          <a:xfrm>
            <a:off x="1278269" y="1160053"/>
            <a:ext cx="7929000" cy="7050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3200" dirty="0" smtClean="0"/>
              <a:t>Mistral 7B </a:t>
            </a:r>
            <a:endParaRPr lang="en-IN" sz="3200" dirty="0"/>
          </a:p>
        </p:txBody>
      </p:sp>
      <p:sp>
        <p:nvSpPr>
          <p:cNvPr id="3" name="Google Shape;518;p72"/>
          <p:cNvSpPr txBox="1">
            <a:spLocks/>
          </p:cNvSpPr>
          <p:nvPr/>
        </p:nvSpPr>
        <p:spPr>
          <a:xfrm>
            <a:off x="1278267" y="1865053"/>
            <a:ext cx="5907600" cy="13005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smtClean="0"/>
              <a:t>Outperformed LlaMa-2 7B, LlaMa-2 13B and even Llama-1 34B in some benchmarks (code, reasoning, math </a:t>
            </a:r>
            <a:r>
              <a:rPr lang="en-IN" dirty="0" err="1" smtClean="0"/>
              <a:t>etc</a:t>
            </a:r>
            <a:r>
              <a:rPr lang="en-IN" dirty="0" smtClean="0"/>
              <a:t>)</a:t>
            </a:r>
            <a:endParaRPr lang="en-IN" dirty="0"/>
          </a:p>
        </p:txBody>
      </p:sp>
      <p:sp>
        <p:nvSpPr>
          <p:cNvPr id="4" name="Google Shape;519;p72"/>
          <p:cNvSpPr txBox="1">
            <a:spLocks/>
          </p:cNvSpPr>
          <p:nvPr/>
        </p:nvSpPr>
        <p:spPr>
          <a:xfrm>
            <a:off x="1278269" y="2494703"/>
            <a:ext cx="3742200" cy="36054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311150">
              <a:buSzPts val="1300"/>
              <a:buFont typeface="Nunito"/>
              <a:buChar char="●"/>
            </a:pPr>
            <a:r>
              <a:rPr lang="en-IN" smtClean="0">
                <a:latin typeface="Nunito"/>
                <a:ea typeface="Nunito"/>
                <a:cs typeface="Nunito"/>
                <a:sym typeface="Nunito"/>
              </a:rPr>
              <a:t>Completely Open Source</a:t>
            </a:r>
          </a:p>
          <a:p>
            <a:pPr marL="457200" indent="-311150">
              <a:buSzPts val="1300"/>
              <a:buFont typeface="Nunito"/>
              <a:buChar char="●"/>
            </a:pPr>
            <a:r>
              <a:rPr lang="en-IN" smtClean="0">
                <a:latin typeface="Nunito"/>
                <a:ea typeface="Nunito"/>
                <a:cs typeface="Nunito"/>
                <a:sym typeface="Nunito"/>
              </a:rPr>
              <a:t>A fine tuned version of Mistral 7B - Zephyr has outperformed LlaMa-2 70B</a:t>
            </a:r>
          </a:p>
          <a:p>
            <a:pPr marL="457200" indent="-311150">
              <a:buSzPts val="1300"/>
              <a:buFont typeface="Nunito"/>
              <a:buChar char="●"/>
            </a:pPr>
            <a:r>
              <a:rPr lang="en-IN" smtClean="0">
                <a:latin typeface="Nunito"/>
                <a:ea typeface="Nunito"/>
                <a:cs typeface="Nunito"/>
                <a:sym typeface="Nunito"/>
              </a:rPr>
              <a:t>4 main components</a:t>
            </a:r>
          </a:p>
          <a:p>
            <a:pPr marL="457200">
              <a:spcBef>
                <a:spcPts val="1200"/>
              </a:spcBef>
            </a:pPr>
            <a:r>
              <a:rPr lang="en-IN" smtClean="0">
                <a:latin typeface="Nunito"/>
                <a:ea typeface="Nunito"/>
                <a:cs typeface="Nunito"/>
                <a:sym typeface="Nunito"/>
              </a:rPr>
              <a:t>1) Sliding Window Attention</a:t>
            </a:r>
          </a:p>
          <a:p>
            <a:pPr marL="457200">
              <a:spcBef>
                <a:spcPts val="1200"/>
              </a:spcBef>
            </a:pPr>
            <a:r>
              <a:rPr lang="en-IN" smtClean="0">
                <a:latin typeface="Nunito"/>
                <a:ea typeface="Nunito"/>
                <a:cs typeface="Nunito"/>
                <a:sym typeface="Nunito"/>
              </a:rPr>
              <a:t>2) Grouped Query Attention</a:t>
            </a:r>
          </a:p>
          <a:p>
            <a:pPr marL="457200">
              <a:spcBef>
                <a:spcPts val="1200"/>
              </a:spcBef>
            </a:pPr>
            <a:r>
              <a:rPr lang="en-IN" smtClean="0">
                <a:latin typeface="Nunito"/>
                <a:ea typeface="Nunito"/>
                <a:cs typeface="Nunito"/>
                <a:sym typeface="Nunito"/>
              </a:rPr>
              <a:t>3) Rolling Buffer Cache</a:t>
            </a:r>
          </a:p>
          <a:p>
            <a:pPr marL="457200">
              <a:spcBef>
                <a:spcPts val="1200"/>
              </a:spcBef>
            </a:pPr>
            <a:r>
              <a:rPr lang="en-IN" smtClean="0">
                <a:latin typeface="Nunito"/>
                <a:ea typeface="Nunito"/>
                <a:cs typeface="Nunito"/>
                <a:sym typeface="Nunito"/>
              </a:rPr>
              <a:t>4) Prefill and Chunking</a:t>
            </a:r>
          </a:p>
          <a:p>
            <a:pPr marL="457200">
              <a:spcBef>
                <a:spcPts val="1200"/>
              </a:spcBef>
              <a:spcAft>
                <a:spcPts val="1200"/>
              </a:spcAft>
            </a:pPr>
            <a:endParaRPr lang="en-IN" dirty="0">
              <a:latin typeface="Nunito"/>
              <a:ea typeface="Nunito"/>
              <a:cs typeface="Nunito"/>
              <a:sym typeface="Nunito"/>
            </a:endParaRPr>
          </a:p>
        </p:txBody>
      </p:sp>
      <p:pic>
        <p:nvPicPr>
          <p:cNvPr id="5" name="Google Shape;520;p72"/>
          <p:cNvPicPr preferRelativeResize="0"/>
          <p:nvPr/>
        </p:nvPicPr>
        <p:blipFill>
          <a:blip r:embed="rId2">
            <a:alphaModFix/>
          </a:blip>
          <a:stretch>
            <a:fillRect/>
          </a:stretch>
        </p:blipFill>
        <p:spPr>
          <a:xfrm>
            <a:off x="7185864" y="1175991"/>
            <a:ext cx="3548398" cy="4704725"/>
          </a:xfrm>
          <a:prstGeom prst="rect">
            <a:avLst/>
          </a:prstGeom>
          <a:noFill/>
          <a:ln>
            <a:noFill/>
          </a:ln>
        </p:spPr>
      </p:pic>
    </p:spTree>
    <p:extLst>
      <p:ext uri="{BB962C8B-B14F-4D97-AF65-F5344CB8AC3E}">
        <p14:creationId xmlns:p14="http://schemas.microsoft.com/office/powerpoint/2010/main" val="215408267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98;p53"/>
          <p:cNvSpPr txBox="1">
            <a:spLocks/>
          </p:cNvSpPr>
          <p:nvPr/>
        </p:nvSpPr>
        <p:spPr>
          <a:xfrm>
            <a:off x="2295580" y="86780"/>
            <a:ext cx="7412102" cy="748107"/>
          </a:xfrm>
          <a:prstGeom prst="rect">
            <a:avLst/>
          </a:prstGeom>
        </p:spPr>
        <p:txBody>
          <a:bodyPr spcFirstLastPara="1" wrap="square" lIns="91425" tIns="91425" rIns="91425" bIns="91425" anchor="t" anchorCtr="0">
            <a:normAutofit fontScale="97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500" dirty="0" smtClean="0"/>
              <a:t>BUILDING AN LLM FROM SCRATCH</a:t>
            </a:r>
            <a:r>
              <a:rPr lang="en-US" dirty="0" smtClean="0"/>
              <a:t>!</a:t>
            </a:r>
            <a:endParaRPr lang="en-US" dirty="0"/>
          </a:p>
        </p:txBody>
      </p:sp>
      <p:pic>
        <p:nvPicPr>
          <p:cNvPr id="3" name="Google Shape;399;p53"/>
          <p:cNvPicPr preferRelativeResize="0"/>
          <p:nvPr/>
        </p:nvPicPr>
        <p:blipFill>
          <a:blip r:embed="rId2">
            <a:alphaModFix/>
          </a:blip>
          <a:stretch>
            <a:fillRect/>
          </a:stretch>
        </p:blipFill>
        <p:spPr>
          <a:xfrm>
            <a:off x="172278" y="556591"/>
            <a:ext cx="11658706" cy="5504849"/>
          </a:xfrm>
          <a:prstGeom prst="rect">
            <a:avLst/>
          </a:prstGeom>
          <a:noFill/>
          <a:ln>
            <a:noFill/>
          </a:ln>
        </p:spPr>
      </p:pic>
      <p:sp>
        <p:nvSpPr>
          <p:cNvPr id="4" name="Google Shape;400;p53"/>
          <p:cNvSpPr txBox="1"/>
          <p:nvPr/>
        </p:nvSpPr>
        <p:spPr>
          <a:xfrm>
            <a:off x="1660042" y="6268643"/>
            <a:ext cx="9418775" cy="492412"/>
          </a:xfrm>
          <a:prstGeom prst="rect">
            <a:avLst/>
          </a:prstGeom>
          <a:noFill/>
          <a:ln>
            <a:noFill/>
          </a:ln>
        </p:spPr>
        <p:txBody>
          <a:bodyPr spcFirstLastPara="1" wrap="square" lIns="91425" tIns="91425" rIns="91425" bIns="91425" anchor="t" anchorCtr="0">
            <a:spAutoFit/>
          </a:bodyPr>
          <a:lstStyle/>
          <a:p>
            <a:pPr marL="457200" lvl="0" indent="-311150" algn="l" rtl="0">
              <a:spcBef>
                <a:spcPts val="0"/>
              </a:spcBef>
              <a:spcAft>
                <a:spcPts val="0"/>
              </a:spcAft>
              <a:buClr>
                <a:schemeClr val="accent5"/>
              </a:buClr>
              <a:buSzPts val="1300"/>
              <a:buFont typeface="Nunito"/>
              <a:buChar char="●"/>
            </a:pPr>
            <a:r>
              <a:rPr lang="en" sz="2000" dirty="0">
                <a:solidFill>
                  <a:schemeClr val="accent5"/>
                </a:solidFill>
                <a:latin typeface="Nunito"/>
                <a:ea typeface="Nunito"/>
                <a:cs typeface="Nunito"/>
                <a:sym typeface="Nunito"/>
              </a:rPr>
              <a:t>Fine tuned LLMs can outperform pre-trained LLMs for that specific task</a:t>
            </a:r>
            <a:endParaRPr sz="2000" dirty="0">
              <a:solidFill>
                <a:schemeClr val="accent5"/>
              </a:solidFill>
              <a:latin typeface="Nunito"/>
              <a:ea typeface="Nunito"/>
              <a:cs typeface="Nunito"/>
              <a:sym typeface="Nunito"/>
            </a:endParaRPr>
          </a:p>
        </p:txBody>
      </p:sp>
    </p:spTree>
    <p:extLst>
      <p:ext uri="{BB962C8B-B14F-4D97-AF65-F5344CB8AC3E}">
        <p14:creationId xmlns:p14="http://schemas.microsoft.com/office/powerpoint/2010/main" val="325655389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136138" y="1298713"/>
            <a:ext cx="7124991" cy="4780345"/>
          </a:xfrm>
          <a:prstGeom prst="rect">
            <a:avLst/>
          </a:prstGeom>
        </p:spPr>
      </p:pic>
    </p:spTree>
    <p:extLst>
      <p:ext uri="{BB962C8B-B14F-4D97-AF65-F5344CB8AC3E}">
        <p14:creationId xmlns:p14="http://schemas.microsoft.com/office/powerpoint/2010/main" val="26217357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563563" y="1007167"/>
            <a:ext cx="7835714" cy="4575464"/>
          </a:xfrm>
          <a:prstGeom prst="rect">
            <a:avLst/>
          </a:prstGeom>
        </p:spPr>
      </p:pic>
    </p:spTree>
    <p:extLst>
      <p:ext uri="{BB962C8B-B14F-4D97-AF65-F5344CB8AC3E}">
        <p14:creationId xmlns:p14="http://schemas.microsoft.com/office/powerpoint/2010/main" val="150379683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53" name="Google Shape;153;g1089328af3c_0_110"/>
          <p:cNvSpPr txBox="1"/>
          <p:nvPr/>
        </p:nvSpPr>
        <p:spPr>
          <a:xfrm>
            <a:off x="3354275" y="2623625"/>
            <a:ext cx="6227100" cy="985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5200" b="1"/>
              <a:t>Thank You !!!</a:t>
            </a:r>
            <a:endParaRPr sz="5200" b="1"/>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816</TotalTime>
  <Words>1132</Words>
  <Application>Microsoft Office PowerPoint</Application>
  <PresentationFormat>Widescreen</PresentationFormat>
  <Paragraphs>124</Paragraphs>
  <Slides>66</Slides>
  <Notes>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66</vt:i4>
      </vt:variant>
    </vt:vector>
  </HeadingPairs>
  <TitlesOfParts>
    <vt:vector size="76" baseType="lpstr">
      <vt:lpstr>Arial</vt:lpstr>
      <vt:lpstr>Calibri</vt:lpstr>
      <vt:lpstr>Cambria</vt:lpstr>
      <vt:lpstr>Lato</vt:lpstr>
      <vt:lpstr>Nunito</vt:lpstr>
      <vt:lpstr>Roboto</vt:lpstr>
      <vt:lpstr>Roboto Medium</vt:lpstr>
      <vt:lpstr>Roboto Mono</vt:lpstr>
      <vt:lpstr>Times New Roman</vt:lpstr>
      <vt:lpstr>Office Theme</vt:lpstr>
      <vt:lpstr>PowerPoint Presentation</vt:lpstr>
      <vt:lpstr>PowerPoint Presentation</vt:lpstr>
      <vt:lpstr>An LLM is a neural network designed to understand, generate, and respond to human like text.   </vt:lpstr>
      <vt:lpstr>LLM</vt:lpstr>
      <vt:lpstr>PowerPoint Presentation</vt:lpstr>
      <vt:lpstr>PowerPoint Presentation</vt:lpstr>
      <vt:lpstr>PowerPoint Presentation</vt:lpstr>
      <vt:lpstr>RNNs' problems</vt:lpstr>
      <vt:lpstr>LSTMs problems</vt:lpstr>
      <vt:lpstr>Main problems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Attention Mechanism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Pebbeti Bhanu prakash</dc:creator>
  <cp:lastModifiedBy>Jayaraj P B</cp:lastModifiedBy>
  <cp:revision>43</cp:revision>
  <dcterms:created xsi:type="dcterms:W3CDTF">2021-12-06T09:03:30Z</dcterms:created>
  <dcterms:modified xsi:type="dcterms:W3CDTF">2025-10-30T05:00:34Z</dcterms:modified>
</cp:coreProperties>
</file>