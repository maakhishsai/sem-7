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36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366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</p:sldIdLst>
  <p:sldSz cx="9753600" cy="7315200"/>
  <p:notesSz cx="97536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47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45455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45455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45455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45455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58800" y="6776736"/>
            <a:ext cx="1453515" cy="0"/>
          </a:xfrm>
          <a:custGeom>
            <a:avLst/>
            <a:gdLst/>
            <a:ahLst/>
            <a:cxnLst/>
            <a:rect l="l" t="t" r="r" b="b"/>
            <a:pathLst>
              <a:path w="1453514">
                <a:moveTo>
                  <a:pt x="0" y="0"/>
                </a:moveTo>
                <a:lnTo>
                  <a:pt x="1453038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052319" y="6771640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80" h="10795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123662" y="6776736"/>
            <a:ext cx="955040" cy="0"/>
          </a:xfrm>
          <a:custGeom>
            <a:avLst/>
            <a:gdLst/>
            <a:ahLst/>
            <a:cxnLst/>
            <a:rect l="l" t="t" r="r" b="b"/>
            <a:pathLst>
              <a:path w="955039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19119" y="6771640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80" h="10795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190462" y="6776736"/>
            <a:ext cx="955040" cy="0"/>
          </a:xfrm>
          <a:custGeom>
            <a:avLst/>
            <a:gdLst/>
            <a:ahLst/>
            <a:cxnLst/>
            <a:rect l="l" t="t" r="r" b="b"/>
            <a:pathLst>
              <a:path w="955039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185919" y="6771640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5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257262" y="6776736"/>
            <a:ext cx="955040" cy="0"/>
          </a:xfrm>
          <a:custGeom>
            <a:avLst/>
            <a:gdLst/>
            <a:ahLst/>
            <a:cxnLst/>
            <a:rect l="l" t="t" r="r" b="b"/>
            <a:pathLst>
              <a:path w="955039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5252720" y="6771640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5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324061" y="6776736"/>
            <a:ext cx="955040" cy="0"/>
          </a:xfrm>
          <a:custGeom>
            <a:avLst/>
            <a:gdLst/>
            <a:ahLst/>
            <a:cxnLst/>
            <a:rect l="l" t="t" r="r" b="b"/>
            <a:pathLst>
              <a:path w="955039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6319519" y="6771640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5">
                <a:moveTo>
                  <a:pt x="30479" y="10191"/>
                </a:moveTo>
                <a:lnTo>
                  <a:pt x="0" y="10191"/>
                </a:lnTo>
                <a:lnTo>
                  <a:pt x="189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6390861" y="6776736"/>
            <a:ext cx="955040" cy="0"/>
          </a:xfrm>
          <a:custGeom>
            <a:avLst/>
            <a:gdLst/>
            <a:ahLst/>
            <a:cxnLst/>
            <a:rect l="l" t="t" r="r" b="b"/>
            <a:pathLst>
              <a:path w="955040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7386319" y="6771640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5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7457661" y="6776736"/>
            <a:ext cx="955040" cy="0"/>
          </a:xfrm>
          <a:custGeom>
            <a:avLst/>
            <a:gdLst/>
            <a:ahLst/>
            <a:cxnLst/>
            <a:rect l="l" t="t" r="r" b="b"/>
            <a:pathLst>
              <a:path w="955040">
                <a:moveTo>
                  <a:pt x="0" y="0"/>
                </a:moveTo>
                <a:lnTo>
                  <a:pt x="954977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8453119" y="6771640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5">
                <a:moveTo>
                  <a:pt x="30479" y="10191"/>
                </a:moveTo>
                <a:lnTo>
                  <a:pt x="0" y="10191"/>
                </a:lnTo>
                <a:lnTo>
                  <a:pt x="189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8524461" y="6776736"/>
            <a:ext cx="741680" cy="0"/>
          </a:xfrm>
          <a:custGeom>
            <a:avLst/>
            <a:gdLst/>
            <a:ahLst/>
            <a:cxnLst/>
            <a:rect l="l" t="t" r="r" b="b"/>
            <a:pathLst>
              <a:path w="741679">
                <a:moveTo>
                  <a:pt x="0" y="0"/>
                </a:moveTo>
                <a:lnTo>
                  <a:pt x="741521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87648" y="6771640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5">
                <a:moveTo>
                  <a:pt x="30479" y="10191"/>
                </a:moveTo>
                <a:lnTo>
                  <a:pt x="0" y="10191"/>
                </a:lnTo>
                <a:lnTo>
                  <a:pt x="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558800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4">
                <a:moveTo>
                  <a:pt x="30479" y="10191"/>
                </a:moveTo>
                <a:lnTo>
                  <a:pt x="0" y="10191"/>
                </a:lnTo>
                <a:lnTo>
                  <a:pt x="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629951" y="1219215"/>
            <a:ext cx="1382395" cy="0"/>
          </a:xfrm>
          <a:custGeom>
            <a:avLst/>
            <a:gdLst/>
            <a:ahLst/>
            <a:cxnLst/>
            <a:rect l="l" t="t" r="r" b="b"/>
            <a:pathLst>
              <a:path w="1382395">
                <a:moveTo>
                  <a:pt x="0" y="0"/>
                </a:moveTo>
                <a:lnTo>
                  <a:pt x="138188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2052319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80" h="10794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2123662" y="1219215"/>
            <a:ext cx="955040" cy="0"/>
          </a:xfrm>
          <a:custGeom>
            <a:avLst/>
            <a:gdLst/>
            <a:ahLst/>
            <a:cxnLst/>
            <a:rect l="l" t="t" r="r" b="b"/>
            <a:pathLst>
              <a:path w="955039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3119119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80" h="10794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3190462" y="1219215"/>
            <a:ext cx="955040" cy="0"/>
          </a:xfrm>
          <a:custGeom>
            <a:avLst/>
            <a:gdLst/>
            <a:ahLst/>
            <a:cxnLst/>
            <a:rect l="l" t="t" r="r" b="b"/>
            <a:pathLst>
              <a:path w="955039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4185919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4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4257262" y="1219215"/>
            <a:ext cx="955040" cy="0"/>
          </a:xfrm>
          <a:custGeom>
            <a:avLst/>
            <a:gdLst/>
            <a:ahLst/>
            <a:cxnLst/>
            <a:rect l="l" t="t" r="r" b="b"/>
            <a:pathLst>
              <a:path w="955039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5252720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4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5324061" y="1219215"/>
            <a:ext cx="955040" cy="0"/>
          </a:xfrm>
          <a:custGeom>
            <a:avLst/>
            <a:gdLst/>
            <a:ahLst/>
            <a:cxnLst/>
            <a:rect l="l" t="t" r="r" b="b"/>
            <a:pathLst>
              <a:path w="955039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6319519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4">
                <a:moveTo>
                  <a:pt x="30479" y="10191"/>
                </a:moveTo>
                <a:lnTo>
                  <a:pt x="0" y="10191"/>
                </a:lnTo>
                <a:lnTo>
                  <a:pt x="189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6390861" y="1219215"/>
            <a:ext cx="955040" cy="0"/>
          </a:xfrm>
          <a:custGeom>
            <a:avLst/>
            <a:gdLst/>
            <a:ahLst/>
            <a:cxnLst/>
            <a:rect l="l" t="t" r="r" b="b"/>
            <a:pathLst>
              <a:path w="955040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7386319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4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7457661" y="1219215"/>
            <a:ext cx="955040" cy="0"/>
          </a:xfrm>
          <a:custGeom>
            <a:avLst/>
            <a:gdLst/>
            <a:ahLst/>
            <a:cxnLst/>
            <a:rect l="l" t="t" r="r" b="b"/>
            <a:pathLst>
              <a:path w="955040">
                <a:moveTo>
                  <a:pt x="0" y="0"/>
                </a:moveTo>
                <a:lnTo>
                  <a:pt x="954977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8453119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4">
                <a:moveTo>
                  <a:pt x="30479" y="10191"/>
                </a:moveTo>
                <a:lnTo>
                  <a:pt x="0" y="10191"/>
                </a:lnTo>
                <a:lnTo>
                  <a:pt x="189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8524461" y="1219215"/>
            <a:ext cx="741680" cy="0"/>
          </a:xfrm>
          <a:custGeom>
            <a:avLst/>
            <a:gdLst/>
            <a:ahLst/>
            <a:cxnLst/>
            <a:rect l="l" t="t" r="r" b="b"/>
            <a:pathLst>
              <a:path w="741679">
                <a:moveTo>
                  <a:pt x="0" y="0"/>
                </a:moveTo>
                <a:lnTo>
                  <a:pt x="741521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487648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4">
                <a:moveTo>
                  <a:pt x="30479" y="10191"/>
                </a:moveTo>
                <a:lnTo>
                  <a:pt x="0" y="10191"/>
                </a:lnTo>
                <a:lnTo>
                  <a:pt x="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39" y="477742"/>
            <a:ext cx="7496809" cy="7277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45455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7859" y="2110172"/>
            <a:ext cx="3902710" cy="1705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817" y="3887901"/>
            <a:ext cx="9022080" cy="6350"/>
          </a:xfrm>
          <a:custGeom>
            <a:avLst/>
            <a:gdLst/>
            <a:ahLst/>
            <a:cxnLst/>
            <a:rect l="l" t="t" r="r" b="b"/>
            <a:pathLst>
              <a:path w="9022080" h="6350">
                <a:moveTo>
                  <a:pt x="9021648" y="1270"/>
                </a:moveTo>
                <a:lnTo>
                  <a:pt x="9021153" y="1270"/>
                </a:lnTo>
                <a:lnTo>
                  <a:pt x="9021153" y="0"/>
                </a:lnTo>
                <a:lnTo>
                  <a:pt x="1028" y="0"/>
                </a:lnTo>
                <a:lnTo>
                  <a:pt x="1028" y="1270"/>
                </a:lnTo>
                <a:lnTo>
                  <a:pt x="0" y="1270"/>
                </a:lnTo>
                <a:lnTo>
                  <a:pt x="0" y="3810"/>
                </a:lnTo>
                <a:lnTo>
                  <a:pt x="0" y="6350"/>
                </a:lnTo>
                <a:lnTo>
                  <a:pt x="3962" y="6350"/>
                </a:lnTo>
                <a:lnTo>
                  <a:pt x="3962" y="3810"/>
                </a:lnTo>
                <a:lnTo>
                  <a:pt x="9021648" y="3810"/>
                </a:lnTo>
                <a:lnTo>
                  <a:pt x="9021648" y="1270"/>
                </a:lnTo>
                <a:close/>
              </a:path>
            </a:pathLst>
          </a:custGeom>
          <a:solidFill>
            <a:srgbClr val="727C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48817" y="5256961"/>
            <a:ext cx="9022080" cy="3810"/>
          </a:xfrm>
          <a:custGeom>
            <a:avLst/>
            <a:gdLst/>
            <a:ahLst/>
            <a:cxnLst/>
            <a:rect l="l" t="t" r="r" b="b"/>
            <a:pathLst>
              <a:path w="9022080" h="3810">
                <a:moveTo>
                  <a:pt x="9021648" y="0"/>
                </a:moveTo>
                <a:lnTo>
                  <a:pt x="0" y="0"/>
                </a:lnTo>
                <a:lnTo>
                  <a:pt x="0" y="1270"/>
                </a:lnTo>
                <a:lnTo>
                  <a:pt x="152" y="1270"/>
                </a:lnTo>
                <a:lnTo>
                  <a:pt x="152" y="2540"/>
                </a:lnTo>
                <a:lnTo>
                  <a:pt x="1714" y="2540"/>
                </a:lnTo>
                <a:lnTo>
                  <a:pt x="1714" y="3810"/>
                </a:lnTo>
                <a:lnTo>
                  <a:pt x="9020467" y="3810"/>
                </a:lnTo>
                <a:lnTo>
                  <a:pt x="9020467" y="2540"/>
                </a:lnTo>
                <a:lnTo>
                  <a:pt x="9021648" y="2540"/>
                </a:lnTo>
                <a:lnTo>
                  <a:pt x="9021648" y="1270"/>
                </a:lnTo>
                <a:lnTo>
                  <a:pt x="9021648" y="0"/>
                </a:lnTo>
                <a:close/>
              </a:path>
            </a:pathLst>
          </a:custGeom>
          <a:solidFill>
            <a:srgbClr val="727C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2780" y="3891330"/>
            <a:ext cx="9018270" cy="1365885"/>
          </a:xfrm>
          <a:custGeom>
            <a:avLst/>
            <a:gdLst/>
            <a:ahLst/>
            <a:cxnLst/>
            <a:rect l="l" t="t" r="r" b="b"/>
            <a:pathLst>
              <a:path w="9018270" h="1365885">
                <a:moveTo>
                  <a:pt x="9017686" y="0"/>
                </a:moveTo>
                <a:lnTo>
                  <a:pt x="9014257" y="0"/>
                </a:lnTo>
                <a:lnTo>
                  <a:pt x="9014257" y="381"/>
                </a:lnTo>
                <a:lnTo>
                  <a:pt x="9010294" y="381"/>
                </a:lnTo>
                <a:lnTo>
                  <a:pt x="9010294" y="0"/>
                </a:lnTo>
                <a:lnTo>
                  <a:pt x="3848" y="0"/>
                </a:lnTo>
                <a:lnTo>
                  <a:pt x="0" y="0"/>
                </a:lnTo>
                <a:lnTo>
                  <a:pt x="0" y="3327"/>
                </a:lnTo>
                <a:lnTo>
                  <a:pt x="3848" y="3327"/>
                </a:lnTo>
                <a:lnTo>
                  <a:pt x="9010294" y="3327"/>
                </a:lnTo>
                <a:lnTo>
                  <a:pt x="9010294" y="1361821"/>
                </a:lnTo>
                <a:lnTo>
                  <a:pt x="9010294" y="1362075"/>
                </a:lnTo>
                <a:lnTo>
                  <a:pt x="3848" y="1362075"/>
                </a:lnTo>
                <a:lnTo>
                  <a:pt x="3848" y="1365504"/>
                </a:lnTo>
                <a:lnTo>
                  <a:pt x="9010294" y="1365504"/>
                </a:lnTo>
                <a:lnTo>
                  <a:pt x="9010294" y="1365631"/>
                </a:lnTo>
                <a:lnTo>
                  <a:pt x="9014257" y="1365631"/>
                </a:lnTo>
                <a:lnTo>
                  <a:pt x="9014257" y="1365504"/>
                </a:lnTo>
                <a:lnTo>
                  <a:pt x="9017686" y="1365504"/>
                </a:lnTo>
                <a:lnTo>
                  <a:pt x="9017686" y="1362075"/>
                </a:lnTo>
                <a:lnTo>
                  <a:pt x="9014257" y="1362075"/>
                </a:lnTo>
                <a:lnTo>
                  <a:pt x="9014257" y="1361821"/>
                </a:lnTo>
                <a:lnTo>
                  <a:pt x="9017686" y="1361821"/>
                </a:lnTo>
                <a:lnTo>
                  <a:pt x="9017686" y="3327"/>
                </a:lnTo>
                <a:lnTo>
                  <a:pt x="9017686" y="2921"/>
                </a:lnTo>
                <a:lnTo>
                  <a:pt x="9017686" y="0"/>
                </a:lnTo>
                <a:close/>
              </a:path>
            </a:pathLst>
          </a:custGeom>
          <a:solidFill>
            <a:srgbClr val="727C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3946" y="5384799"/>
            <a:ext cx="7809865" cy="738505"/>
          </a:xfrm>
          <a:custGeom>
            <a:avLst/>
            <a:gdLst/>
            <a:ahLst/>
            <a:cxnLst/>
            <a:rect l="l" t="t" r="r" b="b"/>
            <a:pathLst>
              <a:path w="7809865" h="738504">
                <a:moveTo>
                  <a:pt x="7808213" y="738293"/>
                </a:moveTo>
                <a:lnTo>
                  <a:pt x="1524" y="738293"/>
                </a:lnTo>
                <a:lnTo>
                  <a:pt x="0" y="736854"/>
                </a:lnTo>
                <a:lnTo>
                  <a:pt x="0" y="1524"/>
                </a:lnTo>
                <a:lnTo>
                  <a:pt x="1524" y="0"/>
                </a:lnTo>
                <a:lnTo>
                  <a:pt x="7808213" y="0"/>
                </a:lnTo>
                <a:lnTo>
                  <a:pt x="7809758" y="1524"/>
                </a:lnTo>
                <a:lnTo>
                  <a:pt x="7809758" y="3429"/>
                </a:lnTo>
                <a:lnTo>
                  <a:pt x="3429" y="3429"/>
                </a:lnTo>
                <a:lnTo>
                  <a:pt x="3429" y="6762"/>
                </a:lnTo>
                <a:lnTo>
                  <a:pt x="6762" y="6762"/>
                </a:lnTo>
                <a:lnTo>
                  <a:pt x="6762" y="731520"/>
                </a:lnTo>
                <a:lnTo>
                  <a:pt x="3429" y="731520"/>
                </a:lnTo>
                <a:lnTo>
                  <a:pt x="3429" y="734949"/>
                </a:lnTo>
                <a:lnTo>
                  <a:pt x="7809758" y="734949"/>
                </a:lnTo>
                <a:lnTo>
                  <a:pt x="7809758" y="736854"/>
                </a:lnTo>
                <a:lnTo>
                  <a:pt x="7808213" y="738293"/>
                </a:lnTo>
                <a:close/>
              </a:path>
              <a:path w="7809865" h="738504">
                <a:moveTo>
                  <a:pt x="6762" y="6762"/>
                </a:moveTo>
                <a:lnTo>
                  <a:pt x="3429" y="6762"/>
                </a:lnTo>
                <a:lnTo>
                  <a:pt x="3429" y="3429"/>
                </a:lnTo>
                <a:lnTo>
                  <a:pt x="6762" y="3429"/>
                </a:lnTo>
                <a:lnTo>
                  <a:pt x="6762" y="6762"/>
                </a:lnTo>
                <a:close/>
              </a:path>
              <a:path w="7809865" h="738504">
                <a:moveTo>
                  <a:pt x="7802880" y="6762"/>
                </a:moveTo>
                <a:lnTo>
                  <a:pt x="6762" y="6762"/>
                </a:lnTo>
                <a:lnTo>
                  <a:pt x="6762" y="3429"/>
                </a:lnTo>
                <a:lnTo>
                  <a:pt x="7802880" y="3429"/>
                </a:lnTo>
                <a:lnTo>
                  <a:pt x="7802880" y="6762"/>
                </a:lnTo>
                <a:close/>
              </a:path>
              <a:path w="7809865" h="738504">
                <a:moveTo>
                  <a:pt x="7806309" y="734949"/>
                </a:moveTo>
                <a:lnTo>
                  <a:pt x="7802880" y="734949"/>
                </a:lnTo>
                <a:lnTo>
                  <a:pt x="7802880" y="3429"/>
                </a:lnTo>
                <a:lnTo>
                  <a:pt x="7806309" y="3429"/>
                </a:lnTo>
                <a:lnTo>
                  <a:pt x="7806309" y="6762"/>
                </a:lnTo>
                <a:lnTo>
                  <a:pt x="7809758" y="6762"/>
                </a:lnTo>
                <a:lnTo>
                  <a:pt x="7809758" y="731520"/>
                </a:lnTo>
                <a:lnTo>
                  <a:pt x="7806309" y="731520"/>
                </a:lnTo>
                <a:lnTo>
                  <a:pt x="7806309" y="734949"/>
                </a:lnTo>
                <a:close/>
              </a:path>
              <a:path w="7809865" h="738504">
                <a:moveTo>
                  <a:pt x="7809738" y="6762"/>
                </a:moveTo>
                <a:lnTo>
                  <a:pt x="7806309" y="6762"/>
                </a:lnTo>
                <a:lnTo>
                  <a:pt x="7806309" y="3429"/>
                </a:lnTo>
                <a:lnTo>
                  <a:pt x="7809738" y="3429"/>
                </a:lnTo>
                <a:lnTo>
                  <a:pt x="7809738" y="6762"/>
                </a:lnTo>
                <a:close/>
              </a:path>
              <a:path w="7809865" h="738504">
                <a:moveTo>
                  <a:pt x="6762" y="734949"/>
                </a:moveTo>
                <a:lnTo>
                  <a:pt x="3429" y="734949"/>
                </a:lnTo>
                <a:lnTo>
                  <a:pt x="3429" y="731520"/>
                </a:lnTo>
                <a:lnTo>
                  <a:pt x="6762" y="731520"/>
                </a:lnTo>
                <a:lnTo>
                  <a:pt x="6762" y="734949"/>
                </a:lnTo>
                <a:close/>
              </a:path>
              <a:path w="7809865" h="738504">
                <a:moveTo>
                  <a:pt x="7802880" y="734949"/>
                </a:moveTo>
                <a:lnTo>
                  <a:pt x="6762" y="734949"/>
                </a:lnTo>
                <a:lnTo>
                  <a:pt x="6762" y="731520"/>
                </a:lnTo>
                <a:lnTo>
                  <a:pt x="7802880" y="731520"/>
                </a:lnTo>
                <a:lnTo>
                  <a:pt x="7802880" y="734949"/>
                </a:lnTo>
                <a:close/>
              </a:path>
              <a:path w="7809865" h="738504">
                <a:moveTo>
                  <a:pt x="7809738" y="734949"/>
                </a:moveTo>
                <a:lnTo>
                  <a:pt x="7806309" y="734949"/>
                </a:lnTo>
                <a:lnTo>
                  <a:pt x="7806309" y="731520"/>
                </a:lnTo>
                <a:lnTo>
                  <a:pt x="7809738" y="731520"/>
                </a:lnTo>
                <a:lnTo>
                  <a:pt x="7809738" y="734949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6906" y="3894666"/>
            <a:ext cx="243840" cy="1365885"/>
          </a:xfrm>
          <a:custGeom>
            <a:avLst/>
            <a:gdLst/>
            <a:ahLst/>
            <a:cxnLst/>
            <a:rect l="l" t="t" r="r" b="b"/>
            <a:pathLst>
              <a:path w="243840" h="1365885">
                <a:moveTo>
                  <a:pt x="243839" y="1365884"/>
                </a:moveTo>
                <a:lnTo>
                  <a:pt x="0" y="1365884"/>
                </a:lnTo>
                <a:lnTo>
                  <a:pt x="0" y="0"/>
                </a:lnTo>
                <a:lnTo>
                  <a:pt x="243839" y="0"/>
                </a:lnTo>
                <a:lnTo>
                  <a:pt x="243839" y="1365884"/>
                </a:lnTo>
                <a:close/>
              </a:path>
            </a:pathLst>
          </a:custGeom>
          <a:solidFill>
            <a:srgbClr val="727C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00106" y="5391573"/>
            <a:ext cx="243840" cy="731520"/>
          </a:xfrm>
          <a:custGeom>
            <a:avLst/>
            <a:gdLst/>
            <a:ahLst/>
            <a:cxnLst/>
            <a:rect l="l" t="t" r="r" b="b"/>
            <a:pathLst>
              <a:path w="243839" h="731520">
                <a:moveTo>
                  <a:pt x="243839" y="731519"/>
                </a:moveTo>
                <a:lnTo>
                  <a:pt x="0" y="731519"/>
                </a:lnTo>
                <a:lnTo>
                  <a:pt x="0" y="0"/>
                </a:lnTo>
                <a:lnTo>
                  <a:pt x="243839" y="0"/>
                </a:lnTo>
                <a:lnTo>
                  <a:pt x="243839" y="731519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70746" y="4515230"/>
            <a:ext cx="8900160" cy="469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5745">
              <a:lnSpc>
                <a:spcPct val="100000"/>
              </a:lnSpc>
              <a:spcBef>
                <a:spcPts val="110"/>
              </a:spcBef>
            </a:pPr>
            <a:r>
              <a:rPr sz="2900" b="1" spc="150" dirty="0">
                <a:solidFill>
                  <a:srgbClr val="000000"/>
                </a:solidFill>
                <a:latin typeface="Cambria"/>
                <a:cs typeface="Cambria"/>
              </a:rPr>
              <a:t>Attention</a:t>
            </a:r>
            <a:r>
              <a:rPr sz="2900" b="1" spc="1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900" b="1" spc="180" dirty="0">
                <a:solidFill>
                  <a:srgbClr val="000000"/>
                </a:solidFill>
                <a:latin typeface="Cambria"/>
                <a:cs typeface="Cambria"/>
              </a:rPr>
              <a:t>Mechanism</a:t>
            </a:r>
            <a:r>
              <a:rPr sz="2900" b="1" spc="1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900" b="1" spc="105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2900" b="1" spc="1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900" b="1" spc="170" dirty="0">
                <a:solidFill>
                  <a:srgbClr val="000000"/>
                </a:solidFill>
                <a:latin typeface="Cambria"/>
                <a:cs typeface="Cambria"/>
              </a:rPr>
              <a:t>Transformer</a:t>
            </a:r>
            <a:r>
              <a:rPr sz="2900" b="1" spc="1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900" b="1" spc="185" dirty="0">
                <a:solidFill>
                  <a:srgbClr val="000000"/>
                </a:solidFill>
                <a:latin typeface="Cambria"/>
                <a:cs typeface="Cambria"/>
              </a:rPr>
              <a:t>Model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01760" y="5475859"/>
            <a:ext cx="123634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114" dirty="0">
                <a:solidFill>
                  <a:srgbClr val="454553"/>
                </a:solidFill>
                <a:latin typeface="Cambria"/>
                <a:cs typeface="Cambria"/>
              </a:rPr>
              <a:t>Sisira</a:t>
            </a:r>
            <a:r>
              <a:rPr sz="2100" spc="85" dirty="0">
                <a:solidFill>
                  <a:srgbClr val="454553"/>
                </a:solidFill>
                <a:latin typeface="Cambria"/>
                <a:cs typeface="Cambria"/>
              </a:rPr>
              <a:t> </a:t>
            </a:r>
            <a:r>
              <a:rPr sz="2100" spc="254" dirty="0">
                <a:solidFill>
                  <a:srgbClr val="454553"/>
                </a:solidFill>
                <a:latin typeface="Cambria"/>
                <a:cs typeface="Cambria"/>
              </a:rPr>
              <a:t>S</a:t>
            </a:r>
            <a:r>
              <a:rPr sz="2100" spc="85" dirty="0">
                <a:solidFill>
                  <a:srgbClr val="454553"/>
                </a:solidFill>
                <a:latin typeface="Cambria"/>
                <a:cs typeface="Cambria"/>
              </a:rPr>
              <a:t> </a:t>
            </a:r>
            <a:r>
              <a:rPr sz="2100" spc="50" dirty="0">
                <a:solidFill>
                  <a:srgbClr val="454553"/>
                </a:solidFill>
                <a:latin typeface="Cambria"/>
                <a:cs typeface="Cambria"/>
              </a:rPr>
              <a:t>R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529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10"/>
              </a:spcBef>
            </a:pPr>
            <a:r>
              <a:rPr b="1" spc="245" dirty="0">
                <a:latin typeface="Cambria"/>
                <a:cs typeface="Cambria"/>
              </a:rPr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854" y="1633220"/>
            <a:ext cx="4529455" cy="51028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5"/>
              </a:spcBef>
              <a:buClr>
                <a:srgbClr val="727CA2"/>
              </a:buClr>
              <a:buFont typeface="Times New Roman"/>
              <a:buAutoNum type="arabicPeriod"/>
              <a:tabLst>
                <a:tab pos="295910" algn="l"/>
              </a:tabLst>
            </a:pPr>
            <a:r>
              <a:rPr sz="2550" b="1" spc="-10" dirty="0">
                <a:latin typeface="Times New Roman"/>
                <a:cs typeface="Times New Roman"/>
              </a:rPr>
              <a:t>Introduction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727CA2"/>
              </a:buClr>
              <a:buFont typeface="Times New Roman"/>
              <a:buAutoNum type="arabicPeriod"/>
            </a:pPr>
            <a:endParaRPr sz="25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Clr>
                <a:srgbClr val="727CA2"/>
              </a:buClr>
              <a:buFont typeface="Times New Roman"/>
              <a:buAutoNum type="arabicPeriod"/>
              <a:tabLst>
                <a:tab pos="295910" algn="l"/>
              </a:tabLst>
            </a:pPr>
            <a:r>
              <a:rPr sz="2550" b="1" spc="-20" dirty="0">
                <a:latin typeface="Times New Roman"/>
                <a:cs typeface="Times New Roman"/>
              </a:rPr>
              <a:t>Large</a:t>
            </a:r>
            <a:r>
              <a:rPr sz="2550" b="1" spc="-105" dirty="0">
                <a:latin typeface="Times New Roman"/>
                <a:cs typeface="Times New Roman"/>
              </a:rPr>
              <a:t> </a:t>
            </a:r>
            <a:r>
              <a:rPr sz="2550" b="1" spc="-30" dirty="0">
                <a:latin typeface="Times New Roman"/>
                <a:cs typeface="Times New Roman"/>
              </a:rPr>
              <a:t>Language</a:t>
            </a:r>
            <a:r>
              <a:rPr sz="2550" b="1" spc="-100" dirty="0">
                <a:latin typeface="Times New Roman"/>
                <a:cs typeface="Times New Roman"/>
              </a:rPr>
              <a:t> </a:t>
            </a:r>
            <a:r>
              <a:rPr sz="2550" b="1" spc="-10" dirty="0">
                <a:latin typeface="Times New Roman"/>
                <a:cs typeface="Times New Roman"/>
              </a:rPr>
              <a:t>Models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727CA2"/>
              </a:buClr>
              <a:buFont typeface="Times New Roman"/>
              <a:buAutoNum type="arabicPeriod"/>
            </a:pPr>
            <a:endParaRPr sz="25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Clr>
                <a:srgbClr val="727CA2"/>
              </a:buClr>
              <a:buFont typeface="Times New Roman"/>
              <a:buAutoNum type="arabicPeriod"/>
              <a:tabLst>
                <a:tab pos="295910" algn="l"/>
              </a:tabLst>
            </a:pPr>
            <a:r>
              <a:rPr sz="2550" b="1" spc="-40" dirty="0">
                <a:latin typeface="Times New Roman"/>
                <a:cs typeface="Times New Roman"/>
              </a:rPr>
              <a:t>Applications</a:t>
            </a:r>
            <a:r>
              <a:rPr sz="2550" b="1" spc="-50" dirty="0">
                <a:latin typeface="Times New Roman"/>
                <a:cs typeface="Times New Roman"/>
              </a:rPr>
              <a:t> </a:t>
            </a:r>
            <a:r>
              <a:rPr sz="2550" b="1" dirty="0">
                <a:latin typeface="Times New Roman"/>
                <a:cs typeface="Times New Roman"/>
              </a:rPr>
              <a:t>of</a:t>
            </a:r>
            <a:r>
              <a:rPr sz="2550" b="1" spc="-45" dirty="0">
                <a:latin typeface="Times New Roman"/>
                <a:cs typeface="Times New Roman"/>
              </a:rPr>
              <a:t> </a:t>
            </a:r>
            <a:r>
              <a:rPr sz="2550" b="1" spc="-20" dirty="0">
                <a:latin typeface="Times New Roman"/>
                <a:cs typeface="Times New Roman"/>
              </a:rPr>
              <a:t>LLMs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727CA2"/>
              </a:buClr>
              <a:buFont typeface="Times New Roman"/>
              <a:buAutoNum type="arabicPeriod"/>
            </a:pPr>
            <a:endParaRPr sz="25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Clr>
                <a:srgbClr val="727CA2"/>
              </a:buClr>
              <a:buFont typeface="Times New Roman"/>
              <a:buAutoNum type="arabicPeriod"/>
              <a:tabLst>
                <a:tab pos="295910" algn="l"/>
              </a:tabLst>
            </a:pPr>
            <a:r>
              <a:rPr sz="2550" b="1" spc="-70" dirty="0">
                <a:latin typeface="Times New Roman"/>
                <a:cs typeface="Times New Roman"/>
              </a:rPr>
              <a:t>Recurrent</a:t>
            </a:r>
            <a:r>
              <a:rPr sz="2550" b="1" spc="-90" dirty="0">
                <a:latin typeface="Times New Roman"/>
                <a:cs typeface="Times New Roman"/>
              </a:rPr>
              <a:t> </a:t>
            </a:r>
            <a:r>
              <a:rPr sz="2550" b="1" spc="-10" dirty="0">
                <a:latin typeface="Times New Roman"/>
                <a:cs typeface="Times New Roman"/>
              </a:rPr>
              <a:t>Network</a:t>
            </a:r>
            <a:r>
              <a:rPr sz="2550" b="1" spc="-114" dirty="0">
                <a:latin typeface="Times New Roman"/>
                <a:cs typeface="Times New Roman"/>
              </a:rPr>
              <a:t> </a:t>
            </a:r>
            <a:r>
              <a:rPr sz="2550" b="1" spc="-75" dirty="0">
                <a:latin typeface="Times New Roman"/>
                <a:cs typeface="Times New Roman"/>
              </a:rPr>
              <a:t>and</a:t>
            </a:r>
            <a:r>
              <a:rPr sz="2550" b="1" spc="-85" dirty="0">
                <a:latin typeface="Times New Roman"/>
                <a:cs typeface="Times New Roman"/>
              </a:rPr>
              <a:t> </a:t>
            </a:r>
            <a:r>
              <a:rPr sz="2550" b="1" spc="35" dirty="0">
                <a:latin typeface="Times New Roman"/>
                <a:cs typeface="Times New Roman"/>
              </a:rPr>
              <a:t>LSTM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727CA2"/>
              </a:buClr>
              <a:buFont typeface="Times New Roman"/>
              <a:buAutoNum type="arabicPeriod"/>
            </a:pPr>
            <a:endParaRPr sz="25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Clr>
                <a:srgbClr val="727CA2"/>
              </a:buClr>
              <a:buFont typeface="Times New Roman"/>
              <a:buAutoNum type="arabicPeriod"/>
              <a:tabLst>
                <a:tab pos="295910" algn="l"/>
              </a:tabLst>
            </a:pPr>
            <a:r>
              <a:rPr sz="2550" b="1" spc="-30" dirty="0">
                <a:latin typeface="Times New Roman"/>
                <a:cs typeface="Times New Roman"/>
              </a:rPr>
              <a:t>Attention</a:t>
            </a:r>
            <a:r>
              <a:rPr sz="2550" b="1" spc="-100" dirty="0">
                <a:latin typeface="Times New Roman"/>
                <a:cs typeface="Times New Roman"/>
              </a:rPr>
              <a:t> </a:t>
            </a:r>
            <a:r>
              <a:rPr sz="2550" b="1" spc="-10" dirty="0">
                <a:latin typeface="Times New Roman"/>
                <a:cs typeface="Times New Roman"/>
              </a:rPr>
              <a:t>Mechanism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727CA2"/>
              </a:buClr>
              <a:buFont typeface="Times New Roman"/>
              <a:buAutoNum type="arabicPeriod"/>
            </a:pPr>
            <a:endParaRPr sz="25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Clr>
                <a:srgbClr val="727CA2"/>
              </a:buClr>
              <a:buFont typeface="Times New Roman"/>
              <a:buAutoNum type="arabicPeriod"/>
              <a:tabLst>
                <a:tab pos="295910" algn="l"/>
              </a:tabLst>
            </a:pPr>
            <a:r>
              <a:rPr sz="2550" b="1" spc="-70" dirty="0">
                <a:latin typeface="Times New Roman"/>
                <a:cs typeface="Times New Roman"/>
              </a:rPr>
              <a:t>Transformer</a:t>
            </a:r>
            <a:r>
              <a:rPr sz="2550" b="1" spc="-75" dirty="0">
                <a:latin typeface="Times New Roman"/>
                <a:cs typeface="Times New Roman"/>
              </a:rPr>
              <a:t> </a:t>
            </a:r>
            <a:r>
              <a:rPr sz="2550" b="1" spc="-20" dirty="0">
                <a:latin typeface="Times New Roman"/>
                <a:cs typeface="Times New Roman"/>
              </a:rPr>
              <a:t>Model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727CA2"/>
              </a:buClr>
              <a:buFont typeface="Times New Roman"/>
              <a:buAutoNum type="arabicPeriod"/>
            </a:pPr>
            <a:endParaRPr sz="25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Clr>
                <a:srgbClr val="727CA2"/>
              </a:buClr>
              <a:buFont typeface="Times New Roman"/>
              <a:buAutoNum type="arabicPeriod"/>
              <a:tabLst>
                <a:tab pos="295910" algn="l"/>
              </a:tabLst>
            </a:pPr>
            <a:r>
              <a:rPr sz="2550" b="1" spc="-10" dirty="0">
                <a:latin typeface="Times New Roman"/>
                <a:cs typeface="Times New Roman"/>
              </a:rPr>
              <a:t>Conclusion</a:t>
            </a:r>
            <a:endParaRPr sz="2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2440" y="2788659"/>
            <a:ext cx="1316082" cy="131608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35268" y="2891782"/>
            <a:ext cx="1307465" cy="957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100" b="1" i="1" spc="645" dirty="0">
                <a:latin typeface="Cambria"/>
                <a:cs typeface="Cambria"/>
              </a:rPr>
              <a:t>???</a:t>
            </a:r>
            <a:endParaRPr sz="6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221" y="2898695"/>
            <a:ext cx="3306233" cy="9789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954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10"/>
              </a:spcBef>
            </a:pPr>
            <a:r>
              <a:rPr b="1" spc="-60" dirty="0">
                <a:solidFill>
                  <a:srgbClr val="000000"/>
                </a:solidFill>
                <a:latin typeface="Times New Roman"/>
                <a:cs typeface="Times New Roman"/>
              </a:rPr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054" y="2128837"/>
            <a:ext cx="76200" cy="76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18351" y="1906873"/>
            <a:ext cx="8354695" cy="33743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just">
              <a:lnSpc>
                <a:spcPts val="2930"/>
              </a:lnSpc>
              <a:spcBef>
                <a:spcPts val="225"/>
              </a:spcBef>
            </a:pPr>
            <a:r>
              <a:rPr sz="2450" spc="120" dirty="0">
                <a:latin typeface="Times New Roman"/>
                <a:cs typeface="Times New Roman"/>
              </a:rPr>
              <a:t>A</a:t>
            </a:r>
            <a:r>
              <a:rPr sz="2450" dirty="0">
                <a:latin typeface="Times New Roman"/>
                <a:cs typeface="Times New Roman"/>
              </a:rPr>
              <a:t>  </a:t>
            </a:r>
            <a:r>
              <a:rPr sz="2450" b="1" dirty="0">
                <a:latin typeface="Times New Roman"/>
                <a:cs typeface="Times New Roman"/>
              </a:rPr>
              <a:t>Large</a:t>
            </a:r>
            <a:r>
              <a:rPr sz="2450" b="1" spc="10" dirty="0">
                <a:latin typeface="Times New Roman"/>
                <a:cs typeface="Times New Roman"/>
              </a:rPr>
              <a:t>  </a:t>
            </a:r>
            <a:r>
              <a:rPr sz="2450" b="1" dirty="0">
                <a:latin typeface="Times New Roman"/>
                <a:cs typeface="Times New Roman"/>
              </a:rPr>
              <a:t>Language</a:t>
            </a:r>
            <a:r>
              <a:rPr sz="2450" b="1" spc="5" dirty="0">
                <a:latin typeface="Times New Roman"/>
                <a:cs typeface="Times New Roman"/>
              </a:rPr>
              <a:t>  </a:t>
            </a:r>
            <a:r>
              <a:rPr sz="2450" b="1" dirty="0">
                <a:latin typeface="Times New Roman"/>
                <a:cs typeface="Times New Roman"/>
              </a:rPr>
              <a:t>Model  (LLM)</a:t>
            </a:r>
            <a:r>
              <a:rPr sz="2450" b="1" spc="5" dirty="0">
                <a:latin typeface="Times New Roman"/>
                <a:cs typeface="Times New Roman"/>
              </a:rPr>
              <a:t> 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135" dirty="0">
                <a:latin typeface="Times New Roman"/>
                <a:cs typeface="Times New Roman"/>
              </a:rPr>
              <a:t>an</a:t>
            </a:r>
            <a:r>
              <a:rPr sz="2450" dirty="0">
                <a:latin typeface="Times New Roman"/>
                <a:cs typeface="Times New Roman"/>
              </a:rPr>
              <a:t>  </a:t>
            </a:r>
            <a:r>
              <a:rPr sz="2450" spc="80" dirty="0">
                <a:latin typeface="Times New Roman"/>
                <a:cs typeface="Times New Roman"/>
              </a:rPr>
              <a:t>advanced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40" dirty="0">
                <a:latin typeface="Times New Roman"/>
                <a:cs typeface="Times New Roman"/>
              </a:rPr>
              <a:t>artificial </a:t>
            </a:r>
            <a:r>
              <a:rPr sz="2450" dirty="0">
                <a:latin typeface="Times New Roman"/>
                <a:cs typeface="Times New Roman"/>
              </a:rPr>
              <a:t>intelligence</a:t>
            </a:r>
            <a:r>
              <a:rPr sz="2450" spc="290" dirty="0">
                <a:latin typeface="Times New Roman"/>
                <a:cs typeface="Times New Roman"/>
              </a:rPr>
              <a:t>  </a:t>
            </a:r>
            <a:r>
              <a:rPr sz="2450" dirty="0">
                <a:latin typeface="Times New Roman"/>
                <a:cs typeface="Times New Roman"/>
              </a:rPr>
              <a:t>system</a:t>
            </a:r>
            <a:r>
              <a:rPr sz="2450" spc="300" dirty="0">
                <a:latin typeface="Times New Roman"/>
                <a:cs typeface="Times New Roman"/>
              </a:rPr>
              <a:t>  </a:t>
            </a:r>
            <a:r>
              <a:rPr sz="2450" spc="45" dirty="0">
                <a:latin typeface="Times New Roman"/>
                <a:cs typeface="Times New Roman"/>
              </a:rPr>
              <a:t>designed</a:t>
            </a:r>
            <a:r>
              <a:rPr sz="2450" spc="300" dirty="0">
                <a:latin typeface="Times New Roman"/>
                <a:cs typeface="Times New Roman"/>
              </a:rPr>
              <a:t>  </a:t>
            </a:r>
            <a:r>
              <a:rPr sz="2450" spc="135" dirty="0">
                <a:latin typeface="Times New Roman"/>
                <a:cs typeface="Times New Roman"/>
              </a:rPr>
              <a:t>to</a:t>
            </a:r>
            <a:r>
              <a:rPr sz="2450" spc="300" dirty="0">
                <a:latin typeface="Times New Roman"/>
                <a:cs typeface="Times New Roman"/>
              </a:rPr>
              <a:t>  </a:t>
            </a:r>
            <a:r>
              <a:rPr sz="2450" b="1" dirty="0">
                <a:latin typeface="Times New Roman"/>
                <a:cs typeface="Times New Roman"/>
              </a:rPr>
              <a:t>process,</a:t>
            </a:r>
            <a:r>
              <a:rPr sz="2450" b="1" spc="300" dirty="0">
                <a:latin typeface="Times New Roman"/>
                <a:cs typeface="Times New Roman"/>
              </a:rPr>
              <a:t>  </a:t>
            </a:r>
            <a:r>
              <a:rPr sz="2450" b="1" dirty="0">
                <a:latin typeface="Times New Roman"/>
                <a:cs typeface="Times New Roman"/>
              </a:rPr>
              <a:t>understand,</a:t>
            </a:r>
            <a:r>
              <a:rPr sz="2450" b="1" spc="300" dirty="0">
                <a:latin typeface="Times New Roman"/>
                <a:cs typeface="Times New Roman"/>
              </a:rPr>
              <a:t>  </a:t>
            </a:r>
            <a:r>
              <a:rPr sz="2450" spc="110" dirty="0">
                <a:latin typeface="Times New Roman"/>
                <a:cs typeface="Times New Roman"/>
              </a:rPr>
              <a:t>and </a:t>
            </a:r>
            <a:r>
              <a:rPr sz="2450" b="1" spc="-25" dirty="0">
                <a:latin typeface="Times New Roman"/>
                <a:cs typeface="Times New Roman"/>
              </a:rPr>
              <a:t>generate</a:t>
            </a:r>
            <a:r>
              <a:rPr sz="2450" b="1" spc="10" dirty="0">
                <a:latin typeface="Times New Roman"/>
                <a:cs typeface="Times New Roman"/>
              </a:rPr>
              <a:t> </a:t>
            </a:r>
            <a:r>
              <a:rPr sz="2450" spc="110" dirty="0">
                <a:latin typeface="Times New Roman"/>
                <a:cs typeface="Times New Roman"/>
              </a:rPr>
              <a:t>human-</a:t>
            </a:r>
            <a:r>
              <a:rPr sz="2450" dirty="0">
                <a:latin typeface="Times New Roman"/>
                <a:cs typeface="Times New Roman"/>
              </a:rPr>
              <a:t>like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spc="45" dirty="0">
                <a:latin typeface="Times New Roman"/>
                <a:cs typeface="Times New Roman"/>
              </a:rPr>
              <a:t>text.</a:t>
            </a:r>
            <a:endParaRPr sz="2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05"/>
              </a:spcBef>
            </a:pPr>
            <a:r>
              <a:rPr sz="2450" spc="60" dirty="0">
                <a:latin typeface="Times New Roman"/>
                <a:cs typeface="Times New Roman"/>
              </a:rPr>
              <a:t>Pre-</a:t>
            </a:r>
            <a:r>
              <a:rPr sz="2450" spc="95" dirty="0">
                <a:latin typeface="Times New Roman"/>
                <a:cs typeface="Times New Roman"/>
              </a:rPr>
              <a:t>trained</a:t>
            </a:r>
            <a:r>
              <a:rPr sz="2450" spc="45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using </a:t>
            </a:r>
            <a:r>
              <a:rPr sz="2450" spc="140" dirty="0">
                <a:latin typeface="Times New Roman"/>
                <a:cs typeface="Times New Roman"/>
              </a:rPr>
              <a:t>a</a:t>
            </a:r>
            <a:r>
              <a:rPr sz="2450" spc="4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massive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corpus</a:t>
            </a:r>
            <a:r>
              <a:rPr sz="2450" spc="45" dirty="0">
                <a:latin typeface="Times New Roman"/>
                <a:cs typeface="Times New Roman"/>
              </a:rPr>
              <a:t> </a:t>
            </a:r>
            <a:r>
              <a:rPr sz="2450" spc="70" dirty="0">
                <a:latin typeface="Times New Roman"/>
                <a:cs typeface="Times New Roman"/>
              </a:rPr>
              <a:t>of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text</a:t>
            </a:r>
            <a:r>
              <a:rPr sz="2450" spc="45" dirty="0">
                <a:latin typeface="Times New Roman"/>
                <a:cs typeface="Times New Roman"/>
              </a:rPr>
              <a:t> </a:t>
            </a:r>
            <a:r>
              <a:rPr sz="2450" spc="100" dirty="0">
                <a:latin typeface="Times New Roman"/>
                <a:cs typeface="Times New Roman"/>
              </a:rPr>
              <a:t>data.</a:t>
            </a: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50" spc="80" dirty="0">
                <a:latin typeface="Times New Roman"/>
                <a:cs typeface="Times New Roman"/>
              </a:rPr>
              <a:t>The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b="1" spc="-65" dirty="0">
                <a:latin typeface="Times New Roman"/>
                <a:cs typeface="Times New Roman"/>
              </a:rPr>
              <a:t>underlying</a:t>
            </a:r>
            <a:r>
              <a:rPr sz="2450" b="1" spc="20" dirty="0">
                <a:latin typeface="Times New Roman"/>
                <a:cs typeface="Times New Roman"/>
              </a:rPr>
              <a:t> </a:t>
            </a:r>
            <a:r>
              <a:rPr sz="2450" b="1" spc="-20" dirty="0">
                <a:latin typeface="Times New Roman"/>
                <a:cs typeface="Times New Roman"/>
              </a:rPr>
              <a:t>technology</a:t>
            </a:r>
            <a:r>
              <a:rPr sz="2450" b="1" spc="20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of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spc="125" dirty="0">
                <a:latin typeface="Times New Roman"/>
                <a:cs typeface="Times New Roman"/>
              </a:rPr>
              <a:t>LLMs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called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b="1" spc="-10" dirty="0">
                <a:latin typeface="Times New Roman"/>
                <a:cs typeface="Times New Roman"/>
              </a:rPr>
              <a:t>transformer.</a:t>
            </a: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50" spc="95" dirty="0">
                <a:latin typeface="Times New Roman"/>
                <a:cs typeface="Times New Roman"/>
              </a:rPr>
              <a:t>Transformer</a:t>
            </a:r>
            <a:r>
              <a:rPr sz="2450" spc="-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-25" dirty="0">
                <a:latin typeface="Times New Roman"/>
                <a:cs typeface="Times New Roman"/>
              </a:rPr>
              <a:t> </a:t>
            </a:r>
            <a:r>
              <a:rPr sz="2450" spc="140" dirty="0">
                <a:latin typeface="Times New Roman"/>
                <a:cs typeface="Times New Roman"/>
              </a:rPr>
              <a:t>a</a:t>
            </a:r>
            <a:r>
              <a:rPr sz="2450" spc="-25" dirty="0">
                <a:latin typeface="Times New Roman"/>
                <a:cs typeface="Times New Roman"/>
              </a:rPr>
              <a:t> </a:t>
            </a:r>
            <a:r>
              <a:rPr sz="2450" b="1" spc="-55" dirty="0">
                <a:latin typeface="Times New Roman"/>
                <a:cs typeface="Times New Roman"/>
              </a:rPr>
              <a:t>neural</a:t>
            </a:r>
            <a:r>
              <a:rPr sz="2450" b="1" spc="-20" dirty="0">
                <a:latin typeface="Times New Roman"/>
                <a:cs typeface="Times New Roman"/>
              </a:rPr>
              <a:t> </a:t>
            </a:r>
            <a:r>
              <a:rPr sz="2450" b="1" spc="-45" dirty="0">
                <a:latin typeface="Times New Roman"/>
                <a:cs typeface="Times New Roman"/>
              </a:rPr>
              <a:t>network</a:t>
            </a:r>
            <a:r>
              <a:rPr sz="2450" b="1" spc="-20" dirty="0">
                <a:latin typeface="Times New Roman"/>
                <a:cs typeface="Times New Roman"/>
              </a:rPr>
              <a:t> </a:t>
            </a:r>
            <a:r>
              <a:rPr sz="2450" b="1" spc="-45" dirty="0">
                <a:latin typeface="Times New Roman"/>
                <a:cs typeface="Times New Roman"/>
              </a:rPr>
              <a:t>architecture</a:t>
            </a:r>
            <a:r>
              <a:rPr sz="2450" b="1" spc="-30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in</a:t>
            </a:r>
            <a:r>
              <a:rPr sz="2450" spc="-20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deep</a:t>
            </a:r>
            <a:r>
              <a:rPr sz="2450" spc="-25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learning.</a:t>
            </a:r>
            <a:endParaRPr sz="245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054" y="3614737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054" y="4357687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054" y="5100637"/>
            <a:ext cx="76200" cy="761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7921" y="3750736"/>
            <a:ext cx="5158781" cy="29051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088" y="1710054"/>
            <a:ext cx="76200" cy="761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73236" y="1501044"/>
            <a:ext cx="8579485" cy="73914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ts val="2780"/>
              </a:lnSpc>
              <a:spcBef>
                <a:spcPts val="245"/>
              </a:spcBef>
              <a:tabLst>
                <a:tab pos="703580" algn="l"/>
                <a:tab pos="1497330" algn="l"/>
                <a:tab pos="2420620" algn="l"/>
                <a:tab pos="3917315" algn="l"/>
                <a:tab pos="4340860" algn="l"/>
                <a:tab pos="4912995" algn="l"/>
                <a:tab pos="5622290" algn="l"/>
                <a:tab pos="6583045" algn="l"/>
                <a:tab pos="8168005" algn="l"/>
              </a:tabLst>
            </a:pPr>
            <a:r>
              <a:rPr sz="2350" spc="65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35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spc="-20" dirty="0">
                <a:solidFill>
                  <a:srgbClr val="000000"/>
                </a:solidFill>
                <a:latin typeface="Times New Roman"/>
                <a:cs typeface="Times New Roman"/>
              </a:rPr>
              <a:t>2017</a:t>
            </a:r>
            <a:r>
              <a:rPr sz="235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spc="80" dirty="0">
                <a:solidFill>
                  <a:srgbClr val="000000"/>
                </a:solidFill>
                <a:latin typeface="Times New Roman"/>
                <a:cs typeface="Times New Roman"/>
              </a:rPr>
              <a:t>paper</a:t>
            </a:r>
            <a:r>
              <a:rPr sz="235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spc="-1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235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Attention</a:t>
            </a:r>
            <a:r>
              <a:rPr sz="2350" b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sz="2350" b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All</a:t>
            </a:r>
            <a:r>
              <a:rPr sz="2350" b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You</a:t>
            </a:r>
            <a:r>
              <a:rPr sz="2350" b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Need</a:t>
            </a:r>
            <a:r>
              <a:rPr sz="2350" spc="-1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235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spc="75" dirty="0">
                <a:solidFill>
                  <a:srgbClr val="000000"/>
                </a:solidFill>
                <a:latin typeface="Times New Roman"/>
                <a:cs typeface="Times New Roman"/>
              </a:rPr>
              <a:t>introduced</a:t>
            </a:r>
            <a:r>
              <a:rPr sz="235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spc="60" dirty="0">
                <a:solidFill>
                  <a:srgbClr val="000000"/>
                </a:solidFill>
                <a:latin typeface="Times New Roman"/>
                <a:cs typeface="Times New Roman"/>
              </a:rPr>
              <a:t>the </a:t>
            </a:r>
            <a:r>
              <a:rPr sz="2350" spc="90" dirty="0">
                <a:solidFill>
                  <a:srgbClr val="000000"/>
                </a:solidFill>
                <a:latin typeface="Times New Roman"/>
                <a:cs typeface="Times New Roman"/>
              </a:rPr>
              <a:t>Transformer</a:t>
            </a:r>
            <a:r>
              <a:rPr sz="235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50" spc="55" dirty="0">
                <a:solidFill>
                  <a:srgbClr val="000000"/>
                </a:solidFill>
                <a:latin typeface="Times New Roman"/>
                <a:cs typeface="Times New Roman"/>
              </a:rPr>
              <a:t>model.</a:t>
            </a:r>
            <a:endParaRPr sz="23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088" y="2767329"/>
            <a:ext cx="76200" cy="76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73236" y="2558319"/>
            <a:ext cx="8579485" cy="73914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ts val="2780"/>
              </a:lnSpc>
              <a:spcBef>
                <a:spcPts val="245"/>
              </a:spcBef>
              <a:tabLst>
                <a:tab pos="721995" algn="l"/>
                <a:tab pos="1597660" algn="l"/>
                <a:tab pos="3319779" algn="l"/>
                <a:tab pos="3863340" algn="l"/>
                <a:tab pos="4570095" algn="l"/>
                <a:tab pos="4981575" algn="l"/>
                <a:tab pos="5474335" algn="l"/>
                <a:tab pos="5935980" algn="l"/>
                <a:tab pos="7574280" algn="l"/>
                <a:tab pos="7869555" algn="l"/>
              </a:tabLst>
            </a:pPr>
            <a:r>
              <a:rPr sz="2350" spc="45" dirty="0">
                <a:latin typeface="Times New Roman"/>
                <a:cs typeface="Times New Roman"/>
              </a:rPr>
              <a:t>This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80" dirty="0">
                <a:latin typeface="Times New Roman"/>
                <a:cs typeface="Times New Roman"/>
              </a:rPr>
              <a:t>paper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80" dirty="0">
                <a:latin typeface="Times New Roman"/>
                <a:cs typeface="Times New Roman"/>
              </a:rPr>
              <a:t>transformed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60" dirty="0">
                <a:latin typeface="Times New Roman"/>
                <a:cs typeface="Times New Roman"/>
              </a:rPr>
              <a:t>the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10" dirty="0">
                <a:latin typeface="Times New Roman"/>
                <a:cs typeface="Times New Roman"/>
              </a:rPr>
              <a:t>field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35" dirty="0">
                <a:latin typeface="Times New Roman"/>
                <a:cs typeface="Times New Roman"/>
              </a:rPr>
              <a:t>of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90" dirty="0">
                <a:latin typeface="Times New Roman"/>
                <a:cs typeface="Times New Roman"/>
              </a:rPr>
              <a:t>AI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35" dirty="0">
                <a:latin typeface="Times New Roman"/>
                <a:cs typeface="Times New Roman"/>
              </a:rPr>
              <a:t>by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65" dirty="0">
                <a:latin typeface="Times New Roman"/>
                <a:cs typeface="Times New Roman"/>
              </a:rPr>
              <a:t>introducing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95" dirty="0">
                <a:latin typeface="Times New Roman"/>
                <a:cs typeface="Times New Roman"/>
              </a:rPr>
              <a:t>a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10" dirty="0">
                <a:latin typeface="Times New Roman"/>
                <a:cs typeface="Times New Roman"/>
              </a:rPr>
              <a:t>novel </a:t>
            </a:r>
            <a:r>
              <a:rPr sz="2350" spc="75" dirty="0">
                <a:latin typeface="Times New Roman"/>
                <a:cs typeface="Times New Roman"/>
              </a:rPr>
              <a:t>architecture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spc="80" dirty="0">
                <a:latin typeface="Times New Roman"/>
                <a:cs typeface="Times New Roman"/>
              </a:rPr>
              <a:t>based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spc="125" dirty="0">
                <a:latin typeface="Times New Roman"/>
                <a:cs typeface="Times New Roman"/>
              </a:rPr>
              <a:t>on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b="1" spc="-20" dirty="0">
                <a:latin typeface="Times New Roman"/>
                <a:cs typeface="Times New Roman"/>
              </a:rPr>
              <a:t>attention</a:t>
            </a:r>
            <a:r>
              <a:rPr sz="2350" b="1" spc="-15" dirty="0">
                <a:latin typeface="Times New Roman"/>
                <a:cs typeface="Times New Roman"/>
              </a:rPr>
              <a:t> </a:t>
            </a:r>
            <a:r>
              <a:rPr sz="2350" b="1" spc="-10" dirty="0">
                <a:latin typeface="Times New Roman"/>
                <a:cs typeface="Times New Roman"/>
              </a:rPr>
              <a:t>mechanism</a:t>
            </a:r>
            <a:r>
              <a:rPr sz="2350" spc="-10" dirty="0">
                <a:latin typeface="Times New Roman"/>
                <a:cs typeface="Times New Roman"/>
              </a:rPr>
              <a:t>.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07315"/>
            <a:ext cx="8778239" cy="43795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600" y="1607315"/>
            <a:ext cx="8783318" cy="43795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07315"/>
            <a:ext cx="8778239" cy="43795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07315"/>
            <a:ext cx="8778239" cy="43797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07315"/>
            <a:ext cx="8778239" cy="43797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7679" y="1224280"/>
            <a:ext cx="8778240" cy="5372100"/>
            <a:chOff x="487679" y="1224280"/>
            <a:chExt cx="8778240" cy="5372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79" y="1607315"/>
              <a:ext cx="8778239" cy="437974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602" y="1224280"/>
              <a:ext cx="8220074" cy="53720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054" y="2128837"/>
            <a:ext cx="76200" cy="76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8351" y="1906873"/>
            <a:ext cx="8354695" cy="114554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just">
              <a:lnSpc>
                <a:spcPts val="2930"/>
              </a:lnSpc>
              <a:spcBef>
                <a:spcPts val="225"/>
              </a:spcBef>
            </a:pPr>
            <a:r>
              <a:rPr sz="2450" dirty="0">
                <a:solidFill>
                  <a:srgbClr val="000000"/>
                </a:solidFill>
                <a:latin typeface="Times New Roman"/>
                <a:cs typeface="Times New Roman"/>
              </a:rPr>
              <a:t>Before</a:t>
            </a:r>
            <a:r>
              <a:rPr sz="2450" spc="14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sz="2450" spc="85" dirty="0">
                <a:solidFill>
                  <a:srgbClr val="000000"/>
                </a:solidFill>
                <a:latin typeface="Times New Roman"/>
                <a:cs typeface="Times New Roman"/>
              </a:rPr>
              <a:t>Transformers,</a:t>
            </a:r>
            <a:r>
              <a:rPr sz="2450" spc="15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sz="2450" spc="85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450" spc="15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sz="2450" spc="114" dirty="0">
                <a:solidFill>
                  <a:srgbClr val="000000"/>
                </a:solidFill>
                <a:latin typeface="Times New Roman"/>
                <a:cs typeface="Times New Roman"/>
              </a:rPr>
              <a:t>dominant</a:t>
            </a:r>
            <a:r>
              <a:rPr sz="2450" spc="15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sz="2450" spc="60" dirty="0">
                <a:solidFill>
                  <a:srgbClr val="000000"/>
                </a:solidFill>
                <a:latin typeface="Times New Roman"/>
                <a:cs typeface="Times New Roman"/>
              </a:rPr>
              <a:t>models</a:t>
            </a:r>
            <a:r>
              <a:rPr sz="2450" spc="15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sz="2450" spc="90" dirty="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450" spc="15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sz="2450" spc="50" dirty="0">
                <a:solidFill>
                  <a:srgbClr val="000000"/>
                </a:solidFill>
                <a:latin typeface="Times New Roman"/>
                <a:cs typeface="Times New Roman"/>
              </a:rPr>
              <a:t>sequential </a:t>
            </a:r>
            <a:r>
              <a:rPr sz="2450" spc="135" dirty="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  <a:r>
              <a:rPr sz="2450" spc="2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dirty="0">
                <a:solidFill>
                  <a:srgbClr val="000000"/>
                </a:solidFill>
                <a:latin typeface="Times New Roman"/>
                <a:cs typeface="Times New Roman"/>
              </a:rPr>
              <a:t>were</a:t>
            </a:r>
            <a:r>
              <a:rPr sz="2450" spc="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spc="100" dirty="0">
                <a:solidFill>
                  <a:srgbClr val="000000"/>
                </a:solidFill>
                <a:latin typeface="Times New Roman"/>
                <a:cs typeface="Times New Roman"/>
              </a:rPr>
              <a:t>Recurrent</a:t>
            </a:r>
            <a:r>
              <a:rPr sz="2450" spc="2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spc="105" dirty="0">
                <a:solidFill>
                  <a:srgbClr val="000000"/>
                </a:solidFill>
                <a:latin typeface="Times New Roman"/>
                <a:cs typeface="Times New Roman"/>
              </a:rPr>
              <a:t>Neural</a:t>
            </a:r>
            <a:r>
              <a:rPr sz="2450" spc="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spc="95" dirty="0">
                <a:solidFill>
                  <a:srgbClr val="000000"/>
                </a:solidFill>
                <a:latin typeface="Times New Roman"/>
                <a:cs typeface="Times New Roman"/>
              </a:rPr>
              <a:t>Networks</a:t>
            </a:r>
            <a:r>
              <a:rPr sz="2450" spc="2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450" b="1" dirty="0">
                <a:solidFill>
                  <a:srgbClr val="000000"/>
                </a:solidFill>
                <a:latin typeface="Times New Roman"/>
                <a:cs typeface="Times New Roman"/>
              </a:rPr>
              <a:t>RNNs</a:t>
            </a:r>
            <a:r>
              <a:rPr sz="2450" dirty="0">
                <a:solidFill>
                  <a:srgbClr val="000000"/>
                </a:solidFill>
                <a:latin typeface="Times New Roman"/>
                <a:cs typeface="Times New Roman"/>
              </a:rPr>
              <a:t>),</a:t>
            </a:r>
            <a:r>
              <a:rPr sz="2450" spc="2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spc="60" dirty="0">
                <a:solidFill>
                  <a:srgbClr val="000000"/>
                </a:solidFill>
                <a:latin typeface="Times New Roman"/>
                <a:cs typeface="Times New Roman"/>
              </a:rPr>
              <a:t>such</a:t>
            </a:r>
            <a:r>
              <a:rPr sz="2450" spc="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spc="70" dirty="0">
                <a:solidFill>
                  <a:srgbClr val="000000"/>
                </a:solidFill>
                <a:latin typeface="Times New Roman"/>
                <a:cs typeface="Times New Roman"/>
              </a:rPr>
              <a:t>as</a:t>
            </a:r>
            <a:r>
              <a:rPr sz="2450" spc="2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spc="75" dirty="0">
                <a:solidFill>
                  <a:srgbClr val="000000"/>
                </a:solidFill>
                <a:latin typeface="Times New Roman"/>
                <a:cs typeface="Times New Roman"/>
              </a:rPr>
              <a:t>Long </a:t>
            </a:r>
            <a:r>
              <a:rPr sz="2450" spc="90" dirty="0">
                <a:solidFill>
                  <a:srgbClr val="000000"/>
                </a:solidFill>
                <a:latin typeface="Times New Roman"/>
                <a:cs typeface="Times New Roman"/>
              </a:rPr>
              <a:t>Short-</a:t>
            </a:r>
            <a:r>
              <a:rPr sz="2450" spc="95" dirty="0">
                <a:solidFill>
                  <a:srgbClr val="000000"/>
                </a:solidFill>
                <a:latin typeface="Times New Roman"/>
                <a:cs typeface="Times New Roman"/>
              </a:rPr>
              <a:t>Term</a:t>
            </a:r>
            <a:r>
              <a:rPr sz="245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spc="105" dirty="0">
                <a:solidFill>
                  <a:srgbClr val="000000"/>
                </a:solidFill>
                <a:latin typeface="Times New Roman"/>
                <a:cs typeface="Times New Roman"/>
              </a:rPr>
              <a:t>Memory</a:t>
            </a:r>
            <a:r>
              <a:rPr sz="245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spc="-10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45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LSTM</a:t>
            </a:r>
            <a:r>
              <a:rPr sz="2450" spc="-10" dirty="0">
                <a:solidFill>
                  <a:srgbClr val="000000"/>
                </a:solidFill>
                <a:latin typeface="Times New Roman"/>
                <a:cs typeface="Times New Roman"/>
              </a:rPr>
              <a:t>).</a:t>
            </a:r>
            <a:endParaRPr sz="2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529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10"/>
              </a:spcBef>
            </a:pPr>
            <a:r>
              <a:rPr b="1" spc="204" dirty="0">
                <a:solidFill>
                  <a:srgbClr val="000000"/>
                </a:solidFill>
                <a:latin typeface="Cambria"/>
                <a:cs typeface="Cambria"/>
              </a:rPr>
              <a:t>RNNs'</a:t>
            </a:r>
            <a:r>
              <a:rPr b="1" spc="1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b="1" spc="175" dirty="0">
                <a:solidFill>
                  <a:srgbClr val="000000"/>
                </a:solidFill>
                <a:latin typeface="Cambria"/>
                <a:cs typeface="Cambria"/>
              </a:rPr>
              <a:t>problems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2545" y="3651107"/>
            <a:ext cx="2968034" cy="28670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1054" y="2128837"/>
            <a:ext cx="76200" cy="76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18351" y="1906873"/>
            <a:ext cx="5675630" cy="26314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spc="55" dirty="0">
                <a:latin typeface="Times New Roman"/>
                <a:cs typeface="Times New Roman"/>
              </a:rPr>
              <a:t>Vanishing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135" dirty="0">
                <a:latin typeface="Times New Roman"/>
                <a:cs typeface="Times New Roman"/>
              </a:rPr>
              <a:t>and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70" dirty="0">
                <a:latin typeface="Times New Roman"/>
                <a:cs typeface="Times New Roman"/>
              </a:rPr>
              <a:t>Exploding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Gradients.</a:t>
            </a:r>
            <a:endParaRPr sz="2450">
              <a:latin typeface="Times New Roman"/>
              <a:cs typeface="Times New Roman"/>
            </a:endParaRPr>
          </a:p>
          <a:p>
            <a:pPr marL="12700" marR="5080">
              <a:lnSpc>
                <a:spcPct val="199000"/>
              </a:lnSpc>
            </a:pPr>
            <a:r>
              <a:rPr sz="2450" spc="50" dirty="0">
                <a:latin typeface="Times New Roman"/>
                <a:cs typeface="Times New Roman"/>
              </a:rPr>
              <a:t>Difficulty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with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Long-</a:t>
            </a:r>
            <a:r>
              <a:rPr sz="2450" spc="100" dirty="0">
                <a:latin typeface="Times New Roman"/>
                <a:cs typeface="Times New Roman"/>
              </a:rPr>
              <a:t>Range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spc="45" dirty="0">
                <a:latin typeface="Times New Roman"/>
                <a:cs typeface="Times New Roman"/>
              </a:rPr>
              <a:t>Dependencies </a:t>
            </a:r>
            <a:r>
              <a:rPr sz="2450" spc="60" dirty="0">
                <a:latin typeface="Times New Roman"/>
                <a:cs typeface="Times New Roman"/>
              </a:rPr>
              <a:t>Sequential</a:t>
            </a:r>
            <a:r>
              <a:rPr sz="2450" spc="35" dirty="0">
                <a:latin typeface="Times New Roman"/>
                <a:cs typeface="Times New Roman"/>
              </a:rPr>
              <a:t> </a:t>
            </a:r>
            <a:r>
              <a:rPr sz="2450" spc="110" dirty="0">
                <a:latin typeface="Times New Roman"/>
                <a:cs typeface="Times New Roman"/>
              </a:rPr>
              <a:t>Computation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50" spc="70" dirty="0">
                <a:latin typeface="Times New Roman"/>
                <a:cs typeface="Times New Roman"/>
              </a:rPr>
              <a:t>Limited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spc="105" dirty="0">
                <a:latin typeface="Times New Roman"/>
                <a:cs typeface="Times New Roman"/>
              </a:rPr>
              <a:t>Memory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spc="70" dirty="0">
                <a:latin typeface="Times New Roman"/>
                <a:cs typeface="Times New Roman"/>
              </a:rPr>
              <a:t>Capacity</a:t>
            </a:r>
            <a:endParaRPr sz="24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054" y="2871787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054" y="3614737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054" y="4357687"/>
            <a:ext cx="76200" cy="761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10"/>
              </a:spcBef>
            </a:pP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LSTMs</a:t>
            </a:r>
            <a:r>
              <a:rPr b="1" spc="1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problems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5034" y="4031790"/>
            <a:ext cx="4867274" cy="2743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1054" y="2128837"/>
            <a:ext cx="76200" cy="76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18351" y="1906873"/>
            <a:ext cx="5544185" cy="26314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dirty="0">
                <a:latin typeface="Times New Roman"/>
                <a:cs typeface="Times New Roman"/>
              </a:rPr>
              <a:t>Still</a:t>
            </a:r>
            <a:r>
              <a:rPr sz="2450" spc="12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Sequential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50" spc="70" dirty="0">
                <a:latin typeface="Times New Roman"/>
                <a:cs typeface="Times New Roman"/>
              </a:rPr>
              <a:t>Limited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90" dirty="0">
                <a:latin typeface="Times New Roman"/>
                <a:cs typeface="Times New Roman"/>
              </a:rPr>
              <a:t>Context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70" dirty="0">
                <a:latin typeface="Times New Roman"/>
                <a:cs typeface="Times New Roman"/>
              </a:rPr>
              <a:t>Window</a:t>
            </a:r>
            <a:endParaRPr sz="2450">
              <a:latin typeface="Times New Roman"/>
              <a:cs typeface="Times New Roman"/>
            </a:endParaRPr>
          </a:p>
          <a:p>
            <a:pPr marL="12700" marR="5080">
              <a:lnSpc>
                <a:spcPct val="199000"/>
              </a:lnSpc>
            </a:pPr>
            <a:r>
              <a:rPr sz="2450" spc="50" dirty="0">
                <a:latin typeface="Times New Roman"/>
                <a:cs typeface="Times New Roman"/>
              </a:rPr>
              <a:t>Difficulty</a:t>
            </a:r>
            <a:r>
              <a:rPr sz="2450" spc="8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Scaling</a:t>
            </a:r>
            <a:r>
              <a:rPr sz="2450" spc="80" dirty="0">
                <a:latin typeface="Times New Roman"/>
                <a:cs typeface="Times New Roman"/>
              </a:rPr>
              <a:t> </a:t>
            </a:r>
            <a:r>
              <a:rPr sz="2450" spc="135" dirty="0">
                <a:latin typeface="Times New Roman"/>
                <a:cs typeface="Times New Roman"/>
              </a:rPr>
              <a:t>to</a:t>
            </a:r>
            <a:r>
              <a:rPr sz="2450" spc="8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Very</a:t>
            </a:r>
            <a:r>
              <a:rPr sz="2450" spc="8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Large</a:t>
            </a:r>
            <a:r>
              <a:rPr sz="2450" spc="8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Datasets </a:t>
            </a:r>
            <a:r>
              <a:rPr sz="2450" spc="50" dirty="0">
                <a:latin typeface="Times New Roman"/>
                <a:cs typeface="Times New Roman"/>
              </a:rPr>
              <a:t>Complexity</a:t>
            </a:r>
            <a:endParaRPr sz="24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054" y="2871787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054" y="3614737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054" y="4357687"/>
            <a:ext cx="76200" cy="761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10"/>
              </a:spcBef>
            </a:pP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Main</a:t>
            </a:r>
            <a:r>
              <a:rPr b="1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419" y="1629060"/>
            <a:ext cx="8554085" cy="31927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447040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459740" algn="l"/>
              </a:tabLst>
            </a:pPr>
            <a:r>
              <a:rPr sz="2750" spc="70" dirty="0">
                <a:latin typeface="Times New Roman"/>
                <a:cs typeface="Times New Roman"/>
              </a:rPr>
              <a:t>They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55" dirty="0">
                <a:latin typeface="Times New Roman"/>
                <a:cs typeface="Times New Roman"/>
              </a:rPr>
              <a:t>process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95" dirty="0">
                <a:latin typeface="Times New Roman"/>
                <a:cs typeface="Times New Roman"/>
              </a:rPr>
              <a:t>the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114" dirty="0">
                <a:latin typeface="Times New Roman"/>
                <a:cs typeface="Times New Roman"/>
              </a:rPr>
              <a:t>input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2750" spc="155" dirty="0">
                <a:latin typeface="Times New Roman"/>
                <a:cs typeface="Times New Roman"/>
              </a:rPr>
              <a:t>data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55" dirty="0">
                <a:latin typeface="Times New Roman"/>
                <a:cs typeface="Times New Roman"/>
              </a:rPr>
              <a:t>sequentially,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90" dirty="0">
                <a:latin typeface="Times New Roman"/>
                <a:cs typeface="Times New Roman"/>
              </a:rPr>
              <a:t>one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2750" spc="90" dirty="0">
                <a:latin typeface="Times New Roman"/>
                <a:cs typeface="Times New Roman"/>
              </a:rPr>
              <a:t>after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70" dirty="0">
                <a:latin typeface="Times New Roman"/>
                <a:cs typeface="Times New Roman"/>
              </a:rPr>
              <a:t>the </a:t>
            </a:r>
            <a:r>
              <a:rPr sz="2750" spc="95" dirty="0">
                <a:latin typeface="Times New Roman"/>
                <a:cs typeface="Times New Roman"/>
              </a:rPr>
              <a:t>other.</a:t>
            </a:r>
            <a:endParaRPr sz="2750">
              <a:latin typeface="Times New Roman"/>
              <a:cs typeface="Times New Roman"/>
            </a:endParaRPr>
          </a:p>
          <a:p>
            <a:pPr marL="168275">
              <a:lnSpc>
                <a:spcPct val="100000"/>
              </a:lnSpc>
            </a:pPr>
            <a:r>
              <a:rPr sz="2450" spc="50" dirty="0">
                <a:latin typeface="Times New Roman"/>
                <a:cs typeface="Times New Roman"/>
              </a:rPr>
              <a:t>This</a:t>
            </a:r>
            <a:r>
              <a:rPr sz="2450" spc="70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makes</a:t>
            </a:r>
            <a:r>
              <a:rPr sz="2450" spc="70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70" dirty="0">
                <a:latin typeface="Times New Roman"/>
                <a:cs typeface="Times New Roman"/>
              </a:rPr>
              <a:t> training</a:t>
            </a:r>
            <a:r>
              <a:rPr sz="2450" spc="75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of</a:t>
            </a:r>
            <a:r>
              <a:rPr sz="2450" spc="7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such</a:t>
            </a:r>
            <a:r>
              <a:rPr sz="2450" spc="7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models</a:t>
            </a:r>
            <a:r>
              <a:rPr sz="2450" spc="70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quite</a:t>
            </a:r>
            <a:r>
              <a:rPr sz="2450" spc="70" dirty="0">
                <a:latin typeface="Times New Roman"/>
                <a:cs typeface="Times New Roman"/>
              </a:rPr>
              <a:t> </a:t>
            </a:r>
            <a:r>
              <a:rPr sz="2450" spc="-10" dirty="0">
                <a:latin typeface="Times New Roman"/>
                <a:cs typeface="Times New Roman"/>
              </a:rPr>
              <a:t>slow.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 marR="433070" indent="535305">
              <a:lnSpc>
                <a:spcPct val="100000"/>
              </a:lnSpc>
              <a:buAutoNum type="arabicPeriod" startAt="2"/>
              <a:tabLst>
                <a:tab pos="548005" algn="l"/>
              </a:tabLst>
            </a:pPr>
            <a:r>
              <a:rPr sz="2750" dirty="0">
                <a:latin typeface="Times New Roman"/>
                <a:cs typeface="Times New Roman"/>
              </a:rPr>
              <a:t>Become</a:t>
            </a:r>
            <a:r>
              <a:rPr sz="2750" spc="9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ineffective</a:t>
            </a:r>
            <a:r>
              <a:rPr sz="2750" spc="85" dirty="0">
                <a:latin typeface="Times New Roman"/>
                <a:cs typeface="Times New Roman"/>
              </a:rPr>
              <a:t> </a:t>
            </a:r>
            <a:r>
              <a:rPr sz="2750" spc="70" dirty="0">
                <a:latin typeface="Times New Roman"/>
                <a:cs typeface="Times New Roman"/>
              </a:rPr>
              <a:t>when</a:t>
            </a:r>
            <a:r>
              <a:rPr sz="2750" spc="90" dirty="0">
                <a:latin typeface="Times New Roman"/>
                <a:cs typeface="Times New Roman"/>
              </a:rPr>
              <a:t> </a:t>
            </a:r>
            <a:r>
              <a:rPr sz="2750" spc="45" dirty="0">
                <a:latin typeface="Times New Roman"/>
                <a:cs typeface="Times New Roman"/>
              </a:rPr>
              <a:t>elements</a:t>
            </a:r>
            <a:r>
              <a:rPr sz="2750" spc="85" dirty="0">
                <a:latin typeface="Times New Roman"/>
                <a:cs typeface="Times New Roman"/>
              </a:rPr>
              <a:t> </a:t>
            </a:r>
            <a:r>
              <a:rPr sz="2750" spc="95" dirty="0">
                <a:latin typeface="Times New Roman"/>
                <a:cs typeface="Times New Roman"/>
              </a:rPr>
              <a:t>are</a:t>
            </a:r>
            <a:r>
              <a:rPr sz="2750" spc="90" dirty="0">
                <a:latin typeface="Times New Roman"/>
                <a:cs typeface="Times New Roman"/>
              </a:rPr>
              <a:t> </a:t>
            </a:r>
            <a:r>
              <a:rPr sz="2750" spc="105" dirty="0">
                <a:latin typeface="Times New Roman"/>
                <a:cs typeface="Times New Roman"/>
              </a:rPr>
              <a:t>distant</a:t>
            </a:r>
            <a:r>
              <a:rPr sz="2750" spc="85" dirty="0">
                <a:latin typeface="Times New Roman"/>
                <a:cs typeface="Times New Roman"/>
              </a:rPr>
              <a:t> from </a:t>
            </a:r>
            <a:r>
              <a:rPr sz="2750" spc="90" dirty="0">
                <a:latin typeface="Times New Roman"/>
                <a:cs typeface="Times New Roman"/>
              </a:rPr>
              <a:t>one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105" dirty="0">
                <a:latin typeface="Times New Roman"/>
                <a:cs typeface="Times New Roman"/>
              </a:rPr>
              <a:t>another.</a:t>
            </a:r>
            <a:endParaRPr sz="2750">
              <a:latin typeface="Times New Roman"/>
              <a:cs typeface="Times New Roman"/>
            </a:endParaRPr>
          </a:p>
          <a:p>
            <a:pPr marL="12700" marR="9525" indent="233045">
              <a:lnSpc>
                <a:spcPts val="2930"/>
              </a:lnSpc>
              <a:spcBef>
                <a:spcPts val="105"/>
              </a:spcBef>
              <a:tabLst>
                <a:tab pos="7448550" algn="l"/>
              </a:tabLst>
            </a:pPr>
            <a:r>
              <a:rPr sz="2450" spc="95" dirty="0">
                <a:latin typeface="Times New Roman"/>
                <a:cs typeface="Times New Roman"/>
              </a:rPr>
              <a:t>Information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passed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130" dirty="0">
                <a:latin typeface="Times New Roman"/>
                <a:cs typeface="Times New Roman"/>
              </a:rPr>
              <a:t>at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each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step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120" dirty="0">
                <a:latin typeface="Times New Roman"/>
                <a:cs typeface="Times New Roman"/>
              </a:rPr>
              <a:t>and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longer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the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60" dirty="0">
                <a:latin typeface="Times New Roman"/>
                <a:cs typeface="Times New Roman"/>
              </a:rPr>
              <a:t>chain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spc="-25" dirty="0">
                <a:latin typeface="Times New Roman"/>
                <a:cs typeface="Times New Roman"/>
              </a:rPr>
              <a:t>is,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5" dirty="0">
                <a:latin typeface="Times New Roman"/>
                <a:cs typeface="Times New Roman"/>
              </a:rPr>
              <a:t> </a:t>
            </a:r>
            <a:r>
              <a:rPr sz="2450" spc="80" dirty="0">
                <a:latin typeface="Times New Roman"/>
                <a:cs typeface="Times New Roman"/>
              </a:rPr>
              <a:t>more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probable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5" dirty="0">
                <a:latin typeface="Times New Roman"/>
                <a:cs typeface="Times New Roman"/>
              </a:rPr>
              <a:t> </a:t>
            </a:r>
            <a:r>
              <a:rPr sz="2450" spc="80" dirty="0">
                <a:latin typeface="Times New Roman"/>
                <a:cs typeface="Times New Roman"/>
              </a:rPr>
              <a:t>information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lost</a:t>
            </a:r>
            <a:r>
              <a:rPr sz="2450" spc="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along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chain.</a:t>
            </a:r>
            <a:endParaRPr sz="2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796" y="1781973"/>
            <a:ext cx="7674006" cy="348179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646" y="1214119"/>
            <a:ext cx="9618952" cy="50130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5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7056" y="2933985"/>
            <a:ext cx="472122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Solution</a:t>
            </a:r>
            <a:r>
              <a:rPr sz="2750" spc="-10" dirty="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r>
              <a:rPr sz="275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750" spc="110" dirty="0">
                <a:solidFill>
                  <a:srgbClr val="000000"/>
                </a:solidFill>
                <a:latin typeface="Times New Roman"/>
                <a:cs typeface="Times New Roman"/>
              </a:rPr>
              <a:t>Attention</a:t>
            </a:r>
            <a:r>
              <a:rPr sz="275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750" spc="80" dirty="0">
                <a:solidFill>
                  <a:srgbClr val="000000"/>
                </a:solidFill>
                <a:latin typeface="Times New Roman"/>
                <a:cs typeface="Times New Roman"/>
              </a:rPr>
              <a:t>Mechanism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487" y="1300480"/>
            <a:ext cx="7890622" cy="526358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10"/>
              </a:spcBef>
            </a:pP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Attention</a:t>
            </a:r>
            <a:r>
              <a:rPr b="1" spc="2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Mechanism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944" y="1917700"/>
            <a:ext cx="85725" cy="857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3309" y="1676685"/>
            <a:ext cx="799274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spc="75" dirty="0">
                <a:latin typeface="Times New Roman"/>
                <a:cs typeface="Times New Roman"/>
              </a:rPr>
              <a:t>Helps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150" dirty="0">
                <a:latin typeface="Times New Roman"/>
                <a:cs typeface="Times New Roman"/>
              </a:rPr>
              <a:t>LLMs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155" dirty="0">
                <a:latin typeface="Times New Roman"/>
                <a:cs typeface="Times New Roman"/>
              </a:rPr>
              <a:t>to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114" dirty="0">
                <a:latin typeface="Times New Roman"/>
                <a:cs typeface="Times New Roman"/>
              </a:rPr>
              <a:t>understand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2750" spc="50" dirty="0">
                <a:latin typeface="Times New Roman"/>
                <a:cs typeface="Times New Roman"/>
              </a:rPr>
              <a:t>whole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80" dirty="0">
                <a:latin typeface="Times New Roman"/>
                <a:cs typeface="Times New Roman"/>
              </a:rPr>
              <a:t>context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75" dirty="0">
                <a:latin typeface="Times New Roman"/>
                <a:cs typeface="Times New Roman"/>
              </a:rPr>
              <a:t>of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2750" spc="95" dirty="0">
                <a:latin typeface="Times New Roman"/>
                <a:cs typeface="Times New Roman"/>
              </a:rPr>
              <a:t>the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60" dirty="0">
                <a:latin typeface="Times New Roman"/>
                <a:cs typeface="Times New Roman"/>
              </a:rPr>
              <a:t>text.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52298"/>
            <a:ext cx="8774713" cy="3805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816" y="1017613"/>
            <a:ext cx="8441266" cy="575403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451" y="993546"/>
            <a:ext cx="8770548" cy="506250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9331" y="1359958"/>
            <a:ext cx="7204613" cy="515933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241" y="1836462"/>
            <a:ext cx="8452329" cy="38803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465938"/>
            <a:ext cx="8778239" cy="463131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12630"/>
            <a:ext cx="8783319" cy="428399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084" y="5431092"/>
            <a:ext cx="76200" cy="761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80185" y="5206937"/>
            <a:ext cx="6322060" cy="11976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550" spc="80" dirty="0">
                <a:latin typeface="Times New Roman"/>
                <a:cs typeface="Times New Roman"/>
              </a:rPr>
              <a:t>Need</a:t>
            </a:r>
            <a:r>
              <a:rPr sz="2550" spc="75" dirty="0">
                <a:latin typeface="Times New Roman"/>
                <a:cs typeface="Times New Roman"/>
              </a:rPr>
              <a:t> </a:t>
            </a:r>
            <a:r>
              <a:rPr sz="2550" spc="135" dirty="0">
                <a:latin typeface="Times New Roman"/>
                <a:cs typeface="Times New Roman"/>
              </a:rPr>
              <a:t>to</a:t>
            </a:r>
            <a:r>
              <a:rPr sz="2550" spc="9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identify</a:t>
            </a:r>
            <a:r>
              <a:rPr sz="2550" spc="90" dirty="0">
                <a:latin typeface="Times New Roman"/>
                <a:cs typeface="Times New Roman"/>
              </a:rPr>
              <a:t> </a:t>
            </a:r>
            <a:r>
              <a:rPr sz="2550" spc="65" dirty="0">
                <a:latin typeface="Times New Roman"/>
                <a:cs typeface="Times New Roman"/>
              </a:rPr>
              <a:t>context</a:t>
            </a:r>
            <a:r>
              <a:rPr sz="2550" spc="90" dirty="0">
                <a:latin typeface="Times New Roman"/>
                <a:cs typeface="Times New Roman"/>
              </a:rPr>
              <a:t> </a:t>
            </a:r>
            <a:r>
              <a:rPr sz="2550" spc="40" dirty="0">
                <a:latin typeface="Times New Roman"/>
                <a:cs typeface="Times New Roman"/>
              </a:rPr>
              <a:t>here.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268979" algn="l"/>
              </a:tabLst>
            </a:pPr>
            <a:r>
              <a:rPr sz="2550" spc="135" dirty="0">
                <a:latin typeface="Times New Roman"/>
                <a:cs typeface="Times New Roman"/>
              </a:rPr>
              <a:t>To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solve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spc="55" dirty="0">
                <a:latin typeface="Times New Roman"/>
                <a:cs typeface="Times New Roman"/>
              </a:rPr>
              <a:t>this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spc="60" dirty="0">
                <a:latin typeface="Times New Roman"/>
                <a:cs typeface="Times New Roman"/>
              </a:rPr>
              <a:t>problem: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95" dirty="0">
                <a:latin typeface="Times New Roman"/>
                <a:cs typeface="Times New Roman"/>
              </a:rPr>
              <a:t>Attention</a:t>
            </a:r>
            <a:r>
              <a:rPr sz="2550" spc="15" dirty="0">
                <a:latin typeface="Times New Roman"/>
                <a:cs typeface="Times New Roman"/>
              </a:rPr>
              <a:t> </a:t>
            </a:r>
            <a:r>
              <a:rPr sz="2550" spc="65" dirty="0">
                <a:latin typeface="Times New Roman"/>
                <a:cs typeface="Times New Roman"/>
              </a:rPr>
              <a:t>Mechanism</a:t>
            </a:r>
            <a:endParaRPr sz="25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084" y="6212142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79" y="325120"/>
            <a:ext cx="8773868" cy="436317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1" spc="200" dirty="0">
                <a:latin typeface="Cambria"/>
                <a:cs typeface="Cambria"/>
              </a:rPr>
              <a:t>Transformer</a:t>
            </a:r>
            <a:r>
              <a:rPr b="1" spc="165" dirty="0">
                <a:latin typeface="Cambria"/>
                <a:cs typeface="Cambria"/>
              </a:rPr>
              <a:t> </a:t>
            </a:r>
            <a:r>
              <a:rPr b="1" spc="225" dirty="0">
                <a:latin typeface="Cambria"/>
                <a:cs typeface="Cambria"/>
              </a:rPr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152400"/>
            <a:ext cx="4914899" cy="658177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971800"/>
            <a:ext cx="5481892" cy="316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72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001" y="1454940"/>
            <a:ext cx="6616660" cy="446325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759" y="1710219"/>
            <a:ext cx="8773841" cy="274677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29806"/>
            <a:ext cx="8777309" cy="460761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693" y="1627292"/>
            <a:ext cx="7709383" cy="432487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20167"/>
            <a:ext cx="8774078" cy="443932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597675"/>
            <a:ext cx="8775459" cy="437346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793941"/>
            <a:ext cx="8783319" cy="440802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600" y="1708620"/>
            <a:ext cx="8654750" cy="421603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6233" y="2071135"/>
            <a:ext cx="5231093" cy="234036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993" y="1484740"/>
            <a:ext cx="8593518" cy="451289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591249"/>
            <a:ext cx="8593518" cy="451289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597675"/>
            <a:ext cx="8601550" cy="451844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10527"/>
            <a:ext cx="8681837" cy="464616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10527"/>
            <a:ext cx="8665774" cy="464616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594463"/>
            <a:ext cx="8591232" cy="451631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600" y="1829264"/>
            <a:ext cx="8593519" cy="433740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759" y="1681301"/>
            <a:ext cx="8593518" cy="463331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236" y="2045244"/>
            <a:ext cx="7898901" cy="324919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74790"/>
            <a:ext cx="8778239" cy="425281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263" y="1821852"/>
            <a:ext cx="8392735" cy="435103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102" y="1853855"/>
            <a:ext cx="8615504" cy="377618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594463"/>
            <a:ext cx="8778239" cy="437007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434" y="1610527"/>
            <a:ext cx="8328484" cy="311551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759" y="1947235"/>
            <a:ext cx="8775459" cy="437346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880" y="1823951"/>
            <a:ext cx="8448954" cy="43479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759" y="1817651"/>
            <a:ext cx="8778239" cy="436065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944" y="5270499"/>
            <a:ext cx="85725" cy="857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3309" y="5029485"/>
            <a:ext cx="695769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spc="95" dirty="0">
                <a:latin typeface="Times New Roman"/>
                <a:cs typeface="Times New Roman"/>
              </a:rPr>
              <a:t>The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key,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spc="85" dirty="0">
                <a:latin typeface="Times New Roman"/>
                <a:cs typeface="Times New Roman"/>
              </a:rPr>
              <a:t>query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spc="65" dirty="0">
                <a:latin typeface="Times New Roman"/>
                <a:cs typeface="Times New Roman"/>
              </a:rPr>
              <a:t>used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spc="100" dirty="0">
                <a:latin typeface="Times New Roman"/>
                <a:cs typeface="Times New Roman"/>
              </a:rPr>
              <a:t>for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spc="65" dirty="0">
                <a:latin typeface="Times New Roman"/>
                <a:cs typeface="Times New Roman"/>
              </a:rPr>
              <a:t>linear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spc="100" dirty="0">
                <a:latin typeface="Times New Roman"/>
                <a:cs typeface="Times New Roman"/>
              </a:rPr>
              <a:t>transformation.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123709"/>
            <a:ext cx="9610629" cy="4874017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529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10"/>
              </a:spcBef>
            </a:pPr>
            <a:r>
              <a:rPr spc="220" dirty="0"/>
              <a:t>Math</a:t>
            </a:r>
            <a:r>
              <a:rPr spc="135" dirty="0"/>
              <a:t> </a:t>
            </a:r>
            <a:r>
              <a:rPr spc="210" dirty="0"/>
              <a:t>behind</a:t>
            </a:r>
            <a:r>
              <a:rPr spc="135" dirty="0"/>
              <a:t> </a:t>
            </a:r>
            <a:r>
              <a:rPr spc="190" dirty="0"/>
              <a:t>Attention</a:t>
            </a:r>
            <a:r>
              <a:rPr spc="135" dirty="0"/>
              <a:t> </a:t>
            </a:r>
            <a:r>
              <a:rPr spc="225" dirty="0"/>
              <a:t>Mechanism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0" dirty="0"/>
              <a:t>Similarity</a:t>
            </a:r>
            <a:r>
              <a:rPr spc="30" dirty="0"/>
              <a:t> </a:t>
            </a:r>
            <a:r>
              <a:rPr spc="55" dirty="0"/>
              <a:t>between</a:t>
            </a:r>
            <a:r>
              <a:rPr spc="30" dirty="0"/>
              <a:t> </a:t>
            </a:r>
            <a:r>
              <a:rPr spc="55" dirty="0"/>
              <a:t>words:</a:t>
            </a: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pc="55" dirty="0"/>
          </a:p>
          <a:p>
            <a:pPr marL="368935" indent="-306705">
              <a:lnSpc>
                <a:spcPct val="100000"/>
              </a:lnSpc>
              <a:buClr>
                <a:srgbClr val="727CA2"/>
              </a:buClr>
              <a:buAutoNum type="arabicPeriod"/>
              <a:tabLst>
                <a:tab pos="368935" algn="l"/>
              </a:tabLst>
            </a:pPr>
            <a:r>
              <a:rPr spc="190" dirty="0"/>
              <a:t>Dot</a:t>
            </a:r>
            <a:r>
              <a:rPr spc="10" dirty="0"/>
              <a:t> </a:t>
            </a:r>
            <a:r>
              <a:rPr spc="110" dirty="0"/>
              <a:t>Product</a:t>
            </a:r>
          </a:p>
          <a:p>
            <a:pPr marL="368935" indent="-306705">
              <a:lnSpc>
                <a:spcPct val="100000"/>
              </a:lnSpc>
              <a:buClr>
                <a:srgbClr val="727CA2"/>
              </a:buClr>
              <a:buAutoNum type="arabicPeriod"/>
              <a:tabLst>
                <a:tab pos="368935" algn="l"/>
              </a:tabLst>
            </a:pPr>
            <a:r>
              <a:rPr spc="65" dirty="0"/>
              <a:t>Cosine</a:t>
            </a:r>
            <a:r>
              <a:rPr spc="10" dirty="0"/>
              <a:t> </a:t>
            </a:r>
            <a:r>
              <a:rPr spc="40" dirty="0"/>
              <a:t>Similarity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961" y="1610527"/>
            <a:ext cx="8705957" cy="444157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108" y="1816602"/>
            <a:ext cx="8705892" cy="4362701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48" y="1674875"/>
            <a:ext cx="8461350" cy="430306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856" y="1858117"/>
            <a:ext cx="8697796" cy="4279684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962" y="1610527"/>
            <a:ext cx="8694555" cy="441597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326" y="1815424"/>
            <a:ext cx="8327964" cy="436507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891" y="1830377"/>
            <a:ext cx="8453773" cy="433516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950" y="1819688"/>
            <a:ext cx="8473048" cy="435650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" y="1627940"/>
            <a:ext cx="8539479" cy="4740017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578396"/>
            <a:ext cx="8773773" cy="4710431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584823"/>
            <a:ext cx="8777056" cy="4697579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605" y="1816538"/>
            <a:ext cx="8569234" cy="4362841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521" y="1919560"/>
            <a:ext cx="8567242" cy="441177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768" y="1826113"/>
            <a:ext cx="8344151" cy="434365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765" y="1816538"/>
            <a:ext cx="8569234" cy="436284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371" y="1594463"/>
            <a:ext cx="8344547" cy="433726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144" y="1719328"/>
            <a:ext cx="8014934" cy="4509784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183" y="1829327"/>
            <a:ext cx="8392735" cy="433726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404" y="1623380"/>
            <a:ext cx="8079503" cy="4441438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494" y="1629806"/>
            <a:ext cx="8569424" cy="4278919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525" y="1652298"/>
            <a:ext cx="8561393" cy="4087567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434" y="1636233"/>
            <a:ext cx="8328484" cy="319465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494" y="1597675"/>
            <a:ext cx="8569424" cy="4347933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771" y="1497556"/>
            <a:ext cx="8360228" cy="4151759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243" y="1610527"/>
            <a:ext cx="8342079" cy="3274051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246" y="2042549"/>
            <a:ext cx="8140365" cy="419165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219" y="1769080"/>
            <a:ext cx="8350213" cy="425952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118" y="1903615"/>
            <a:ext cx="8665801" cy="384323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10527"/>
            <a:ext cx="8775205" cy="4373341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591249"/>
            <a:ext cx="8776613" cy="4369268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600" y="1655596"/>
            <a:ext cx="8774620" cy="4377793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04102"/>
            <a:ext cx="8774023" cy="4624919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135" y="1693651"/>
            <a:ext cx="8671178" cy="4268931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19" y="1616954"/>
            <a:ext cx="8689367" cy="4403118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308" y="2126115"/>
            <a:ext cx="7183619" cy="3755574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091" y="1381760"/>
            <a:ext cx="8344548" cy="44145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5983" y="5967395"/>
            <a:ext cx="4928134" cy="701574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261" y="1422223"/>
            <a:ext cx="8649737" cy="43945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4080" y="6014720"/>
            <a:ext cx="5852159" cy="975359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371" y="1610527"/>
            <a:ext cx="8344547" cy="40423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639" y="5933440"/>
            <a:ext cx="5852159" cy="975359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371" y="1620167"/>
            <a:ext cx="8344547" cy="4075363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525" y="1610527"/>
            <a:ext cx="8561393" cy="4060027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575" y="1694153"/>
            <a:ext cx="8560190" cy="444562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92" y="1597675"/>
            <a:ext cx="8620983" cy="4381995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455" y="1607315"/>
            <a:ext cx="8567810" cy="4388292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607" y="6861060"/>
            <a:ext cx="128905" cy="203835"/>
          </a:xfrm>
          <a:custGeom>
            <a:avLst/>
            <a:gdLst/>
            <a:ahLst/>
            <a:cxnLst/>
            <a:rect l="l" t="t" r="r" b="b"/>
            <a:pathLst>
              <a:path w="128904" h="203834">
                <a:moveTo>
                  <a:pt x="0" y="203549"/>
                </a:moveTo>
                <a:lnTo>
                  <a:pt x="0" y="0"/>
                </a:lnTo>
                <a:lnTo>
                  <a:pt x="128301" y="101822"/>
                </a:lnTo>
                <a:lnTo>
                  <a:pt x="0" y="203549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525" y="1610527"/>
            <a:ext cx="8561393" cy="41772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79" y="5891814"/>
            <a:ext cx="7888972" cy="1168141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405" y="2039307"/>
            <a:ext cx="75483" cy="7548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8727" y="1819310"/>
            <a:ext cx="8275955" cy="4078604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2900"/>
              </a:lnSpc>
              <a:spcBef>
                <a:spcPts val="229"/>
              </a:spcBef>
              <a:tabLst>
                <a:tab pos="874394" algn="l"/>
                <a:tab pos="1995805" algn="l"/>
                <a:tab pos="3642360" algn="l"/>
                <a:tab pos="4656455" algn="l"/>
                <a:tab pos="5052060" algn="l"/>
                <a:tab pos="6872605" algn="l"/>
                <a:tab pos="7595234" algn="l"/>
              </a:tabLst>
            </a:pPr>
            <a:r>
              <a:rPr sz="2450" spc="65" dirty="0">
                <a:latin typeface="Times New Roman"/>
                <a:cs typeface="Times New Roman"/>
              </a:rPr>
              <a:t>Each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50" dirty="0">
                <a:latin typeface="Times New Roman"/>
                <a:cs typeface="Times New Roman"/>
              </a:rPr>
              <a:t>token's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45" dirty="0">
                <a:latin typeface="Times New Roman"/>
                <a:cs typeface="Times New Roman"/>
              </a:rPr>
              <a:t>embedding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45" dirty="0">
                <a:latin typeface="Times New Roman"/>
                <a:cs typeface="Times New Roman"/>
              </a:rPr>
              <a:t>vector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-25" dirty="0">
                <a:latin typeface="Times New Roman"/>
                <a:cs typeface="Times New Roman"/>
              </a:rPr>
              <a:t>is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75" dirty="0">
                <a:latin typeface="Times New Roman"/>
                <a:cs typeface="Times New Roman"/>
              </a:rPr>
              <a:t>transformed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70" dirty="0">
                <a:latin typeface="Times New Roman"/>
                <a:cs typeface="Times New Roman"/>
              </a:rPr>
              <a:t>into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55" dirty="0">
                <a:latin typeface="Times New Roman"/>
                <a:cs typeface="Times New Roman"/>
              </a:rPr>
              <a:t>three </a:t>
            </a:r>
            <a:r>
              <a:rPr sz="2450" dirty="0">
                <a:latin typeface="Times New Roman"/>
                <a:cs typeface="Times New Roman"/>
              </a:rPr>
              <a:t>vectors:</a:t>
            </a:r>
            <a:r>
              <a:rPr sz="2450" spc="8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Query</a:t>
            </a:r>
            <a:r>
              <a:rPr sz="2450" spc="9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(Q),</a:t>
            </a:r>
            <a:r>
              <a:rPr sz="2450" spc="9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Key</a:t>
            </a:r>
            <a:r>
              <a:rPr sz="2450" spc="9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(K),</a:t>
            </a:r>
            <a:r>
              <a:rPr sz="2450" spc="90" dirty="0">
                <a:latin typeface="Times New Roman"/>
                <a:cs typeface="Times New Roman"/>
              </a:rPr>
              <a:t> </a:t>
            </a:r>
            <a:r>
              <a:rPr sz="2450" spc="120" dirty="0">
                <a:latin typeface="Times New Roman"/>
                <a:cs typeface="Times New Roman"/>
              </a:rPr>
              <a:t>and</a:t>
            </a:r>
            <a:r>
              <a:rPr sz="2450" spc="9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Value</a:t>
            </a:r>
            <a:r>
              <a:rPr sz="2450" spc="100" dirty="0">
                <a:latin typeface="Times New Roman"/>
                <a:cs typeface="Times New Roman"/>
              </a:rPr>
              <a:t> </a:t>
            </a:r>
            <a:r>
              <a:rPr sz="2450" spc="-20" dirty="0">
                <a:latin typeface="Times New Roman"/>
                <a:cs typeface="Times New Roman"/>
              </a:rPr>
              <a:t>(V).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 marR="5080">
              <a:lnSpc>
                <a:spcPts val="2900"/>
              </a:lnSpc>
              <a:spcBef>
                <a:spcPts val="5"/>
              </a:spcBef>
            </a:pPr>
            <a:r>
              <a:rPr sz="2450" dirty="0">
                <a:latin typeface="Times New Roman"/>
                <a:cs typeface="Times New Roman"/>
              </a:rPr>
              <a:t>These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spc="45" dirty="0">
                <a:latin typeface="Times New Roman"/>
                <a:cs typeface="Times New Roman"/>
              </a:rPr>
              <a:t>vectors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are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spc="45" dirty="0">
                <a:latin typeface="Times New Roman"/>
                <a:cs typeface="Times New Roman"/>
              </a:rPr>
              <a:t>derived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by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multiplying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spc="95" dirty="0">
                <a:latin typeface="Times New Roman"/>
                <a:cs typeface="Times New Roman"/>
              </a:rPr>
              <a:t>input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spc="45" dirty="0">
                <a:latin typeface="Times New Roman"/>
                <a:cs typeface="Times New Roman"/>
              </a:rPr>
              <a:t>embedding </a:t>
            </a:r>
            <a:r>
              <a:rPr sz="2450" spc="80" dirty="0">
                <a:latin typeface="Times New Roman"/>
                <a:cs typeface="Times New Roman"/>
              </a:rPr>
              <a:t>matrix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with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learned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weight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matrices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80" dirty="0">
                <a:latin typeface="Times New Roman"/>
                <a:cs typeface="Times New Roman"/>
              </a:rPr>
              <a:t>for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Q,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135" dirty="0">
                <a:latin typeface="Times New Roman"/>
                <a:cs typeface="Times New Roman"/>
              </a:rPr>
              <a:t>K,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125" dirty="0">
                <a:latin typeface="Times New Roman"/>
                <a:cs typeface="Times New Roman"/>
              </a:rPr>
              <a:t>and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-25" dirty="0">
                <a:latin typeface="Times New Roman"/>
                <a:cs typeface="Times New Roman"/>
              </a:rPr>
              <a:t>V.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 marR="5080">
              <a:lnSpc>
                <a:spcPts val="2900"/>
              </a:lnSpc>
            </a:pPr>
            <a:r>
              <a:rPr sz="2450" dirty="0">
                <a:latin typeface="Times New Roman"/>
                <a:cs typeface="Times New Roman"/>
              </a:rPr>
              <a:t>Here's</a:t>
            </a:r>
            <a:r>
              <a:rPr sz="2450" spc="375" dirty="0">
                <a:latin typeface="Times New Roman"/>
                <a:cs typeface="Times New Roman"/>
              </a:rPr>
              <a:t> </a:t>
            </a:r>
            <a:r>
              <a:rPr sz="2450" spc="130" dirty="0">
                <a:latin typeface="Times New Roman"/>
                <a:cs typeface="Times New Roman"/>
              </a:rPr>
              <a:t>a</a:t>
            </a:r>
            <a:r>
              <a:rPr sz="2450" spc="37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web</a:t>
            </a:r>
            <a:r>
              <a:rPr sz="2450" spc="375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search</a:t>
            </a:r>
            <a:r>
              <a:rPr sz="2450" spc="37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analogy</a:t>
            </a:r>
            <a:r>
              <a:rPr sz="2450" spc="375" dirty="0">
                <a:latin typeface="Times New Roman"/>
                <a:cs typeface="Times New Roman"/>
              </a:rPr>
              <a:t> </a:t>
            </a:r>
            <a:r>
              <a:rPr sz="2450" spc="125" dirty="0">
                <a:latin typeface="Times New Roman"/>
                <a:cs typeface="Times New Roman"/>
              </a:rPr>
              <a:t>to</a:t>
            </a:r>
            <a:r>
              <a:rPr sz="2450" spc="37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help</a:t>
            </a:r>
            <a:r>
              <a:rPr sz="2450" spc="375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us</a:t>
            </a:r>
            <a:r>
              <a:rPr sz="2450" spc="37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build</a:t>
            </a:r>
            <a:r>
              <a:rPr sz="2450" spc="37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some</a:t>
            </a:r>
            <a:r>
              <a:rPr sz="2450" spc="37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intuition </a:t>
            </a:r>
            <a:r>
              <a:rPr sz="2450" spc="70" dirty="0">
                <a:latin typeface="Times New Roman"/>
                <a:cs typeface="Times New Roman"/>
              </a:rPr>
              <a:t>behind</a:t>
            </a:r>
            <a:r>
              <a:rPr sz="2450" spc="9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these</a:t>
            </a:r>
            <a:r>
              <a:rPr sz="2450" spc="105" dirty="0">
                <a:latin typeface="Times New Roman"/>
                <a:cs typeface="Times New Roman"/>
              </a:rPr>
              <a:t> </a:t>
            </a:r>
            <a:r>
              <a:rPr sz="2450" spc="-10" dirty="0">
                <a:latin typeface="Times New Roman"/>
                <a:cs typeface="Times New Roman"/>
              </a:rPr>
              <a:t>matrices: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 marR="5080">
              <a:lnSpc>
                <a:spcPts val="2900"/>
              </a:lnSpc>
            </a:pPr>
            <a:r>
              <a:rPr sz="2450" spc="65" dirty="0">
                <a:latin typeface="Times New Roman"/>
                <a:cs typeface="Times New Roman"/>
              </a:rPr>
              <a:t>Query</a:t>
            </a:r>
            <a:r>
              <a:rPr sz="2450" spc="1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(Q)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search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text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80" dirty="0">
                <a:latin typeface="Times New Roman"/>
                <a:cs typeface="Times New Roman"/>
              </a:rPr>
              <a:t>you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type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in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search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engine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bar. </a:t>
            </a:r>
            <a:r>
              <a:rPr sz="2450" spc="50" dirty="0">
                <a:latin typeface="Times New Roman"/>
                <a:cs typeface="Times New Roman"/>
              </a:rPr>
              <a:t>This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90" dirty="0">
                <a:latin typeface="Times New Roman"/>
                <a:cs typeface="Times New Roman"/>
              </a:rPr>
              <a:t>token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spc="80" dirty="0">
                <a:latin typeface="Times New Roman"/>
                <a:cs typeface="Times New Roman"/>
              </a:rPr>
              <a:t>you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90" dirty="0">
                <a:latin typeface="Times New Roman"/>
                <a:cs typeface="Times New Roman"/>
              </a:rPr>
              <a:t>want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125" dirty="0">
                <a:latin typeface="Times New Roman"/>
                <a:cs typeface="Times New Roman"/>
              </a:rPr>
              <a:t>to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"find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80" dirty="0">
                <a:latin typeface="Times New Roman"/>
                <a:cs typeface="Times New Roman"/>
              </a:rPr>
              <a:t>more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information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about".</a:t>
            </a:r>
            <a:endParaRPr sz="24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405" y="3143254"/>
            <a:ext cx="75483" cy="754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405" y="4247201"/>
            <a:ext cx="75483" cy="754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405" y="5351148"/>
            <a:ext cx="75483" cy="75483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173" y="1683792"/>
            <a:ext cx="76200" cy="761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0470" y="1461828"/>
            <a:ext cx="8354695" cy="448881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just">
              <a:lnSpc>
                <a:spcPts val="2930"/>
              </a:lnSpc>
              <a:spcBef>
                <a:spcPts val="225"/>
              </a:spcBef>
            </a:pPr>
            <a:r>
              <a:rPr sz="2450" spc="75" dirty="0">
                <a:latin typeface="Times New Roman"/>
                <a:cs typeface="Times New Roman"/>
              </a:rPr>
              <a:t>Key</a:t>
            </a:r>
            <a:r>
              <a:rPr sz="2450" dirty="0">
                <a:latin typeface="Times New Roman"/>
                <a:cs typeface="Times New Roman"/>
              </a:rPr>
              <a:t>  </a:t>
            </a:r>
            <a:r>
              <a:rPr sz="2450" spc="85" dirty="0">
                <a:latin typeface="Times New Roman"/>
                <a:cs typeface="Times New Roman"/>
              </a:rPr>
              <a:t>(K)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dirty="0">
                <a:latin typeface="Times New Roman"/>
                <a:cs typeface="Times New Roman"/>
              </a:rPr>
              <a:t>  </a:t>
            </a:r>
            <a:r>
              <a:rPr sz="2450" spc="50" dirty="0">
                <a:latin typeface="Times New Roman"/>
                <a:cs typeface="Times New Roman"/>
              </a:rPr>
              <a:t>title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70" dirty="0">
                <a:latin typeface="Times New Roman"/>
                <a:cs typeface="Times New Roman"/>
              </a:rPr>
              <a:t>of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60" dirty="0">
                <a:latin typeface="Times New Roman"/>
                <a:cs typeface="Times New Roman"/>
              </a:rPr>
              <a:t>each</a:t>
            </a:r>
            <a:r>
              <a:rPr sz="2450" dirty="0">
                <a:latin typeface="Times New Roman"/>
                <a:cs typeface="Times New Roman"/>
              </a:rPr>
              <a:t>  web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65" dirty="0">
                <a:latin typeface="Times New Roman"/>
                <a:cs typeface="Times New Roman"/>
              </a:rPr>
              <a:t>page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60" dirty="0">
                <a:latin typeface="Times New Roman"/>
                <a:cs typeface="Times New Roman"/>
              </a:rPr>
              <a:t>in</a:t>
            </a:r>
            <a:r>
              <a:rPr sz="2450" dirty="0">
                <a:latin typeface="Times New Roman"/>
                <a:cs typeface="Times New Roman"/>
              </a:rPr>
              <a:t> 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65" dirty="0">
                <a:latin typeface="Times New Roman"/>
                <a:cs typeface="Times New Roman"/>
              </a:rPr>
              <a:t>search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55" dirty="0">
                <a:latin typeface="Times New Roman"/>
                <a:cs typeface="Times New Roman"/>
              </a:rPr>
              <a:t>result </a:t>
            </a:r>
            <a:r>
              <a:rPr sz="2450" spc="60" dirty="0">
                <a:latin typeface="Times New Roman"/>
                <a:cs typeface="Times New Roman"/>
              </a:rPr>
              <a:t>window.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135" dirty="0">
                <a:latin typeface="Times New Roman"/>
                <a:cs typeface="Times New Roman"/>
              </a:rPr>
              <a:t>It</a:t>
            </a:r>
            <a:r>
              <a:rPr sz="2450" spc="55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represents</a:t>
            </a:r>
            <a:r>
              <a:rPr sz="2450" spc="5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45" dirty="0">
                <a:latin typeface="Times New Roman"/>
                <a:cs typeface="Times New Roman"/>
              </a:rPr>
              <a:t>possible</a:t>
            </a:r>
            <a:r>
              <a:rPr sz="2450" spc="5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tokens</a:t>
            </a:r>
            <a:r>
              <a:rPr sz="2450" spc="5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query</a:t>
            </a:r>
            <a:r>
              <a:rPr sz="2450" spc="5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can</a:t>
            </a:r>
            <a:r>
              <a:rPr sz="2450" spc="55" dirty="0">
                <a:latin typeface="Times New Roman"/>
                <a:cs typeface="Times New Roman"/>
              </a:rPr>
              <a:t> </a:t>
            </a:r>
            <a:r>
              <a:rPr sz="2450" spc="100" dirty="0">
                <a:latin typeface="Times New Roman"/>
                <a:cs typeface="Times New Roman"/>
              </a:rPr>
              <a:t>attend </a:t>
            </a:r>
            <a:r>
              <a:rPr sz="2450" spc="80" dirty="0">
                <a:latin typeface="Times New Roman"/>
                <a:cs typeface="Times New Roman"/>
              </a:rPr>
              <a:t>to.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 marR="5080" algn="just">
              <a:lnSpc>
                <a:spcPts val="2930"/>
              </a:lnSpc>
            </a:pPr>
            <a:r>
              <a:rPr sz="2450" dirty="0">
                <a:latin typeface="Times New Roman"/>
                <a:cs typeface="Times New Roman"/>
              </a:rPr>
              <a:t>Value</a:t>
            </a:r>
            <a:r>
              <a:rPr sz="2450" spc="21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(V)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actual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90" dirty="0">
                <a:latin typeface="Times New Roman"/>
                <a:cs typeface="Times New Roman"/>
              </a:rPr>
              <a:t>content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of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web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pages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70" dirty="0">
                <a:latin typeface="Times New Roman"/>
                <a:cs typeface="Times New Roman"/>
              </a:rPr>
              <a:t>shown.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Once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-25" dirty="0">
                <a:latin typeface="Times New Roman"/>
                <a:cs typeface="Times New Roman"/>
              </a:rPr>
              <a:t>we </a:t>
            </a:r>
            <a:r>
              <a:rPr sz="2450" spc="90" dirty="0">
                <a:latin typeface="Times New Roman"/>
                <a:cs typeface="Times New Roman"/>
              </a:rPr>
              <a:t>matched</a:t>
            </a:r>
            <a:r>
              <a:rPr sz="2450" spc="330" dirty="0">
                <a:latin typeface="Times New Roman"/>
                <a:cs typeface="Times New Roman"/>
              </a:rPr>
              <a:t> 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spc="335" dirty="0">
                <a:latin typeface="Times New Roman"/>
                <a:cs typeface="Times New Roman"/>
              </a:rPr>
              <a:t>  </a:t>
            </a:r>
            <a:r>
              <a:rPr sz="2450" spc="105" dirty="0">
                <a:latin typeface="Times New Roman"/>
                <a:cs typeface="Times New Roman"/>
              </a:rPr>
              <a:t>appropriate</a:t>
            </a:r>
            <a:r>
              <a:rPr sz="2450" spc="340" dirty="0">
                <a:latin typeface="Times New Roman"/>
                <a:cs typeface="Times New Roman"/>
              </a:rPr>
              <a:t>  </a:t>
            </a:r>
            <a:r>
              <a:rPr sz="2450" spc="65" dirty="0">
                <a:latin typeface="Times New Roman"/>
                <a:cs typeface="Times New Roman"/>
              </a:rPr>
              <a:t>search</a:t>
            </a:r>
            <a:r>
              <a:rPr sz="2450" spc="340" dirty="0">
                <a:latin typeface="Times New Roman"/>
                <a:cs typeface="Times New Roman"/>
              </a:rPr>
              <a:t>  </a:t>
            </a:r>
            <a:r>
              <a:rPr sz="2450" spc="100" dirty="0">
                <a:latin typeface="Times New Roman"/>
                <a:cs typeface="Times New Roman"/>
              </a:rPr>
              <a:t>term</a:t>
            </a:r>
            <a:r>
              <a:rPr sz="2450" spc="335" dirty="0">
                <a:latin typeface="Times New Roman"/>
                <a:cs typeface="Times New Roman"/>
              </a:rPr>
              <a:t>  </a:t>
            </a:r>
            <a:r>
              <a:rPr sz="2450" spc="55" dirty="0">
                <a:latin typeface="Times New Roman"/>
                <a:cs typeface="Times New Roman"/>
              </a:rPr>
              <a:t>(Query)</a:t>
            </a:r>
            <a:r>
              <a:rPr sz="2450" spc="340" dirty="0">
                <a:latin typeface="Times New Roman"/>
                <a:cs typeface="Times New Roman"/>
              </a:rPr>
              <a:t>  </a:t>
            </a:r>
            <a:r>
              <a:rPr sz="2450" spc="65" dirty="0">
                <a:latin typeface="Times New Roman"/>
                <a:cs typeface="Times New Roman"/>
              </a:rPr>
              <a:t>with</a:t>
            </a:r>
            <a:r>
              <a:rPr sz="2450" spc="340" dirty="0">
                <a:latin typeface="Times New Roman"/>
                <a:cs typeface="Times New Roman"/>
              </a:rPr>
              <a:t>  </a:t>
            </a:r>
            <a:r>
              <a:rPr sz="2450" spc="60" dirty="0">
                <a:latin typeface="Times New Roman"/>
                <a:cs typeface="Times New Roman"/>
              </a:rPr>
              <a:t>the </a:t>
            </a:r>
            <a:r>
              <a:rPr sz="2450" spc="65" dirty="0">
                <a:latin typeface="Times New Roman"/>
                <a:cs typeface="Times New Roman"/>
              </a:rPr>
              <a:t>relevant</a:t>
            </a:r>
            <a:r>
              <a:rPr sz="2450" spc="330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results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(Key),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we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spc="100" dirty="0">
                <a:latin typeface="Times New Roman"/>
                <a:cs typeface="Times New Roman"/>
              </a:rPr>
              <a:t>want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spc="135" dirty="0">
                <a:latin typeface="Times New Roman"/>
                <a:cs typeface="Times New Roman"/>
              </a:rPr>
              <a:t>to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get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spc="90" dirty="0">
                <a:latin typeface="Times New Roman"/>
                <a:cs typeface="Times New Roman"/>
              </a:rPr>
              <a:t>content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(Value)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spc="45" dirty="0">
                <a:latin typeface="Times New Roman"/>
                <a:cs typeface="Times New Roman"/>
              </a:rPr>
              <a:t>of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spc="95" dirty="0">
                <a:latin typeface="Times New Roman"/>
                <a:cs typeface="Times New Roman"/>
              </a:rPr>
              <a:t>most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relevant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40" dirty="0">
                <a:latin typeface="Times New Roman"/>
                <a:cs typeface="Times New Roman"/>
              </a:rPr>
              <a:t>pages.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 marR="5080" algn="just">
              <a:lnSpc>
                <a:spcPts val="2920"/>
              </a:lnSpc>
            </a:pPr>
            <a:r>
              <a:rPr sz="2450" dirty="0">
                <a:latin typeface="Times New Roman"/>
                <a:cs typeface="Times New Roman"/>
              </a:rPr>
              <a:t>By</a:t>
            </a:r>
            <a:r>
              <a:rPr sz="2450" spc="19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using</a:t>
            </a:r>
            <a:r>
              <a:rPr sz="2450" spc="195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these</a:t>
            </a:r>
            <a:r>
              <a:rPr sz="2450" spc="200" dirty="0">
                <a:latin typeface="Times New Roman"/>
                <a:cs typeface="Times New Roman"/>
              </a:rPr>
              <a:t> </a:t>
            </a:r>
            <a:r>
              <a:rPr sz="2450" spc="120" dirty="0">
                <a:latin typeface="Times New Roman"/>
                <a:cs typeface="Times New Roman"/>
              </a:rPr>
              <a:t>QKV</a:t>
            </a:r>
            <a:r>
              <a:rPr sz="2450" spc="2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values,</a:t>
            </a:r>
            <a:r>
              <a:rPr sz="2450" spc="20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spc="19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model</a:t>
            </a:r>
            <a:r>
              <a:rPr sz="2450" spc="20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can</a:t>
            </a:r>
            <a:r>
              <a:rPr sz="2450" spc="200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calculate</a:t>
            </a:r>
            <a:r>
              <a:rPr sz="2450" spc="200" dirty="0">
                <a:latin typeface="Times New Roman"/>
                <a:cs typeface="Times New Roman"/>
              </a:rPr>
              <a:t> </a:t>
            </a:r>
            <a:r>
              <a:rPr sz="2450" b="1" spc="-10" dirty="0">
                <a:latin typeface="Times New Roman"/>
                <a:cs typeface="Times New Roman"/>
              </a:rPr>
              <a:t>attention </a:t>
            </a:r>
            <a:r>
              <a:rPr sz="2450" b="1" dirty="0">
                <a:latin typeface="Times New Roman"/>
                <a:cs typeface="Times New Roman"/>
              </a:rPr>
              <a:t>scores,</a:t>
            </a:r>
            <a:r>
              <a:rPr sz="2450" b="1" spc="45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which</a:t>
            </a:r>
            <a:r>
              <a:rPr sz="2450" b="1" spc="45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determine</a:t>
            </a:r>
            <a:r>
              <a:rPr sz="2450" b="1" spc="445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how</a:t>
            </a:r>
            <a:r>
              <a:rPr sz="2450" b="1" spc="45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much</a:t>
            </a:r>
            <a:r>
              <a:rPr sz="2450" b="1" spc="45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focus</a:t>
            </a:r>
            <a:r>
              <a:rPr sz="2450" b="1" spc="45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each</a:t>
            </a:r>
            <a:r>
              <a:rPr sz="2450" b="1" spc="45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token</a:t>
            </a:r>
            <a:r>
              <a:rPr sz="2450" b="1" spc="445" dirty="0">
                <a:latin typeface="Times New Roman"/>
                <a:cs typeface="Times New Roman"/>
              </a:rPr>
              <a:t> </a:t>
            </a:r>
            <a:r>
              <a:rPr sz="2450" b="1" spc="-10" dirty="0">
                <a:latin typeface="Times New Roman"/>
                <a:cs typeface="Times New Roman"/>
              </a:rPr>
              <a:t>should </a:t>
            </a:r>
            <a:r>
              <a:rPr sz="2450" b="1" spc="-35" dirty="0">
                <a:latin typeface="Times New Roman"/>
                <a:cs typeface="Times New Roman"/>
              </a:rPr>
              <a:t>receive</a:t>
            </a:r>
            <a:r>
              <a:rPr sz="2450" b="1" spc="-80" dirty="0">
                <a:latin typeface="Times New Roman"/>
                <a:cs typeface="Times New Roman"/>
              </a:rPr>
              <a:t> </a:t>
            </a:r>
            <a:r>
              <a:rPr sz="2450" b="1" spc="-100" dirty="0">
                <a:latin typeface="Times New Roman"/>
                <a:cs typeface="Times New Roman"/>
              </a:rPr>
              <a:t>when</a:t>
            </a:r>
            <a:r>
              <a:rPr sz="2450" b="1" spc="-50" dirty="0">
                <a:latin typeface="Times New Roman"/>
                <a:cs typeface="Times New Roman"/>
              </a:rPr>
              <a:t> </a:t>
            </a:r>
            <a:r>
              <a:rPr sz="2450" b="1" spc="-35" dirty="0">
                <a:latin typeface="Times New Roman"/>
                <a:cs typeface="Times New Roman"/>
              </a:rPr>
              <a:t>generating</a:t>
            </a:r>
            <a:r>
              <a:rPr sz="2450" b="1" spc="-65" dirty="0">
                <a:latin typeface="Times New Roman"/>
                <a:cs typeface="Times New Roman"/>
              </a:rPr>
              <a:t> </a:t>
            </a:r>
            <a:r>
              <a:rPr sz="2450" b="1" spc="-10" dirty="0">
                <a:latin typeface="Times New Roman"/>
                <a:cs typeface="Times New Roman"/>
              </a:rPr>
              <a:t>predictions.</a:t>
            </a:r>
            <a:endParaRPr sz="24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173" y="3169692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173" y="5027067"/>
            <a:ext cx="76200" cy="76199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858" y="2016726"/>
            <a:ext cx="9203190" cy="3500863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9303" y="3403822"/>
            <a:ext cx="2275205" cy="546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200" dirty="0"/>
              <a:t>Thank</a:t>
            </a:r>
            <a:r>
              <a:rPr spc="125" dirty="0"/>
              <a:t> </a:t>
            </a:r>
            <a:r>
              <a:rPr spc="270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1432</TotalTime>
  <Words>494</Words>
  <Application>Microsoft Office PowerPoint</Application>
  <PresentationFormat>Custom</PresentationFormat>
  <Paragraphs>69</Paragraphs>
  <Slides>108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11" baseType="lpstr">
      <vt:lpstr>Cambria</vt:lpstr>
      <vt:lpstr>Times New Roman</vt:lpstr>
      <vt:lpstr>Office Theme</vt:lpstr>
      <vt:lpstr>Attention Mechanism and Transformer Model</vt:lpstr>
      <vt:lpstr>Contents</vt:lpstr>
      <vt:lpstr>PowerPoint Presentation</vt:lpstr>
      <vt:lpstr>PowerPoint Presentation</vt:lpstr>
      <vt:lpstr>Introduction</vt:lpstr>
      <vt:lpstr>The 2017 paper "Attention Is All You Need" introduced the Transformer model.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Before  Transformers,  the  dominant  models  for  sequential data were Recurrent Neural Networks (RNNs), such as Long Short-Term Memory (LSTM).</vt:lpstr>
      <vt:lpstr>RNNs' problems</vt:lpstr>
      <vt:lpstr>LSTMs problems</vt:lpstr>
      <vt:lpstr>Main problems</vt:lpstr>
      <vt:lpstr>PowerPoint Presentation</vt:lpstr>
      <vt:lpstr>PowerPoint Presentation</vt:lpstr>
      <vt:lpstr>PowerPoint Presentation</vt:lpstr>
      <vt:lpstr>Solution: Attention Mechanism</vt:lpstr>
      <vt:lpstr>PowerPoint Presentation</vt:lpstr>
      <vt:lpstr>Attention Mechanism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Transformer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 behind Attention Mechanism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Landscape University Research Poster in White Blue Contemporary Editorial Style</dc:title>
  <dc:creator>sisira s r</dc:creator>
  <cp:keywords>DAGxklOk7Hg,BAEB9lOWBWA,0</cp:keywords>
  <cp:lastModifiedBy>Maakhish Sai</cp:lastModifiedBy>
  <cp:revision>5</cp:revision>
  <dcterms:created xsi:type="dcterms:W3CDTF">2025-10-27T09:51:01Z</dcterms:created>
  <dcterms:modified xsi:type="dcterms:W3CDTF">2025-11-24T18:31:17Z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2025-10-22T00:00:00Z</vt:filetime>
  </property>
  <property fmtid="{D5CDD505-2E9C-101B-9397-08002B2CF9AE}" pid="3" name="Creator">
    <vt:lpwstr>Canva</vt:lpwstr>
  </property>
  <property fmtid="{D5CDD505-2E9C-101B-9397-08002B2CF9AE}" pid="4" name="LastSaved">
    <vt:filetime>2025-10-27T00:00:00Z</vt:filetime>
  </property>
  <property fmtid="{D5CDD505-2E9C-101B-9397-08002B2CF9AE}" pid="5" name="Producer">
    <vt:lpwstr>Canva</vt:lpwstr>
  </property>
</Properties>
</file>