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77" r:id="rId2"/>
    <p:sldId id="409" r:id="rId3"/>
    <p:sldId id="410" r:id="rId4"/>
    <p:sldId id="411" r:id="rId5"/>
    <p:sldId id="412" r:id="rId6"/>
    <p:sldId id="421" r:id="rId7"/>
    <p:sldId id="422" r:id="rId8"/>
    <p:sldId id="423" r:id="rId9"/>
    <p:sldId id="389" r:id="rId10"/>
    <p:sldId id="390" r:id="rId11"/>
    <p:sldId id="391" r:id="rId12"/>
    <p:sldId id="393" r:id="rId13"/>
    <p:sldId id="392" r:id="rId14"/>
    <p:sldId id="394" r:id="rId15"/>
    <p:sldId id="395" r:id="rId16"/>
    <p:sldId id="396" r:id="rId17"/>
    <p:sldId id="398" r:id="rId18"/>
    <p:sldId id="399" r:id="rId19"/>
    <p:sldId id="400" r:id="rId20"/>
    <p:sldId id="323" r:id="rId21"/>
    <p:sldId id="328" r:id="rId22"/>
    <p:sldId id="336" r:id="rId23"/>
    <p:sldId id="337" r:id="rId24"/>
    <p:sldId id="338" r:id="rId25"/>
    <p:sldId id="340" r:id="rId26"/>
    <p:sldId id="342" r:id="rId27"/>
    <p:sldId id="346" r:id="rId28"/>
    <p:sldId id="383" r:id="rId29"/>
    <p:sldId id="349" r:id="rId30"/>
    <p:sldId id="351" r:id="rId31"/>
    <p:sldId id="352" r:id="rId32"/>
    <p:sldId id="353" r:id="rId33"/>
    <p:sldId id="354" r:id="rId34"/>
    <p:sldId id="355" r:id="rId35"/>
    <p:sldId id="356" r:id="rId36"/>
    <p:sldId id="357" r:id="rId37"/>
    <p:sldId id="358" r:id="rId38"/>
    <p:sldId id="359" r:id="rId39"/>
    <p:sldId id="360" r:id="rId40"/>
    <p:sldId id="361" r:id="rId41"/>
    <p:sldId id="413" r:id="rId42"/>
    <p:sldId id="414" r:id="rId43"/>
    <p:sldId id="415" r:id="rId44"/>
    <p:sldId id="416" r:id="rId45"/>
    <p:sldId id="417" r:id="rId46"/>
    <p:sldId id="418" r:id="rId47"/>
    <p:sldId id="419" r:id="rId48"/>
    <p:sldId id="420" r:id="rId49"/>
    <p:sldId id="363" r:id="rId50"/>
    <p:sldId id="364" r:id="rId51"/>
    <p:sldId id="371" r:id="rId52"/>
    <p:sldId id="370" r:id="rId53"/>
    <p:sldId id="38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82523" autoAdjust="0"/>
  </p:normalViewPr>
  <p:slideViewPr>
    <p:cSldViewPr snapToGrid="0">
      <p:cViewPr varScale="1">
        <p:scale>
          <a:sx n="68" d="100"/>
          <a:sy n="68" d="100"/>
        </p:scale>
        <p:origin x="101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44581-C637-44A5-B1FC-64C8259FF2FC}"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58B87-DE18-457F-A9C6-C74CFC342C20}" type="slidenum">
              <a:rPr lang="en-IN" smtClean="0"/>
              <a:t>‹#›</a:t>
            </a:fld>
            <a:endParaRPr lang="en-IN"/>
          </a:p>
        </p:txBody>
      </p:sp>
    </p:spTree>
    <p:extLst>
      <p:ext uri="{BB962C8B-B14F-4D97-AF65-F5344CB8AC3E}">
        <p14:creationId xmlns:p14="http://schemas.microsoft.com/office/powerpoint/2010/main" val="1060306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6498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 can create the input layer to match the longest sentence size so if sentences are smaller then places where we do not have sufficient words we replace with 0.</a:t>
            </a:r>
          </a:p>
        </p:txBody>
      </p:sp>
      <p:sp>
        <p:nvSpPr>
          <p:cNvPr id="4" name="Slide Number Placeholder 3"/>
          <p:cNvSpPr>
            <a:spLocks noGrp="1"/>
          </p:cNvSpPr>
          <p:nvPr>
            <p:ph type="sldNum" sz="quarter" idx="5"/>
          </p:nvPr>
        </p:nvSpPr>
        <p:spPr/>
        <p:txBody>
          <a:bodyPr/>
          <a:lstStyle/>
          <a:p>
            <a:fld id="{31358B87-DE18-457F-A9C6-C74CFC342C20}" type="slidenum">
              <a:rPr lang="en-IN" smtClean="0"/>
              <a:t>7</a:t>
            </a:fld>
            <a:endParaRPr lang="en-IN"/>
          </a:p>
        </p:txBody>
      </p:sp>
    </p:spTree>
    <p:extLst>
      <p:ext uri="{BB962C8B-B14F-4D97-AF65-F5344CB8AC3E}">
        <p14:creationId xmlns:p14="http://schemas.microsoft.com/office/powerpoint/2010/main" val="3699743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07F1F-E70F-DBBD-BDFD-74608D21D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E7E6C-9B63-5FD5-D277-E9042BF1D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5D0E5-522C-66D4-2074-CF116B0A39FE}"/>
              </a:ext>
            </a:extLst>
          </p:cNvPr>
          <p:cNvSpPr>
            <a:spLocks noGrp="1"/>
          </p:cNvSpPr>
          <p:nvPr>
            <p:ph type="body" idx="1"/>
          </p:nvPr>
        </p:nvSpPr>
        <p:spPr/>
        <p:txBody>
          <a:bodyPr/>
          <a:lstStyle/>
          <a:p>
            <a:r>
              <a:rPr lang="en-IN" dirty="0"/>
              <a:t>We won’t take input sequence into consideration here </a:t>
            </a:r>
            <a:r>
              <a:rPr lang="en-IN" dirty="0" err="1"/>
              <a:t>i.e</a:t>
            </a:r>
            <a:r>
              <a:rPr lang="en-IN" dirty="0"/>
              <a:t> the positions information about words is no where encoded.</a:t>
            </a:r>
          </a:p>
        </p:txBody>
      </p:sp>
      <p:sp>
        <p:nvSpPr>
          <p:cNvPr id="4" name="Slide Number Placeholder 3">
            <a:extLst>
              <a:ext uri="{FF2B5EF4-FFF2-40B4-BE49-F238E27FC236}">
                <a16:creationId xmlns:a16="http://schemas.microsoft.com/office/drawing/2014/main" id="{E256BB2A-8ECB-E3FA-3A74-5A38347B96B4}"/>
              </a:ext>
            </a:extLst>
          </p:cNvPr>
          <p:cNvSpPr>
            <a:spLocks noGrp="1"/>
          </p:cNvSpPr>
          <p:nvPr>
            <p:ph type="sldNum" sz="quarter" idx="5"/>
          </p:nvPr>
        </p:nvSpPr>
        <p:spPr/>
        <p:txBody>
          <a:bodyPr/>
          <a:lstStyle/>
          <a:p>
            <a:fld id="{31358B87-DE18-457F-A9C6-C74CFC342C20}" type="slidenum">
              <a:rPr lang="en-IN" smtClean="0"/>
              <a:t>8</a:t>
            </a:fld>
            <a:endParaRPr lang="en-IN"/>
          </a:p>
        </p:txBody>
      </p:sp>
    </p:spTree>
    <p:extLst>
      <p:ext uri="{BB962C8B-B14F-4D97-AF65-F5344CB8AC3E}">
        <p14:creationId xmlns:p14="http://schemas.microsoft.com/office/powerpoint/2010/main" val="40309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 most typical RNN applications for text</a:t>
            </a:r>
            <a:r>
              <a:rPr lang="en-US" dirty="0"/>
              <a:t>, the </a:t>
            </a:r>
            <a:r>
              <a:rPr lang="en-US" b="1" dirty="0"/>
              <a:t>number of time steps</a:t>
            </a:r>
            <a:r>
              <a:rPr lang="en-US" dirty="0"/>
              <a:t> is indeed the </a:t>
            </a:r>
            <a:r>
              <a:rPr lang="en-US" b="1" dirty="0"/>
              <a:t>same as the number of words (or tokens)</a:t>
            </a:r>
            <a:r>
              <a:rPr lang="en-US" dirty="0"/>
              <a:t> in the input sequence.</a:t>
            </a:r>
          </a:p>
          <a:p>
            <a:r>
              <a:rPr lang="en-US" dirty="0"/>
              <a:t>1 timestep is nothing but one iteration of </a:t>
            </a:r>
            <a:r>
              <a:rPr lang="en-US" dirty="0" err="1"/>
              <a:t>rnn’s</a:t>
            </a:r>
            <a:r>
              <a:rPr lang="en-US" dirty="0"/>
              <a:t> recurrence.</a:t>
            </a:r>
          </a:p>
          <a:p>
            <a:endParaRPr lang="en-IN" dirty="0"/>
          </a:p>
        </p:txBody>
      </p:sp>
      <p:sp>
        <p:nvSpPr>
          <p:cNvPr id="4" name="Slide Number Placeholder 3"/>
          <p:cNvSpPr>
            <a:spLocks noGrp="1"/>
          </p:cNvSpPr>
          <p:nvPr>
            <p:ph type="sldNum" sz="quarter" idx="5"/>
          </p:nvPr>
        </p:nvSpPr>
        <p:spPr/>
        <p:txBody>
          <a:bodyPr/>
          <a:lstStyle/>
          <a:p>
            <a:fld id="{31358B87-DE18-457F-A9C6-C74CFC342C20}" type="slidenum">
              <a:rPr lang="en-IN" smtClean="0"/>
              <a:t>9</a:t>
            </a:fld>
            <a:endParaRPr lang="en-IN"/>
          </a:p>
        </p:txBody>
      </p:sp>
    </p:spTree>
    <p:extLst>
      <p:ext uri="{BB962C8B-B14F-4D97-AF65-F5344CB8AC3E}">
        <p14:creationId xmlns:p14="http://schemas.microsoft.com/office/powerpoint/2010/main" val="1031375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Named Entity Recognition</a:t>
            </a:r>
          </a:p>
          <a:p>
            <a:r>
              <a:rPr lang="en-US" dirty="0"/>
              <a:t>For each </a:t>
            </a:r>
            <a:r>
              <a:rPr lang="en-US" b="1" dirty="0"/>
              <a:t>word in a sentence</a:t>
            </a:r>
            <a:r>
              <a:rPr lang="en-US" dirty="0"/>
              <a:t>, the model predicts a </a:t>
            </a:r>
            <a:r>
              <a:rPr lang="en-US" b="1" dirty="0"/>
              <a:t>label</a:t>
            </a:r>
            <a:r>
              <a:rPr lang="en-US" dirty="0"/>
              <a:t> (like PERSON, LOCATION, ORGANIZATION, etc.).</a:t>
            </a:r>
          </a:p>
          <a:p>
            <a:endParaRPr lang="en-US" dirty="0"/>
          </a:p>
          <a:p>
            <a:r>
              <a:rPr lang="en-US" dirty="0"/>
              <a:t>We use RNN because it will help us understand the context.</a:t>
            </a:r>
            <a:endParaRPr lang="en-IN" dirty="0"/>
          </a:p>
        </p:txBody>
      </p:sp>
      <p:sp>
        <p:nvSpPr>
          <p:cNvPr id="4" name="Slide Number Placeholder 3"/>
          <p:cNvSpPr>
            <a:spLocks noGrp="1"/>
          </p:cNvSpPr>
          <p:nvPr>
            <p:ph type="sldNum" sz="quarter" idx="5"/>
          </p:nvPr>
        </p:nvSpPr>
        <p:spPr/>
        <p:txBody>
          <a:bodyPr/>
          <a:lstStyle/>
          <a:p>
            <a:fld id="{31358B87-DE18-457F-A9C6-C74CFC342C20}" type="slidenum">
              <a:rPr lang="en-IN" smtClean="0"/>
              <a:t>10</a:t>
            </a:fld>
            <a:endParaRPr lang="en-IN"/>
          </a:p>
        </p:txBody>
      </p:sp>
    </p:spTree>
    <p:extLst>
      <p:ext uri="{BB962C8B-B14F-4D97-AF65-F5344CB8AC3E}">
        <p14:creationId xmlns:p14="http://schemas.microsoft.com/office/powerpoint/2010/main" val="780617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to correctly tag “Washington”:</a:t>
            </a:r>
          </a:p>
          <a:p>
            <a:r>
              <a:rPr lang="en-US" dirty="0"/>
              <a:t>If it follows “Mr.” → likely </a:t>
            </a:r>
            <a:r>
              <a:rPr lang="en-US" b="1" dirty="0"/>
              <a:t>PERSON</a:t>
            </a:r>
            <a:endParaRPr lang="en-US" dirty="0"/>
          </a:p>
          <a:p>
            <a:r>
              <a:rPr lang="en-US" dirty="0"/>
              <a:t>If it follows “in” → likely </a:t>
            </a:r>
            <a:r>
              <a:rPr lang="en-US" b="1" dirty="0"/>
              <a:t>LOCATION</a:t>
            </a:r>
          </a:p>
          <a:p>
            <a:endParaRPr lang="en-US" b="1" dirty="0"/>
          </a:p>
          <a:p>
            <a:r>
              <a:rPr lang="en-US" b="1" dirty="0"/>
              <a:t>We can also Bi-RNN in case we might require Bidirectional Context.</a:t>
            </a:r>
          </a:p>
          <a:p>
            <a:endParaRPr lang="en-US" b="1" dirty="0"/>
          </a:p>
          <a:p>
            <a:r>
              <a:rPr lang="en-US" b="0" dirty="0"/>
              <a:t>Input sentence → Word embeddings → RNN (or Bi-RNN) → Classifier → Tag for each word</a:t>
            </a:r>
          </a:p>
          <a:p>
            <a:endParaRPr lang="en-US" b="0" dirty="0"/>
          </a:p>
          <a:p>
            <a:endParaRPr lang="en-IN" dirty="0"/>
          </a:p>
        </p:txBody>
      </p:sp>
      <p:sp>
        <p:nvSpPr>
          <p:cNvPr id="4" name="Slide Number Placeholder 3"/>
          <p:cNvSpPr>
            <a:spLocks noGrp="1"/>
          </p:cNvSpPr>
          <p:nvPr>
            <p:ph type="sldNum" sz="quarter" idx="5"/>
          </p:nvPr>
        </p:nvSpPr>
        <p:spPr/>
        <p:txBody>
          <a:bodyPr/>
          <a:lstStyle/>
          <a:p>
            <a:fld id="{31358B87-DE18-457F-A9C6-C74CFC342C20}" type="slidenum">
              <a:rPr lang="en-IN" smtClean="0"/>
              <a:t>11</a:t>
            </a:fld>
            <a:endParaRPr lang="en-IN"/>
          </a:p>
        </p:txBody>
      </p:sp>
    </p:spTree>
    <p:extLst>
      <p:ext uri="{BB962C8B-B14F-4D97-AF65-F5344CB8AC3E}">
        <p14:creationId xmlns:p14="http://schemas.microsoft.com/office/powerpoint/2010/main" val="514273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RNN can be of several types</a:t>
            </a:r>
          </a:p>
          <a:p>
            <a:pPr marL="228600" indent="-228600">
              <a:buAutoNum type="arabicPeriod"/>
            </a:pPr>
            <a:r>
              <a:rPr lang="en-IN" dirty="0"/>
              <a:t>Output at every timestep</a:t>
            </a:r>
          </a:p>
          <a:p>
            <a:pPr marL="0" indent="0">
              <a:buNone/>
            </a:pPr>
            <a:r>
              <a:rPr lang="en-IN" dirty="0"/>
              <a:t>Ex: Named Entity Recognition, Machine Translation etc.</a:t>
            </a:r>
          </a:p>
        </p:txBody>
      </p:sp>
      <p:sp>
        <p:nvSpPr>
          <p:cNvPr id="4" name="Slide Number Placeholder 3"/>
          <p:cNvSpPr>
            <a:spLocks noGrp="1"/>
          </p:cNvSpPr>
          <p:nvPr>
            <p:ph type="sldNum" sz="quarter" idx="5"/>
          </p:nvPr>
        </p:nvSpPr>
        <p:spPr/>
        <p:txBody>
          <a:bodyPr/>
          <a:lstStyle/>
          <a:p>
            <a:fld id="{31358B87-DE18-457F-A9C6-C74CFC342C20}" type="slidenum">
              <a:rPr lang="en-IN" smtClean="0"/>
              <a:t>12</a:t>
            </a:fld>
            <a:endParaRPr lang="en-IN"/>
          </a:p>
        </p:txBody>
      </p:sp>
    </p:spTree>
    <p:extLst>
      <p:ext uri="{BB962C8B-B14F-4D97-AF65-F5344CB8AC3E}">
        <p14:creationId xmlns:p14="http://schemas.microsoft.com/office/powerpoint/2010/main" val="51745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 Output only at last timestep </a:t>
            </a:r>
          </a:p>
          <a:p>
            <a:r>
              <a:rPr lang="en-IN" dirty="0"/>
              <a:t>Ex: Sentiment Analysis</a:t>
            </a:r>
          </a:p>
        </p:txBody>
      </p:sp>
      <p:sp>
        <p:nvSpPr>
          <p:cNvPr id="4" name="Slide Number Placeholder 3"/>
          <p:cNvSpPr>
            <a:spLocks noGrp="1"/>
          </p:cNvSpPr>
          <p:nvPr>
            <p:ph type="sldNum" sz="quarter" idx="5"/>
          </p:nvPr>
        </p:nvSpPr>
        <p:spPr/>
        <p:txBody>
          <a:bodyPr/>
          <a:lstStyle/>
          <a:p>
            <a:fld id="{31358B87-DE18-457F-A9C6-C74CFC342C20}" type="slidenum">
              <a:rPr lang="en-IN" smtClean="0"/>
              <a:t>13</a:t>
            </a:fld>
            <a:endParaRPr lang="en-IN"/>
          </a:p>
        </p:txBody>
      </p:sp>
    </p:spTree>
    <p:extLst>
      <p:ext uri="{BB962C8B-B14F-4D97-AF65-F5344CB8AC3E}">
        <p14:creationId xmlns:p14="http://schemas.microsoft.com/office/powerpoint/2010/main" val="4133215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RNN first receives the input that the person is Male based on that the RNN will generate the name of the baby character by character.</a:t>
            </a:r>
          </a:p>
          <a:p>
            <a:endParaRPr lang="en-IN" dirty="0"/>
          </a:p>
          <a:p>
            <a:r>
              <a:rPr lang="en-US" b="1" dirty="0"/>
              <a:t>(A) Forward pass — prediction/generation</a:t>
            </a:r>
          </a:p>
          <a:p>
            <a:r>
              <a:rPr lang="en-US" dirty="0"/>
              <a:t>During generation, the RNN moves </a:t>
            </a:r>
            <a:r>
              <a:rPr lang="en-US" b="1" dirty="0"/>
              <a:t>forward in time</a:t>
            </a:r>
            <a:r>
              <a:rPr lang="en-US" dirty="0"/>
              <a:t>.</a:t>
            </a:r>
          </a:p>
          <a:p>
            <a:r>
              <a:rPr lang="en-US" dirty="0"/>
              <a:t>It takes one input at a time (</a:t>
            </a:r>
            <a:r>
              <a:rPr lang="en-US" sz="1200" kern="1200" dirty="0">
                <a:solidFill>
                  <a:schemeClr val="tx1"/>
                </a:solidFill>
                <a:latin typeface="+mn-lt"/>
                <a:ea typeface="+mn-ea"/>
                <a:cs typeface="+mn-cs"/>
              </a:rPr>
              <a:t>J → o → h → n → &lt;end&gt;</a:t>
            </a:r>
            <a:r>
              <a:rPr lang="en-US" dirty="0"/>
              <a:t>), and the </a:t>
            </a:r>
            <a:r>
              <a:rPr lang="en-US" b="1" dirty="0"/>
              <a:t>hidden state flows forward</a:t>
            </a:r>
          </a:p>
          <a:p>
            <a:endParaRPr lang="en-US" b="1" dirty="0"/>
          </a:p>
          <a:p>
            <a:r>
              <a:rPr lang="en-US" b="1" dirty="0"/>
              <a:t>(B) Backward pass — training (error correction)</a:t>
            </a:r>
          </a:p>
          <a:p>
            <a:r>
              <a:rPr lang="en-US" dirty="0"/>
              <a:t>When training the network, we calculate how far each prediction was from the target.</a:t>
            </a:r>
          </a:p>
          <a:p>
            <a:r>
              <a:rPr lang="en-US" dirty="0"/>
              <a:t>The </a:t>
            </a:r>
            <a:r>
              <a:rPr lang="en-US" b="1" dirty="0"/>
              <a:t>error (loss)</a:t>
            </a:r>
            <a:r>
              <a:rPr lang="en-US" dirty="0"/>
              <a:t> at the output is </a:t>
            </a:r>
            <a:r>
              <a:rPr lang="en-US" b="1" dirty="0"/>
              <a:t>propagated backward through time</a:t>
            </a:r>
            <a:r>
              <a:rPr lang="en-US" dirty="0"/>
              <a:t> to update the weights — this is called </a:t>
            </a:r>
            <a:r>
              <a:rPr lang="en-US" b="1" dirty="0"/>
              <a:t>Backpropagation Through Time (BPTT)</a:t>
            </a:r>
            <a:r>
              <a:rPr lang="en-US" dirty="0"/>
              <a:t>.</a:t>
            </a:r>
          </a:p>
          <a:p>
            <a:endParaRPr lang="en-US" dirty="0"/>
          </a:p>
          <a:p>
            <a:endParaRPr lang="en-IN" dirty="0"/>
          </a:p>
        </p:txBody>
      </p:sp>
      <p:sp>
        <p:nvSpPr>
          <p:cNvPr id="4" name="Slide Number Placeholder 3"/>
          <p:cNvSpPr>
            <a:spLocks noGrp="1"/>
          </p:cNvSpPr>
          <p:nvPr>
            <p:ph type="sldNum" sz="quarter" idx="5"/>
          </p:nvPr>
        </p:nvSpPr>
        <p:spPr/>
        <p:txBody>
          <a:bodyPr/>
          <a:lstStyle/>
          <a:p>
            <a:fld id="{31358B87-DE18-457F-A9C6-C74CFC342C20}" type="slidenum">
              <a:rPr lang="en-IN" smtClean="0"/>
              <a:t>14</a:t>
            </a:fld>
            <a:endParaRPr lang="en-IN"/>
          </a:p>
        </p:txBody>
      </p:sp>
    </p:spTree>
    <p:extLst>
      <p:ext uri="{BB962C8B-B14F-4D97-AF65-F5344CB8AC3E}">
        <p14:creationId xmlns:p14="http://schemas.microsoft.com/office/powerpoint/2010/main" val="3477940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4. We can have RNN like Seq2Seq model where in the first layer will be Encoder containing RNN processing unit that creates the embeddings and then we will have the final hidden state as our input to Decoder RNN.</a:t>
            </a:r>
          </a:p>
          <a:p>
            <a:r>
              <a:rPr lang="en-IN" dirty="0"/>
              <a:t>Then decoder RNN will give the output which is machine translated words.</a:t>
            </a:r>
          </a:p>
        </p:txBody>
      </p:sp>
      <p:sp>
        <p:nvSpPr>
          <p:cNvPr id="4" name="Slide Number Placeholder 3"/>
          <p:cNvSpPr>
            <a:spLocks noGrp="1"/>
          </p:cNvSpPr>
          <p:nvPr>
            <p:ph type="sldNum" sz="quarter" idx="5"/>
          </p:nvPr>
        </p:nvSpPr>
        <p:spPr/>
        <p:txBody>
          <a:bodyPr/>
          <a:lstStyle/>
          <a:p>
            <a:fld id="{31358B87-DE18-457F-A9C6-C74CFC342C20}" type="slidenum">
              <a:rPr lang="en-IN" smtClean="0"/>
              <a:t>15</a:t>
            </a:fld>
            <a:endParaRPr lang="en-IN"/>
          </a:p>
        </p:txBody>
      </p:sp>
    </p:spTree>
    <p:extLst>
      <p:ext uri="{BB962C8B-B14F-4D97-AF65-F5344CB8AC3E}">
        <p14:creationId xmlns:p14="http://schemas.microsoft.com/office/powerpoint/2010/main" val="3784777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Solution to Vanishing Gradient Problem</a:t>
            </a:r>
          </a:p>
          <a:p>
            <a:pPr marL="228600" indent="-228600">
              <a:buAutoNum type="arabicPeriod"/>
            </a:pPr>
            <a:r>
              <a:rPr lang="en-IN" dirty="0"/>
              <a:t>LSTM</a:t>
            </a:r>
          </a:p>
          <a:p>
            <a:pPr marL="228600" indent="-228600">
              <a:buAutoNum type="arabicPeriod"/>
            </a:pPr>
            <a:r>
              <a:rPr lang="en-IN" dirty="0"/>
              <a:t>Gated Mechanism </a:t>
            </a:r>
            <a:r>
              <a:rPr lang="en-IN" dirty="0" err="1"/>
              <a:t>i.e</a:t>
            </a:r>
            <a:r>
              <a:rPr lang="en-IN" dirty="0"/>
              <a:t> GRU</a:t>
            </a:r>
          </a:p>
          <a:p>
            <a:pPr marL="228600" indent="-228600">
              <a:buAutoNum type="arabicPeriod"/>
            </a:pPr>
            <a:r>
              <a:rPr lang="en-IN" dirty="0"/>
              <a:t>Highway Nets</a:t>
            </a:r>
          </a:p>
          <a:p>
            <a:pPr marL="228600" indent="-228600">
              <a:buAutoNum type="arabicPeriod"/>
            </a:pPr>
            <a:r>
              <a:rPr lang="en-IN" dirty="0"/>
              <a:t>Skip Connections / Residual Connections</a:t>
            </a:r>
          </a:p>
          <a:p>
            <a:pPr marL="228600" indent="-228600">
              <a:buAutoNum type="arabicPeriod"/>
            </a:pPr>
            <a:endParaRPr lang="en-IN" dirty="0"/>
          </a:p>
          <a:p>
            <a:pPr marL="0" indent="0">
              <a:buNone/>
            </a:pPr>
            <a:r>
              <a:rPr lang="en-IN" dirty="0"/>
              <a:t>Solution to Exploding Gradients</a:t>
            </a:r>
          </a:p>
          <a:p>
            <a:pPr marL="0" indent="0">
              <a:buNone/>
            </a:pPr>
            <a:r>
              <a:rPr lang="en-IN" dirty="0"/>
              <a:t>1. Gradient Clipping</a:t>
            </a:r>
          </a:p>
        </p:txBody>
      </p:sp>
      <p:sp>
        <p:nvSpPr>
          <p:cNvPr id="4" name="Slide Number Placeholder 3"/>
          <p:cNvSpPr>
            <a:spLocks noGrp="1"/>
          </p:cNvSpPr>
          <p:nvPr>
            <p:ph type="sldNum" sz="quarter" idx="5"/>
          </p:nvPr>
        </p:nvSpPr>
        <p:spPr/>
        <p:txBody>
          <a:bodyPr/>
          <a:lstStyle/>
          <a:p>
            <a:fld id="{31358B87-DE18-457F-A9C6-C74CFC342C20}" type="slidenum">
              <a:rPr lang="en-IN" smtClean="0"/>
              <a:t>52</a:t>
            </a:fld>
            <a:endParaRPr lang="en-IN"/>
          </a:p>
        </p:txBody>
      </p:sp>
    </p:spTree>
    <p:extLst>
      <p:ext uri="{BB962C8B-B14F-4D97-AF65-F5344CB8AC3E}">
        <p14:creationId xmlns:p14="http://schemas.microsoft.com/office/powerpoint/2010/main" val="2572247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F0931-2735-41B8-9CFF-AF3FA146E06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698960-9571-4217-9906-E99817361BD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983406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64"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2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55" b="0" i="0">
                <a:solidFill>
                  <a:srgbClr val="929292"/>
                </a:solidFill>
                <a:latin typeface="Arial MT"/>
                <a:cs typeface="Arial MT"/>
              </a:defRPr>
            </a:lvl1pPr>
          </a:lstStyle>
          <a:p>
            <a:pPr marL="8929">
              <a:spcBef>
                <a:spcPts val="18"/>
              </a:spcBef>
            </a:pPr>
            <a:r>
              <a:rPr lang="en-US" spc="-80"/>
              <a:t>STAT</a:t>
            </a:r>
            <a:r>
              <a:rPr lang="en-US"/>
              <a:t> </a:t>
            </a:r>
            <a:r>
              <a:rPr lang="en-US" spc="-4"/>
              <a:t>453:</a:t>
            </a:r>
            <a:r>
              <a:rPr lang="en-US"/>
              <a:t> Intro </a:t>
            </a:r>
            <a:r>
              <a:rPr lang="en-US" spc="28"/>
              <a:t>to</a:t>
            </a:r>
            <a:r>
              <a:rPr lang="en-US"/>
              <a:t> </a:t>
            </a:r>
            <a:r>
              <a:rPr lang="en-US" spc="-7"/>
              <a:t>Deep</a:t>
            </a:r>
            <a:r>
              <a:rPr lang="en-US"/>
              <a:t> </a:t>
            </a:r>
            <a:r>
              <a:rPr lang="en-US" spc="-4"/>
              <a:t>Learning</a:t>
            </a:r>
            <a:endParaRPr lang="en-US" spc="-4" dirty="0"/>
          </a:p>
        </p:txBody>
      </p:sp>
      <p:sp>
        <p:nvSpPr>
          <p:cNvPr id="5" name="Holder 5"/>
          <p:cNvSpPr>
            <a:spLocks noGrp="1"/>
          </p:cNvSpPr>
          <p:nvPr>
            <p:ph type="dt" sz="half" idx="6"/>
          </p:nvPr>
        </p:nvSpPr>
        <p:spPr/>
        <p:txBody>
          <a:bodyPr lIns="0" tIns="0" rIns="0" bIns="0"/>
          <a:lstStyle>
            <a:lvl1pPr>
              <a:defRPr sz="1055" b="0" i="0">
                <a:solidFill>
                  <a:srgbClr val="929292"/>
                </a:solidFill>
                <a:latin typeface="Arial MT"/>
                <a:cs typeface="Arial MT"/>
              </a:defRPr>
            </a:lvl1pPr>
          </a:lstStyle>
          <a:p>
            <a:pPr marL="8929">
              <a:spcBef>
                <a:spcPts val="18"/>
              </a:spcBef>
            </a:pPr>
            <a:r>
              <a:rPr lang="en-IN" spc="-4"/>
              <a:t>Sebastian</a:t>
            </a:r>
            <a:r>
              <a:rPr lang="en-IN" spc="-32"/>
              <a:t> </a:t>
            </a:r>
            <a:r>
              <a:rPr lang="en-IN" spc="-4"/>
              <a:t>Raschka</a:t>
            </a:r>
            <a:endParaRPr lang="en-IN" spc="-4" dirty="0"/>
          </a:p>
        </p:txBody>
      </p:sp>
      <p:sp>
        <p:nvSpPr>
          <p:cNvPr id="6" name="Holder 6"/>
          <p:cNvSpPr>
            <a:spLocks noGrp="1"/>
          </p:cNvSpPr>
          <p:nvPr>
            <p:ph type="sldNum" sz="quarter" idx="7"/>
          </p:nvPr>
        </p:nvSpPr>
        <p:spPr/>
        <p:txBody>
          <a:bodyPr lIns="0" tIns="0" rIns="0" bIns="0"/>
          <a:lstStyle>
            <a:lvl1pPr>
              <a:defRPr sz="1406" b="0" i="0">
                <a:solidFill>
                  <a:srgbClr val="929292"/>
                </a:solidFill>
                <a:latin typeface="Tahoma"/>
                <a:cs typeface="Tahoma"/>
              </a:defRPr>
            </a:lvl1pPr>
          </a:lstStyle>
          <a:p>
            <a:pPr marL="35717">
              <a:spcBef>
                <a:spcPts val="450"/>
              </a:spcBef>
            </a:pPr>
            <a:fld id="{81D60167-4931-47E6-BA6A-407CBD079E47}" type="slidenum">
              <a:rPr lang="en-IN" spc="-67" smtClean="0"/>
              <a:pPr marL="35717">
                <a:spcBef>
                  <a:spcPts val="450"/>
                </a:spcBef>
              </a:pPr>
              <a:t>‹#›</a:t>
            </a:fld>
            <a:endParaRPr lang="en-IN" spc="-67" dirty="0"/>
          </a:p>
        </p:txBody>
      </p:sp>
    </p:spTree>
    <p:extLst>
      <p:ext uri="{BB962C8B-B14F-4D97-AF65-F5344CB8AC3E}">
        <p14:creationId xmlns:p14="http://schemas.microsoft.com/office/powerpoint/2010/main" val="24691243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0602239"/>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jp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5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3.png"/><Relationship Id="rId5" Type="http://schemas.openxmlformats.org/officeDocument/2006/relationships/image" Target="../media/image48.png"/><Relationship Id="rId10" Type="http://schemas.openxmlformats.org/officeDocument/2006/relationships/image" Target="../media/image52.png"/><Relationship Id="rId4" Type="http://schemas.openxmlformats.org/officeDocument/2006/relationships/image" Target="../media/image24.png"/><Relationship Id="rId9"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karpathy.github.io/2015/05/21/rnn-effectiveness/" TargetMode="External"/><Relationship Id="rId2" Type="http://schemas.openxmlformats.org/officeDocument/2006/relationships/hyperlink" Target="https://www.youtube.com/watch?v=BtLJ-oAGvf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7" name="object 3"/>
          <p:cNvSpPr txBox="1"/>
          <p:nvPr/>
        </p:nvSpPr>
        <p:spPr>
          <a:xfrm>
            <a:off x="2072539" y="2219885"/>
            <a:ext cx="6918512" cy="2647935"/>
          </a:xfrm>
          <a:prstGeom prst="rect">
            <a:avLst/>
          </a:prstGeom>
        </p:spPr>
        <p:txBody>
          <a:bodyPr vert="horz" wrap="square" lIns="0" tIns="11206" rIns="0" bIns="0" rtlCol="0">
            <a:spAutoFit/>
          </a:bodyPr>
          <a:lstStyle/>
          <a:p>
            <a:pPr marL="10646" marR="4483">
              <a:spcBef>
                <a:spcPts val="88"/>
              </a:spcBef>
              <a:tabLst>
                <a:tab pos="313221" algn="l"/>
                <a:tab pos="314342" algn="l"/>
              </a:tabLst>
            </a:pPr>
            <a:r>
              <a:rPr lang="en-US" sz="4000" dirty="0">
                <a:solidFill>
                  <a:srgbClr val="FF0000"/>
                </a:solidFill>
                <a:latin typeface="Calibri"/>
                <a:cs typeface="Calibri"/>
              </a:rPr>
              <a:t>Recurrent Neural Network(RNN)</a:t>
            </a:r>
          </a:p>
          <a:p>
            <a:pPr marL="10646" marR="4483">
              <a:spcBef>
                <a:spcPts val="88"/>
              </a:spcBef>
              <a:tabLst>
                <a:tab pos="313221" algn="l"/>
                <a:tab pos="314342" algn="l"/>
              </a:tabLst>
            </a:pPr>
            <a:r>
              <a:rPr lang="en-US" sz="4000" dirty="0">
                <a:solidFill>
                  <a:srgbClr val="FF0000"/>
                </a:solidFill>
                <a:latin typeface="Calibri"/>
                <a:cs typeface="Calibri"/>
              </a:rPr>
              <a:t> </a:t>
            </a:r>
          </a:p>
          <a:p>
            <a:pPr marL="10646" marR="4483">
              <a:spcBef>
                <a:spcPts val="88"/>
              </a:spcBef>
              <a:tabLst>
                <a:tab pos="313221" algn="l"/>
                <a:tab pos="314342" algn="l"/>
              </a:tabLst>
            </a:pPr>
            <a:r>
              <a:rPr lang="en-US" sz="4000" dirty="0">
                <a:solidFill>
                  <a:srgbClr val="FF0000"/>
                </a:solidFill>
                <a:latin typeface="Calibri"/>
                <a:cs typeface="Calibri"/>
              </a:rPr>
              <a:t>  				 	</a:t>
            </a:r>
            <a:r>
              <a:rPr lang="en-US" sz="2400" dirty="0">
                <a:solidFill>
                  <a:srgbClr val="FF0000"/>
                </a:solidFill>
                <a:latin typeface="Calibri"/>
                <a:cs typeface="Calibri"/>
              </a:rPr>
              <a:t> </a:t>
            </a:r>
            <a:r>
              <a:rPr lang="en-US" sz="2400" dirty="0">
                <a:latin typeface="Calibri"/>
                <a:cs typeface="Calibri"/>
              </a:rPr>
              <a:t>Dr. </a:t>
            </a:r>
            <a:r>
              <a:rPr lang="en-US" sz="2400" dirty="0" err="1">
                <a:latin typeface="Calibri"/>
                <a:cs typeface="Calibri"/>
              </a:rPr>
              <a:t>Jayaraj</a:t>
            </a:r>
            <a:r>
              <a:rPr lang="en-US" sz="2400" dirty="0">
                <a:latin typeface="Calibri"/>
                <a:cs typeface="Calibri"/>
              </a:rPr>
              <a:t> P B</a:t>
            </a:r>
          </a:p>
          <a:p>
            <a:pPr marL="10646" marR="4483">
              <a:spcBef>
                <a:spcPts val="88"/>
              </a:spcBef>
              <a:tabLst>
                <a:tab pos="313221" algn="l"/>
                <a:tab pos="314342" algn="l"/>
              </a:tabLst>
            </a:pPr>
            <a:r>
              <a:rPr lang="en-US" sz="2400" dirty="0">
                <a:latin typeface="Calibri"/>
                <a:cs typeface="Calibri"/>
              </a:rPr>
              <a:t> 					 Associate Professor, CSED</a:t>
            </a:r>
          </a:p>
          <a:p>
            <a:pPr marL="10646" marR="4483">
              <a:spcBef>
                <a:spcPts val="88"/>
              </a:spcBef>
              <a:tabLst>
                <a:tab pos="313221" algn="l"/>
                <a:tab pos="314342" algn="l"/>
              </a:tabLst>
            </a:pPr>
            <a:r>
              <a:rPr lang="en-US" sz="2400" dirty="0">
                <a:latin typeface="Calibri"/>
                <a:cs typeface="Calibri"/>
              </a:rPr>
              <a:t>  					 NIT Calicut</a:t>
            </a:r>
          </a:p>
        </p:txBody>
      </p:sp>
    </p:spTree>
    <p:extLst>
      <p:ext uri="{BB962C8B-B14F-4D97-AF65-F5344CB8AC3E}">
        <p14:creationId xmlns:p14="http://schemas.microsoft.com/office/powerpoint/2010/main" val="124166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2273" y="810501"/>
            <a:ext cx="3427319" cy="498244"/>
          </a:xfrm>
          <a:prstGeom prst="rect">
            <a:avLst/>
          </a:prstGeom>
        </p:spPr>
        <p:txBody>
          <a:bodyPr vert="horz" wrap="square" lIns="0" tIns="11206" rIns="0" bIns="0" rtlCol="0">
            <a:spAutoFit/>
          </a:bodyPr>
          <a:lstStyle/>
          <a:p>
            <a:pPr marL="11206">
              <a:lnSpc>
                <a:spcPct val="100000"/>
              </a:lnSpc>
              <a:spcBef>
                <a:spcPts val="88"/>
              </a:spcBef>
            </a:pPr>
            <a:r>
              <a:rPr dirty="0">
                <a:solidFill>
                  <a:srgbClr val="FF0000"/>
                </a:solidFill>
              </a:rPr>
              <a:t>Modelling</a:t>
            </a:r>
            <a:r>
              <a:rPr spc="-88" dirty="0"/>
              <a:t> </a:t>
            </a:r>
            <a:r>
              <a:rPr spc="-4" dirty="0">
                <a:solidFill>
                  <a:srgbClr val="FF0000"/>
                </a:solidFill>
              </a:rPr>
              <a:t>Series</a:t>
            </a:r>
          </a:p>
        </p:txBody>
      </p:sp>
      <p:sp>
        <p:nvSpPr>
          <p:cNvPr id="3" name="object 3"/>
          <p:cNvSpPr txBox="1"/>
          <p:nvPr/>
        </p:nvSpPr>
        <p:spPr>
          <a:xfrm>
            <a:off x="2534687" y="1821667"/>
            <a:ext cx="6932519" cy="2736420"/>
          </a:xfrm>
          <a:prstGeom prst="rect">
            <a:avLst/>
          </a:prstGeom>
        </p:spPr>
        <p:txBody>
          <a:bodyPr vert="horz" wrap="square" lIns="0" tIns="11206" rIns="0" bIns="0" rtlCol="0">
            <a:spAutoFit/>
          </a:bodyPr>
          <a:lstStyle/>
          <a:p>
            <a:pPr marL="313781" indent="-303135">
              <a:spcBef>
                <a:spcPts val="88"/>
              </a:spcBef>
              <a:buFont typeface="Arial"/>
              <a:buChar char="•"/>
              <a:tabLst>
                <a:tab pos="313221" algn="l"/>
                <a:tab pos="314342" algn="l"/>
              </a:tabLst>
            </a:pPr>
            <a:r>
              <a:rPr sz="2824" spc="-4" dirty="0">
                <a:latin typeface="Calibri"/>
                <a:cs typeface="Calibri"/>
              </a:rPr>
              <a:t>In</a:t>
            </a:r>
            <a:r>
              <a:rPr sz="2824" spc="18" dirty="0">
                <a:latin typeface="Calibri"/>
                <a:cs typeface="Calibri"/>
              </a:rPr>
              <a:t> </a:t>
            </a:r>
            <a:r>
              <a:rPr sz="2824" spc="-18" dirty="0">
                <a:latin typeface="Calibri"/>
                <a:cs typeface="Calibri"/>
              </a:rPr>
              <a:t>many</a:t>
            </a:r>
            <a:r>
              <a:rPr sz="2824" spc="4" dirty="0">
                <a:latin typeface="Calibri"/>
                <a:cs typeface="Calibri"/>
              </a:rPr>
              <a:t> </a:t>
            </a:r>
            <a:r>
              <a:rPr sz="2824" spc="-9" dirty="0">
                <a:latin typeface="Calibri"/>
                <a:cs typeface="Calibri"/>
              </a:rPr>
              <a:t>situations</a:t>
            </a:r>
            <a:r>
              <a:rPr sz="2824" spc="31" dirty="0">
                <a:latin typeface="Calibri"/>
                <a:cs typeface="Calibri"/>
              </a:rPr>
              <a:t> </a:t>
            </a:r>
            <a:r>
              <a:rPr sz="2824" spc="4" dirty="0">
                <a:latin typeface="Calibri"/>
                <a:cs typeface="Calibri"/>
              </a:rPr>
              <a:t>one</a:t>
            </a:r>
            <a:r>
              <a:rPr sz="2824" spc="-13" dirty="0">
                <a:latin typeface="Calibri"/>
                <a:cs typeface="Calibri"/>
              </a:rPr>
              <a:t> must</a:t>
            </a:r>
            <a:r>
              <a:rPr sz="2824" spc="-9" dirty="0">
                <a:latin typeface="Calibri"/>
                <a:cs typeface="Calibri"/>
              </a:rPr>
              <a:t> </a:t>
            </a:r>
            <a:r>
              <a:rPr sz="2824" spc="-4" dirty="0">
                <a:latin typeface="Calibri"/>
                <a:cs typeface="Calibri"/>
              </a:rPr>
              <a:t>consider</a:t>
            </a:r>
            <a:r>
              <a:rPr sz="2824" spc="13" dirty="0">
                <a:latin typeface="Calibri"/>
                <a:cs typeface="Calibri"/>
              </a:rPr>
              <a:t> </a:t>
            </a:r>
            <a:r>
              <a:rPr sz="2824" dirty="0">
                <a:latin typeface="Calibri"/>
                <a:cs typeface="Calibri"/>
              </a:rPr>
              <a:t>a</a:t>
            </a:r>
            <a:r>
              <a:rPr sz="2824" spc="-9" dirty="0">
                <a:latin typeface="Calibri"/>
                <a:cs typeface="Calibri"/>
              </a:rPr>
              <a:t> </a:t>
            </a:r>
            <a:r>
              <a:rPr sz="2824" i="1" dirty="0">
                <a:latin typeface="Calibri"/>
                <a:cs typeface="Calibri"/>
              </a:rPr>
              <a:t>series</a:t>
            </a:r>
            <a:endParaRPr sz="2824" dirty="0">
              <a:latin typeface="Calibri"/>
              <a:cs typeface="Calibri"/>
            </a:endParaRPr>
          </a:p>
          <a:p>
            <a:pPr marL="313781"/>
            <a:r>
              <a:rPr sz="2824" dirty="0">
                <a:latin typeface="Calibri"/>
                <a:cs typeface="Calibri"/>
              </a:rPr>
              <a:t>of</a:t>
            </a:r>
            <a:r>
              <a:rPr sz="2824" spc="-13" dirty="0">
                <a:latin typeface="Calibri"/>
                <a:cs typeface="Calibri"/>
              </a:rPr>
              <a:t> </a:t>
            </a:r>
            <a:r>
              <a:rPr sz="2824" spc="-9" dirty="0">
                <a:latin typeface="Calibri"/>
                <a:cs typeface="Calibri"/>
              </a:rPr>
              <a:t>inputs</a:t>
            </a:r>
            <a:r>
              <a:rPr sz="2824" spc="26" dirty="0">
                <a:latin typeface="Calibri"/>
                <a:cs typeface="Calibri"/>
              </a:rPr>
              <a:t> </a:t>
            </a:r>
            <a:r>
              <a:rPr sz="2824" spc="-22" dirty="0">
                <a:latin typeface="Calibri"/>
                <a:cs typeface="Calibri"/>
              </a:rPr>
              <a:t>to</a:t>
            </a:r>
            <a:r>
              <a:rPr sz="2824" spc="13" dirty="0">
                <a:latin typeface="Calibri"/>
                <a:cs typeface="Calibri"/>
              </a:rPr>
              <a:t> </a:t>
            </a:r>
            <a:r>
              <a:rPr sz="2824" spc="-9" dirty="0">
                <a:latin typeface="Calibri"/>
                <a:cs typeface="Calibri"/>
              </a:rPr>
              <a:t>produce</a:t>
            </a:r>
            <a:r>
              <a:rPr sz="2824" spc="-22" dirty="0">
                <a:latin typeface="Calibri"/>
                <a:cs typeface="Calibri"/>
              </a:rPr>
              <a:t> </a:t>
            </a:r>
            <a:r>
              <a:rPr sz="2824" dirty="0">
                <a:latin typeface="Calibri"/>
                <a:cs typeface="Calibri"/>
              </a:rPr>
              <a:t>an</a:t>
            </a:r>
            <a:r>
              <a:rPr sz="2824" spc="-9" dirty="0">
                <a:latin typeface="Calibri"/>
                <a:cs typeface="Calibri"/>
              </a:rPr>
              <a:t> </a:t>
            </a:r>
            <a:r>
              <a:rPr sz="2824" dirty="0">
                <a:latin typeface="Calibri"/>
                <a:cs typeface="Calibri"/>
              </a:rPr>
              <a:t>output</a:t>
            </a:r>
          </a:p>
          <a:p>
            <a:pPr marL="414640">
              <a:spcBef>
                <a:spcPts val="609"/>
              </a:spcBef>
            </a:pPr>
            <a:r>
              <a:rPr sz="2471" spc="-4" dirty="0">
                <a:latin typeface="Arial"/>
                <a:cs typeface="Arial"/>
              </a:rPr>
              <a:t>–</a:t>
            </a:r>
            <a:r>
              <a:rPr sz="2471" spc="-75" dirty="0">
                <a:latin typeface="Arial"/>
                <a:cs typeface="Arial"/>
              </a:rPr>
              <a:t> </a:t>
            </a:r>
            <a:r>
              <a:rPr sz="2471" spc="-9" dirty="0">
                <a:latin typeface="Calibri"/>
                <a:cs typeface="Calibri"/>
              </a:rPr>
              <a:t>Outputs</a:t>
            </a:r>
            <a:r>
              <a:rPr sz="2471" spc="49" dirty="0">
                <a:latin typeface="Calibri"/>
                <a:cs typeface="Calibri"/>
              </a:rPr>
              <a:t> </a:t>
            </a:r>
            <a:r>
              <a:rPr sz="2471" spc="-18" dirty="0">
                <a:latin typeface="Calibri"/>
                <a:cs typeface="Calibri"/>
              </a:rPr>
              <a:t>too</a:t>
            </a:r>
            <a:r>
              <a:rPr sz="2471" spc="13" dirty="0">
                <a:latin typeface="Calibri"/>
                <a:cs typeface="Calibri"/>
              </a:rPr>
              <a:t> </a:t>
            </a:r>
            <a:r>
              <a:rPr sz="2471" spc="-22" dirty="0">
                <a:latin typeface="Calibri"/>
                <a:cs typeface="Calibri"/>
              </a:rPr>
              <a:t>may</a:t>
            </a:r>
            <a:r>
              <a:rPr sz="2471" spc="-4" dirty="0">
                <a:latin typeface="Calibri"/>
                <a:cs typeface="Calibri"/>
              </a:rPr>
              <a:t> </a:t>
            </a:r>
            <a:r>
              <a:rPr sz="2471" spc="-13" dirty="0">
                <a:latin typeface="Calibri"/>
                <a:cs typeface="Calibri"/>
              </a:rPr>
              <a:t>be</a:t>
            </a:r>
            <a:r>
              <a:rPr sz="2471" spc="-18" dirty="0">
                <a:latin typeface="Calibri"/>
                <a:cs typeface="Calibri"/>
              </a:rPr>
              <a:t> </a:t>
            </a:r>
            <a:r>
              <a:rPr sz="2471" spc="-4" dirty="0">
                <a:latin typeface="Calibri"/>
                <a:cs typeface="Calibri"/>
              </a:rPr>
              <a:t>a</a:t>
            </a:r>
            <a:r>
              <a:rPr sz="2471" spc="9" dirty="0">
                <a:latin typeface="Calibri"/>
                <a:cs typeface="Calibri"/>
              </a:rPr>
              <a:t> </a:t>
            </a:r>
            <a:r>
              <a:rPr sz="2471" spc="-9" dirty="0">
                <a:latin typeface="Calibri"/>
                <a:cs typeface="Calibri"/>
              </a:rPr>
              <a:t>series</a:t>
            </a:r>
            <a:endParaRPr sz="2471" dirty="0">
              <a:latin typeface="Calibri"/>
              <a:cs typeface="Calibri"/>
            </a:endParaRPr>
          </a:p>
          <a:p>
            <a:pPr>
              <a:spcBef>
                <a:spcPts val="18"/>
              </a:spcBef>
            </a:pPr>
            <a:endParaRPr sz="3441" dirty="0">
              <a:latin typeface="Calibri"/>
              <a:cs typeface="Calibri"/>
            </a:endParaRPr>
          </a:p>
          <a:p>
            <a:pPr marL="313781" indent="-303135">
              <a:spcBef>
                <a:spcPts val="4"/>
              </a:spcBef>
              <a:buFont typeface="Arial"/>
              <a:buChar char="•"/>
              <a:tabLst>
                <a:tab pos="313221" algn="l"/>
                <a:tab pos="314342" algn="l"/>
              </a:tabLst>
            </a:pPr>
            <a:r>
              <a:rPr sz="2824" spc="-9" dirty="0">
                <a:latin typeface="Calibri"/>
                <a:cs typeface="Calibri"/>
              </a:rPr>
              <a:t>Examples:</a:t>
            </a:r>
            <a:r>
              <a:rPr sz="2824" spc="-13" dirty="0">
                <a:latin typeface="Calibri"/>
                <a:cs typeface="Calibri"/>
              </a:rPr>
              <a:t> </a:t>
            </a:r>
            <a:r>
              <a:rPr lang="en-US" sz="2824" spc="-4" dirty="0">
                <a:latin typeface="Calibri"/>
                <a:cs typeface="Calibri"/>
              </a:rPr>
              <a:t>Stock Market Prediction, Language Translation etc.</a:t>
            </a:r>
            <a:endParaRPr sz="2824" dirty="0">
              <a:latin typeface="Calibri"/>
              <a:cs typeface="Calibri"/>
            </a:endParaRPr>
          </a:p>
        </p:txBody>
      </p:sp>
      <p:pic>
        <p:nvPicPr>
          <p:cNvPr id="9" name="Google Shape;310;p17"/>
          <p:cNvPicPr preferRelativeResize="0"/>
          <p:nvPr/>
        </p:nvPicPr>
        <p:blipFill rotWithShape="1">
          <a:blip r:embed="rId2">
            <a:alphaModFix/>
          </a:blip>
          <a:srcRect/>
          <a:stretch/>
        </p:blipFill>
        <p:spPr>
          <a:xfrm>
            <a:off x="270294" y="208639"/>
            <a:ext cx="834567" cy="989967"/>
          </a:xfrm>
          <a:prstGeom prst="rect">
            <a:avLst/>
          </a:prstGeom>
          <a:noFill/>
          <a:ln>
            <a:noFill/>
          </a:ln>
        </p:spPr>
      </p:pic>
    </p:spTree>
    <p:extLst>
      <p:ext uri="{BB962C8B-B14F-4D97-AF65-F5344CB8AC3E}">
        <p14:creationId xmlns:p14="http://schemas.microsoft.com/office/powerpoint/2010/main" val="3285597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5248" y="555334"/>
            <a:ext cx="6894979" cy="1103187"/>
          </a:xfrm>
          <a:prstGeom prst="rect">
            <a:avLst/>
          </a:prstGeom>
        </p:spPr>
        <p:txBody>
          <a:bodyPr vert="horz" wrap="square" lIns="0" tIns="266700" rIns="0" bIns="0" rtlCol="0">
            <a:spAutoFit/>
          </a:bodyPr>
          <a:lstStyle/>
          <a:p>
            <a:pPr marL="11206">
              <a:lnSpc>
                <a:spcPct val="100000"/>
              </a:lnSpc>
              <a:spcBef>
                <a:spcPts val="2100"/>
              </a:spcBef>
            </a:pPr>
            <a:r>
              <a:rPr spc="-4" dirty="0">
                <a:solidFill>
                  <a:srgbClr val="FF0000"/>
                </a:solidFill>
              </a:rPr>
              <a:t>The</a:t>
            </a:r>
            <a:r>
              <a:rPr spc="-9" dirty="0">
                <a:solidFill>
                  <a:srgbClr val="FF0000"/>
                </a:solidFill>
              </a:rPr>
              <a:t> </a:t>
            </a:r>
            <a:r>
              <a:rPr spc="-18" dirty="0">
                <a:solidFill>
                  <a:srgbClr val="FF0000"/>
                </a:solidFill>
              </a:rPr>
              <a:t>stock</a:t>
            </a:r>
            <a:r>
              <a:rPr spc="-31" dirty="0">
                <a:solidFill>
                  <a:srgbClr val="FF0000"/>
                </a:solidFill>
              </a:rPr>
              <a:t> </a:t>
            </a:r>
            <a:r>
              <a:rPr spc="-4" dirty="0">
                <a:solidFill>
                  <a:srgbClr val="FF0000"/>
                </a:solidFill>
              </a:rPr>
              <a:t>prediction</a:t>
            </a:r>
            <a:r>
              <a:rPr spc="-53" dirty="0">
                <a:solidFill>
                  <a:srgbClr val="FF0000"/>
                </a:solidFill>
              </a:rPr>
              <a:t> </a:t>
            </a:r>
            <a:r>
              <a:rPr spc="-9" dirty="0">
                <a:solidFill>
                  <a:srgbClr val="FF0000"/>
                </a:solidFill>
              </a:rPr>
              <a:t>problem…</a:t>
            </a:r>
          </a:p>
          <a:p>
            <a:pPr marR="4483" algn="r">
              <a:lnSpc>
                <a:spcPct val="100000"/>
              </a:lnSpc>
              <a:spcBef>
                <a:spcPts val="821"/>
              </a:spcBef>
            </a:pPr>
            <a:r>
              <a:rPr sz="1588" b="0" spc="-141" dirty="0">
                <a:solidFill>
                  <a:srgbClr val="FF0000"/>
                </a:solidFill>
                <a:latin typeface="Calibri"/>
                <a:cs typeface="Calibri"/>
              </a:rPr>
              <a:t>T</a:t>
            </a:r>
            <a:r>
              <a:rPr sz="1588" b="0" dirty="0">
                <a:solidFill>
                  <a:srgbClr val="FF0000"/>
                </a:solidFill>
                <a:latin typeface="Calibri"/>
                <a:cs typeface="Calibri"/>
              </a:rPr>
              <a:t>o</a:t>
            </a:r>
            <a:r>
              <a:rPr sz="1588" b="0" spc="-9" dirty="0">
                <a:solidFill>
                  <a:srgbClr val="FF0000"/>
                </a:solidFill>
                <a:latin typeface="Calibri"/>
                <a:cs typeface="Calibri"/>
              </a:rPr>
              <a:t> </a:t>
            </a:r>
            <a:r>
              <a:rPr sz="1588" b="0" dirty="0">
                <a:solidFill>
                  <a:srgbClr val="FF0000"/>
                </a:solidFill>
                <a:latin typeface="Calibri"/>
                <a:cs typeface="Calibri"/>
              </a:rPr>
              <a:t>i</a:t>
            </a:r>
            <a:r>
              <a:rPr sz="1588" b="0" spc="-26" dirty="0">
                <a:solidFill>
                  <a:srgbClr val="FF0000"/>
                </a:solidFill>
                <a:latin typeface="Calibri"/>
                <a:cs typeface="Calibri"/>
              </a:rPr>
              <a:t>n</a:t>
            </a:r>
            <a:r>
              <a:rPr sz="1588" b="0" spc="-4" dirty="0">
                <a:solidFill>
                  <a:srgbClr val="FF0000"/>
                </a:solidFill>
                <a:latin typeface="Calibri"/>
                <a:cs typeface="Calibri"/>
              </a:rPr>
              <a:t>v</a:t>
            </a:r>
            <a:r>
              <a:rPr sz="1588" b="0" dirty="0">
                <a:solidFill>
                  <a:srgbClr val="FF0000"/>
                </a:solidFill>
                <a:latin typeface="Calibri"/>
                <a:cs typeface="Calibri"/>
              </a:rPr>
              <a:t>e</a:t>
            </a:r>
            <a:r>
              <a:rPr sz="1588" b="0" spc="-18" dirty="0">
                <a:solidFill>
                  <a:srgbClr val="FF0000"/>
                </a:solidFill>
                <a:latin typeface="Calibri"/>
                <a:cs typeface="Calibri"/>
              </a:rPr>
              <a:t>s</a:t>
            </a:r>
            <a:r>
              <a:rPr sz="1588" b="0" dirty="0">
                <a:solidFill>
                  <a:srgbClr val="FF0000"/>
                </a:solidFill>
                <a:latin typeface="Calibri"/>
                <a:cs typeface="Calibri"/>
              </a:rPr>
              <a:t>t</a:t>
            </a:r>
            <a:r>
              <a:rPr sz="1588" b="0" spc="-18" dirty="0">
                <a:solidFill>
                  <a:srgbClr val="FF0000"/>
                </a:solidFill>
                <a:latin typeface="Calibri"/>
                <a:cs typeface="Calibri"/>
              </a:rPr>
              <a:t> </a:t>
            </a:r>
            <a:r>
              <a:rPr sz="1588" b="0" dirty="0">
                <a:solidFill>
                  <a:srgbClr val="FF0000"/>
                </a:solidFill>
                <a:latin typeface="Calibri"/>
                <a:cs typeface="Calibri"/>
              </a:rPr>
              <a:t>or</a:t>
            </a:r>
            <a:r>
              <a:rPr sz="1588" b="0" spc="4" dirty="0">
                <a:solidFill>
                  <a:srgbClr val="FF0000"/>
                </a:solidFill>
                <a:latin typeface="Calibri"/>
                <a:cs typeface="Calibri"/>
              </a:rPr>
              <a:t> n</a:t>
            </a:r>
            <a:r>
              <a:rPr sz="1588" b="0" spc="-13" dirty="0">
                <a:solidFill>
                  <a:srgbClr val="FF0000"/>
                </a:solidFill>
                <a:latin typeface="Calibri"/>
                <a:cs typeface="Calibri"/>
              </a:rPr>
              <a:t>o</a:t>
            </a:r>
            <a:r>
              <a:rPr sz="1588" b="0" dirty="0">
                <a:solidFill>
                  <a:srgbClr val="FF0000"/>
                </a:solidFill>
                <a:latin typeface="Calibri"/>
                <a:cs typeface="Calibri"/>
              </a:rPr>
              <a:t>t</a:t>
            </a:r>
            <a:r>
              <a:rPr sz="1588" b="0" spc="13" dirty="0">
                <a:solidFill>
                  <a:srgbClr val="FF0000"/>
                </a:solidFill>
                <a:latin typeface="Calibri"/>
                <a:cs typeface="Calibri"/>
              </a:rPr>
              <a:t> </a:t>
            </a:r>
            <a:r>
              <a:rPr sz="1588" b="0" spc="-9" dirty="0">
                <a:solidFill>
                  <a:srgbClr val="FF0000"/>
                </a:solidFill>
                <a:latin typeface="Calibri"/>
                <a:cs typeface="Calibri"/>
              </a:rPr>
              <a:t>t</a:t>
            </a:r>
            <a:r>
              <a:rPr sz="1588" b="0" dirty="0">
                <a:solidFill>
                  <a:srgbClr val="FF0000"/>
                </a:solidFill>
                <a:latin typeface="Calibri"/>
                <a:cs typeface="Calibri"/>
              </a:rPr>
              <a:t>o</a:t>
            </a:r>
            <a:r>
              <a:rPr sz="1588" b="0" spc="-9" dirty="0">
                <a:solidFill>
                  <a:srgbClr val="FF0000"/>
                </a:solidFill>
                <a:latin typeface="Calibri"/>
                <a:cs typeface="Calibri"/>
              </a:rPr>
              <a:t> </a:t>
            </a:r>
            <a:r>
              <a:rPr sz="1588" b="0" dirty="0">
                <a:solidFill>
                  <a:srgbClr val="FF0000"/>
                </a:solidFill>
                <a:latin typeface="Calibri"/>
                <a:cs typeface="Calibri"/>
              </a:rPr>
              <a:t>i</a:t>
            </a:r>
            <a:r>
              <a:rPr sz="1588" b="0" spc="-26" dirty="0">
                <a:solidFill>
                  <a:srgbClr val="FF0000"/>
                </a:solidFill>
                <a:latin typeface="Calibri"/>
                <a:cs typeface="Calibri"/>
              </a:rPr>
              <a:t>n</a:t>
            </a:r>
            <a:r>
              <a:rPr sz="1588" b="0" spc="-4" dirty="0">
                <a:solidFill>
                  <a:srgbClr val="FF0000"/>
                </a:solidFill>
                <a:latin typeface="Calibri"/>
                <a:cs typeface="Calibri"/>
              </a:rPr>
              <a:t>v</a:t>
            </a:r>
            <a:r>
              <a:rPr sz="1588" b="0" dirty="0">
                <a:solidFill>
                  <a:srgbClr val="FF0000"/>
                </a:solidFill>
                <a:latin typeface="Calibri"/>
                <a:cs typeface="Calibri"/>
              </a:rPr>
              <a:t>e</a:t>
            </a:r>
            <a:r>
              <a:rPr sz="1588" b="0" spc="-18" dirty="0">
                <a:solidFill>
                  <a:srgbClr val="FF0000"/>
                </a:solidFill>
                <a:latin typeface="Calibri"/>
                <a:cs typeface="Calibri"/>
              </a:rPr>
              <a:t>s</a:t>
            </a:r>
            <a:r>
              <a:rPr sz="1588" b="0" spc="-9" dirty="0">
                <a:solidFill>
                  <a:srgbClr val="FF0000"/>
                </a:solidFill>
                <a:latin typeface="Calibri"/>
                <a:cs typeface="Calibri"/>
              </a:rPr>
              <a:t>t</a:t>
            </a:r>
            <a:r>
              <a:rPr sz="1588" b="0" dirty="0">
                <a:solidFill>
                  <a:srgbClr val="FF0000"/>
                </a:solidFill>
                <a:latin typeface="Calibri"/>
                <a:cs typeface="Calibri"/>
              </a:rPr>
              <a:t>?</a:t>
            </a:r>
            <a:endParaRPr sz="1588" dirty="0">
              <a:solidFill>
                <a:srgbClr val="FF0000"/>
              </a:solidFill>
              <a:latin typeface="Calibri"/>
              <a:cs typeface="Calibri"/>
            </a:endParaRPr>
          </a:p>
        </p:txBody>
      </p:sp>
      <p:sp>
        <p:nvSpPr>
          <p:cNvPr id="3" name="object 3"/>
          <p:cNvSpPr txBox="1"/>
          <p:nvPr/>
        </p:nvSpPr>
        <p:spPr>
          <a:xfrm>
            <a:off x="2520041" y="3416406"/>
            <a:ext cx="6688231" cy="2169983"/>
          </a:xfrm>
          <a:prstGeom prst="rect">
            <a:avLst/>
          </a:prstGeom>
        </p:spPr>
        <p:txBody>
          <a:bodyPr vert="horz" wrap="square" lIns="0" tIns="11206" rIns="0" bIns="0" rtlCol="0">
            <a:spAutoFit/>
          </a:bodyPr>
          <a:lstStyle/>
          <a:p>
            <a:pPr marL="523343">
              <a:spcBef>
                <a:spcPts val="88"/>
              </a:spcBef>
              <a:tabLst>
                <a:tab pos="1176680" algn="l"/>
                <a:tab pos="1839544" algn="l"/>
                <a:tab pos="2446375" algn="l"/>
                <a:tab pos="3160227" algn="l"/>
                <a:tab pos="3825892" algn="l"/>
                <a:tab pos="4471386" algn="l"/>
                <a:tab pos="5165067" algn="l"/>
                <a:tab pos="5848662" algn="l"/>
              </a:tabLst>
            </a:pPr>
            <a:r>
              <a:rPr sz="1588" spc="-4" dirty="0">
                <a:latin typeface="Calibri"/>
                <a:cs typeface="Calibri"/>
              </a:rPr>
              <a:t>7/03	8/03	9/03	</a:t>
            </a:r>
            <a:r>
              <a:rPr sz="1588" dirty="0">
                <a:latin typeface="Calibri"/>
                <a:cs typeface="Calibri"/>
              </a:rPr>
              <a:t>10/03	11/03	12/03	13/03	14/03	15/03</a:t>
            </a:r>
          </a:p>
          <a:p>
            <a:pPr>
              <a:spcBef>
                <a:spcPts val="4"/>
              </a:spcBef>
            </a:pPr>
            <a:endParaRPr sz="1721" dirty="0">
              <a:latin typeface="Calibri"/>
              <a:cs typeface="Calibri"/>
            </a:endParaRPr>
          </a:p>
          <a:p>
            <a:pPr marL="313221" indent="-302575">
              <a:buFont typeface="Arial"/>
              <a:buChar char="•"/>
              <a:tabLst>
                <a:tab pos="313221" algn="l"/>
                <a:tab pos="313781" algn="l"/>
              </a:tabLst>
            </a:pPr>
            <a:r>
              <a:rPr sz="2647" spc="-4" dirty="0">
                <a:latin typeface="Calibri"/>
                <a:cs typeface="Calibri"/>
              </a:rPr>
              <a:t>Stock</a:t>
            </a:r>
            <a:r>
              <a:rPr sz="2647" spc="-57" dirty="0">
                <a:latin typeface="Calibri"/>
                <a:cs typeface="Calibri"/>
              </a:rPr>
              <a:t> </a:t>
            </a:r>
            <a:r>
              <a:rPr sz="2647" spc="-18" dirty="0">
                <a:latin typeface="Calibri"/>
                <a:cs typeface="Calibri"/>
              </a:rPr>
              <a:t>market</a:t>
            </a:r>
            <a:endParaRPr sz="2647" dirty="0">
              <a:latin typeface="Calibri"/>
              <a:cs typeface="Calibri"/>
            </a:endParaRPr>
          </a:p>
          <a:p>
            <a:pPr marL="667346" marR="4483" lvl="1" indent="-253266">
              <a:lnSpc>
                <a:spcPct val="110000"/>
              </a:lnSpc>
              <a:spcBef>
                <a:spcPts val="596"/>
              </a:spcBef>
              <a:buFont typeface="Arial"/>
              <a:buChar char="–"/>
              <a:tabLst>
                <a:tab pos="667906" algn="l"/>
              </a:tabLst>
            </a:pPr>
            <a:r>
              <a:rPr sz="2294" spc="-9" dirty="0">
                <a:latin typeface="Calibri"/>
                <a:cs typeface="Calibri"/>
              </a:rPr>
              <a:t>Must </a:t>
            </a:r>
            <a:r>
              <a:rPr sz="2294" spc="-4" dirty="0">
                <a:latin typeface="Calibri"/>
                <a:cs typeface="Calibri"/>
              </a:rPr>
              <a:t>consider </a:t>
            </a:r>
            <a:r>
              <a:rPr sz="2294" dirty="0">
                <a:latin typeface="Calibri"/>
                <a:cs typeface="Calibri"/>
              </a:rPr>
              <a:t>the </a:t>
            </a:r>
            <a:r>
              <a:rPr sz="2294" spc="-4" dirty="0">
                <a:latin typeface="Calibri"/>
                <a:cs typeface="Calibri"/>
              </a:rPr>
              <a:t>series </a:t>
            </a:r>
            <a:r>
              <a:rPr sz="2294" spc="-9" dirty="0">
                <a:latin typeface="Calibri"/>
                <a:cs typeface="Calibri"/>
              </a:rPr>
              <a:t>of stock values </a:t>
            </a:r>
            <a:r>
              <a:rPr sz="2294" dirty="0">
                <a:latin typeface="Calibri"/>
                <a:cs typeface="Calibri"/>
              </a:rPr>
              <a:t>in the </a:t>
            </a:r>
            <a:r>
              <a:rPr sz="2294" spc="-9" dirty="0">
                <a:latin typeface="Calibri"/>
                <a:cs typeface="Calibri"/>
              </a:rPr>
              <a:t>past </a:t>
            </a:r>
            <a:r>
              <a:rPr sz="2294" spc="-507" dirty="0">
                <a:latin typeface="Calibri"/>
                <a:cs typeface="Calibri"/>
              </a:rPr>
              <a:t> </a:t>
            </a:r>
            <a:r>
              <a:rPr sz="2294" spc="-9" dirty="0">
                <a:latin typeface="Calibri"/>
                <a:cs typeface="Calibri"/>
              </a:rPr>
              <a:t>several</a:t>
            </a:r>
            <a:r>
              <a:rPr sz="2294" spc="-35" dirty="0">
                <a:latin typeface="Calibri"/>
                <a:cs typeface="Calibri"/>
              </a:rPr>
              <a:t> </a:t>
            </a:r>
            <a:r>
              <a:rPr sz="2294" spc="-18" dirty="0">
                <a:latin typeface="Calibri"/>
                <a:cs typeface="Calibri"/>
              </a:rPr>
              <a:t>days </a:t>
            </a:r>
            <a:r>
              <a:rPr sz="2294" spc="-9" dirty="0">
                <a:latin typeface="Calibri"/>
                <a:cs typeface="Calibri"/>
              </a:rPr>
              <a:t>to </a:t>
            </a:r>
            <a:r>
              <a:rPr sz="2294" dirty="0">
                <a:latin typeface="Calibri"/>
                <a:cs typeface="Calibri"/>
              </a:rPr>
              <a:t>decide</a:t>
            </a:r>
            <a:r>
              <a:rPr sz="2294" spc="-31" dirty="0">
                <a:latin typeface="Calibri"/>
                <a:cs typeface="Calibri"/>
              </a:rPr>
              <a:t> </a:t>
            </a:r>
            <a:r>
              <a:rPr sz="2294" dirty="0">
                <a:latin typeface="Calibri"/>
                <a:cs typeface="Calibri"/>
              </a:rPr>
              <a:t>if</a:t>
            </a:r>
            <a:r>
              <a:rPr sz="2294" spc="-4" dirty="0">
                <a:latin typeface="Calibri"/>
                <a:cs typeface="Calibri"/>
              </a:rPr>
              <a:t> </a:t>
            </a:r>
            <a:r>
              <a:rPr sz="2294" dirty="0">
                <a:latin typeface="Calibri"/>
                <a:cs typeface="Calibri"/>
              </a:rPr>
              <a:t>it</a:t>
            </a:r>
            <a:r>
              <a:rPr sz="2294" spc="-26" dirty="0">
                <a:latin typeface="Calibri"/>
                <a:cs typeface="Calibri"/>
              </a:rPr>
              <a:t> </a:t>
            </a:r>
            <a:r>
              <a:rPr sz="2294" dirty="0">
                <a:latin typeface="Calibri"/>
                <a:cs typeface="Calibri"/>
              </a:rPr>
              <a:t>is</a:t>
            </a:r>
            <a:r>
              <a:rPr sz="2294" spc="4" dirty="0">
                <a:latin typeface="Calibri"/>
                <a:cs typeface="Calibri"/>
              </a:rPr>
              <a:t> </a:t>
            </a:r>
            <a:r>
              <a:rPr sz="2294" dirty="0">
                <a:latin typeface="Calibri"/>
                <a:cs typeface="Calibri"/>
              </a:rPr>
              <a:t>wise</a:t>
            </a:r>
            <a:r>
              <a:rPr sz="2294" spc="-4" dirty="0">
                <a:latin typeface="Calibri"/>
                <a:cs typeface="Calibri"/>
              </a:rPr>
              <a:t> </a:t>
            </a:r>
            <a:r>
              <a:rPr sz="2294" spc="-18" dirty="0">
                <a:latin typeface="Calibri"/>
                <a:cs typeface="Calibri"/>
              </a:rPr>
              <a:t>to</a:t>
            </a:r>
            <a:r>
              <a:rPr sz="2294" spc="13" dirty="0">
                <a:latin typeface="Calibri"/>
                <a:cs typeface="Calibri"/>
              </a:rPr>
              <a:t> </a:t>
            </a:r>
            <a:r>
              <a:rPr sz="2294" spc="-18" dirty="0">
                <a:latin typeface="Calibri"/>
                <a:cs typeface="Calibri"/>
              </a:rPr>
              <a:t>invest</a:t>
            </a:r>
            <a:r>
              <a:rPr sz="2294" spc="-26" dirty="0">
                <a:latin typeface="Calibri"/>
                <a:cs typeface="Calibri"/>
              </a:rPr>
              <a:t> </a:t>
            </a:r>
            <a:r>
              <a:rPr sz="2294" spc="-13" dirty="0">
                <a:latin typeface="Calibri"/>
                <a:cs typeface="Calibri"/>
              </a:rPr>
              <a:t>today</a:t>
            </a:r>
            <a:endParaRPr sz="2294" dirty="0">
              <a:latin typeface="Calibri"/>
              <a:cs typeface="Calibri"/>
            </a:endParaRPr>
          </a:p>
          <a:p>
            <a:pPr marL="1019229" lvl="2" indent="-202277">
              <a:spcBef>
                <a:spcPts val="745"/>
              </a:spcBef>
              <a:buFont typeface="Arial"/>
              <a:buChar char="•"/>
              <a:tabLst>
                <a:tab pos="1019229" algn="l"/>
                <a:tab pos="1019790" algn="l"/>
              </a:tabLst>
            </a:pPr>
            <a:r>
              <a:rPr sz="1941" spc="-4" dirty="0">
                <a:latin typeface="Calibri"/>
                <a:cs typeface="Calibri"/>
              </a:rPr>
              <a:t>Ideally</a:t>
            </a:r>
            <a:r>
              <a:rPr sz="1941" spc="-9" dirty="0">
                <a:latin typeface="Calibri"/>
                <a:cs typeface="Calibri"/>
              </a:rPr>
              <a:t> consider</a:t>
            </a:r>
            <a:r>
              <a:rPr sz="1941" spc="-4" dirty="0">
                <a:latin typeface="Calibri"/>
                <a:cs typeface="Calibri"/>
              </a:rPr>
              <a:t> </a:t>
            </a:r>
            <a:r>
              <a:rPr sz="1941" i="1" spc="-4" dirty="0">
                <a:latin typeface="Calibri"/>
                <a:cs typeface="Calibri"/>
              </a:rPr>
              <a:t>all</a:t>
            </a:r>
            <a:r>
              <a:rPr sz="1941" i="1" spc="-13" dirty="0">
                <a:latin typeface="Calibri"/>
                <a:cs typeface="Calibri"/>
              </a:rPr>
              <a:t> </a:t>
            </a:r>
            <a:r>
              <a:rPr sz="1941" dirty="0">
                <a:latin typeface="Calibri"/>
                <a:cs typeface="Calibri"/>
              </a:rPr>
              <a:t>of</a:t>
            </a:r>
            <a:r>
              <a:rPr sz="1941" spc="4" dirty="0">
                <a:latin typeface="Calibri"/>
                <a:cs typeface="Calibri"/>
              </a:rPr>
              <a:t> </a:t>
            </a:r>
            <a:r>
              <a:rPr sz="1941" spc="-9" dirty="0">
                <a:latin typeface="Calibri"/>
                <a:cs typeface="Calibri"/>
              </a:rPr>
              <a:t>history</a:t>
            </a:r>
            <a:endParaRPr sz="1941" dirty="0">
              <a:latin typeface="Calibri"/>
              <a:cs typeface="Calibri"/>
            </a:endParaRPr>
          </a:p>
        </p:txBody>
      </p:sp>
      <p:grpSp>
        <p:nvGrpSpPr>
          <p:cNvPr id="4" name="object 4"/>
          <p:cNvGrpSpPr/>
          <p:nvPr/>
        </p:nvGrpSpPr>
        <p:grpSpPr>
          <a:xfrm>
            <a:off x="3058982" y="2640329"/>
            <a:ext cx="5840506" cy="800100"/>
            <a:chOff x="1587246" y="2992373"/>
            <a:chExt cx="6619240" cy="906780"/>
          </a:xfrm>
        </p:grpSpPr>
        <p:pic>
          <p:nvPicPr>
            <p:cNvPr id="5" name="object 5"/>
            <p:cNvPicPr/>
            <p:nvPr/>
          </p:nvPicPr>
          <p:blipFill>
            <a:blip r:embed="rId2" cstate="print"/>
            <a:stretch>
              <a:fillRect/>
            </a:stretch>
          </p:blipFill>
          <p:spPr>
            <a:xfrm>
              <a:off x="3279648" y="3096767"/>
              <a:ext cx="73151" cy="717804"/>
            </a:xfrm>
            <a:prstGeom prst="rect">
              <a:avLst/>
            </a:prstGeom>
          </p:spPr>
        </p:pic>
        <p:sp>
          <p:nvSpPr>
            <p:cNvPr id="6" name="object 6"/>
            <p:cNvSpPr/>
            <p:nvPr/>
          </p:nvSpPr>
          <p:spPr>
            <a:xfrm>
              <a:off x="3273539"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7" name="object 7"/>
            <p:cNvSpPr/>
            <p:nvPr/>
          </p:nvSpPr>
          <p:spPr>
            <a:xfrm>
              <a:off x="3273552" y="3089148"/>
              <a:ext cx="86995" cy="731520"/>
            </a:xfrm>
            <a:custGeom>
              <a:avLst/>
              <a:gdLst/>
              <a:ahLst/>
              <a:cxnLst/>
              <a:rect l="l" t="t" r="r" b="b"/>
              <a:pathLst>
                <a:path w="86995" h="731520">
                  <a:moveTo>
                    <a:pt x="6096" y="0"/>
                  </a:moveTo>
                  <a:lnTo>
                    <a:pt x="6096" y="731519"/>
                  </a:lnTo>
                </a:path>
                <a:path w="86995" h="731520">
                  <a:moveTo>
                    <a:pt x="79248" y="0"/>
                  </a:moveTo>
                  <a:lnTo>
                    <a:pt x="79248"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8" name="object 8"/>
            <p:cNvPicPr/>
            <p:nvPr/>
          </p:nvPicPr>
          <p:blipFill>
            <a:blip r:embed="rId3" cstate="print"/>
            <a:stretch>
              <a:fillRect/>
            </a:stretch>
          </p:blipFill>
          <p:spPr>
            <a:xfrm>
              <a:off x="4038600" y="3096767"/>
              <a:ext cx="74675" cy="717804"/>
            </a:xfrm>
            <a:prstGeom prst="rect">
              <a:avLst/>
            </a:prstGeom>
          </p:spPr>
        </p:pic>
        <p:sp>
          <p:nvSpPr>
            <p:cNvPr id="9" name="object 9"/>
            <p:cNvSpPr/>
            <p:nvPr/>
          </p:nvSpPr>
          <p:spPr>
            <a:xfrm>
              <a:off x="4032491" y="3179063"/>
              <a:ext cx="86995" cy="551815"/>
            </a:xfrm>
            <a:custGeom>
              <a:avLst/>
              <a:gdLst/>
              <a:ahLst/>
              <a:cxnLst/>
              <a:rect l="l" t="t" r="r" b="b"/>
              <a:pathLst>
                <a:path w="86995" h="551814">
                  <a:moveTo>
                    <a:pt x="86880" y="539508"/>
                  </a:moveTo>
                  <a:lnTo>
                    <a:pt x="0" y="539508"/>
                  </a:lnTo>
                  <a:lnTo>
                    <a:pt x="0" y="551700"/>
                  </a:lnTo>
                  <a:lnTo>
                    <a:pt x="86880" y="551700"/>
                  </a:lnTo>
                  <a:lnTo>
                    <a:pt x="86880" y="539508"/>
                  </a:lnTo>
                  <a:close/>
                </a:path>
                <a:path w="86995" h="551814">
                  <a:moveTo>
                    <a:pt x="86880" y="449592"/>
                  </a:moveTo>
                  <a:lnTo>
                    <a:pt x="0" y="449592"/>
                  </a:lnTo>
                  <a:lnTo>
                    <a:pt x="0" y="461784"/>
                  </a:lnTo>
                  <a:lnTo>
                    <a:pt x="86880" y="461784"/>
                  </a:lnTo>
                  <a:lnTo>
                    <a:pt x="86880" y="449592"/>
                  </a:lnTo>
                  <a:close/>
                </a:path>
                <a:path w="86995" h="551814">
                  <a:moveTo>
                    <a:pt x="86880" y="359676"/>
                  </a:moveTo>
                  <a:lnTo>
                    <a:pt x="0" y="359676"/>
                  </a:lnTo>
                  <a:lnTo>
                    <a:pt x="0" y="371868"/>
                  </a:lnTo>
                  <a:lnTo>
                    <a:pt x="86880" y="371868"/>
                  </a:lnTo>
                  <a:lnTo>
                    <a:pt x="86880" y="359676"/>
                  </a:lnTo>
                  <a:close/>
                </a:path>
                <a:path w="86995" h="551814">
                  <a:moveTo>
                    <a:pt x="86880" y="269760"/>
                  </a:moveTo>
                  <a:lnTo>
                    <a:pt x="0" y="269760"/>
                  </a:lnTo>
                  <a:lnTo>
                    <a:pt x="0" y="281952"/>
                  </a:lnTo>
                  <a:lnTo>
                    <a:pt x="86880" y="281952"/>
                  </a:lnTo>
                  <a:lnTo>
                    <a:pt x="86880" y="269760"/>
                  </a:lnTo>
                  <a:close/>
                </a:path>
                <a:path w="86995" h="551814">
                  <a:moveTo>
                    <a:pt x="86880" y="179832"/>
                  </a:moveTo>
                  <a:lnTo>
                    <a:pt x="0" y="179832"/>
                  </a:lnTo>
                  <a:lnTo>
                    <a:pt x="0" y="192024"/>
                  </a:lnTo>
                  <a:lnTo>
                    <a:pt x="86880" y="192024"/>
                  </a:lnTo>
                  <a:lnTo>
                    <a:pt x="86880" y="179832"/>
                  </a:lnTo>
                  <a:close/>
                </a:path>
                <a:path w="86995" h="551814">
                  <a:moveTo>
                    <a:pt x="86880" y="89916"/>
                  </a:moveTo>
                  <a:lnTo>
                    <a:pt x="0" y="89916"/>
                  </a:lnTo>
                  <a:lnTo>
                    <a:pt x="0" y="102108"/>
                  </a:lnTo>
                  <a:lnTo>
                    <a:pt x="86880" y="102108"/>
                  </a:lnTo>
                  <a:lnTo>
                    <a:pt x="86880" y="89916"/>
                  </a:lnTo>
                  <a:close/>
                </a:path>
                <a:path w="86995" h="551814">
                  <a:moveTo>
                    <a:pt x="86880" y="0"/>
                  </a:moveTo>
                  <a:lnTo>
                    <a:pt x="0" y="0"/>
                  </a:lnTo>
                  <a:lnTo>
                    <a:pt x="0" y="12192"/>
                  </a:lnTo>
                  <a:lnTo>
                    <a:pt x="86880" y="12192"/>
                  </a:lnTo>
                  <a:lnTo>
                    <a:pt x="86880" y="0"/>
                  </a:lnTo>
                  <a:close/>
                </a:path>
              </a:pathLst>
            </a:custGeom>
            <a:solidFill>
              <a:srgbClr val="BF0000"/>
            </a:solidFill>
          </p:spPr>
          <p:txBody>
            <a:bodyPr wrap="square" lIns="0" tIns="0" rIns="0" bIns="0" rtlCol="0"/>
            <a:lstStyle/>
            <a:p>
              <a:endParaRPr sz="1588"/>
            </a:p>
          </p:txBody>
        </p:sp>
        <p:sp>
          <p:nvSpPr>
            <p:cNvPr id="10" name="object 10"/>
            <p:cNvSpPr/>
            <p:nvPr/>
          </p:nvSpPr>
          <p:spPr>
            <a:xfrm>
              <a:off x="4032503" y="3089148"/>
              <a:ext cx="86995" cy="731520"/>
            </a:xfrm>
            <a:custGeom>
              <a:avLst/>
              <a:gdLst/>
              <a:ahLst/>
              <a:cxnLst/>
              <a:rect l="l" t="t" r="r" b="b"/>
              <a:pathLst>
                <a:path w="86995" h="731520">
                  <a:moveTo>
                    <a:pt x="6096" y="0"/>
                  </a:moveTo>
                  <a:lnTo>
                    <a:pt x="6096" y="731519"/>
                  </a:lnTo>
                </a:path>
                <a:path w="86995" h="731520">
                  <a:moveTo>
                    <a:pt x="80772" y="0"/>
                  </a:moveTo>
                  <a:lnTo>
                    <a:pt x="80772" y="731519"/>
                  </a:lnTo>
                </a:path>
                <a:path w="86995" h="731520">
                  <a:moveTo>
                    <a:pt x="0" y="7619"/>
                  </a:moveTo>
                  <a:lnTo>
                    <a:pt x="86868" y="7619"/>
                  </a:lnTo>
                </a:path>
                <a:path w="86995" h="731520">
                  <a:moveTo>
                    <a:pt x="0" y="725424"/>
                  </a:moveTo>
                  <a:lnTo>
                    <a:pt x="86868" y="725424"/>
                  </a:lnTo>
                </a:path>
              </a:pathLst>
            </a:custGeom>
            <a:ln w="12192">
              <a:solidFill>
                <a:srgbClr val="BF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4803648" y="3096767"/>
              <a:ext cx="73151" cy="717804"/>
            </a:xfrm>
            <a:prstGeom prst="rect">
              <a:avLst/>
            </a:prstGeom>
          </p:spPr>
        </p:pic>
        <p:sp>
          <p:nvSpPr>
            <p:cNvPr id="12" name="object 12"/>
            <p:cNvSpPr/>
            <p:nvPr/>
          </p:nvSpPr>
          <p:spPr>
            <a:xfrm>
              <a:off x="4797539"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13" name="object 13"/>
            <p:cNvSpPr/>
            <p:nvPr/>
          </p:nvSpPr>
          <p:spPr>
            <a:xfrm>
              <a:off x="4797552" y="3089148"/>
              <a:ext cx="86995" cy="731520"/>
            </a:xfrm>
            <a:custGeom>
              <a:avLst/>
              <a:gdLst/>
              <a:ahLst/>
              <a:cxnLst/>
              <a:rect l="l" t="t" r="r" b="b"/>
              <a:pathLst>
                <a:path w="86995" h="731520">
                  <a:moveTo>
                    <a:pt x="6096" y="0"/>
                  </a:moveTo>
                  <a:lnTo>
                    <a:pt x="6096" y="731519"/>
                  </a:lnTo>
                </a:path>
                <a:path w="86995" h="731520">
                  <a:moveTo>
                    <a:pt x="79248" y="0"/>
                  </a:moveTo>
                  <a:lnTo>
                    <a:pt x="79248"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14" name="object 14"/>
            <p:cNvPicPr/>
            <p:nvPr/>
          </p:nvPicPr>
          <p:blipFill>
            <a:blip r:embed="rId2" cstate="print"/>
            <a:stretch>
              <a:fillRect/>
            </a:stretch>
          </p:blipFill>
          <p:spPr>
            <a:xfrm>
              <a:off x="5565648" y="3096767"/>
              <a:ext cx="73151" cy="717804"/>
            </a:xfrm>
            <a:prstGeom prst="rect">
              <a:avLst/>
            </a:prstGeom>
          </p:spPr>
        </p:pic>
        <p:sp>
          <p:nvSpPr>
            <p:cNvPr id="15" name="object 15"/>
            <p:cNvSpPr/>
            <p:nvPr/>
          </p:nvSpPr>
          <p:spPr>
            <a:xfrm>
              <a:off x="5559539"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16" name="object 16"/>
            <p:cNvSpPr/>
            <p:nvPr/>
          </p:nvSpPr>
          <p:spPr>
            <a:xfrm>
              <a:off x="5559552" y="3089148"/>
              <a:ext cx="86995" cy="731520"/>
            </a:xfrm>
            <a:custGeom>
              <a:avLst/>
              <a:gdLst/>
              <a:ahLst/>
              <a:cxnLst/>
              <a:rect l="l" t="t" r="r" b="b"/>
              <a:pathLst>
                <a:path w="86995" h="731520">
                  <a:moveTo>
                    <a:pt x="6096" y="0"/>
                  </a:moveTo>
                  <a:lnTo>
                    <a:pt x="6096" y="731519"/>
                  </a:lnTo>
                </a:path>
                <a:path w="86995" h="731520">
                  <a:moveTo>
                    <a:pt x="79248" y="0"/>
                  </a:moveTo>
                  <a:lnTo>
                    <a:pt x="79248"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6324599" y="3096767"/>
              <a:ext cx="74676" cy="717804"/>
            </a:xfrm>
            <a:prstGeom prst="rect">
              <a:avLst/>
            </a:prstGeom>
          </p:spPr>
        </p:pic>
        <p:sp>
          <p:nvSpPr>
            <p:cNvPr id="18" name="object 18"/>
            <p:cNvSpPr/>
            <p:nvPr/>
          </p:nvSpPr>
          <p:spPr>
            <a:xfrm>
              <a:off x="6318491"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19" name="object 19"/>
            <p:cNvSpPr/>
            <p:nvPr/>
          </p:nvSpPr>
          <p:spPr>
            <a:xfrm>
              <a:off x="6318503" y="3089148"/>
              <a:ext cx="86995" cy="731520"/>
            </a:xfrm>
            <a:custGeom>
              <a:avLst/>
              <a:gdLst/>
              <a:ahLst/>
              <a:cxnLst/>
              <a:rect l="l" t="t" r="r" b="b"/>
              <a:pathLst>
                <a:path w="86995" h="731520">
                  <a:moveTo>
                    <a:pt x="6096" y="0"/>
                  </a:moveTo>
                  <a:lnTo>
                    <a:pt x="6096" y="731519"/>
                  </a:lnTo>
                </a:path>
                <a:path w="86995" h="731520">
                  <a:moveTo>
                    <a:pt x="80772" y="0"/>
                  </a:moveTo>
                  <a:lnTo>
                    <a:pt x="80772"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20" name="object 20"/>
            <p:cNvPicPr/>
            <p:nvPr/>
          </p:nvPicPr>
          <p:blipFill>
            <a:blip r:embed="rId2" cstate="print"/>
            <a:stretch>
              <a:fillRect/>
            </a:stretch>
          </p:blipFill>
          <p:spPr>
            <a:xfrm>
              <a:off x="7089648" y="3096767"/>
              <a:ext cx="73151" cy="717804"/>
            </a:xfrm>
            <a:prstGeom prst="rect">
              <a:avLst/>
            </a:prstGeom>
          </p:spPr>
        </p:pic>
        <p:sp>
          <p:nvSpPr>
            <p:cNvPr id="21" name="object 21"/>
            <p:cNvSpPr/>
            <p:nvPr/>
          </p:nvSpPr>
          <p:spPr>
            <a:xfrm>
              <a:off x="7083539"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22" name="object 22"/>
            <p:cNvSpPr/>
            <p:nvPr/>
          </p:nvSpPr>
          <p:spPr>
            <a:xfrm>
              <a:off x="7083552" y="3089148"/>
              <a:ext cx="86995" cy="731520"/>
            </a:xfrm>
            <a:custGeom>
              <a:avLst/>
              <a:gdLst/>
              <a:ahLst/>
              <a:cxnLst/>
              <a:rect l="l" t="t" r="r" b="b"/>
              <a:pathLst>
                <a:path w="86995" h="731520">
                  <a:moveTo>
                    <a:pt x="6096" y="0"/>
                  </a:moveTo>
                  <a:lnTo>
                    <a:pt x="6096" y="731519"/>
                  </a:lnTo>
                </a:path>
                <a:path w="86995" h="731520">
                  <a:moveTo>
                    <a:pt x="79248" y="0"/>
                  </a:moveTo>
                  <a:lnTo>
                    <a:pt x="79248"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23" name="object 23"/>
            <p:cNvPicPr/>
            <p:nvPr/>
          </p:nvPicPr>
          <p:blipFill>
            <a:blip r:embed="rId2" cstate="print"/>
            <a:stretch>
              <a:fillRect/>
            </a:stretch>
          </p:blipFill>
          <p:spPr>
            <a:xfrm>
              <a:off x="7851648" y="3096767"/>
              <a:ext cx="73151" cy="717804"/>
            </a:xfrm>
            <a:prstGeom prst="rect">
              <a:avLst/>
            </a:prstGeom>
          </p:spPr>
        </p:pic>
        <p:sp>
          <p:nvSpPr>
            <p:cNvPr id="24" name="object 24"/>
            <p:cNvSpPr/>
            <p:nvPr/>
          </p:nvSpPr>
          <p:spPr>
            <a:xfrm>
              <a:off x="7845539" y="3179063"/>
              <a:ext cx="86995" cy="551815"/>
            </a:xfrm>
            <a:custGeom>
              <a:avLst/>
              <a:gdLst/>
              <a:ahLst/>
              <a:cxnLst/>
              <a:rect l="l" t="t" r="r" b="b"/>
              <a:pathLst>
                <a:path w="86995" h="551814">
                  <a:moveTo>
                    <a:pt x="86868" y="539508"/>
                  </a:moveTo>
                  <a:lnTo>
                    <a:pt x="0" y="539508"/>
                  </a:lnTo>
                  <a:lnTo>
                    <a:pt x="0" y="551700"/>
                  </a:lnTo>
                  <a:lnTo>
                    <a:pt x="86868" y="551700"/>
                  </a:lnTo>
                  <a:lnTo>
                    <a:pt x="86868" y="539508"/>
                  </a:lnTo>
                  <a:close/>
                </a:path>
                <a:path w="86995" h="551814">
                  <a:moveTo>
                    <a:pt x="86868" y="449592"/>
                  </a:moveTo>
                  <a:lnTo>
                    <a:pt x="0" y="449592"/>
                  </a:lnTo>
                  <a:lnTo>
                    <a:pt x="0" y="461784"/>
                  </a:lnTo>
                  <a:lnTo>
                    <a:pt x="86868" y="461784"/>
                  </a:lnTo>
                  <a:lnTo>
                    <a:pt x="86868" y="449592"/>
                  </a:lnTo>
                  <a:close/>
                </a:path>
                <a:path w="86995" h="551814">
                  <a:moveTo>
                    <a:pt x="86868" y="359676"/>
                  </a:moveTo>
                  <a:lnTo>
                    <a:pt x="0" y="359676"/>
                  </a:lnTo>
                  <a:lnTo>
                    <a:pt x="0" y="371868"/>
                  </a:lnTo>
                  <a:lnTo>
                    <a:pt x="86868" y="371868"/>
                  </a:lnTo>
                  <a:lnTo>
                    <a:pt x="86868" y="359676"/>
                  </a:lnTo>
                  <a:close/>
                </a:path>
                <a:path w="86995" h="551814">
                  <a:moveTo>
                    <a:pt x="86868" y="269760"/>
                  </a:moveTo>
                  <a:lnTo>
                    <a:pt x="0" y="269760"/>
                  </a:lnTo>
                  <a:lnTo>
                    <a:pt x="0" y="281952"/>
                  </a:lnTo>
                  <a:lnTo>
                    <a:pt x="86868" y="281952"/>
                  </a:lnTo>
                  <a:lnTo>
                    <a:pt x="86868" y="269760"/>
                  </a:lnTo>
                  <a:close/>
                </a:path>
                <a:path w="86995" h="551814">
                  <a:moveTo>
                    <a:pt x="86868" y="179832"/>
                  </a:moveTo>
                  <a:lnTo>
                    <a:pt x="0" y="179832"/>
                  </a:lnTo>
                  <a:lnTo>
                    <a:pt x="0" y="192024"/>
                  </a:lnTo>
                  <a:lnTo>
                    <a:pt x="86868" y="192024"/>
                  </a:lnTo>
                  <a:lnTo>
                    <a:pt x="86868" y="179832"/>
                  </a:lnTo>
                  <a:close/>
                </a:path>
                <a:path w="86995" h="551814">
                  <a:moveTo>
                    <a:pt x="86868" y="89916"/>
                  </a:moveTo>
                  <a:lnTo>
                    <a:pt x="0" y="89916"/>
                  </a:lnTo>
                  <a:lnTo>
                    <a:pt x="0" y="102108"/>
                  </a:lnTo>
                  <a:lnTo>
                    <a:pt x="86868" y="102108"/>
                  </a:lnTo>
                  <a:lnTo>
                    <a:pt x="86868" y="89916"/>
                  </a:lnTo>
                  <a:close/>
                </a:path>
                <a:path w="86995"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25" name="object 25"/>
            <p:cNvSpPr/>
            <p:nvPr/>
          </p:nvSpPr>
          <p:spPr>
            <a:xfrm>
              <a:off x="7845552" y="3089148"/>
              <a:ext cx="86995" cy="731520"/>
            </a:xfrm>
            <a:custGeom>
              <a:avLst/>
              <a:gdLst/>
              <a:ahLst/>
              <a:cxnLst/>
              <a:rect l="l" t="t" r="r" b="b"/>
              <a:pathLst>
                <a:path w="86995" h="731520">
                  <a:moveTo>
                    <a:pt x="6096" y="0"/>
                  </a:moveTo>
                  <a:lnTo>
                    <a:pt x="6096" y="731519"/>
                  </a:lnTo>
                </a:path>
                <a:path w="86995" h="731520">
                  <a:moveTo>
                    <a:pt x="79248" y="0"/>
                  </a:moveTo>
                  <a:lnTo>
                    <a:pt x="79248" y="731519"/>
                  </a:lnTo>
                </a:path>
                <a:path w="86995" h="731520">
                  <a:moveTo>
                    <a:pt x="0" y="7619"/>
                  </a:moveTo>
                  <a:lnTo>
                    <a:pt x="86867" y="7619"/>
                  </a:lnTo>
                </a:path>
                <a:path w="86995" h="731520">
                  <a:moveTo>
                    <a:pt x="0" y="725424"/>
                  </a:moveTo>
                  <a:lnTo>
                    <a:pt x="86867" y="725424"/>
                  </a:lnTo>
                </a:path>
              </a:pathLst>
            </a:custGeom>
            <a:ln w="12192">
              <a:solidFill>
                <a:srgbClr val="BF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1755648" y="3096767"/>
              <a:ext cx="73151" cy="717804"/>
            </a:xfrm>
            <a:prstGeom prst="rect">
              <a:avLst/>
            </a:prstGeom>
          </p:spPr>
        </p:pic>
        <p:sp>
          <p:nvSpPr>
            <p:cNvPr id="27" name="object 27"/>
            <p:cNvSpPr/>
            <p:nvPr/>
          </p:nvSpPr>
          <p:spPr>
            <a:xfrm>
              <a:off x="1749539" y="3179063"/>
              <a:ext cx="86995" cy="551815"/>
            </a:xfrm>
            <a:custGeom>
              <a:avLst/>
              <a:gdLst/>
              <a:ahLst/>
              <a:cxnLst/>
              <a:rect l="l" t="t" r="r" b="b"/>
              <a:pathLst>
                <a:path w="86994" h="551814">
                  <a:moveTo>
                    <a:pt x="86880" y="539508"/>
                  </a:moveTo>
                  <a:lnTo>
                    <a:pt x="0" y="539508"/>
                  </a:lnTo>
                  <a:lnTo>
                    <a:pt x="0" y="551700"/>
                  </a:lnTo>
                  <a:lnTo>
                    <a:pt x="86880" y="551700"/>
                  </a:lnTo>
                  <a:lnTo>
                    <a:pt x="86880" y="539508"/>
                  </a:lnTo>
                  <a:close/>
                </a:path>
                <a:path w="86994" h="551814">
                  <a:moveTo>
                    <a:pt x="86880" y="449592"/>
                  </a:moveTo>
                  <a:lnTo>
                    <a:pt x="0" y="449592"/>
                  </a:lnTo>
                  <a:lnTo>
                    <a:pt x="0" y="461784"/>
                  </a:lnTo>
                  <a:lnTo>
                    <a:pt x="86880" y="461784"/>
                  </a:lnTo>
                  <a:lnTo>
                    <a:pt x="86880" y="449592"/>
                  </a:lnTo>
                  <a:close/>
                </a:path>
                <a:path w="86994" h="551814">
                  <a:moveTo>
                    <a:pt x="86880" y="359676"/>
                  </a:moveTo>
                  <a:lnTo>
                    <a:pt x="0" y="359676"/>
                  </a:lnTo>
                  <a:lnTo>
                    <a:pt x="0" y="371868"/>
                  </a:lnTo>
                  <a:lnTo>
                    <a:pt x="86880" y="371868"/>
                  </a:lnTo>
                  <a:lnTo>
                    <a:pt x="86880" y="359676"/>
                  </a:lnTo>
                  <a:close/>
                </a:path>
                <a:path w="86994" h="551814">
                  <a:moveTo>
                    <a:pt x="86880" y="269760"/>
                  </a:moveTo>
                  <a:lnTo>
                    <a:pt x="0" y="269760"/>
                  </a:lnTo>
                  <a:lnTo>
                    <a:pt x="0" y="281952"/>
                  </a:lnTo>
                  <a:lnTo>
                    <a:pt x="86880" y="281952"/>
                  </a:lnTo>
                  <a:lnTo>
                    <a:pt x="86880" y="269760"/>
                  </a:lnTo>
                  <a:close/>
                </a:path>
                <a:path w="86994" h="551814">
                  <a:moveTo>
                    <a:pt x="86880" y="179832"/>
                  </a:moveTo>
                  <a:lnTo>
                    <a:pt x="0" y="179832"/>
                  </a:lnTo>
                  <a:lnTo>
                    <a:pt x="0" y="192024"/>
                  </a:lnTo>
                  <a:lnTo>
                    <a:pt x="86880" y="192024"/>
                  </a:lnTo>
                  <a:lnTo>
                    <a:pt x="86880" y="179832"/>
                  </a:lnTo>
                  <a:close/>
                </a:path>
                <a:path w="86994" h="551814">
                  <a:moveTo>
                    <a:pt x="86880" y="89916"/>
                  </a:moveTo>
                  <a:lnTo>
                    <a:pt x="0" y="89916"/>
                  </a:lnTo>
                  <a:lnTo>
                    <a:pt x="0" y="102108"/>
                  </a:lnTo>
                  <a:lnTo>
                    <a:pt x="86880" y="102108"/>
                  </a:lnTo>
                  <a:lnTo>
                    <a:pt x="86880" y="89916"/>
                  </a:lnTo>
                  <a:close/>
                </a:path>
                <a:path w="86994" h="551814">
                  <a:moveTo>
                    <a:pt x="86880" y="0"/>
                  </a:moveTo>
                  <a:lnTo>
                    <a:pt x="0" y="0"/>
                  </a:lnTo>
                  <a:lnTo>
                    <a:pt x="0" y="12192"/>
                  </a:lnTo>
                  <a:lnTo>
                    <a:pt x="86880" y="12192"/>
                  </a:lnTo>
                  <a:lnTo>
                    <a:pt x="86880" y="0"/>
                  </a:lnTo>
                  <a:close/>
                </a:path>
              </a:pathLst>
            </a:custGeom>
            <a:solidFill>
              <a:srgbClr val="BF0000"/>
            </a:solidFill>
          </p:spPr>
          <p:txBody>
            <a:bodyPr wrap="square" lIns="0" tIns="0" rIns="0" bIns="0" rtlCol="0"/>
            <a:lstStyle/>
            <a:p>
              <a:endParaRPr sz="1588"/>
            </a:p>
          </p:txBody>
        </p:sp>
        <p:sp>
          <p:nvSpPr>
            <p:cNvPr id="28" name="object 28"/>
            <p:cNvSpPr/>
            <p:nvPr/>
          </p:nvSpPr>
          <p:spPr>
            <a:xfrm>
              <a:off x="1749551" y="3089148"/>
              <a:ext cx="86995" cy="731520"/>
            </a:xfrm>
            <a:custGeom>
              <a:avLst/>
              <a:gdLst/>
              <a:ahLst/>
              <a:cxnLst/>
              <a:rect l="l" t="t" r="r" b="b"/>
              <a:pathLst>
                <a:path w="86994" h="731520">
                  <a:moveTo>
                    <a:pt x="6096" y="0"/>
                  </a:moveTo>
                  <a:lnTo>
                    <a:pt x="6096" y="731519"/>
                  </a:lnTo>
                </a:path>
                <a:path w="86994" h="731520">
                  <a:moveTo>
                    <a:pt x="79248" y="0"/>
                  </a:moveTo>
                  <a:lnTo>
                    <a:pt x="79248" y="731519"/>
                  </a:lnTo>
                </a:path>
                <a:path w="86994" h="731520">
                  <a:moveTo>
                    <a:pt x="0" y="7619"/>
                  </a:moveTo>
                  <a:lnTo>
                    <a:pt x="86868" y="7619"/>
                  </a:lnTo>
                </a:path>
                <a:path w="86994" h="731520">
                  <a:moveTo>
                    <a:pt x="0" y="725424"/>
                  </a:moveTo>
                  <a:lnTo>
                    <a:pt x="86868" y="725424"/>
                  </a:lnTo>
                </a:path>
              </a:pathLst>
            </a:custGeom>
            <a:ln w="12192">
              <a:solidFill>
                <a:srgbClr val="BF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2517648" y="3096767"/>
              <a:ext cx="73151" cy="717804"/>
            </a:xfrm>
            <a:prstGeom prst="rect">
              <a:avLst/>
            </a:prstGeom>
          </p:spPr>
        </p:pic>
        <p:sp>
          <p:nvSpPr>
            <p:cNvPr id="30" name="object 30"/>
            <p:cNvSpPr/>
            <p:nvPr/>
          </p:nvSpPr>
          <p:spPr>
            <a:xfrm>
              <a:off x="2511539" y="3179063"/>
              <a:ext cx="86995" cy="551815"/>
            </a:xfrm>
            <a:custGeom>
              <a:avLst/>
              <a:gdLst/>
              <a:ahLst/>
              <a:cxnLst/>
              <a:rect l="l" t="t" r="r" b="b"/>
              <a:pathLst>
                <a:path w="86994" h="551814">
                  <a:moveTo>
                    <a:pt x="86868" y="539508"/>
                  </a:moveTo>
                  <a:lnTo>
                    <a:pt x="0" y="539508"/>
                  </a:lnTo>
                  <a:lnTo>
                    <a:pt x="0" y="551700"/>
                  </a:lnTo>
                  <a:lnTo>
                    <a:pt x="86868" y="551700"/>
                  </a:lnTo>
                  <a:lnTo>
                    <a:pt x="86868" y="539508"/>
                  </a:lnTo>
                  <a:close/>
                </a:path>
                <a:path w="86994" h="551814">
                  <a:moveTo>
                    <a:pt x="86868" y="449592"/>
                  </a:moveTo>
                  <a:lnTo>
                    <a:pt x="0" y="449592"/>
                  </a:lnTo>
                  <a:lnTo>
                    <a:pt x="0" y="461784"/>
                  </a:lnTo>
                  <a:lnTo>
                    <a:pt x="86868" y="461784"/>
                  </a:lnTo>
                  <a:lnTo>
                    <a:pt x="86868" y="449592"/>
                  </a:lnTo>
                  <a:close/>
                </a:path>
                <a:path w="86994" h="551814">
                  <a:moveTo>
                    <a:pt x="86868" y="359676"/>
                  </a:moveTo>
                  <a:lnTo>
                    <a:pt x="0" y="359676"/>
                  </a:lnTo>
                  <a:lnTo>
                    <a:pt x="0" y="371868"/>
                  </a:lnTo>
                  <a:lnTo>
                    <a:pt x="86868" y="371868"/>
                  </a:lnTo>
                  <a:lnTo>
                    <a:pt x="86868" y="359676"/>
                  </a:lnTo>
                  <a:close/>
                </a:path>
                <a:path w="86994" h="551814">
                  <a:moveTo>
                    <a:pt x="86868" y="269760"/>
                  </a:moveTo>
                  <a:lnTo>
                    <a:pt x="0" y="269760"/>
                  </a:lnTo>
                  <a:lnTo>
                    <a:pt x="0" y="281952"/>
                  </a:lnTo>
                  <a:lnTo>
                    <a:pt x="86868" y="281952"/>
                  </a:lnTo>
                  <a:lnTo>
                    <a:pt x="86868" y="269760"/>
                  </a:lnTo>
                  <a:close/>
                </a:path>
                <a:path w="86994" h="551814">
                  <a:moveTo>
                    <a:pt x="86868" y="179832"/>
                  </a:moveTo>
                  <a:lnTo>
                    <a:pt x="0" y="179832"/>
                  </a:lnTo>
                  <a:lnTo>
                    <a:pt x="0" y="192024"/>
                  </a:lnTo>
                  <a:lnTo>
                    <a:pt x="86868" y="192024"/>
                  </a:lnTo>
                  <a:lnTo>
                    <a:pt x="86868" y="179832"/>
                  </a:lnTo>
                  <a:close/>
                </a:path>
                <a:path w="86994" h="551814">
                  <a:moveTo>
                    <a:pt x="86868" y="89916"/>
                  </a:moveTo>
                  <a:lnTo>
                    <a:pt x="0" y="89916"/>
                  </a:lnTo>
                  <a:lnTo>
                    <a:pt x="0" y="102108"/>
                  </a:lnTo>
                  <a:lnTo>
                    <a:pt x="86868" y="102108"/>
                  </a:lnTo>
                  <a:lnTo>
                    <a:pt x="86868" y="89916"/>
                  </a:lnTo>
                  <a:close/>
                </a:path>
                <a:path w="86994" h="551814">
                  <a:moveTo>
                    <a:pt x="86868" y="0"/>
                  </a:moveTo>
                  <a:lnTo>
                    <a:pt x="0" y="0"/>
                  </a:lnTo>
                  <a:lnTo>
                    <a:pt x="0" y="12192"/>
                  </a:lnTo>
                  <a:lnTo>
                    <a:pt x="86868" y="12192"/>
                  </a:lnTo>
                  <a:lnTo>
                    <a:pt x="86868" y="0"/>
                  </a:lnTo>
                  <a:close/>
                </a:path>
              </a:pathLst>
            </a:custGeom>
            <a:solidFill>
              <a:srgbClr val="BF0000"/>
            </a:solidFill>
          </p:spPr>
          <p:txBody>
            <a:bodyPr wrap="square" lIns="0" tIns="0" rIns="0" bIns="0" rtlCol="0"/>
            <a:lstStyle/>
            <a:p>
              <a:endParaRPr sz="1588"/>
            </a:p>
          </p:txBody>
        </p:sp>
        <p:sp>
          <p:nvSpPr>
            <p:cNvPr id="31" name="object 31"/>
            <p:cNvSpPr/>
            <p:nvPr/>
          </p:nvSpPr>
          <p:spPr>
            <a:xfrm>
              <a:off x="2511551" y="3089148"/>
              <a:ext cx="86995" cy="731520"/>
            </a:xfrm>
            <a:custGeom>
              <a:avLst/>
              <a:gdLst/>
              <a:ahLst/>
              <a:cxnLst/>
              <a:rect l="l" t="t" r="r" b="b"/>
              <a:pathLst>
                <a:path w="86994" h="731520">
                  <a:moveTo>
                    <a:pt x="6096" y="0"/>
                  </a:moveTo>
                  <a:lnTo>
                    <a:pt x="6096" y="731519"/>
                  </a:lnTo>
                </a:path>
                <a:path w="86994" h="731520">
                  <a:moveTo>
                    <a:pt x="79248" y="0"/>
                  </a:moveTo>
                  <a:lnTo>
                    <a:pt x="79248" y="731519"/>
                  </a:lnTo>
                </a:path>
                <a:path w="86994" h="731520">
                  <a:moveTo>
                    <a:pt x="0" y="7619"/>
                  </a:moveTo>
                  <a:lnTo>
                    <a:pt x="86867" y="7619"/>
                  </a:lnTo>
                </a:path>
                <a:path w="86994" h="731520">
                  <a:moveTo>
                    <a:pt x="0" y="725424"/>
                  </a:moveTo>
                  <a:lnTo>
                    <a:pt x="86867" y="725424"/>
                  </a:lnTo>
                </a:path>
              </a:pathLst>
            </a:custGeom>
            <a:ln w="12192">
              <a:solidFill>
                <a:srgbClr val="BF0000"/>
              </a:solidFill>
            </a:ln>
          </p:spPr>
          <p:txBody>
            <a:bodyPr wrap="square" lIns="0" tIns="0" rIns="0" bIns="0" rtlCol="0"/>
            <a:lstStyle/>
            <a:p>
              <a:endParaRPr sz="1588"/>
            </a:p>
          </p:txBody>
        </p:sp>
        <p:sp>
          <p:nvSpPr>
            <p:cNvPr id="32" name="object 32"/>
            <p:cNvSpPr/>
            <p:nvPr/>
          </p:nvSpPr>
          <p:spPr>
            <a:xfrm>
              <a:off x="1600200" y="3005327"/>
              <a:ext cx="6593205" cy="881380"/>
            </a:xfrm>
            <a:custGeom>
              <a:avLst/>
              <a:gdLst/>
              <a:ahLst/>
              <a:cxnLst/>
              <a:rect l="l" t="t" r="r" b="b"/>
              <a:pathLst>
                <a:path w="6593205" h="881379">
                  <a:moveTo>
                    <a:pt x="0" y="0"/>
                  </a:moveTo>
                  <a:lnTo>
                    <a:pt x="6592823" y="0"/>
                  </a:lnTo>
                  <a:lnTo>
                    <a:pt x="6592823" y="880872"/>
                  </a:lnTo>
                  <a:lnTo>
                    <a:pt x="0" y="880872"/>
                  </a:lnTo>
                  <a:lnTo>
                    <a:pt x="0" y="0"/>
                  </a:lnTo>
                  <a:close/>
                </a:path>
              </a:pathLst>
            </a:custGeom>
            <a:ln w="25908">
              <a:solidFill>
                <a:srgbClr val="385D89"/>
              </a:solidFill>
            </a:ln>
          </p:spPr>
          <p:txBody>
            <a:bodyPr wrap="square" lIns="0" tIns="0" rIns="0" bIns="0" rtlCol="0"/>
            <a:lstStyle/>
            <a:p>
              <a:endParaRPr sz="1588"/>
            </a:p>
          </p:txBody>
        </p:sp>
      </p:grpSp>
      <p:pic>
        <p:nvPicPr>
          <p:cNvPr id="33" name="object 33"/>
          <p:cNvPicPr/>
          <p:nvPr/>
        </p:nvPicPr>
        <p:blipFill>
          <a:blip r:embed="rId4" cstate="print"/>
          <a:stretch>
            <a:fillRect/>
          </a:stretch>
        </p:blipFill>
        <p:spPr>
          <a:xfrm>
            <a:off x="8345693" y="1836867"/>
            <a:ext cx="541916" cy="641425"/>
          </a:xfrm>
          <a:prstGeom prst="rect">
            <a:avLst/>
          </a:prstGeom>
        </p:spPr>
      </p:pic>
      <p:sp>
        <p:nvSpPr>
          <p:cNvPr id="34" name="object 34"/>
          <p:cNvSpPr txBox="1"/>
          <p:nvPr/>
        </p:nvSpPr>
        <p:spPr>
          <a:xfrm>
            <a:off x="2781561" y="2819878"/>
            <a:ext cx="205184" cy="524996"/>
          </a:xfrm>
          <a:prstGeom prst="rect">
            <a:avLst/>
          </a:prstGeom>
        </p:spPr>
        <p:txBody>
          <a:bodyPr vert="vert270" wrap="square" lIns="0" tIns="0" rIns="0" bIns="0" rtlCol="0">
            <a:spAutoFit/>
          </a:bodyPr>
          <a:lstStyle/>
          <a:p>
            <a:pPr marL="11206">
              <a:lnSpc>
                <a:spcPts val="1597"/>
              </a:lnSpc>
            </a:pPr>
            <a:r>
              <a:rPr sz="1588" spc="-18" dirty="0">
                <a:latin typeface="Calibri"/>
                <a:cs typeface="Calibri"/>
              </a:rPr>
              <a:t>s</a:t>
            </a:r>
            <a:r>
              <a:rPr sz="1588" spc="-9" dirty="0">
                <a:latin typeface="Calibri"/>
                <a:cs typeface="Calibri"/>
              </a:rPr>
              <a:t>t</a:t>
            </a:r>
            <a:r>
              <a:rPr sz="1588" spc="-13" dirty="0">
                <a:latin typeface="Calibri"/>
                <a:cs typeface="Calibri"/>
              </a:rPr>
              <a:t>o</a:t>
            </a:r>
            <a:r>
              <a:rPr sz="1588" spc="-9" dirty="0">
                <a:latin typeface="Calibri"/>
                <a:cs typeface="Calibri"/>
              </a:rPr>
              <a:t>ck</a:t>
            </a:r>
            <a:r>
              <a:rPr sz="1588" dirty="0">
                <a:latin typeface="Calibri"/>
                <a:cs typeface="Calibri"/>
              </a:rPr>
              <a:t>s</a:t>
            </a:r>
            <a:endParaRPr sz="1588">
              <a:latin typeface="Calibri"/>
              <a:cs typeface="Calibri"/>
            </a:endParaRPr>
          </a:p>
        </p:txBody>
      </p:sp>
    </p:spTree>
    <p:extLst>
      <p:ext uri="{BB962C8B-B14F-4D97-AF65-F5344CB8AC3E}">
        <p14:creationId xmlns:p14="http://schemas.microsoft.com/office/powerpoint/2010/main" val="187684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5859" y="635557"/>
            <a:ext cx="5781675" cy="454514"/>
          </a:xfrm>
          <a:prstGeom prst="rect">
            <a:avLst/>
          </a:prstGeom>
        </p:spPr>
        <p:txBody>
          <a:bodyPr vert="horz" wrap="square" lIns="0" tIns="11206" rIns="0" bIns="0" rtlCol="0">
            <a:spAutoFit/>
          </a:bodyPr>
          <a:lstStyle/>
          <a:p>
            <a:pPr marL="10646" marR="4483">
              <a:spcBef>
                <a:spcPts val="88"/>
              </a:spcBef>
              <a:tabLst>
                <a:tab pos="313221" algn="l"/>
                <a:tab pos="314342" algn="l"/>
              </a:tabLst>
            </a:pPr>
            <a:r>
              <a:rPr lang="en-US" sz="3200" dirty="0">
                <a:solidFill>
                  <a:srgbClr val="FF0000"/>
                </a:solidFill>
                <a:latin typeface="Calibri"/>
                <a:cs typeface="Calibri"/>
              </a:rPr>
              <a:t> </a:t>
            </a:r>
          </a:p>
        </p:txBody>
      </p:sp>
      <p:grpSp>
        <p:nvGrpSpPr>
          <p:cNvPr id="3" name="object 3"/>
          <p:cNvGrpSpPr/>
          <p:nvPr/>
        </p:nvGrpSpPr>
        <p:grpSpPr>
          <a:xfrm>
            <a:off x="2800126" y="1680883"/>
            <a:ext cx="2893919" cy="1884269"/>
            <a:chOff x="1293875" y="1905000"/>
            <a:chExt cx="3279775" cy="2135505"/>
          </a:xfrm>
        </p:grpSpPr>
        <p:sp>
          <p:nvSpPr>
            <p:cNvPr id="4" name="object 4"/>
            <p:cNvSpPr/>
            <p:nvPr/>
          </p:nvSpPr>
          <p:spPr>
            <a:xfrm>
              <a:off x="1295399"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1295399"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2860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7" name="object 7"/>
            <p:cNvSpPr/>
            <p:nvPr/>
          </p:nvSpPr>
          <p:spPr>
            <a:xfrm>
              <a:off x="22860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8" name="object 8"/>
            <p:cNvSpPr/>
            <p:nvPr/>
          </p:nvSpPr>
          <p:spPr>
            <a:xfrm>
              <a:off x="3273551"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9" name="object 9"/>
            <p:cNvSpPr/>
            <p:nvPr/>
          </p:nvSpPr>
          <p:spPr>
            <a:xfrm>
              <a:off x="3273551"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0" name="object 10"/>
            <p:cNvSpPr/>
            <p:nvPr/>
          </p:nvSpPr>
          <p:spPr>
            <a:xfrm>
              <a:off x="4267199"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1" name="object 11"/>
            <p:cNvSpPr/>
            <p:nvPr/>
          </p:nvSpPr>
          <p:spPr>
            <a:xfrm>
              <a:off x="4267199"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2" name="object 12"/>
            <p:cNvSpPr/>
            <p:nvPr/>
          </p:nvSpPr>
          <p:spPr>
            <a:xfrm>
              <a:off x="4264151"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3" name="object 13"/>
            <p:cNvSpPr/>
            <p:nvPr/>
          </p:nvSpPr>
          <p:spPr>
            <a:xfrm>
              <a:off x="4264151"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4" name="object 14"/>
            <p:cNvPicPr/>
            <p:nvPr/>
          </p:nvPicPr>
          <p:blipFill>
            <a:blip r:embed="rId2" cstate="print"/>
            <a:stretch>
              <a:fillRect/>
            </a:stretch>
          </p:blipFill>
          <p:spPr>
            <a:xfrm>
              <a:off x="4378452" y="3505200"/>
              <a:ext cx="76200" cy="228600"/>
            </a:xfrm>
            <a:prstGeom prst="rect">
              <a:avLst/>
            </a:prstGeom>
          </p:spPr>
        </p:pic>
        <p:sp>
          <p:nvSpPr>
            <p:cNvPr id="15" name="object 15"/>
            <p:cNvSpPr/>
            <p:nvPr/>
          </p:nvSpPr>
          <p:spPr>
            <a:xfrm>
              <a:off x="4264151"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4264151"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2" cstate="print"/>
            <a:stretch>
              <a:fillRect/>
            </a:stretch>
          </p:blipFill>
          <p:spPr>
            <a:xfrm>
              <a:off x="4378452" y="2971800"/>
              <a:ext cx="76200" cy="228600"/>
            </a:xfrm>
            <a:prstGeom prst="rect">
              <a:avLst/>
            </a:prstGeom>
          </p:spPr>
        </p:pic>
        <p:sp>
          <p:nvSpPr>
            <p:cNvPr id="18" name="object 18"/>
            <p:cNvSpPr/>
            <p:nvPr/>
          </p:nvSpPr>
          <p:spPr>
            <a:xfrm>
              <a:off x="4264151"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4264151"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2" cstate="print"/>
            <a:stretch>
              <a:fillRect/>
            </a:stretch>
          </p:blipFill>
          <p:spPr>
            <a:xfrm>
              <a:off x="4378452" y="1905000"/>
              <a:ext cx="76200" cy="228600"/>
            </a:xfrm>
            <a:prstGeom prst="rect">
              <a:avLst/>
            </a:prstGeom>
          </p:spPr>
        </p:pic>
        <p:pic>
          <p:nvPicPr>
            <p:cNvPr id="21" name="object 21"/>
            <p:cNvPicPr/>
            <p:nvPr/>
          </p:nvPicPr>
          <p:blipFill>
            <a:blip r:embed="rId2" cstate="print"/>
            <a:stretch>
              <a:fillRect/>
            </a:stretch>
          </p:blipFill>
          <p:spPr>
            <a:xfrm>
              <a:off x="4378452" y="2438400"/>
              <a:ext cx="76200" cy="228600"/>
            </a:xfrm>
            <a:prstGeom prst="rect">
              <a:avLst/>
            </a:prstGeom>
          </p:spPr>
        </p:pic>
        <p:sp>
          <p:nvSpPr>
            <p:cNvPr id="22" name="object 22"/>
            <p:cNvSpPr/>
            <p:nvPr/>
          </p:nvSpPr>
          <p:spPr>
            <a:xfrm>
              <a:off x="1447800" y="3473195"/>
              <a:ext cx="2969260" cy="268605"/>
            </a:xfrm>
            <a:custGeom>
              <a:avLst/>
              <a:gdLst/>
              <a:ahLst/>
              <a:cxnLst/>
              <a:rect l="l" t="t" r="r" b="b"/>
              <a:pathLst>
                <a:path w="2969260" h="268604">
                  <a:moveTo>
                    <a:pt x="2968752" y="32004"/>
                  </a:moveTo>
                  <a:lnTo>
                    <a:pt x="2889504" y="0"/>
                  </a:lnTo>
                  <a:lnTo>
                    <a:pt x="2889745" y="3149"/>
                  </a:lnTo>
                  <a:lnTo>
                    <a:pt x="2889504" y="3048"/>
                  </a:lnTo>
                  <a:lnTo>
                    <a:pt x="2890507" y="13169"/>
                  </a:lnTo>
                  <a:lnTo>
                    <a:pt x="2886456" y="12192"/>
                  </a:lnTo>
                  <a:lnTo>
                    <a:pt x="2891117" y="33070"/>
                  </a:lnTo>
                  <a:lnTo>
                    <a:pt x="0" y="254508"/>
                  </a:lnTo>
                  <a:lnTo>
                    <a:pt x="1524" y="268224"/>
                  </a:lnTo>
                  <a:lnTo>
                    <a:pt x="2623337" y="66027"/>
                  </a:lnTo>
                  <a:lnTo>
                    <a:pt x="990600" y="254508"/>
                  </a:lnTo>
                  <a:lnTo>
                    <a:pt x="992124" y="268224"/>
                  </a:lnTo>
                  <a:lnTo>
                    <a:pt x="2866199" y="50393"/>
                  </a:lnTo>
                  <a:lnTo>
                    <a:pt x="1981200" y="254508"/>
                  </a:lnTo>
                  <a:lnTo>
                    <a:pt x="1982724" y="268224"/>
                  </a:lnTo>
                  <a:lnTo>
                    <a:pt x="2894012" y="56553"/>
                  </a:lnTo>
                  <a:lnTo>
                    <a:pt x="2895600" y="76200"/>
                  </a:lnTo>
                  <a:lnTo>
                    <a:pt x="2896743" y="75514"/>
                  </a:lnTo>
                  <a:lnTo>
                    <a:pt x="2897124" y="79248"/>
                  </a:lnTo>
                  <a:lnTo>
                    <a:pt x="2900934" y="76733"/>
                  </a:lnTo>
                  <a:lnTo>
                    <a:pt x="2903220" y="86868"/>
                  </a:lnTo>
                  <a:lnTo>
                    <a:pt x="2957830" y="41148"/>
                  </a:lnTo>
                  <a:lnTo>
                    <a:pt x="2968752" y="32004"/>
                  </a:lnTo>
                  <a:close/>
                </a:path>
              </a:pathLst>
            </a:custGeom>
            <a:solidFill>
              <a:srgbClr val="000000"/>
            </a:solidFill>
          </p:spPr>
          <p:txBody>
            <a:bodyPr wrap="square" lIns="0" tIns="0" rIns="0" bIns="0" rtlCol="0"/>
            <a:lstStyle/>
            <a:p>
              <a:endParaRPr sz="1588"/>
            </a:p>
          </p:txBody>
        </p:sp>
      </p:grpSp>
      <p:grpSp>
        <p:nvGrpSpPr>
          <p:cNvPr id="23" name="object 23"/>
          <p:cNvGrpSpPr/>
          <p:nvPr/>
        </p:nvGrpSpPr>
        <p:grpSpPr>
          <a:xfrm>
            <a:off x="6296361" y="3293185"/>
            <a:ext cx="271743" cy="271743"/>
            <a:chOff x="5256276" y="3732276"/>
            <a:chExt cx="307975" cy="307975"/>
          </a:xfrm>
        </p:grpSpPr>
        <p:sp>
          <p:nvSpPr>
            <p:cNvPr id="24" name="object 24"/>
            <p:cNvSpPr/>
            <p:nvPr/>
          </p:nvSpPr>
          <p:spPr>
            <a:xfrm>
              <a:off x="52578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5" name="object 25"/>
            <p:cNvSpPr/>
            <p:nvPr/>
          </p:nvSpPr>
          <p:spPr>
            <a:xfrm>
              <a:off x="52578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26" name="object 26"/>
          <p:cNvGrpSpPr/>
          <p:nvPr/>
        </p:nvGrpSpPr>
        <p:grpSpPr>
          <a:xfrm>
            <a:off x="7170420" y="3293185"/>
            <a:ext cx="271743" cy="271743"/>
            <a:chOff x="6246876" y="3732276"/>
            <a:chExt cx="307975" cy="307975"/>
          </a:xfrm>
        </p:grpSpPr>
        <p:sp>
          <p:nvSpPr>
            <p:cNvPr id="27" name="object 27"/>
            <p:cNvSpPr/>
            <p:nvPr/>
          </p:nvSpPr>
          <p:spPr>
            <a:xfrm>
              <a:off x="62484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8" name="object 28"/>
            <p:cNvSpPr/>
            <p:nvPr/>
          </p:nvSpPr>
          <p:spPr>
            <a:xfrm>
              <a:off x="62484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29" name="object 29"/>
          <p:cNvGrpSpPr/>
          <p:nvPr/>
        </p:nvGrpSpPr>
        <p:grpSpPr>
          <a:xfrm>
            <a:off x="8044479" y="3293185"/>
            <a:ext cx="271743" cy="271743"/>
            <a:chOff x="7237476" y="3732276"/>
            <a:chExt cx="307975" cy="307975"/>
          </a:xfrm>
        </p:grpSpPr>
        <p:sp>
          <p:nvSpPr>
            <p:cNvPr id="30" name="object 30"/>
            <p:cNvSpPr/>
            <p:nvPr/>
          </p:nvSpPr>
          <p:spPr>
            <a:xfrm>
              <a:off x="72390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1" name="object 31"/>
            <p:cNvSpPr/>
            <p:nvPr/>
          </p:nvSpPr>
          <p:spPr>
            <a:xfrm>
              <a:off x="72390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32" name="object 32"/>
          <p:cNvGrpSpPr/>
          <p:nvPr/>
        </p:nvGrpSpPr>
        <p:grpSpPr>
          <a:xfrm>
            <a:off x="8918538" y="3293185"/>
            <a:ext cx="271743" cy="271743"/>
            <a:chOff x="8228076" y="3732276"/>
            <a:chExt cx="307975" cy="307975"/>
          </a:xfrm>
        </p:grpSpPr>
        <p:sp>
          <p:nvSpPr>
            <p:cNvPr id="33" name="object 33"/>
            <p:cNvSpPr/>
            <p:nvPr/>
          </p:nvSpPr>
          <p:spPr>
            <a:xfrm>
              <a:off x="82296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4" name="object 34"/>
            <p:cNvSpPr/>
            <p:nvPr/>
          </p:nvSpPr>
          <p:spPr>
            <a:xfrm>
              <a:off x="82296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sp>
        <p:nvSpPr>
          <p:cNvPr id="35" name="object 35"/>
          <p:cNvSpPr txBox="1"/>
          <p:nvPr/>
        </p:nvSpPr>
        <p:spPr>
          <a:xfrm>
            <a:off x="2198606" y="3175700"/>
            <a:ext cx="540684" cy="500039"/>
          </a:xfrm>
          <a:prstGeom prst="rect">
            <a:avLst/>
          </a:prstGeom>
        </p:spPr>
        <p:txBody>
          <a:bodyPr vert="horz" wrap="square" lIns="0" tIns="11206" rIns="0" bIns="0" rtlCol="0">
            <a:spAutoFit/>
          </a:bodyPr>
          <a:lstStyle/>
          <a:p>
            <a:pPr marL="11206" marR="4483">
              <a:spcBef>
                <a:spcPts val="88"/>
              </a:spcBef>
            </a:pPr>
            <a:r>
              <a:rPr sz="1588" spc="-9" dirty="0">
                <a:latin typeface="Calibri"/>
                <a:cs typeface="Calibri"/>
              </a:rPr>
              <a:t>Stock </a:t>
            </a:r>
            <a:r>
              <a:rPr sz="1588" spc="-4" dirty="0">
                <a:latin typeface="Calibri"/>
                <a:cs typeface="Calibri"/>
              </a:rPr>
              <a:t> v</a:t>
            </a:r>
            <a:r>
              <a:rPr sz="1588" dirty="0">
                <a:latin typeface="Calibri"/>
                <a:cs typeface="Calibri"/>
              </a:rPr>
              <a:t>e</a:t>
            </a:r>
            <a:r>
              <a:rPr sz="1588" spc="-9" dirty="0">
                <a:latin typeface="Calibri"/>
                <a:cs typeface="Calibri"/>
              </a:rPr>
              <a:t>c</a:t>
            </a:r>
            <a:r>
              <a:rPr sz="1588" spc="-26" dirty="0">
                <a:latin typeface="Calibri"/>
                <a:cs typeface="Calibri"/>
              </a:rPr>
              <a:t>t</a:t>
            </a:r>
            <a:r>
              <a:rPr sz="1588" dirty="0">
                <a:latin typeface="Calibri"/>
                <a:cs typeface="Calibri"/>
              </a:rPr>
              <a:t>or</a:t>
            </a:r>
            <a:endParaRPr sz="1588">
              <a:latin typeface="Calibri"/>
              <a:cs typeface="Calibri"/>
            </a:endParaRPr>
          </a:p>
        </p:txBody>
      </p:sp>
      <p:sp>
        <p:nvSpPr>
          <p:cNvPr id="36" name="object 36"/>
          <p:cNvSpPr/>
          <p:nvPr/>
        </p:nvSpPr>
        <p:spPr>
          <a:xfrm>
            <a:off x="3541059" y="4000500"/>
            <a:ext cx="5446059" cy="67235"/>
          </a:xfrm>
          <a:custGeom>
            <a:avLst/>
            <a:gdLst/>
            <a:ahLst/>
            <a:cxnLst/>
            <a:rect l="l" t="t" r="r" b="b"/>
            <a:pathLst>
              <a:path w="6172200" h="76200">
                <a:moveTo>
                  <a:pt x="6096000" y="76200"/>
                </a:moveTo>
                <a:lnTo>
                  <a:pt x="6096000" y="0"/>
                </a:lnTo>
                <a:lnTo>
                  <a:pt x="6153912" y="28956"/>
                </a:lnTo>
                <a:lnTo>
                  <a:pt x="6109716" y="28956"/>
                </a:lnTo>
                <a:lnTo>
                  <a:pt x="6109716" y="48768"/>
                </a:lnTo>
                <a:lnTo>
                  <a:pt x="6150864" y="48768"/>
                </a:lnTo>
                <a:lnTo>
                  <a:pt x="6096000" y="76200"/>
                </a:lnTo>
                <a:close/>
              </a:path>
              <a:path w="6172200" h="76200">
                <a:moveTo>
                  <a:pt x="6096000" y="48768"/>
                </a:moveTo>
                <a:lnTo>
                  <a:pt x="0" y="48768"/>
                </a:lnTo>
                <a:lnTo>
                  <a:pt x="0" y="28956"/>
                </a:lnTo>
                <a:lnTo>
                  <a:pt x="6096000" y="28956"/>
                </a:lnTo>
                <a:lnTo>
                  <a:pt x="6096000" y="48768"/>
                </a:lnTo>
                <a:close/>
              </a:path>
              <a:path w="6172200" h="76200">
                <a:moveTo>
                  <a:pt x="6150864" y="48768"/>
                </a:moveTo>
                <a:lnTo>
                  <a:pt x="6109716" y="48768"/>
                </a:lnTo>
                <a:lnTo>
                  <a:pt x="6109716" y="28956"/>
                </a:lnTo>
                <a:lnTo>
                  <a:pt x="6153912" y="28956"/>
                </a:lnTo>
                <a:lnTo>
                  <a:pt x="6172200" y="38100"/>
                </a:lnTo>
                <a:lnTo>
                  <a:pt x="6150864" y="48768"/>
                </a:lnTo>
                <a:close/>
              </a:path>
            </a:pathLst>
          </a:custGeom>
          <a:solidFill>
            <a:srgbClr val="000000"/>
          </a:solidFill>
        </p:spPr>
        <p:txBody>
          <a:bodyPr wrap="square" lIns="0" tIns="0" rIns="0" bIns="0" rtlCol="0"/>
          <a:lstStyle/>
          <a:p>
            <a:endParaRPr sz="1588"/>
          </a:p>
        </p:txBody>
      </p:sp>
      <p:sp>
        <p:nvSpPr>
          <p:cNvPr id="37" name="object 37"/>
          <p:cNvSpPr txBox="1"/>
          <p:nvPr/>
        </p:nvSpPr>
        <p:spPr>
          <a:xfrm>
            <a:off x="2505153" y="4014831"/>
            <a:ext cx="7111813" cy="1734674"/>
          </a:xfrm>
          <a:prstGeom prst="rect">
            <a:avLst/>
          </a:prstGeom>
        </p:spPr>
        <p:txBody>
          <a:bodyPr vert="horz" wrap="square" lIns="0" tIns="45943" rIns="0" bIns="0" rtlCol="0">
            <a:spAutoFit/>
          </a:bodyPr>
          <a:lstStyle/>
          <a:p>
            <a:pPr marL="233095" algn="ctr">
              <a:spcBef>
                <a:spcPts val="361"/>
              </a:spcBef>
            </a:pPr>
            <a:r>
              <a:rPr sz="1588" spc="-4" dirty="0">
                <a:latin typeface="Calibri"/>
                <a:cs typeface="Calibri"/>
              </a:rPr>
              <a:t>Time</a:t>
            </a:r>
            <a:endParaRPr sz="1588" dirty="0">
              <a:latin typeface="Calibri"/>
              <a:cs typeface="Calibri"/>
            </a:endParaRPr>
          </a:p>
          <a:p>
            <a:pPr marL="313781" indent="-302575">
              <a:spcBef>
                <a:spcPts val="415"/>
              </a:spcBef>
              <a:buFont typeface="Arial"/>
              <a:buChar char="•"/>
              <a:tabLst>
                <a:tab pos="313221" algn="l"/>
                <a:tab pos="313781" algn="l"/>
              </a:tabLst>
            </a:pPr>
            <a:r>
              <a:rPr sz="2382" spc="-4" dirty="0">
                <a:latin typeface="Calibri"/>
                <a:cs typeface="Calibri"/>
              </a:rPr>
              <a:t>The</a:t>
            </a:r>
            <a:r>
              <a:rPr sz="2382" spc="-26" dirty="0">
                <a:latin typeface="Calibri"/>
                <a:cs typeface="Calibri"/>
              </a:rPr>
              <a:t> </a:t>
            </a:r>
            <a:r>
              <a:rPr sz="2382" dirty="0">
                <a:latin typeface="Calibri"/>
                <a:cs typeface="Calibri"/>
              </a:rPr>
              <a:t>sliding</a:t>
            </a:r>
            <a:r>
              <a:rPr sz="2382" spc="-31" dirty="0">
                <a:latin typeface="Calibri"/>
                <a:cs typeface="Calibri"/>
              </a:rPr>
              <a:t> </a:t>
            </a:r>
            <a:r>
              <a:rPr sz="2382" spc="-9" dirty="0">
                <a:latin typeface="Calibri"/>
                <a:cs typeface="Calibri"/>
              </a:rPr>
              <a:t>predictor</a:t>
            </a:r>
            <a:endParaRPr sz="2382" dirty="0">
              <a:latin typeface="Calibri"/>
              <a:cs typeface="Calibri"/>
            </a:endParaRPr>
          </a:p>
          <a:p>
            <a:pPr marL="667346" lvl="1" indent="-253266">
              <a:spcBef>
                <a:spcPts val="265"/>
              </a:spcBef>
              <a:buFont typeface="Arial"/>
              <a:buChar char="–"/>
              <a:tabLst>
                <a:tab pos="667906" algn="l"/>
              </a:tabLst>
            </a:pPr>
            <a:r>
              <a:rPr sz="2118" spc="-4" dirty="0">
                <a:latin typeface="Calibri"/>
                <a:cs typeface="Calibri"/>
              </a:rPr>
              <a:t>Look</a:t>
            </a:r>
            <a:r>
              <a:rPr sz="2118" spc="-13" dirty="0">
                <a:latin typeface="Calibri"/>
                <a:cs typeface="Calibri"/>
              </a:rPr>
              <a:t> at </a:t>
            </a:r>
            <a:r>
              <a:rPr sz="2118" spc="-4" dirty="0">
                <a:latin typeface="Calibri"/>
                <a:cs typeface="Calibri"/>
              </a:rPr>
              <a:t>the</a:t>
            </a:r>
            <a:r>
              <a:rPr sz="2118" spc="-18" dirty="0">
                <a:latin typeface="Calibri"/>
                <a:cs typeface="Calibri"/>
              </a:rPr>
              <a:t> </a:t>
            </a:r>
            <a:r>
              <a:rPr sz="2118" spc="-9" dirty="0">
                <a:latin typeface="Calibri"/>
                <a:cs typeface="Calibri"/>
              </a:rPr>
              <a:t>last</a:t>
            </a:r>
            <a:r>
              <a:rPr sz="2118" spc="-13" dirty="0">
                <a:latin typeface="Calibri"/>
                <a:cs typeface="Calibri"/>
              </a:rPr>
              <a:t> </a:t>
            </a:r>
            <a:r>
              <a:rPr sz="2118" spc="-26" dirty="0">
                <a:latin typeface="Calibri"/>
                <a:cs typeface="Calibri"/>
              </a:rPr>
              <a:t>few</a:t>
            </a:r>
            <a:r>
              <a:rPr sz="2118" spc="-13" dirty="0">
                <a:latin typeface="Calibri"/>
                <a:cs typeface="Calibri"/>
              </a:rPr>
              <a:t> </a:t>
            </a:r>
            <a:r>
              <a:rPr sz="2118" spc="-18" dirty="0">
                <a:latin typeface="Calibri"/>
                <a:cs typeface="Calibri"/>
              </a:rPr>
              <a:t>days</a:t>
            </a:r>
            <a:endParaRPr sz="2118" dirty="0">
              <a:latin typeface="Calibri"/>
              <a:cs typeface="Calibri"/>
            </a:endParaRPr>
          </a:p>
          <a:p>
            <a:pPr marL="667346" lvl="1" indent="-253266">
              <a:spcBef>
                <a:spcPts val="251"/>
              </a:spcBef>
              <a:buFont typeface="Arial"/>
              <a:buChar char="–"/>
              <a:tabLst>
                <a:tab pos="667906" algn="l"/>
              </a:tabLst>
            </a:pPr>
            <a:r>
              <a:rPr sz="2118" spc="-4" dirty="0">
                <a:latin typeface="Calibri"/>
                <a:cs typeface="Calibri"/>
              </a:rPr>
              <a:t>This</a:t>
            </a:r>
            <a:r>
              <a:rPr sz="2118" dirty="0">
                <a:latin typeface="Calibri"/>
                <a:cs typeface="Calibri"/>
              </a:rPr>
              <a:t> is</a:t>
            </a:r>
            <a:r>
              <a:rPr sz="2118" spc="4" dirty="0">
                <a:latin typeface="Calibri"/>
                <a:cs typeface="Calibri"/>
              </a:rPr>
              <a:t> </a:t>
            </a:r>
            <a:r>
              <a:rPr sz="2118" spc="-13" dirty="0">
                <a:latin typeface="Calibri"/>
                <a:cs typeface="Calibri"/>
              </a:rPr>
              <a:t>just</a:t>
            </a:r>
            <a:r>
              <a:rPr sz="2118" spc="-4" dirty="0">
                <a:latin typeface="Calibri"/>
                <a:cs typeface="Calibri"/>
              </a:rPr>
              <a:t> </a:t>
            </a:r>
            <a:r>
              <a:rPr sz="2118" dirty="0">
                <a:latin typeface="Calibri"/>
                <a:cs typeface="Calibri"/>
              </a:rPr>
              <a:t>a</a:t>
            </a:r>
            <a:r>
              <a:rPr sz="2118" spc="-18" dirty="0">
                <a:latin typeface="Calibri"/>
                <a:cs typeface="Calibri"/>
              </a:rPr>
              <a:t> </a:t>
            </a:r>
            <a:r>
              <a:rPr sz="2118" spc="-9" dirty="0">
                <a:latin typeface="Calibri"/>
                <a:cs typeface="Calibri"/>
              </a:rPr>
              <a:t>convolutional</a:t>
            </a:r>
            <a:r>
              <a:rPr sz="2118" spc="-13" dirty="0">
                <a:latin typeface="Calibri"/>
                <a:cs typeface="Calibri"/>
              </a:rPr>
              <a:t> </a:t>
            </a:r>
            <a:r>
              <a:rPr sz="2118" spc="-9" dirty="0">
                <a:latin typeface="Calibri"/>
                <a:cs typeface="Calibri"/>
              </a:rPr>
              <a:t>neural</a:t>
            </a:r>
            <a:r>
              <a:rPr sz="2118" spc="-13" dirty="0">
                <a:latin typeface="Calibri"/>
                <a:cs typeface="Calibri"/>
              </a:rPr>
              <a:t> </a:t>
            </a:r>
            <a:r>
              <a:rPr sz="2118" spc="-4" dirty="0">
                <a:latin typeface="Calibri"/>
                <a:cs typeface="Calibri"/>
              </a:rPr>
              <a:t>net</a:t>
            </a:r>
            <a:r>
              <a:rPr sz="2118" spc="-9" dirty="0">
                <a:latin typeface="Calibri"/>
                <a:cs typeface="Calibri"/>
              </a:rPr>
              <a:t> </a:t>
            </a:r>
            <a:r>
              <a:rPr sz="2118" dirty="0">
                <a:latin typeface="Calibri"/>
                <a:cs typeface="Calibri"/>
              </a:rPr>
              <a:t>applied</a:t>
            </a:r>
            <a:r>
              <a:rPr sz="2118" spc="-4" dirty="0">
                <a:latin typeface="Calibri"/>
                <a:cs typeface="Calibri"/>
              </a:rPr>
              <a:t> </a:t>
            </a:r>
            <a:r>
              <a:rPr sz="2118" spc="-9" dirty="0">
                <a:latin typeface="Calibri"/>
                <a:cs typeface="Calibri"/>
              </a:rPr>
              <a:t>to </a:t>
            </a:r>
            <a:r>
              <a:rPr sz="2118" spc="-4" dirty="0">
                <a:latin typeface="Calibri"/>
                <a:cs typeface="Calibri"/>
              </a:rPr>
              <a:t>series</a:t>
            </a:r>
            <a:r>
              <a:rPr sz="2118" spc="4" dirty="0">
                <a:latin typeface="Calibri"/>
                <a:cs typeface="Calibri"/>
              </a:rPr>
              <a:t> </a:t>
            </a:r>
            <a:r>
              <a:rPr sz="2118" spc="-13" dirty="0">
                <a:latin typeface="Calibri"/>
                <a:cs typeface="Calibri"/>
              </a:rPr>
              <a:t>data</a:t>
            </a:r>
            <a:endParaRPr sz="2118" dirty="0">
              <a:latin typeface="Calibri"/>
              <a:cs typeface="Calibri"/>
            </a:endParaRPr>
          </a:p>
          <a:p>
            <a:pPr marL="1019790" lvl="2" indent="-202277">
              <a:spcBef>
                <a:spcPts val="238"/>
              </a:spcBef>
              <a:buFont typeface="Arial"/>
              <a:buChar char="•"/>
              <a:tabLst>
                <a:tab pos="1019790" algn="l"/>
                <a:tab pos="1020350" algn="l"/>
              </a:tabLst>
            </a:pPr>
            <a:r>
              <a:rPr sz="1765" dirty="0">
                <a:solidFill>
                  <a:srgbClr val="BF0000"/>
                </a:solidFill>
                <a:latin typeface="Calibri"/>
                <a:cs typeface="Calibri"/>
              </a:rPr>
              <a:t>Also</a:t>
            </a:r>
            <a:r>
              <a:rPr sz="1765" spc="-13" dirty="0">
                <a:solidFill>
                  <a:srgbClr val="BF0000"/>
                </a:solidFill>
                <a:latin typeface="Calibri"/>
                <a:cs typeface="Calibri"/>
              </a:rPr>
              <a:t> </a:t>
            </a:r>
            <a:r>
              <a:rPr sz="1765" spc="-4" dirty="0">
                <a:solidFill>
                  <a:srgbClr val="BF0000"/>
                </a:solidFill>
                <a:latin typeface="Calibri"/>
                <a:cs typeface="Calibri"/>
              </a:rPr>
              <a:t>called</a:t>
            </a:r>
            <a:r>
              <a:rPr sz="1765" spc="13" dirty="0">
                <a:solidFill>
                  <a:srgbClr val="BF0000"/>
                </a:solidFill>
                <a:latin typeface="Calibri"/>
                <a:cs typeface="Calibri"/>
              </a:rPr>
              <a:t> </a:t>
            </a:r>
            <a:r>
              <a:rPr sz="1765" dirty="0">
                <a:solidFill>
                  <a:srgbClr val="BF0000"/>
                </a:solidFill>
                <a:latin typeface="Calibri"/>
                <a:cs typeface="Calibri"/>
              </a:rPr>
              <a:t>a</a:t>
            </a:r>
            <a:r>
              <a:rPr sz="1765" spc="-4" dirty="0">
                <a:solidFill>
                  <a:srgbClr val="BF0000"/>
                </a:solidFill>
                <a:latin typeface="Calibri"/>
                <a:cs typeface="Calibri"/>
              </a:rPr>
              <a:t> </a:t>
            </a:r>
            <a:r>
              <a:rPr sz="1765" i="1" spc="-4" dirty="0">
                <a:solidFill>
                  <a:srgbClr val="BF0000"/>
                </a:solidFill>
                <a:latin typeface="Calibri"/>
                <a:cs typeface="Calibri"/>
              </a:rPr>
              <a:t>Time-Delay</a:t>
            </a:r>
            <a:r>
              <a:rPr sz="1765" i="1" spc="-31" dirty="0">
                <a:solidFill>
                  <a:srgbClr val="BF0000"/>
                </a:solidFill>
                <a:latin typeface="Calibri"/>
                <a:cs typeface="Calibri"/>
              </a:rPr>
              <a:t> </a:t>
            </a:r>
            <a:r>
              <a:rPr sz="1765" i="1" dirty="0">
                <a:solidFill>
                  <a:srgbClr val="BF0000"/>
                </a:solidFill>
                <a:latin typeface="Calibri"/>
                <a:cs typeface="Calibri"/>
              </a:rPr>
              <a:t>neural</a:t>
            </a:r>
            <a:r>
              <a:rPr sz="1765" i="1" spc="-31" dirty="0">
                <a:solidFill>
                  <a:srgbClr val="BF0000"/>
                </a:solidFill>
                <a:latin typeface="Calibri"/>
                <a:cs typeface="Calibri"/>
              </a:rPr>
              <a:t> </a:t>
            </a:r>
            <a:r>
              <a:rPr sz="1765" i="1" spc="-4" dirty="0">
                <a:solidFill>
                  <a:srgbClr val="BF0000"/>
                </a:solidFill>
                <a:latin typeface="Calibri"/>
                <a:cs typeface="Calibri"/>
              </a:rPr>
              <a:t>network</a:t>
            </a:r>
            <a:endParaRPr sz="1765" dirty="0">
              <a:latin typeface="Calibri"/>
              <a:cs typeface="Calibri"/>
            </a:endParaRPr>
          </a:p>
        </p:txBody>
      </p:sp>
      <p:sp>
        <p:nvSpPr>
          <p:cNvPr id="38" name="object 38"/>
          <p:cNvSpPr txBox="1"/>
          <p:nvPr/>
        </p:nvSpPr>
        <p:spPr>
          <a:xfrm>
            <a:off x="2763341" y="3657113"/>
            <a:ext cx="316006"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(t</a:t>
            </a:r>
            <a:r>
              <a:rPr sz="1588" dirty="0">
                <a:latin typeface="Calibri"/>
                <a:cs typeface="Calibri"/>
              </a:rPr>
              <a:t>)</a:t>
            </a:r>
            <a:endParaRPr sz="1588">
              <a:latin typeface="Calibri"/>
              <a:cs typeface="Calibri"/>
            </a:endParaRPr>
          </a:p>
        </p:txBody>
      </p:sp>
      <p:sp>
        <p:nvSpPr>
          <p:cNvPr id="39" name="object 39"/>
          <p:cNvSpPr txBox="1"/>
          <p:nvPr/>
        </p:nvSpPr>
        <p:spPr>
          <a:xfrm>
            <a:off x="3574197"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(t</a:t>
            </a:r>
            <a:r>
              <a:rPr sz="1588" dirty="0">
                <a:latin typeface="Calibri"/>
                <a:cs typeface="Calibri"/>
              </a:rPr>
              <a:t>+</a:t>
            </a:r>
            <a:r>
              <a:rPr sz="1588" spc="4" dirty="0">
                <a:latin typeface="Calibri"/>
                <a:cs typeface="Calibri"/>
              </a:rPr>
              <a:t>1</a:t>
            </a:r>
            <a:r>
              <a:rPr sz="1588" dirty="0">
                <a:latin typeface="Calibri"/>
                <a:cs typeface="Calibri"/>
              </a:rPr>
              <a:t>)</a:t>
            </a:r>
            <a:endParaRPr sz="1588">
              <a:latin typeface="Calibri"/>
              <a:cs typeface="Calibri"/>
            </a:endParaRPr>
          </a:p>
        </p:txBody>
      </p:sp>
      <p:sp>
        <p:nvSpPr>
          <p:cNvPr id="40" name="object 40"/>
          <p:cNvSpPr txBox="1"/>
          <p:nvPr/>
        </p:nvSpPr>
        <p:spPr>
          <a:xfrm>
            <a:off x="4455650"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a:t>
            </a:r>
            <a:r>
              <a:rPr sz="1588" spc="4" dirty="0">
                <a:latin typeface="Calibri"/>
                <a:cs typeface="Calibri"/>
              </a:rPr>
              <a:t>t</a:t>
            </a:r>
            <a:r>
              <a:rPr sz="1588" dirty="0">
                <a:latin typeface="Calibri"/>
                <a:cs typeface="Calibri"/>
              </a:rPr>
              <a:t>+</a:t>
            </a:r>
            <a:r>
              <a:rPr sz="1588" spc="-13" dirty="0">
                <a:latin typeface="Calibri"/>
                <a:cs typeface="Calibri"/>
              </a:rPr>
              <a:t>2</a:t>
            </a:r>
            <a:r>
              <a:rPr sz="1588" dirty="0">
                <a:latin typeface="Calibri"/>
                <a:cs typeface="Calibri"/>
              </a:rPr>
              <a:t>)</a:t>
            </a:r>
            <a:endParaRPr sz="1588">
              <a:latin typeface="Calibri"/>
              <a:cs typeface="Calibri"/>
            </a:endParaRPr>
          </a:p>
        </p:txBody>
      </p:sp>
      <p:sp>
        <p:nvSpPr>
          <p:cNvPr id="41" name="object 41"/>
          <p:cNvSpPr txBox="1"/>
          <p:nvPr/>
        </p:nvSpPr>
        <p:spPr>
          <a:xfrm>
            <a:off x="5282641"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a:t>
            </a:r>
            <a:r>
              <a:rPr sz="1588" spc="4" dirty="0">
                <a:latin typeface="Calibri"/>
                <a:cs typeface="Calibri"/>
              </a:rPr>
              <a:t>t</a:t>
            </a:r>
            <a:r>
              <a:rPr sz="1588" dirty="0">
                <a:latin typeface="Calibri"/>
                <a:cs typeface="Calibri"/>
              </a:rPr>
              <a:t>+</a:t>
            </a:r>
            <a:r>
              <a:rPr sz="1588" spc="-13" dirty="0">
                <a:latin typeface="Calibri"/>
                <a:cs typeface="Calibri"/>
              </a:rPr>
              <a:t>3</a:t>
            </a:r>
            <a:r>
              <a:rPr sz="1588" dirty="0">
                <a:latin typeface="Calibri"/>
                <a:cs typeface="Calibri"/>
              </a:rPr>
              <a:t>)</a:t>
            </a:r>
            <a:endParaRPr sz="1588">
              <a:latin typeface="Calibri"/>
              <a:cs typeface="Calibri"/>
            </a:endParaRPr>
          </a:p>
        </p:txBody>
      </p:sp>
      <p:sp>
        <p:nvSpPr>
          <p:cNvPr id="42" name="object 42"/>
          <p:cNvSpPr txBox="1"/>
          <p:nvPr/>
        </p:nvSpPr>
        <p:spPr>
          <a:xfrm>
            <a:off x="6166111"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(t</a:t>
            </a:r>
            <a:r>
              <a:rPr sz="1588" dirty="0">
                <a:latin typeface="Calibri"/>
                <a:cs typeface="Calibri"/>
              </a:rPr>
              <a:t>+</a:t>
            </a:r>
            <a:r>
              <a:rPr sz="1588" spc="4" dirty="0">
                <a:latin typeface="Calibri"/>
                <a:cs typeface="Calibri"/>
              </a:rPr>
              <a:t>4</a:t>
            </a:r>
            <a:r>
              <a:rPr sz="1588" dirty="0">
                <a:latin typeface="Calibri"/>
                <a:cs typeface="Calibri"/>
              </a:rPr>
              <a:t>)</a:t>
            </a:r>
            <a:endParaRPr sz="1588">
              <a:latin typeface="Calibri"/>
              <a:cs typeface="Calibri"/>
            </a:endParaRPr>
          </a:p>
        </p:txBody>
      </p:sp>
      <p:sp>
        <p:nvSpPr>
          <p:cNvPr id="43" name="object 43"/>
          <p:cNvSpPr txBox="1"/>
          <p:nvPr/>
        </p:nvSpPr>
        <p:spPr>
          <a:xfrm>
            <a:off x="7015290"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(t</a:t>
            </a:r>
            <a:r>
              <a:rPr sz="1588" dirty="0">
                <a:latin typeface="Calibri"/>
                <a:cs typeface="Calibri"/>
              </a:rPr>
              <a:t>+</a:t>
            </a:r>
            <a:r>
              <a:rPr sz="1588" spc="4" dirty="0">
                <a:latin typeface="Calibri"/>
                <a:cs typeface="Calibri"/>
              </a:rPr>
              <a:t>5</a:t>
            </a:r>
            <a:r>
              <a:rPr sz="1588" dirty="0">
                <a:latin typeface="Calibri"/>
                <a:cs typeface="Calibri"/>
              </a:rPr>
              <a:t>)</a:t>
            </a:r>
            <a:endParaRPr sz="1588">
              <a:latin typeface="Calibri"/>
              <a:cs typeface="Calibri"/>
            </a:endParaRPr>
          </a:p>
        </p:txBody>
      </p:sp>
      <p:sp>
        <p:nvSpPr>
          <p:cNvPr id="47" name="Rectangle 46">
            <a:extLst>
              <a:ext uri="{FF2B5EF4-FFF2-40B4-BE49-F238E27FC236}">
                <a16:creationId xmlns:a16="http://schemas.microsoft.com/office/drawing/2014/main" id="{4E64C985-3997-306E-7CF5-EB9E93077693}"/>
              </a:ext>
            </a:extLst>
          </p:cNvPr>
          <p:cNvSpPr/>
          <p:nvPr/>
        </p:nvSpPr>
        <p:spPr>
          <a:xfrm>
            <a:off x="2739290" y="2912102"/>
            <a:ext cx="2351882" cy="1065086"/>
          </a:xfrm>
          <a:prstGeom prst="rect">
            <a:avLst/>
          </a:prstGeom>
          <a:noFill/>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bject 44"/>
          <p:cNvSpPr txBox="1"/>
          <p:nvPr/>
        </p:nvSpPr>
        <p:spPr>
          <a:xfrm>
            <a:off x="7840266"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a:t>
            </a:r>
            <a:r>
              <a:rPr sz="1588" spc="4" dirty="0">
                <a:latin typeface="Calibri"/>
                <a:cs typeface="Calibri"/>
              </a:rPr>
              <a:t>t</a:t>
            </a:r>
            <a:r>
              <a:rPr sz="1588" dirty="0">
                <a:latin typeface="Calibri"/>
                <a:cs typeface="Calibri"/>
              </a:rPr>
              <a:t>+</a:t>
            </a:r>
            <a:r>
              <a:rPr sz="1588" spc="-13" dirty="0">
                <a:latin typeface="Calibri"/>
                <a:cs typeface="Calibri"/>
              </a:rPr>
              <a:t>6</a:t>
            </a:r>
            <a:r>
              <a:rPr sz="1588" dirty="0">
                <a:latin typeface="Calibri"/>
                <a:cs typeface="Calibri"/>
              </a:rPr>
              <a:t>)</a:t>
            </a:r>
            <a:endParaRPr sz="1588">
              <a:latin typeface="Calibri"/>
              <a:cs typeface="Calibri"/>
            </a:endParaRPr>
          </a:p>
        </p:txBody>
      </p:sp>
      <p:sp>
        <p:nvSpPr>
          <p:cNvPr id="45" name="object 45"/>
          <p:cNvSpPr txBox="1"/>
          <p:nvPr/>
        </p:nvSpPr>
        <p:spPr>
          <a:xfrm>
            <a:off x="8723735" y="3657113"/>
            <a:ext cx="519393"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X</a:t>
            </a:r>
            <a:r>
              <a:rPr sz="1588" spc="-9" dirty="0">
                <a:latin typeface="Calibri"/>
                <a:cs typeface="Calibri"/>
              </a:rPr>
              <a:t>(t</a:t>
            </a:r>
            <a:r>
              <a:rPr sz="1588" dirty="0">
                <a:latin typeface="Calibri"/>
                <a:cs typeface="Calibri"/>
              </a:rPr>
              <a:t>+</a:t>
            </a:r>
            <a:r>
              <a:rPr sz="1588" spc="4" dirty="0">
                <a:latin typeface="Calibri"/>
                <a:cs typeface="Calibri"/>
              </a:rPr>
              <a:t>7</a:t>
            </a:r>
            <a:r>
              <a:rPr sz="1588" dirty="0">
                <a:latin typeface="Calibri"/>
                <a:cs typeface="Calibri"/>
              </a:rPr>
              <a:t>)</a:t>
            </a:r>
            <a:endParaRPr sz="1588">
              <a:latin typeface="Calibri"/>
              <a:cs typeface="Calibri"/>
            </a:endParaRPr>
          </a:p>
        </p:txBody>
      </p:sp>
      <p:sp>
        <p:nvSpPr>
          <p:cNvPr id="46" name="object 46"/>
          <p:cNvSpPr txBox="1"/>
          <p:nvPr/>
        </p:nvSpPr>
        <p:spPr>
          <a:xfrm>
            <a:off x="5296772" y="1376503"/>
            <a:ext cx="513229"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(t</a:t>
            </a:r>
            <a:r>
              <a:rPr sz="1588" dirty="0">
                <a:latin typeface="Calibri"/>
                <a:cs typeface="Calibri"/>
              </a:rPr>
              <a:t>+</a:t>
            </a:r>
            <a:r>
              <a:rPr sz="1588" spc="4" dirty="0">
                <a:latin typeface="Calibri"/>
                <a:cs typeface="Calibri"/>
              </a:rPr>
              <a:t>3</a:t>
            </a:r>
            <a:r>
              <a:rPr sz="1588" dirty="0">
                <a:latin typeface="Calibri"/>
                <a:cs typeface="Calibri"/>
              </a:rPr>
              <a:t>)</a:t>
            </a:r>
            <a:endParaRPr sz="1588">
              <a:latin typeface="Calibri"/>
              <a:cs typeface="Calibri"/>
            </a:endParaRPr>
          </a:p>
        </p:txBody>
      </p:sp>
      <p:sp>
        <p:nvSpPr>
          <p:cNvPr id="50" name="object 2"/>
          <p:cNvSpPr txBox="1">
            <a:spLocks/>
          </p:cNvSpPr>
          <p:nvPr/>
        </p:nvSpPr>
        <p:spPr>
          <a:xfrm>
            <a:off x="2413616" y="613631"/>
            <a:ext cx="6552565" cy="499752"/>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3164" b="1" i="0" kern="1200">
                <a:solidFill>
                  <a:schemeClr val="tx1"/>
                </a:solidFill>
                <a:latin typeface="Arial"/>
                <a:ea typeface="+mj-ea"/>
                <a:cs typeface="Arial"/>
              </a:defRPr>
            </a:lvl1pPr>
          </a:lstStyle>
          <a:p>
            <a:pPr marL="12700">
              <a:lnSpc>
                <a:spcPct val="100000"/>
              </a:lnSpc>
              <a:spcBef>
                <a:spcPts val="100"/>
              </a:spcBef>
            </a:pPr>
            <a:r>
              <a:rPr lang="en-IN" spc="-5" dirty="0">
                <a:solidFill>
                  <a:srgbClr val="FF0000"/>
                </a:solidFill>
              </a:rPr>
              <a:t>The</a:t>
            </a:r>
            <a:r>
              <a:rPr lang="en-IN" spc="-15" dirty="0">
                <a:solidFill>
                  <a:srgbClr val="FF0000"/>
                </a:solidFill>
              </a:rPr>
              <a:t> </a:t>
            </a:r>
            <a:r>
              <a:rPr lang="en-IN" spc="-20" dirty="0">
                <a:solidFill>
                  <a:srgbClr val="FF0000"/>
                </a:solidFill>
              </a:rPr>
              <a:t>stock</a:t>
            </a:r>
            <a:r>
              <a:rPr lang="en-IN" spc="-40" dirty="0">
                <a:solidFill>
                  <a:srgbClr val="FF0000"/>
                </a:solidFill>
              </a:rPr>
              <a:t> </a:t>
            </a:r>
            <a:r>
              <a:rPr lang="en-IN" spc="-15" dirty="0">
                <a:solidFill>
                  <a:srgbClr val="FF0000"/>
                </a:solidFill>
              </a:rPr>
              <a:t>predictor</a:t>
            </a:r>
            <a:r>
              <a:rPr lang="en-IN" spc="-20" dirty="0">
                <a:solidFill>
                  <a:srgbClr val="FF0000"/>
                </a:solidFill>
              </a:rPr>
              <a:t> </a:t>
            </a:r>
            <a:r>
              <a:rPr lang="en-IN" spc="-10" dirty="0">
                <a:solidFill>
                  <a:srgbClr val="FF0000"/>
                </a:solidFill>
              </a:rPr>
              <a:t>network</a:t>
            </a:r>
          </a:p>
        </p:txBody>
      </p:sp>
      <p:sp>
        <p:nvSpPr>
          <p:cNvPr id="48" name="TextBox 47">
            <a:extLst>
              <a:ext uri="{FF2B5EF4-FFF2-40B4-BE49-F238E27FC236}">
                <a16:creationId xmlns:a16="http://schemas.microsoft.com/office/drawing/2014/main" id="{AE638094-ED5D-0AD0-9829-FC5AAD34540A}"/>
              </a:ext>
            </a:extLst>
          </p:cNvPr>
          <p:cNvSpPr txBox="1"/>
          <p:nvPr/>
        </p:nvSpPr>
        <p:spPr>
          <a:xfrm>
            <a:off x="3421441" y="2505436"/>
            <a:ext cx="1223083" cy="369332"/>
          </a:xfrm>
          <a:prstGeom prst="rect">
            <a:avLst/>
          </a:prstGeom>
          <a:noFill/>
        </p:spPr>
        <p:txBody>
          <a:bodyPr wrap="square" rtlCol="0">
            <a:spAutoFit/>
          </a:bodyPr>
          <a:lstStyle/>
          <a:p>
            <a:r>
              <a:rPr lang="en-IN" dirty="0"/>
              <a:t>Window</a:t>
            </a:r>
          </a:p>
        </p:txBody>
      </p:sp>
    </p:spTree>
    <p:extLst>
      <p:ext uri="{BB962C8B-B14F-4D97-AF65-F5344CB8AC3E}">
        <p14:creationId xmlns:p14="http://schemas.microsoft.com/office/powerpoint/2010/main" val="3338894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2740" y="635557"/>
            <a:ext cx="4585447" cy="498244"/>
          </a:xfrm>
          <a:prstGeom prst="rect">
            <a:avLst/>
          </a:prstGeom>
        </p:spPr>
        <p:txBody>
          <a:bodyPr vert="horz" wrap="square" lIns="0" tIns="11206" rIns="0" bIns="0" rtlCol="0">
            <a:spAutoFit/>
          </a:bodyPr>
          <a:lstStyle/>
          <a:p>
            <a:pPr marL="11206">
              <a:lnSpc>
                <a:spcPct val="100000"/>
              </a:lnSpc>
              <a:spcBef>
                <a:spcPts val="88"/>
              </a:spcBef>
            </a:pPr>
            <a:r>
              <a:rPr spc="-9" dirty="0">
                <a:solidFill>
                  <a:srgbClr val="FF0000"/>
                </a:solidFill>
              </a:rPr>
              <a:t>Finite-response</a:t>
            </a:r>
            <a:r>
              <a:rPr spc="-66" dirty="0">
                <a:solidFill>
                  <a:srgbClr val="FF0000"/>
                </a:solidFill>
              </a:rPr>
              <a:t> </a:t>
            </a:r>
            <a:r>
              <a:rPr spc="-4" dirty="0">
                <a:solidFill>
                  <a:srgbClr val="FF0000"/>
                </a:solidFill>
              </a:rPr>
              <a:t>model</a:t>
            </a:r>
          </a:p>
        </p:txBody>
      </p:sp>
      <p:pic>
        <p:nvPicPr>
          <p:cNvPr id="3" name="object 3"/>
          <p:cNvPicPr/>
          <p:nvPr/>
        </p:nvPicPr>
        <p:blipFill>
          <a:blip r:embed="rId2" cstate="print"/>
          <a:stretch>
            <a:fillRect/>
          </a:stretch>
        </p:blipFill>
        <p:spPr>
          <a:xfrm>
            <a:off x="3949682" y="4784464"/>
            <a:ext cx="166827" cy="164053"/>
          </a:xfrm>
          <a:prstGeom prst="rect">
            <a:avLst/>
          </a:prstGeom>
        </p:spPr>
      </p:pic>
      <p:sp>
        <p:nvSpPr>
          <p:cNvPr id="4" name="object 4"/>
          <p:cNvSpPr txBox="1"/>
          <p:nvPr/>
        </p:nvSpPr>
        <p:spPr>
          <a:xfrm>
            <a:off x="2534738" y="3964897"/>
            <a:ext cx="6383431" cy="1363952"/>
          </a:xfrm>
          <a:prstGeom prst="rect">
            <a:avLst/>
          </a:prstGeom>
        </p:spPr>
        <p:txBody>
          <a:bodyPr vert="horz" wrap="square" lIns="0" tIns="95810" rIns="0" bIns="0" rtlCol="0">
            <a:spAutoFit/>
          </a:bodyPr>
          <a:lstStyle/>
          <a:p>
            <a:pPr marL="902122" algn="ctr">
              <a:spcBef>
                <a:spcPts val="754"/>
              </a:spcBef>
            </a:pPr>
            <a:r>
              <a:rPr sz="1588" spc="-4" dirty="0">
                <a:latin typeface="Calibri"/>
                <a:cs typeface="Calibri"/>
              </a:rPr>
              <a:t>Time</a:t>
            </a:r>
            <a:endParaRPr sz="1588" dirty="0">
              <a:latin typeface="Calibri"/>
              <a:cs typeface="Calibri"/>
            </a:endParaRPr>
          </a:p>
          <a:p>
            <a:pPr marL="313221" marR="4483" indent="-302575">
              <a:spcBef>
                <a:spcPts val="811"/>
              </a:spcBef>
              <a:buFont typeface="Arial"/>
              <a:buChar char="•"/>
              <a:tabLst>
                <a:tab pos="313221" algn="l"/>
                <a:tab pos="313781" algn="l"/>
                <a:tab pos="1651835" algn="l"/>
              </a:tabLst>
            </a:pPr>
            <a:r>
              <a:rPr sz="1941" spc="-9" dirty="0">
                <a:latin typeface="Calibri"/>
                <a:cs typeface="Calibri"/>
              </a:rPr>
              <a:t>Something</a:t>
            </a:r>
            <a:r>
              <a:rPr sz="1941" spc="22" dirty="0">
                <a:latin typeface="Calibri"/>
                <a:cs typeface="Calibri"/>
              </a:rPr>
              <a:t> </a:t>
            </a:r>
            <a:r>
              <a:rPr sz="1941" spc="-9" dirty="0">
                <a:latin typeface="Calibri"/>
                <a:cs typeface="Calibri"/>
              </a:rPr>
              <a:t>that</a:t>
            </a:r>
            <a:r>
              <a:rPr sz="1941" spc="-4" dirty="0">
                <a:latin typeface="Calibri"/>
                <a:cs typeface="Calibri"/>
              </a:rPr>
              <a:t> happens</a:t>
            </a:r>
            <a:r>
              <a:rPr sz="1941" dirty="0">
                <a:latin typeface="Calibri"/>
                <a:cs typeface="Calibri"/>
              </a:rPr>
              <a:t> </a:t>
            </a:r>
            <a:r>
              <a:rPr sz="1941" i="1" spc="-9" dirty="0">
                <a:latin typeface="Calibri"/>
                <a:cs typeface="Calibri"/>
              </a:rPr>
              <a:t>today</a:t>
            </a:r>
            <a:r>
              <a:rPr sz="1941" i="1" dirty="0">
                <a:latin typeface="Calibri"/>
                <a:cs typeface="Calibri"/>
              </a:rPr>
              <a:t> </a:t>
            </a:r>
            <a:r>
              <a:rPr sz="1941" spc="-4" dirty="0">
                <a:latin typeface="Calibri"/>
                <a:cs typeface="Calibri"/>
              </a:rPr>
              <a:t>only</a:t>
            </a:r>
            <a:r>
              <a:rPr sz="1941" spc="22" dirty="0">
                <a:latin typeface="Calibri"/>
                <a:cs typeface="Calibri"/>
              </a:rPr>
              <a:t> </a:t>
            </a:r>
            <a:r>
              <a:rPr sz="1941" spc="-18" dirty="0">
                <a:latin typeface="Calibri"/>
                <a:cs typeface="Calibri"/>
              </a:rPr>
              <a:t>affects</a:t>
            </a:r>
            <a:r>
              <a:rPr sz="1941" spc="22" dirty="0">
                <a:latin typeface="Calibri"/>
                <a:cs typeface="Calibri"/>
              </a:rPr>
              <a:t> </a:t>
            </a:r>
            <a:r>
              <a:rPr sz="1941" spc="-13" dirty="0">
                <a:latin typeface="Calibri"/>
                <a:cs typeface="Calibri"/>
              </a:rPr>
              <a:t>the</a:t>
            </a:r>
            <a:r>
              <a:rPr sz="1941" spc="31" dirty="0">
                <a:latin typeface="Calibri"/>
                <a:cs typeface="Calibri"/>
              </a:rPr>
              <a:t> </a:t>
            </a:r>
            <a:r>
              <a:rPr sz="1941" spc="-9" dirty="0">
                <a:latin typeface="Calibri"/>
                <a:cs typeface="Calibri"/>
              </a:rPr>
              <a:t>output</a:t>
            </a:r>
            <a:r>
              <a:rPr sz="1941" spc="18" dirty="0">
                <a:latin typeface="Calibri"/>
                <a:cs typeface="Calibri"/>
              </a:rPr>
              <a:t> </a:t>
            </a:r>
            <a:r>
              <a:rPr sz="1941" dirty="0">
                <a:latin typeface="Calibri"/>
                <a:cs typeface="Calibri"/>
              </a:rPr>
              <a:t>of</a:t>
            </a:r>
            <a:r>
              <a:rPr sz="1941" spc="-4" dirty="0">
                <a:latin typeface="Calibri"/>
                <a:cs typeface="Calibri"/>
              </a:rPr>
              <a:t> </a:t>
            </a:r>
            <a:r>
              <a:rPr sz="1941" spc="-13" dirty="0">
                <a:latin typeface="Calibri"/>
                <a:cs typeface="Calibri"/>
              </a:rPr>
              <a:t>the </a:t>
            </a:r>
            <a:r>
              <a:rPr sz="1941" spc="-424" dirty="0">
                <a:latin typeface="Calibri"/>
                <a:cs typeface="Calibri"/>
              </a:rPr>
              <a:t> </a:t>
            </a:r>
            <a:r>
              <a:rPr sz="1941" spc="-22" dirty="0">
                <a:latin typeface="Calibri"/>
                <a:cs typeface="Calibri"/>
              </a:rPr>
              <a:t>system</a:t>
            </a:r>
            <a:r>
              <a:rPr sz="1941" spc="40" dirty="0">
                <a:latin typeface="Calibri"/>
                <a:cs typeface="Calibri"/>
              </a:rPr>
              <a:t> </a:t>
            </a:r>
            <a:r>
              <a:rPr sz="1941" spc="-18" dirty="0">
                <a:latin typeface="Calibri"/>
                <a:cs typeface="Calibri"/>
              </a:rPr>
              <a:t>for	days</a:t>
            </a:r>
            <a:r>
              <a:rPr sz="1941" spc="4" dirty="0">
                <a:latin typeface="Calibri"/>
                <a:cs typeface="Calibri"/>
              </a:rPr>
              <a:t> </a:t>
            </a:r>
            <a:r>
              <a:rPr sz="1941" spc="-18" dirty="0">
                <a:latin typeface="Calibri"/>
                <a:cs typeface="Calibri"/>
              </a:rPr>
              <a:t>into</a:t>
            </a:r>
            <a:r>
              <a:rPr sz="1941" spc="9" dirty="0">
                <a:latin typeface="Calibri"/>
                <a:cs typeface="Calibri"/>
              </a:rPr>
              <a:t> </a:t>
            </a:r>
            <a:r>
              <a:rPr sz="1941" spc="-4" dirty="0">
                <a:latin typeface="Calibri"/>
                <a:cs typeface="Calibri"/>
              </a:rPr>
              <a:t>the</a:t>
            </a:r>
            <a:r>
              <a:rPr sz="1941" spc="4" dirty="0">
                <a:latin typeface="Calibri"/>
                <a:cs typeface="Calibri"/>
              </a:rPr>
              <a:t> </a:t>
            </a:r>
            <a:r>
              <a:rPr sz="1941" spc="-9" dirty="0">
                <a:latin typeface="Calibri"/>
                <a:cs typeface="Calibri"/>
              </a:rPr>
              <a:t>future</a:t>
            </a:r>
            <a:endParaRPr sz="1941" dirty="0">
              <a:latin typeface="Calibri"/>
              <a:cs typeface="Calibri"/>
            </a:endParaRPr>
          </a:p>
          <a:p>
            <a:pPr marL="414640">
              <a:spcBef>
                <a:spcPts val="432"/>
              </a:spcBef>
              <a:tabLst>
                <a:tab pos="667346" algn="l"/>
              </a:tabLst>
            </a:pPr>
            <a:r>
              <a:rPr sz="1765" dirty="0">
                <a:solidFill>
                  <a:srgbClr val="BF0000"/>
                </a:solidFill>
                <a:latin typeface="Arial"/>
                <a:cs typeface="Arial"/>
              </a:rPr>
              <a:t>–	</a:t>
            </a:r>
            <a:r>
              <a:rPr sz="1765" b="1" spc="-4" dirty="0">
                <a:solidFill>
                  <a:srgbClr val="BF0000"/>
                </a:solidFill>
                <a:latin typeface="Calibri"/>
                <a:cs typeface="Calibri"/>
              </a:rPr>
              <a:t>Predictions</a:t>
            </a:r>
            <a:r>
              <a:rPr sz="1765" b="1" spc="-31" dirty="0">
                <a:solidFill>
                  <a:srgbClr val="BF0000"/>
                </a:solidFill>
                <a:latin typeface="Calibri"/>
                <a:cs typeface="Calibri"/>
              </a:rPr>
              <a:t> </a:t>
            </a:r>
            <a:r>
              <a:rPr sz="1765" b="1" spc="-4" dirty="0">
                <a:solidFill>
                  <a:srgbClr val="BF0000"/>
                </a:solidFill>
                <a:latin typeface="Calibri"/>
                <a:cs typeface="Calibri"/>
              </a:rPr>
              <a:t>consider</a:t>
            </a:r>
            <a:r>
              <a:rPr sz="1765" b="1" spc="-22" dirty="0">
                <a:solidFill>
                  <a:srgbClr val="BF0000"/>
                </a:solidFill>
                <a:latin typeface="Calibri"/>
                <a:cs typeface="Calibri"/>
              </a:rPr>
              <a:t> </a:t>
            </a:r>
            <a:r>
              <a:rPr sz="1765" b="1" i="1" dirty="0">
                <a:solidFill>
                  <a:srgbClr val="BF0000"/>
                </a:solidFill>
                <a:latin typeface="Calibri"/>
                <a:cs typeface="Calibri"/>
              </a:rPr>
              <a:t>N</a:t>
            </a:r>
            <a:r>
              <a:rPr sz="1765" b="1" i="1" spc="-4" dirty="0">
                <a:solidFill>
                  <a:srgbClr val="BF0000"/>
                </a:solidFill>
                <a:latin typeface="Calibri"/>
                <a:cs typeface="Calibri"/>
              </a:rPr>
              <a:t> </a:t>
            </a:r>
            <a:r>
              <a:rPr sz="1765" b="1" spc="-13" dirty="0">
                <a:solidFill>
                  <a:srgbClr val="BF0000"/>
                </a:solidFill>
                <a:latin typeface="Calibri"/>
                <a:cs typeface="Calibri"/>
              </a:rPr>
              <a:t>days</a:t>
            </a:r>
            <a:r>
              <a:rPr sz="1765" b="1" spc="-9" dirty="0">
                <a:solidFill>
                  <a:srgbClr val="BF0000"/>
                </a:solidFill>
                <a:latin typeface="Calibri"/>
                <a:cs typeface="Calibri"/>
              </a:rPr>
              <a:t> </a:t>
            </a:r>
            <a:r>
              <a:rPr sz="1765" b="1" dirty="0">
                <a:solidFill>
                  <a:srgbClr val="BF0000"/>
                </a:solidFill>
                <a:latin typeface="Calibri"/>
                <a:cs typeface="Calibri"/>
              </a:rPr>
              <a:t>of</a:t>
            </a:r>
            <a:r>
              <a:rPr sz="1765" b="1" spc="-9" dirty="0">
                <a:solidFill>
                  <a:srgbClr val="BF0000"/>
                </a:solidFill>
                <a:latin typeface="Calibri"/>
                <a:cs typeface="Calibri"/>
              </a:rPr>
              <a:t> </a:t>
            </a:r>
            <a:r>
              <a:rPr sz="1765" b="1" spc="-4" dirty="0">
                <a:solidFill>
                  <a:srgbClr val="BF0000"/>
                </a:solidFill>
                <a:latin typeface="Calibri"/>
                <a:cs typeface="Calibri"/>
              </a:rPr>
              <a:t>history</a:t>
            </a:r>
            <a:endParaRPr sz="1765" dirty="0">
              <a:latin typeface="Calibri"/>
              <a:cs typeface="Calibri"/>
            </a:endParaRPr>
          </a:p>
        </p:txBody>
      </p:sp>
      <p:sp>
        <p:nvSpPr>
          <p:cNvPr id="5" name="object 5"/>
          <p:cNvSpPr txBox="1"/>
          <p:nvPr/>
        </p:nvSpPr>
        <p:spPr>
          <a:xfrm>
            <a:off x="2179887" y="5581916"/>
            <a:ext cx="7093131" cy="626303"/>
          </a:xfrm>
          <a:prstGeom prst="rect">
            <a:avLst/>
          </a:prstGeom>
        </p:spPr>
        <p:txBody>
          <a:bodyPr vert="horz" wrap="square" lIns="0" tIns="10646" rIns="0" bIns="0" rtlCol="0">
            <a:spAutoFit/>
          </a:bodyPr>
          <a:lstStyle/>
          <a:p>
            <a:pPr marL="649416" marR="293610" indent="-302575">
              <a:spcBef>
                <a:spcPts val="675"/>
              </a:spcBef>
              <a:buFont typeface="Arial"/>
              <a:buChar char="•"/>
              <a:tabLst>
                <a:tab pos="649416" algn="l"/>
                <a:tab pos="649976" algn="l"/>
                <a:tab pos="2044622" algn="l"/>
              </a:tabLst>
            </a:pPr>
            <a:r>
              <a:rPr lang="en-US" sz="2000" spc="-13" dirty="0">
                <a:cs typeface="Calibri"/>
              </a:rPr>
              <a:t>Problem: </a:t>
            </a:r>
            <a:r>
              <a:rPr lang="en-US" sz="2000" spc="-9" dirty="0">
                <a:cs typeface="Calibri"/>
              </a:rPr>
              <a:t>Increasing </a:t>
            </a:r>
            <a:r>
              <a:rPr lang="en-US" sz="2000" spc="-4" dirty="0">
                <a:cs typeface="Calibri"/>
              </a:rPr>
              <a:t>the </a:t>
            </a:r>
            <a:r>
              <a:rPr lang="en-US" sz="2000" dirty="0">
                <a:cs typeface="Calibri"/>
              </a:rPr>
              <a:t>“history” </a:t>
            </a:r>
            <a:r>
              <a:rPr lang="en-US" sz="2000" spc="-18" dirty="0">
                <a:cs typeface="Calibri"/>
              </a:rPr>
              <a:t>makes </a:t>
            </a:r>
            <a:r>
              <a:rPr lang="en-US" sz="2000" spc="-4" dirty="0">
                <a:cs typeface="Calibri"/>
              </a:rPr>
              <a:t>the </a:t>
            </a:r>
            <a:r>
              <a:rPr lang="en-US" sz="2000" spc="-587" dirty="0">
                <a:cs typeface="Calibri"/>
              </a:rPr>
              <a:t> </a:t>
            </a:r>
            <a:r>
              <a:rPr lang="en-US" sz="2000" spc="-9" dirty="0">
                <a:cs typeface="Calibri"/>
              </a:rPr>
              <a:t>network </a:t>
            </a:r>
            <a:r>
              <a:rPr lang="en-US" sz="2000" spc="-13" dirty="0">
                <a:cs typeface="Calibri"/>
              </a:rPr>
              <a:t>more complex</a:t>
            </a:r>
            <a:endParaRPr lang="en-US" sz="2000" dirty="0">
              <a:cs typeface="Calibri"/>
            </a:endParaRPr>
          </a:p>
        </p:txBody>
      </p:sp>
      <p:grpSp>
        <p:nvGrpSpPr>
          <p:cNvPr id="6" name="object 6"/>
          <p:cNvGrpSpPr/>
          <p:nvPr/>
        </p:nvGrpSpPr>
        <p:grpSpPr>
          <a:xfrm>
            <a:off x="2800125" y="3293185"/>
            <a:ext cx="271743" cy="271743"/>
            <a:chOff x="1293875" y="3732276"/>
            <a:chExt cx="307975" cy="307975"/>
          </a:xfrm>
        </p:grpSpPr>
        <p:sp>
          <p:nvSpPr>
            <p:cNvPr id="7" name="object 7"/>
            <p:cNvSpPr/>
            <p:nvPr/>
          </p:nvSpPr>
          <p:spPr>
            <a:xfrm>
              <a:off x="1295399"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8" name="object 8"/>
            <p:cNvSpPr/>
            <p:nvPr/>
          </p:nvSpPr>
          <p:spPr>
            <a:xfrm>
              <a:off x="1295399"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9" name="object 9"/>
          <p:cNvGrpSpPr/>
          <p:nvPr/>
        </p:nvGrpSpPr>
        <p:grpSpPr>
          <a:xfrm>
            <a:off x="3674185" y="3293185"/>
            <a:ext cx="271743" cy="271743"/>
            <a:chOff x="2284476" y="3732276"/>
            <a:chExt cx="307975" cy="307975"/>
          </a:xfrm>
        </p:grpSpPr>
        <p:sp>
          <p:nvSpPr>
            <p:cNvPr id="10" name="object 10"/>
            <p:cNvSpPr/>
            <p:nvPr/>
          </p:nvSpPr>
          <p:spPr>
            <a:xfrm>
              <a:off x="22860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1" name="object 11"/>
            <p:cNvSpPr/>
            <p:nvPr/>
          </p:nvSpPr>
          <p:spPr>
            <a:xfrm>
              <a:off x="22860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12" name="object 12"/>
          <p:cNvGrpSpPr/>
          <p:nvPr/>
        </p:nvGrpSpPr>
        <p:grpSpPr>
          <a:xfrm>
            <a:off x="4545554" y="3293185"/>
            <a:ext cx="271743" cy="271743"/>
            <a:chOff x="3272027" y="3732276"/>
            <a:chExt cx="307975" cy="307975"/>
          </a:xfrm>
        </p:grpSpPr>
        <p:sp>
          <p:nvSpPr>
            <p:cNvPr id="13" name="object 13"/>
            <p:cNvSpPr/>
            <p:nvPr/>
          </p:nvSpPr>
          <p:spPr>
            <a:xfrm>
              <a:off x="3273551"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273551"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15" name="object 15"/>
          <p:cNvGrpSpPr/>
          <p:nvPr/>
        </p:nvGrpSpPr>
        <p:grpSpPr>
          <a:xfrm>
            <a:off x="5422246" y="1680883"/>
            <a:ext cx="2893919" cy="1884269"/>
            <a:chOff x="4265612" y="1905000"/>
            <a:chExt cx="3279775" cy="2135505"/>
          </a:xfrm>
        </p:grpSpPr>
        <p:sp>
          <p:nvSpPr>
            <p:cNvPr id="16" name="object 16"/>
            <p:cNvSpPr/>
            <p:nvPr/>
          </p:nvSpPr>
          <p:spPr>
            <a:xfrm>
              <a:off x="42672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FF0000"/>
            </a:solidFill>
          </p:spPr>
          <p:txBody>
            <a:bodyPr wrap="square" lIns="0" tIns="0" rIns="0" bIns="0" rtlCol="0"/>
            <a:lstStyle/>
            <a:p>
              <a:endParaRPr sz="1588"/>
            </a:p>
          </p:txBody>
        </p:sp>
        <p:sp>
          <p:nvSpPr>
            <p:cNvPr id="17" name="object 17"/>
            <p:cNvSpPr/>
            <p:nvPr/>
          </p:nvSpPr>
          <p:spPr>
            <a:xfrm>
              <a:off x="42672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8" name="object 18"/>
            <p:cNvSpPr/>
            <p:nvPr/>
          </p:nvSpPr>
          <p:spPr>
            <a:xfrm>
              <a:off x="52578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9" name="object 19"/>
            <p:cNvSpPr/>
            <p:nvPr/>
          </p:nvSpPr>
          <p:spPr>
            <a:xfrm>
              <a:off x="52578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0" name="object 20"/>
            <p:cNvSpPr/>
            <p:nvPr/>
          </p:nvSpPr>
          <p:spPr>
            <a:xfrm>
              <a:off x="62484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1" name="object 21"/>
            <p:cNvSpPr/>
            <p:nvPr/>
          </p:nvSpPr>
          <p:spPr>
            <a:xfrm>
              <a:off x="62484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2" name="object 22"/>
            <p:cNvSpPr/>
            <p:nvPr/>
          </p:nvSpPr>
          <p:spPr>
            <a:xfrm>
              <a:off x="72390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72390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7232903"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7232903"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3" cstate="print"/>
            <a:stretch>
              <a:fillRect/>
            </a:stretch>
          </p:blipFill>
          <p:spPr>
            <a:xfrm>
              <a:off x="7347204" y="3505200"/>
              <a:ext cx="76200" cy="228600"/>
            </a:xfrm>
            <a:prstGeom prst="rect">
              <a:avLst/>
            </a:prstGeom>
          </p:spPr>
        </p:pic>
        <p:sp>
          <p:nvSpPr>
            <p:cNvPr id="27" name="object 27"/>
            <p:cNvSpPr/>
            <p:nvPr/>
          </p:nvSpPr>
          <p:spPr>
            <a:xfrm>
              <a:off x="7232903"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8" name="object 28"/>
            <p:cNvSpPr/>
            <p:nvPr/>
          </p:nvSpPr>
          <p:spPr>
            <a:xfrm>
              <a:off x="7232903"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3" cstate="print"/>
            <a:stretch>
              <a:fillRect/>
            </a:stretch>
          </p:blipFill>
          <p:spPr>
            <a:xfrm>
              <a:off x="7347204" y="2971800"/>
              <a:ext cx="76200" cy="228600"/>
            </a:xfrm>
            <a:prstGeom prst="rect">
              <a:avLst/>
            </a:prstGeom>
          </p:spPr>
        </p:pic>
        <p:sp>
          <p:nvSpPr>
            <p:cNvPr id="30" name="object 30"/>
            <p:cNvSpPr/>
            <p:nvPr/>
          </p:nvSpPr>
          <p:spPr>
            <a:xfrm>
              <a:off x="7232903"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1" name="object 31"/>
            <p:cNvSpPr/>
            <p:nvPr/>
          </p:nvSpPr>
          <p:spPr>
            <a:xfrm>
              <a:off x="7232903"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2" name="object 32"/>
            <p:cNvPicPr/>
            <p:nvPr/>
          </p:nvPicPr>
          <p:blipFill>
            <a:blip r:embed="rId3" cstate="print"/>
            <a:stretch>
              <a:fillRect/>
            </a:stretch>
          </p:blipFill>
          <p:spPr>
            <a:xfrm>
              <a:off x="7347204" y="2438400"/>
              <a:ext cx="76200" cy="228600"/>
            </a:xfrm>
            <a:prstGeom prst="rect">
              <a:avLst/>
            </a:prstGeom>
          </p:spPr>
        </p:pic>
        <p:pic>
          <p:nvPicPr>
            <p:cNvPr id="33" name="object 33"/>
            <p:cNvPicPr/>
            <p:nvPr/>
          </p:nvPicPr>
          <p:blipFill>
            <a:blip r:embed="rId3" cstate="print"/>
            <a:stretch>
              <a:fillRect/>
            </a:stretch>
          </p:blipFill>
          <p:spPr>
            <a:xfrm>
              <a:off x="7347204" y="1905000"/>
              <a:ext cx="76200" cy="228600"/>
            </a:xfrm>
            <a:prstGeom prst="rect">
              <a:avLst/>
            </a:prstGeom>
          </p:spPr>
        </p:pic>
        <p:sp>
          <p:nvSpPr>
            <p:cNvPr id="34" name="object 34"/>
            <p:cNvSpPr/>
            <p:nvPr/>
          </p:nvSpPr>
          <p:spPr>
            <a:xfrm>
              <a:off x="5407152" y="3476243"/>
              <a:ext cx="1978660" cy="265430"/>
            </a:xfrm>
            <a:custGeom>
              <a:avLst/>
              <a:gdLst/>
              <a:ahLst/>
              <a:cxnLst/>
              <a:rect l="l" t="t" r="r" b="b"/>
              <a:pathLst>
                <a:path w="1978659" h="265429">
                  <a:moveTo>
                    <a:pt x="1978152" y="28956"/>
                  </a:moveTo>
                  <a:lnTo>
                    <a:pt x="1897380" y="0"/>
                  </a:lnTo>
                  <a:lnTo>
                    <a:pt x="1898586" y="10160"/>
                  </a:lnTo>
                  <a:lnTo>
                    <a:pt x="1894332" y="9144"/>
                  </a:lnTo>
                  <a:lnTo>
                    <a:pt x="1899945" y="32131"/>
                  </a:lnTo>
                  <a:lnTo>
                    <a:pt x="0" y="251460"/>
                  </a:lnTo>
                  <a:lnTo>
                    <a:pt x="1524" y="265176"/>
                  </a:lnTo>
                  <a:lnTo>
                    <a:pt x="1872627" y="47675"/>
                  </a:lnTo>
                  <a:lnTo>
                    <a:pt x="989076" y="251460"/>
                  </a:lnTo>
                  <a:lnTo>
                    <a:pt x="992124" y="265176"/>
                  </a:lnTo>
                  <a:lnTo>
                    <a:pt x="1903780" y="53416"/>
                  </a:lnTo>
                  <a:lnTo>
                    <a:pt x="1906524" y="76200"/>
                  </a:lnTo>
                  <a:lnTo>
                    <a:pt x="1910156" y="73812"/>
                  </a:lnTo>
                  <a:lnTo>
                    <a:pt x="1912620" y="83820"/>
                  </a:lnTo>
                  <a:lnTo>
                    <a:pt x="1967230" y="38100"/>
                  </a:lnTo>
                  <a:lnTo>
                    <a:pt x="1978152" y="28956"/>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8918538" y="3293185"/>
            <a:ext cx="271743" cy="271743"/>
            <a:chOff x="8228076" y="3732276"/>
            <a:chExt cx="307975" cy="307975"/>
          </a:xfrm>
        </p:grpSpPr>
        <p:sp>
          <p:nvSpPr>
            <p:cNvPr id="36" name="object 36"/>
            <p:cNvSpPr/>
            <p:nvPr/>
          </p:nvSpPr>
          <p:spPr>
            <a:xfrm>
              <a:off x="8229600" y="3733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8229600" y="3733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sp>
        <p:nvSpPr>
          <p:cNvPr id="38" name="object 38"/>
          <p:cNvSpPr txBox="1"/>
          <p:nvPr/>
        </p:nvSpPr>
        <p:spPr>
          <a:xfrm>
            <a:off x="2198606" y="3175699"/>
            <a:ext cx="1887631" cy="743695"/>
          </a:xfrm>
          <a:prstGeom prst="rect">
            <a:avLst/>
          </a:prstGeom>
        </p:spPr>
        <p:txBody>
          <a:bodyPr vert="horz" wrap="square" lIns="0" tIns="11206" rIns="0" bIns="0" rtlCol="0">
            <a:spAutoFit/>
          </a:bodyPr>
          <a:lstStyle/>
          <a:p>
            <a:pPr marL="11206" marR="1351501">
              <a:spcBef>
                <a:spcPts val="88"/>
              </a:spcBef>
            </a:pPr>
            <a:r>
              <a:rPr sz="1588" spc="-9" dirty="0">
                <a:latin typeface="Calibri"/>
                <a:cs typeface="Calibri"/>
              </a:rPr>
              <a:t>Stock </a:t>
            </a:r>
            <a:r>
              <a:rPr sz="1588" spc="-4" dirty="0">
                <a:latin typeface="Calibri"/>
                <a:cs typeface="Calibri"/>
              </a:rPr>
              <a:t> v</a:t>
            </a:r>
            <a:r>
              <a:rPr sz="1588" dirty="0">
                <a:latin typeface="Calibri"/>
                <a:cs typeface="Calibri"/>
              </a:rPr>
              <a:t>e</a:t>
            </a:r>
            <a:r>
              <a:rPr sz="1588" spc="-9" dirty="0">
                <a:latin typeface="Calibri"/>
                <a:cs typeface="Calibri"/>
              </a:rPr>
              <a:t>c</a:t>
            </a:r>
            <a:r>
              <a:rPr sz="1588" spc="-26" dirty="0">
                <a:latin typeface="Calibri"/>
                <a:cs typeface="Calibri"/>
              </a:rPr>
              <a:t>t</a:t>
            </a:r>
            <a:r>
              <a:rPr sz="1588" dirty="0">
                <a:latin typeface="Calibri"/>
                <a:cs typeface="Calibri"/>
              </a:rPr>
              <a:t>or</a:t>
            </a:r>
            <a:endParaRPr sz="1588">
              <a:latin typeface="Calibri"/>
              <a:cs typeface="Calibri"/>
            </a:endParaRPr>
          </a:p>
          <a:p>
            <a:pPr marL="481879">
              <a:lnSpc>
                <a:spcPts val="1884"/>
              </a:lnSpc>
              <a:tabLst>
                <a:tab pos="1387362" algn="l"/>
              </a:tabLst>
            </a:pPr>
            <a:r>
              <a:rPr sz="1588" dirty="0">
                <a:latin typeface="Calibri"/>
                <a:cs typeface="Calibri"/>
              </a:rPr>
              <a:t>X</a:t>
            </a:r>
            <a:r>
              <a:rPr sz="1588" spc="-9" dirty="0">
                <a:latin typeface="Calibri"/>
                <a:cs typeface="Calibri"/>
              </a:rPr>
              <a:t>(</a:t>
            </a:r>
            <a:r>
              <a:rPr sz="1588" dirty="0">
                <a:latin typeface="Calibri"/>
                <a:cs typeface="Calibri"/>
              </a:rPr>
              <a:t>T</a:t>
            </a:r>
            <a:r>
              <a:rPr sz="1588" spc="-13" dirty="0">
                <a:latin typeface="Calibri"/>
                <a:cs typeface="Calibri"/>
              </a:rPr>
              <a:t>-</a:t>
            </a:r>
            <a:r>
              <a:rPr sz="1588" spc="4" dirty="0">
                <a:latin typeface="Calibri"/>
                <a:cs typeface="Calibri"/>
              </a:rPr>
              <a:t>3</a:t>
            </a:r>
            <a:r>
              <a:rPr sz="1588" dirty="0">
                <a:latin typeface="Calibri"/>
                <a:cs typeface="Calibri"/>
              </a:rPr>
              <a:t>)	X</a:t>
            </a:r>
            <a:r>
              <a:rPr sz="1588" spc="-9" dirty="0">
                <a:latin typeface="Calibri"/>
                <a:cs typeface="Calibri"/>
              </a:rPr>
              <a:t>(</a:t>
            </a:r>
            <a:r>
              <a:rPr sz="1588" spc="-13" dirty="0">
                <a:latin typeface="Calibri"/>
                <a:cs typeface="Calibri"/>
              </a:rPr>
              <a:t>T</a:t>
            </a:r>
            <a:r>
              <a:rPr sz="1588" spc="4" dirty="0">
                <a:latin typeface="Calibri"/>
                <a:cs typeface="Calibri"/>
              </a:rPr>
              <a:t>-2</a:t>
            </a:r>
            <a:r>
              <a:rPr sz="1588" dirty="0">
                <a:latin typeface="Calibri"/>
                <a:cs typeface="Calibri"/>
              </a:rPr>
              <a:t>)</a:t>
            </a:r>
            <a:endParaRPr sz="1588">
              <a:latin typeface="Calibri"/>
              <a:cs typeface="Calibri"/>
            </a:endParaRPr>
          </a:p>
        </p:txBody>
      </p:sp>
      <p:sp>
        <p:nvSpPr>
          <p:cNvPr id="39" name="object 39"/>
          <p:cNvSpPr txBox="1"/>
          <p:nvPr/>
        </p:nvSpPr>
        <p:spPr>
          <a:xfrm>
            <a:off x="7846806" y="1362187"/>
            <a:ext cx="691403" cy="269821"/>
          </a:xfrm>
          <a:prstGeom prst="rect">
            <a:avLst/>
          </a:prstGeom>
          <a:solidFill>
            <a:srgbClr val="FFFF00"/>
          </a:solidFill>
          <a:ln w="9144">
            <a:solidFill>
              <a:srgbClr val="000000"/>
            </a:solidFill>
          </a:ln>
        </p:spPr>
        <p:txBody>
          <a:bodyPr vert="horz" wrap="square" lIns="0" tIns="25213" rIns="0" bIns="0" rtlCol="0">
            <a:spAutoFit/>
          </a:bodyPr>
          <a:lstStyle/>
          <a:p>
            <a:pPr marL="80126">
              <a:spcBef>
                <a:spcPts val="199"/>
              </a:spcBef>
            </a:pPr>
            <a:r>
              <a:rPr sz="1588" spc="-4" dirty="0">
                <a:latin typeface="Calibri"/>
                <a:cs typeface="Calibri"/>
              </a:rPr>
              <a:t>Y(T+3)</a:t>
            </a:r>
            <a:endParaRPr sz="1588">
              <a:latin typeface="Calibri"/>
              <a:cs typeface="Calibri"/>
            </a:endParaRPr>
          </a:p>
        </p:txBody>
      </p:sp>
      <p:sp>
        <p:nvSpPr>
          <p:cNvPr id="40" name="object 40"/>
          <p:cNvSpPr/>
          <p:nvPr/>
        </p:nvSpPr>
        <p:spPr>
          <a:xfrm>
            <a:off x="5558118" y="3064584"/>
            <a:ext cx="2619935" cy="237004"/>
          </a:xfrm>
          <a:custGeom>
            <a:avLst/>
            <a:gdLst/>
            <a:ahLst/>
            <a:cxnLst/>
            <a:rect l="l" t="t" r="r" b="b"/>
            <a:pathLst>
              <a:path w="2969259" h="268604">
                <a:moveTo>
                  <a:pt x="2895600" y="76200"/>
                </a:moveTo>
                <a:lnTo>
                  <a:pt x="2893120" y="45209"/>
                </a:lnTo>
                <a:lnTo>
                  <a:pt x="2906268" y="44196"/>
                </a:lnTo>
                <a:lnTo>
                  <a:pt x="2904743" y="32004"/>
                </a:lnTo>
                <a:lnTo>
                  <a:pt x="2892064" y="32004"/>
                </a:lnTo>
                <a:lnTo>
                  <a:pt x="2889504" y="0"/>
                </a:lnTo>
                <a:lnTo>
                  <a:pt x="2968751" y="32004"/>
                </a:lnTo>
                <a:lnTo>
                  <a:pt x="2904743" y="32004"/>
                </a:lnTo>
                <a:lnTo>
                  <a:pt x="2892141" y="32969"/>
                </a:lnTo>
                <a:lnTo>
                  <a:pt x="2967154" y="32969"/>
                </a:lnTo>
                <a:lnTo>
                  <a:pt x="2895600" y="76200"/>
                </a:lnTo>
                <a:close/>
              </a:path>
              <a:path w="2969259" h="268604">
                <a:moveTo>
                  <a:pt x="2893120" y="45209"/>
                </a:moveTo>
                <a:lnTo>
                  <a:pt x="2892141" y="32969"/>
                </a:lnTo>
                <a:lnTo>
                  <a:pt x="2904743" y="32004"/>
                </a:lnTo>
                <a:lnTo>
                  <a:pt x="2906268" y="44196"/>
                </a:lnTo>
                <a:lnTo>
                  <a:pt x="2893120" y="45209"/>
                </a:lnTo>
                <a:close/>
              </a:path>
              <a:path w="2969259" h="268604">
                <a:moveTo>
                  <a:pt x="1524" y="268224"/>
                </a:moveTo>
                <a:lnTo>
                  <a:pt x="0" y="254508"/>
                </a:lnTo>
                <a:lnTo>
                  <a:pt x="2892141" y="32969"/>
                </a:lnTo>
                <a:lnTo>
                  <a:pt x="2893120" y="45209"/>
                </a:lnTo>
                <a:lnTo>
                  <a:pt x="1524" y="268224"/>
                </a:lnTo>
                <a:close/>
              </a:path>
            </a:pathLst>
          </a:custGeom>
          <a:solidFill>
            <a:srgbClr val="000000"/>
          </a:solidFill>
        </p:spPr>
        <p:txBody>
          <a:bodyPr wrap="square" lIns="0" tIns="0" rIns="0" bIns="0" rtlCol="0"/>
          <a:lstStyle/>
          <a:p>
            <a:endParaRPr sz="1588"/>
          </a:p>
        </p:txBody>
      </p:sp>
      <p:sp>
        <p:nvSpPr>
          <p:cNvPr id="42" name="object 42"/>
          <p:cNvSpPr/>
          <p:nvPr/>
        </p:nvSpPr>
        <p:spPr>
          <a:xfrm>
            <a:off x="3541059" y="4000500"/>
            <a:ext cx="5446059" cy="67235"/>
          </a:xfrm>
          <a:custGeom>
            <a:avLst/>
            <a:gdLst/>
            <a:ahLst/>
            <a:cxnLst/>
            <a:rect l="l" t="t" r="r" b="b"/>
            <a:pathLst>
              <a:path w="6172200" h="76200">
                <a:moveTo>
                  <a:pt x="6096000" y="76200"/>
                </a:moveTo>
                <a:lnTo>
                  <a:pt x="6096000" y="0"/>
                </a:lnTo>
                <a:lnTo>
                  <a:pt x="6153912" y="28956"/>
                </a:lnTo>
                <a:lnTo>
                  <a:pt x="6109716" y="28956"/>
                </a:lnTo>
                <a:lnTo>
                  <a:pt x="6109716" y="48768"/>
                </a:lnTo>
                <a:lnTo>
                  <a:pt x="6150864" y="48768"/>
                </a:lnTo>
                <a:lnTo>
                  <a:pt x="6096000" y="76200"/>
                </a:lnTo>
                <a:close/>
              </a:path>
              <a:path w="6172200" h="76200">
                <a:moveTo>
                  <a:pt x="6096000" y="48768"/>
                </a:moveTo>
                <a:lnTo>
                  <a:pt x="0" y="48768"/>
                </a:lnTo>
                <a:lnTo>
                  <a:pt x="0" y="28956"/>
                </a:lnTo>
                <a:lnTo>
                  <a:pt x="6096000" y="28956"/>
                </a:lnTo>
                <a:lnTo>
                  <a:pt x="6096000" y="48768"/>
                </a:lnTo>
                <a:close/>
              </a:path>
              <a:path w="6172200" h="76200">
                <a:moveTo>
                  <a:pt x="6150864" y="48768"/>
                </a:moveTo>
                <a:lnTo>
                  <a:pt x="6109716" y="48768"/>
                </a:lnTo>
                <a:lnTo>
                  <a:pt x="6109716" y="28956"/>
                </a:lnTo>
                <a:lnTo>
                  <a:pt x="6153912" y="28956"/>
                </a:lnTo>
                <a:lnTo>
                  <a:pt x="6172200" y="38100"/>
                </a:lnTo>
                <a:lnTo>
                  <a:pt x="6150864" y="48768"/>
                </a:lnTo>
                <a:close/>
              </a:path>
            </a:pathLst>
          </a:custGeom>
          <a:solidFill>
            <a:srgbClr val="000000"/>
          </a:solidFill>
        </p:spPr>
        <p:txBody>
          <a:bodyPr wrap="square" lIns="0" tIns="0" rIns="0" bIns="0" rtlCol="0"/>
          <a:lstStyle/>
          <a:p>
            <a:endParaRPr sz="1588"/>
          </a:p>
        </p:txBody>
      </p:sp>
      <p:sp>
        <p:nvSpPr>
          <p:cNvPr id="43" name="object 43"/>
          <p:cNvSpPr txBox="1"/>
          <p:nvPr/>
        </p:nvSpPr>
        <p:spPr>
          <a:xfrm>
            <a:off x="4456394" y="3657113"/>
            <a:ext cx="4817969" cy="255678"/>
          </a:xfrm>
          <a:prstGeom prst="rect">
            <a:avLst/>
          </a:prstGeom>
        </p:spPr>
        <p:txBody>
          <a:bodyPr vert="horz" wrap="square" lIns="0" tIns="11206" rIns="0" bIns="0" rtlCol="0">
            <a:spAutoFit/>
          </a:bodyPr>
          <a:lstStyle/>
          <a:p>
            <a:pPr marL="11206">
              <a:spcBef>
                <a:spcPts val="88"/>
              </a:spcBef>
              <a:tabLst>
                <a:tab pos="912768" algn="l"/>
                <a:tab pos="1719633" algn="l"/>
                <a:tab pos="2570767" algn="l"/>
                <a:tab pos="3395563" algn="l"/>
                <a:tab pos="4276953" algn="l"/>
              </a:tabLst>
            </a:pPr>
            <a:r>
              <a:rPr sz="1588" spc="-4" dirty="0">
                <a:latin typeface="Calibri"/>
                <a:cs typeface="Calibri"/>
              </a:rPr>
              <a:t>X(T-1)	X(T)	X(T+1)	X(T+2)	X(T+3)	X(T+4)</a:t>
            </a:r>
            <a:endParaRPr sz="1588">
              <a:latin typeface="Calibri"/>
              <a:cs typeface="Calibri"/>
            </a:endParaRPr>
          </a:p>
        </p:txBody>
      </p:sp>
      <p:sp>
        <p:nvSpPr>
          <p:cNvPr id="41" name="TextBox 40">
            <a:extLst>
              <a:ext uri="{FF2B5EF4-FFF2-40B4-BE49-F238E27FC236}">
                <a16:creationId xmlns:a16="http://schemas.microsoft.com/office/drawing/2014/main" id="{F13E4FB0-2238-635C-1F6C-E752AD5E82D5}"/>
              </a:ext>
            </a:extLst>
          </p:cNvPr>
          <p:cNvSpPr txBox="1"/>
          <p:nvPr/>
        </p:nvSpPr>
        <p:spPr>
          <a:xfrm>
            <a:off x="7524871" y="4828265"/>
            <a:ext cx="2551002" cy="369332"/>
          </a:xfrm>
          <a:prstGeom prst="rect">
            <a:avLst/>
          </a:prstGeom>
          <a:noFill/>
        </p:spPr>
        <p:txBody>
          <a:bodyPr wrap="square" rtlCol="0">
            <a:spAutoFit/>
          </a:bodyPr>
          <a:lstStyle/>
          <a:p>
            <a:r>
              <a:rPr lang="en-IN" dirty="0"/>
              <a:t>Markov Assumption</a:t>
            </a:r>
          </a:p>
        </p:txBody>
      </p:sp>
    </p:spTree>
    <p:extLst>
      <p:ext uri="{BB962C8B-B14F-4D97-AF65-F5344CB8AC3E}">
        <p14:creationId xmlns:p14="http://schemas.microsoft.com/office/powerpoint/2010/main" val="377140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1F39616-48E1-5230-8282-8CC034A5A42A}"/>
              </a:ext>
            </a:extLst>
          </p:cNvPr>
          <p:cNvSpPr>
            <a:spLocks noGrp="1"/>
          </p:cNvSpPr>
          <p:nvPr>
            <p:ph type="ctrTitle"/>
          </p:nvPr>
        </p:nvSpPr>
        <p:spPr>
          <a:xfrm rot="10800000" flipV="1">
            <a:off x="1910859" y="274319"/>
            <a:ext cx="7556695" cy="400929"/>
          </a:xfrm>
        </p:spPr>
        <p:txBody>
          <a:bodyPr/>
          <a:lstStyle/>
          <a:p>
            <a:r>
              <a:rPr lang="en-IN" sz="2800" b="1" dirty="0"/>
              <a:t>Problems of Deep Neural Nets</a:t>
            </a:r>
          </a:p>
        </p:txBody>
      </p:sp>
      <p:pic>
        <p:nvPicPr>
          <p:cNvPr id="8" name="Picture 7"/>
          <p:cNvPicPr>
            <a:picLocks noChangeAspect="1"/>
          </p:cNvPicPr>
          <p:nvPr/>
        </p:nvPicPr>
        <p:blipFill>
          <a:blip r:embed="rId2"/>
          <a:stretch>
            <a:fillRect/>
          </a:stretch>
        </p:blipFill>
        <p:spPr>
          <a:xfrm>
            <a:off x="807492" y="1540208"/>
            <a:ext cx="10577016" cy="4374394"/>
          </a:xfrm>
          <a:prstGeom prst="rect">
            <a:avLst/>
          </a:prstGeom>
        </p:spPr>
      </p:pic>
    </p:spTree>
    <p:extLst>
      <p:ext uri="{BB962C8B-B14F-4D97-AF65-F5344CB8AC3E}">
        <p14:creationId xmlns:p14="http://schemas.microsoft.com/office/powerpoint/2010/main" val="386399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489EB-F727-7BA3-BBB0-28FD1BFB41C3}"/>
            </a:ext>
          </a:extLst>
        </p:cNvPr>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46793" y="907365"/>
            <a:ext cx="11249447" cy="4914464"/>
          </a:xfrm>
          <a:prstGeom prst="rect">
            <a:avLst/>
          </a:prstGeom>
        </p:spPr>
      </p:pic>
    </p:spTree>
    <p:extLst>
      <p:ext uri="{BB962C8B-B14F-4D97-AF65-F5344CB8AC3E}">
        <p14:creationId xmlns:p14="http://schemas.microsoft.com/office/powerpoint/2010/main" val="1126531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E2AA5-E3FC-15D0-B845-B0D58E47A854}"/>
            </a:ext>
          </a:extLst>
        </p:cNvPr>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21635" y="865670"/>
            <a:ext cx="9700591" cy="5031547"/>
          </a:xfrm>
          <a:prstGeom prst="rect">
            <a:avLst/>
          </a:prstGeom>
        </p:spPr>
      </p:pic>
    </p:spTree>
    <p:extLst>
      <p:ext uri="{BB962C8B-B14F-4D97-AF65-F5344CB8AC3E}">
        <p14:creationId xmlns:p14="http://schemas.microsoft.com/office/powerpoint/2010/main" val="3546542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endParaRPr lang="en-IN" dirty="0"/>
          </a:p>
        </p:txBody>
      </p:sp>
      <p:pic>
        <p:nvPicPr>
          <p:cNvPr id="4" name="Picture 3"/>
          <p:cNvPicPr>
            <a:picLocks noChangeAspect="1"/>
          </p:cNvPicPr>
          <p:nvPr/>
        </p:nvPicPr>
        <p:blipFill>
          <a:blip r:embed="rId3"/>
          <a:stretch>
            <a:fillRect/>
          </a:stretch>
        </p:blipFill>
        <p:spPr>
          <a:xfrm>
            <a:off x="622853" y="882494"/>
            <a:ext cx="9595872" cy="5027975"/>
          </a:xfrm>
          <a:prstGeom prst="rect">
            <a:avLst/>
          </a:prstGeom>
        </p:spPr>
      </p:pic>
    </p:spTree>
    <p:extLst>
      <p:ext uri="{BB962C8B-B14F-4D97-AF65-F5344CB8AC3E}">
        <p14:creationId xmlns:p14="http://schemas.microsoft.com/office/powerpoint/2010/main" val="1836343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940904" y="1293036"/>
            <a:ext cx="9442156" cy="4355472"/>
          </a:xfrm>
          <a:prstGeom prst="rect">
            <a:avLst/>
          </a:prstGeom>
        </p:spPr>
      </p:pic>
    </p:spTree>
    <p:extLst>
      <p:ext uri="{BB962C8B-B14F-4D97-AF65-F5344CB8AC3E}">
        <p14:creationId xmlns:p14="http://schemas.microsoft.com/office/powerpoint/2010/main" val="315330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2080592" y="1704510"/>
            <a:ext cx="8256910" cy="4422345"/>
          </a:xfrm>
          <a:prstGeom prst="rect">
            <a:avLst/>
          </a:prstGeom>
        </p:spPr>
      </p:pic>
    </p:spTree>
    <p:extLst>
      <p:ext uri="{BB962C8B-B14F-4D97-AF65-F5344CB8AC3E}">
        <p14:creationId xmlns:p14="http://schemas.microsoft.com/office/powerpoint/2010/main" val="17897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1232454" y="1337242"/>
            <a:ext cx="8533364" cy="4588566"/>
          </a:xfrm>
          <a:prstGeom prst="rect">
            <a:avLst/>
          </a:prstGeom>
        </p:spPr>
      </p:pic>
    </p:spTree>
    <p:extLst>
      <p:ext uri="{BB962C8B-B14F-4D97-AF65-F5344CB8AC3E}">
        <p14:creationId xmlns:p14="http://schemas.microsoft.com/office/powerpoint/2010/main" val="2472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1961322" y="1840632"/>
            <a:ext cx="7298372" cy="4617337"/>
          </a:xfrm>
          <a:prstGeom prst="rect">
            <a:avLst/>
          </a:prstGeom>
        </p:spPr>
      </p:pic>
    </p:spTree>
    <p:extLst>
      <p:ext uri="{BB962C8B-B14F-4D97-AF65-F5344CB8AC3E}">
        <p14:creationId xmlns:p14="http://schemas.microsoft.com/office/powerpoint/2010/main" val="3084642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853882" y="954158"/>
            <a:ext cx="9284031" cy="5042058"/>
          </a:xfrm>
          <a:prstGeom prst="rect">
            <a:avLst/>
          </a:prstGeom>
        </p:spPr>
      </p:pic>
    </p:spTree>
    <p:extLst>
      <p:ext uri="{BB962C8B-B14F-4D97-AF65-F5344CB8AC3E}">
        <p14:creationId xmlns:p14="http://schemas.microsoft.com/office/powerpoint/2010/main" val="2910796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3"/>
          <a:stretch>
            <a:fillRect/>
          </a:stretch>
        </p:blipFill>
        <p:spPr>
          <a:xfrm>
            <a:off x="1258957" y="1106359"/>
            <a:ext cx="8943089" cy="5154903"/>
          </a:xfrm>
          <a:prstGeom prst="rect">
            <a:avLst/>
          </a:prstGeom>
        </p:spPr>
      </p:pic>
    </p:spTree>
    <p:extLst>
      <p:ext uri="{BB962C8B-B14F-4D97-AF65-F5344CB8AC3E}">
        <p14:creationId xmlns:p14="http://schemas.microsoft.com/office/powerpoint/2010/main" val="2853337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742121" y="916287"/>
            <a:ext cx="10310192" cy="5089843"/>
          </a:xfrm>
          <a:prstGeom prst="rect">
            <a:avLst/>
          </a:prstGeom>
        </p:spPr>
      </p:pic>
    </p:spTree>
    <p:extLst>
      <p:ext uri="{BB962C8B-B14F-4D97-AF65-F5344CB8AC3E}">
        <p14:creationId xmlns:p14="http://schemas.microsoft.com/office/powerpoint/2010/main" val="3623095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1391479" y="963548"/>
            <a:ext cx="9289773" cy="5417831"/>
          </a:xfrm>
          <a:prstGeom prst="rect">
            <a:avLst/>
          </a:prstGeom>
        </p:spPr>
      </p:pic>
    </p:spTree>
    <p:extLst>
      <p:ext uri="{BB962C8B-B14F-4D97-AF65-F5344CB8AC3E}">
        <p14:creationId xmlns:p14="http://schemas.microsoft.com/office/powerpoint/2010/main" val="3225211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702365" y="914853"/>
            <a:ext cx="11025809" cy="5565460"/>
          </a:xfrm>
          <a:prstGeom prst="rect">
            <a:avLst/>
          </a:prstGeom>
        </p:spPr>
      </p:pic>
    </p:spTree>
    <p:extLst>
      <p:ext uri="{BB962C8B-B14F-4D97-AF65-F5344CB8AC3E}">
        <p14:creationId xmlns:p14="http://schemas.microsoft.com/office/powerpoint/2010/main" val="3436109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378325" y="1340387"/>
            <a:ext cx="11435349" cy="4497705"/>
          </a:xfrm>
          <a:prstGeom prst="rect">
            <a:avLst/>
          </a:prstGeom>
        </p:spPr>
      </p:pic>
    </p:spTree>
    <p:extLst>
      <p:ext uri="{BB962C8B-B14F-4D97-AF65-F5344CB8AC3E}">
        <p14:creationId xmlns:p14="http://schemas.microsoft.com/office/powerpoint/2010/main" val="2644713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134691" y="1002422"/>
            <a:ext cx="3720913" cy="1554816"/>
            <a:chOff x="2806382" y="1136078"/>
            <a:chExt cx="4217035" cy="1762125"/>
          </a:xfrm>
        </p:grpSpPr>
        <p:sp>
          <p:nvSpPr>
            <p:cNvPr id="3" name="object 3"/>
            <p:cNvSpPr/>
            <p:nvPr/>
          </p:nvSpPr>
          <p:spPr>
            <a:xfrm>
              <a:off x="2819400" y="1149096"/>
              <a:ext cx="4191000" cy="1736089"/>
            </a:xfrm>
            <a:custGeom>
              <a:avLst/>
              <a:gdLst/>
              <a:ahLst/>
              <a:cxnLst/>
              <a:rect l="l" t="t" r="r" b="b"/>
              <a:pathLst>
                <a:path w="4191000" h="1736089">
                  <a:moveTo>
                    <a:pt x="4191000" y="1735836"/>
                  </a:moveTo>
                  <a:lnTo>
                    <a:pt x="0" y="1735836"/>
                  </a:lnTo>
                  <a:lnTo>
                    <a:pt x="0" y="0"/>
                  </a:lnTo>
                  <a:lnTo>
                    <a:pt x="4191000" y="0"/>
                  </a:lnTo>
                  <a:lnTo>
                    <a:pt x="4191000" y="1735836"/>
                  </a:lnTo>
                  <a:close/>
                </a:path>
              </a:pathLst>
            </a:custGeom>
            <a:solidFill>
              <a:srgbClr val="EDEBE1"/>
            </a:solidFill>
          </p:spPr>
          <p:txBody>
            <a:bodyPr wrap="square" lIns="0" tIns="0" rIns="0" bIns="0" rtlCol="0"/>
            <a:lstStyle/>
            <a:p>
              <a:endParaRPr sz="1588"/>
            </a:p>
          </p:txBody>
        </p:sp>
        <p:sp>
          <p:nvSpPr>
            <p:cNvPr id="4" name="object 4"/>
            <p:cNvSpPr/>
            <p:nvPr/>
          </p:nvSpPr>
          <p:spPr>
            <a:xfrm>
              <a:off x="2819400" y="1149096"/>
              <a:ext cx="4191000" cy="1736089"/>
            </a:xfrm>
            <a:custGeom>
              <a:avLst/>
              <a:gdLst/>
              <a:ahLst/>
              <a:cxnLst/>
              <a:rect l="l" t="t" r="r" b="b"/>
              <a:pathLst>
                <a:path w="4191000" h="1736089">
                  <a:moveTo>
                    <a:pt x="0" y="0"/>
                  </a:moveTo>
                  <a:lnTo>
                    <a:pt x="4191000" y="0"/>
                  </a:lnTo>
                  <a:lnTo>
                    <a:pt x="4191000" y="1735836"/>
                  </a:lnTo>
                  <a:lnTo>
                    <a:pt x="0" y="1735836"/>
                  </a:lnTo>
                  <a:lnTo>
                    <a:pt x="0" y="0"/>
                  </a:lnTo>
                  <a:close/>
                </a:path>
              </a:pathLst>
            </a:custGeom>
            <a:ln w="25908">
              <a:solidFill>
                <a:srgbClr val="385D89"/>
              </a:solidFill>
            </a:ln>
          </p:spPr>
          <p:txBody>
            <a:bodyPr wrap="square" lIns="0" tIns="0" rIns="0" bIns="0" rtlCol="0"/>
            <a:lstStyle/>
            <a:p>
              <a:endParaRPr sz="1588"/>
            </a:p>
          </p:txBody>
        </p:sp>
        <p:pic>
          <p:nvPicPr>
            <p:cNvPr id="5" name="object 5"/>
            <p:cNvPicPr/>
            <p:nvPr/>
          </p:nvPicPr>
          <p:blipFill>
            <a:blip r:embed="rId2" cstate="print"/>
            <a:stretch>
              <a:fillRect/>
            </a:stretch>
          </p:blipFill>
          <p:spPr>
            <a:xfrm>
              <a:off x="3910584" y="1143000"/>
              <a:ext cx="998219" cy="1693163"/>
            </a:xfrm>
            <a:prstGeom prst="rect">
              <a:avLst/>
            </a:prstGeom>
          </p:spPr>
        </p:pic>
        <p:pic>
          <p:nvPicPr>
            <p:cNvPr id="6" name="object 6"/>
            <p:cNvPicPr/>
            <p:nvPr/>
          </p:nvPicPr>
          <p:blipFill>
            <a:blip r:embed="rId3" cstate="print"/>
            <a:stretch>
              <a:fillRect/>
            </a:stretch>
          </p:blipFill>
          <p:spPr>
            <a:xfrm>
              <a:off x="4630197" y="2596896"/>
              <a:ext cx="114966" cy="109728"/>
            </a:xfrm>
            <a:prstGeom prst="rect">
              <a:avLst/>
            </a:prstGeom>
          </p:spPr>
        </p:pic>
      </p:grpSp>
      <p:sp>
        <p:nvSpPr>
          <p:cNvPr id="7" name="object 7"/>
          <p:cNvSpPr txBox="1">
            <a:spLocks noGrp="1"/>
          </p:cNvSpPr>
          <p:nvPr>
            <p:ph type="title"/>
          </p:nvPr>
        </p:nvSpPr>
        <p:spPr>
          <a:xfrm>
            <a:off x="3397287" y="200403"/>
            <a:ext cx="7527015" cy="553976"/>
          </a:xfrm>
          <a:prstGeom prst="rect">
            <a:avLst/>
          </a:prstGeom>
        </p:spPr>
        <p:txBody>
          <a:bodyPr vert="horz" wrap="square" lIns="0" tIns="10646" rIns="0" bIns="0" rtlCol="0">
            <a:spAutoFit/>
          </a:bodyPr>
          <a:lstStyle/>
          <a:p>
            <a:pPr marL="11206">
              <a:lnSpc>
                <a:spcPct val="100000"/>
              </a:lnSpc>
              <a:spcBef>
                <a:spcPts val="84"/>
              </a:spcBef>
            </a:pPr>
            <a:r>
              <a:rPr sz="3530" spc="-9" dirty="0">
                <a:solidFill>
                  <a:srgbClr val="FF0000"/>
                </a:solidFill>
              </a:rPr>
              <a:t>The</a:t>
            </a:r>
            <a:r>
              <a:rPr sz="3530" spc="-18" dirty="0">
                <a:solidFill>
                  <a:srgbClr val="FF0000"/>
                </a:solidFill>
              </a:rPr>
              <a:t> </a:t>
            </a:r>
            <a:r>
              <a:rPr sz="3530" spc="-4" dirty="0">
                <a:solidFill>
                  <a:srgbClr val="FF0000"/>
                </a:solidFill>
              </a:rPr>
              <a:t>simple</a:t>
            </a:r>
            <a:r>
              <a:rPr sz="3530" spc="22" dirty="0">
                <a:solidFill>
                  <a:srgbClr val="FF0000"/>
                </a:solidFill>
              </a:rPr>
              <a:t> </a:t>
            </a:r>
            <a:r>
              <a:rPr sz="3530" spc="-22" dirty="0">
                <a:solidFill>
                  <a:srgbClr val="FF0000"/>
                </a:solidFill>
              </a:rPr>
              <a:t>state-space</a:t>
            </a:r>
            <a:r>
              <a:rPr sz="3530" spc="22" dirty="0">
                <a:solidFill>
                  <a:srgbClr val="FF0000"/>
                </a:solidFill>
              </a:rPr>
              <a:t> </a:t>
            </a:r>
            <a:r>
              <a:rPr sz="3530" dirty="0">
                <a:solidFill>
                  <a:srgbClr val="FF0000"/>
                </a:solidFill>
              </a:rPr>
              <a:t>model</a:t>
            </a:r>
          </a:p>
        </p:txBody>
      </p:sp>
      <p:sp>
        <p:nvSpPr>
          <p:cNvPr id="8" name="object 8"/>
          <p:cNvSpPr txBox="1"/>
          <p:nvPr/>
        </p:nvSpPr>
        <p:spPr>
          <a:xfrm>
            <a:off x="2536078" y="4852682"/>
            <a:ext cx="6969499" cy="1496798"/>
          </a:xfrm>
          <a:prstGeom prst="rect">
            <a:avLst/>
          </a:prstGeom>
        </p:spPr>
        <p:txBody>
          <a:bodyPr vert="horz" wrap="square" lIns="0" tIns="10646" rIns="0" bIns="0" rtlCol="0">
            <a:spAutoFit/>
          </a:bodyPr>
          <a:lstStyle/>
          <a:p>
            <a:pPr marL="313781" marR="4483" indent="-303135">
              <a:spcBef>
                <a:spcPts val="84"/>
              </a:spcBef>
              <a:buFont typeface="Arial"/>
              <a:buChar char="•"/>
              <a:tabLst>
                <a:tab pos="313781" algn="l"/>
                <a:tab pos="314342" algn="l"/>
              </a:tabLst>
            </a:pPr>
            <a:r>
              <a:rPr sz="2206" spc="-9" dirty="0">
                <a:latin typeface="Calibri"/>
                <a:cs typeface="Calibri"/>
              </a:rPr>
              <a:t>The</a:t>
            </a:r>
            <a:r>
              <a:rPr sz="2206" spc="9" dirty="0">
                <a:latin typeface="Calibri"/>
                <a:cs typeface="Calibri"/>
              </a:rPr>
              <a:t> </a:t>
            </a:r>
            <a:r>
              <a:rPr sz="2206" spc="-22" dirty="0">
                <a:latin typeface="Calibri"/>
                <a:cs typeface="Calibri"/>
              </a:rPr>
              <a:t>state</a:t>
            </a:r>
            <a:r>
              <a:rPr sz="2206" spc="-9" dirty="0">
                <a:latin typeface="Calibri"/>
                <a:cs typeface="Calibri"/>
              </a:rPr>
              <a:t> </a:t>
            </a:r>
            <a:r>
              <a:rPr sz="2206" spc="-4" dirty="0">
                <a:latin typeface="Calibri"/>
                <a:cs typeface="Calibri"/>
              </a:rPr>
              <a:t>(green)</a:t>
            </a:r>
            <a:r>
              <a:rPr sz="2206" spc="18" dirty="0">
                <a:latin typeface="Calibri"/>
                <a:cs typeface="Calibri"/>
              </a:rPr>
              <a:t> </a:t>
            </a:r>
            <a:r>
              <a:rPr sz="2206" spc="-13" dirty="0">
                <a:latin typeface="Calibri"/>
                <a:cs typeface="Calibri"/>
              </a:rPr>
              <a:t>at</a:t>
            </a:r>
            <a:r>
              <a:rPr sz="2206" spc="-4" dirty="0">
                <a:latin typeface="Calibri"/>
                <a:cs typeface="Calibri"/>
              </a:rPr>
              <a:t> </a:t>
            </a:r>
            <a:r>
              <a:rPr sz="2206" spc="-18" dirty="0">
                <a:latin typeface="Calibri"/>
                <a:cs typeface="Calibri"/>
              </a:rPr>
              <a:t>any</a:t>
            </a:r>
            <a:r>
              <a:rPr sz="2206" dirty="0">
                <a:latin typeface="Calibri"/>
                <a:cs typeface="Calibri"/>
              </a:rPr>
              <a:t> time</a:t>
            </a:r>
            <a:r>
              <a:rPr sz="2206" spc="-13" dirty="0">
                <a:latin typeface="Calibri"/>
                <a:cs typeface="Calibri"/>
              </a:rPr>
              <a:t> </a:t>
            </a:r>
            <a:r>
              <a:rPr sz="2206" spc="-4" dirty="0">
                <a:latin typeface="Calibri"/>
                <a:cs typeface="Calibri"/>
              </a:rPr>
              <a:t>is</a:t>
            </a:r>
            <a:r>
              <a:rPr sz="2206" spc="4" dirty="0">
                <a:latin typeface="Calibri"/>
                <a:cs typeface="Calibri"/>
              </a:rPr>
              <a:t> </a:t>
            </a:r>
            <a:r>
              <a:rPr sz="2206" spc="-4" dirty="0">
                <a:latin typeface="Calibri"/>
                <a:cs typeface="Calibri"/>
              </a:rPr>
              <a:t>determined</a:t>
            </a:r>
            <a:r>
              <a:rPr sz="2206" spc="18" dirty="0">
                <a:latin typeface="Calibri"/>
                <a:cs typeface="Calibri"/>
              </a:rPr>
              <a:t> </a:t>
            </a:r>
            <a:r>
              <a:rPr sz="2206" spc="-9" dirty="0">
                <a:latin typeface="Calibri"/>
                <a:cs typeface="Calibri"/>
              </a:rPr>
              <a:t>by</a:t>
            </a:r>
            <a:r>
              <a:rPr sz="2206" spc="-4" dirty="0">
                <a:latin typeface="Calibri"/>
                <a:cs typeface="Calibri"/>
              </a:rPr>
              <a:t> the</a:t>
            </a:r>
            <a:r>
              <a:rPr sz="2206" spc="13" dirty="0">
                <a:latin typeface="Calibri"/>
                <a:cs typeface="Calibri"/>
              </a:rPr>
              <a:t> </a:t>
            </a:r>
            <a:r>
              <a:rPr sz="2206" spc="-9" dirty="0">
                <a:latin typeface="Calibri"/>
                <a:cs typeface="Calibri"/>
              </a:rPr>
              <a:t>input</a:t>
            </a:r>
            <a:r>
              <a:rPr sz="2206" spc="18" dirty="0">
                <a:latin typeface="Calibri"/>
                <a:cs typeface="Calibri"/>
              </a:rPr>
              <a:t> </a:t>
            </a:r>
            <a:r>
              <a:rPr sz="2206" spc="-13" dirty="0">
                <a:latin typeface="Calibri"/>
                <a:cs typeface="Calibri"/>
              </a:rPr>
              <a:t>at </a:t>
            </a:r>
            <a:r>
              <a:rPr sz="2206" spc="-490" dirty="0">
                <a:latin typeface="Calibri"/>
                <a:cs typeface="Calibri"/>
              </a:rPr>
              <a:t> </a:t>
            </a:r>
            <a:r>
              <a:rPr sz="2206" spc="-9" dirty="0">
                <a:latin typeface="Calibri"/>
                <a:cs typeface="Calibri"/>
              </a:rPr>
              <a:t>that </a:t>
            </a:r>
            <a:r>
              <a:rPr sz="2206" dirty="0">
                <a:latin typeface="Calibri"/>
                <a:cs typeface="Calibri"/>
              </a:rPr>
              <a:t>time,</a:t>
            </a:r>
            <a:r>
              <a:rPr sz="2206" spc="9" dirty="0">
                <a:latin typeface="Calibri"/>
                <a:cs typeface="Calibri"/>
              </a:rPr>
              <a:t> </a:t>
            </a:r>
            <a:r>
              <a:rPr sz="2206" spc="-9" dirty="0">
                <a:latin typeface="Calibri"/>
                <a:cs typeface="Calibri"/>
              </a:rPr>
              <a:t>and</a:t>
            </a:r>
            <a:r>
              <a:rPr sz="2206" spc="18" dirty="0">
                <a:latin typeface="Calibri"/>
                <a:cs typeface="Calibri"/>
              </a:rPr>
              <a:t> </a:t>
            </a:r>
            <a:r>
              <a:rPr sz="2206" spc="-4" dirty="0">
                <a:latin typeface="Calibri"/>
                <a:cs typeface="Calibri"/>
              </a:rPr>
              <a:t>the</a:t>
            </a:r>
            <a:r>
              <a:rPr sz="2206" spc="-13" dirty="0">
                <a:latin typeface="Calibri"/>
                <a:cs typeface="Calibri"/>
              </a:rPr>
              <a:t> </a:t>
            </a:r>
            <a:r>
              <a:rPr sz="2206" spc="-22" dirty="0">
                <a:latin typeface="Calibri"/>
                <a:cs typeface="Calibri"/>
              </a:rPr>
              <a:t>state</a:t>
            </a:r>
            <a:r>
              <a:rPr sz="2206" spc="13" dirty="0">
                <a:latin typeface="Calibri"/>
                <a:cs typeface="Calibri"/>
              </a:rPr>
              <a:t> </a:t>
            </a:r>
            <a:r>
              <a:rPr sz="2206" spc="-13" dirty="0">
                <a:latin typeface="Calibri"/>
                <a:cs typeface="Calibri"/>
              </a:rPr>
              <a:t>at</a:t>
            </a:r>
            <a:r>
              <a:rPr sz="2206" spc="-4" dirty="0">
                <a:latin typeface="Calibri"/>
                <a:cs typeface="Calibri"/>
              </a:rPr>
              <a:t> the</a:t>
            </a:r>
            <a:r>
              <a:rPr sz="2206" spc="13" dirty="0">
                <a:latin typeface="Calibri"/>
                <a:cs typeface="Calibri"/>
              </a:rPr>
              <a:t> </a:t>
            </a:r>
            <a:r>
              <a:rPr sz="2206" spc="-9" dirty="0">
                <a:latin typeface="Calibri"/>
                <a:cs typeface="Calibri"/>
              </a:rPr>
              <a:t>previous</a:t>
            </a:r>
            <a:r>
              <a:rPr sz="2206" spc="-22" dirty="0">
                <a:latin typeface="Calibri"/>
                <a:cs typeface="Calibri"/>
              </a:rPr>
              <a:t> </a:t>
            </a:r>
            <a:r>
              <a:rPr sz="2206" dirty="0">
                <a:latin typeface="Calibri"/>
                <a:cs typeface="Calibri"/>
              </a:rPr>
              <a:t>time</a:t>
            </a:r>
          </a:p>
          <a:p>
            <a:pPr marL="313781" indent="-303135">
              <a:spcBef>
                <a:spcPts val="529"/>
              </a:spcBef>
              <a:buFont typeface="Arial"/>
              <a:buChar char="•"/>
              <a:tabLst>
                <a:tab pos="313781" algn="l"/>
                <a:tab pos="314342" algn="l"/>
              </a:tabLst>
            </a:pPr>
            <a:r>
              <a:rPr sz="2206" i="1" spc="-4" dirty="0">
                <a:solidFill>
                  <a:srgbClr val="BF0000"/>
                </a:solidFill>
                <a:latin typeface="Calibri"/>
                <a:cs typeface="Calibri"/>
              </a:rPr>
              <a:t>An</a:t>
            </a:r>
            <a:r>
              <a:rPr sz="2206" i="1" spc="-13" dirty="0">
                <a:solidFill>
                  <a:srgbClr val="BF0000"/>
                </a:solidFill>
                <a:latin typeface="Calibri"/>
                <a:cs typeface="Calibri"/>
              </a:rPr>
              <a:t> </a:t>
            </a:r>
            <a:r>
              <a:rPr sz="2206" i="1" spc="-4" dirty="0">
                <a:solidFill>
                  <a:srgbClr val="BF0000"/>
                </a:solidFill>
                <a:latin typeface="Calibri"/>
                <a:cs typeface="Calibri"/>
              </a:rPr>
              <a:t>input</a:t>
            </a:r>
            <a:r>
              <a:rPr sz="2206" i="1" spc="-9" dirty="0">
                <a:solidFill>
                  <a:srgbClr val="BF0000"/>
                </a:solidFill>
                <a:latin typeface="Calibri"/>
                <a:cs typeface="Calibri"/>
              </a:rPr>
              <a:t> at</a:t>
            </a:r>
            <a:r>
              <a:rPr sz="2206" i="1" spc="13" dirty="0">
                <a:solidFill>
                  <a:srgbClr val="BF0000"/>
                </a:solidFill>
                <a:latin typeface="Calibri"/>
                <a:cs typeface="Calibri"/>
              </a:rPr>
              <a:t> </a:t>
            </a:r>
            <a:r>
              <a:rPr sz="2206" i="1" spc="-9" dirty="0">
                <a:solidFill>
                  <a:srgbClr val="BF0000"/>
                </a:solidFill>
                <a:latin typeface="Calibri"/>
                <a:cs typeface="Calibri"/>
              </a:rPr>
              <a:t>t=0</a:t>
            </a:r>
            <a:r>
              <a:rPr sz="2206" i="1" spc="-13" dirty="0">
                <a:solidFill>
                  <a:srgbClr val="BF0000"/>
                </a:solidFill>
                <a:latin typeface="Calibri"/>
                <a:cs typeface="Calibri"/>
              </a:rPr>
              <a:t> </a:t>
            </a:r>
            <a:r>
              <a:rPr sz="2206" i="1" spc="-9" dirty="0">
                <a:solidFill>
                  <a:srgbClr val="BF0000"/>
                </a:solidFill>
                <a:latin typeface="Calibri"/>
                <a:cs typeface="Calibri"/>
              </a:rPr>
              <a:t>affects</a:t>
            </a:r>
            <a:r>
              <a:rPr sz="2206" i="1" dirty="0">
                <a:solidFill>
                  <a:srgbClr val="BF0000"/>
                </a:solidFill>
                <a:latin typeface="Calibri"/>
                <a:cs typeface="Calibri"/>
              </a:rPr>
              <a:t> outputs</a:t>
            </a:r>
            <a:r>
              <a:rPr sz="2206" i="1" spc="4" dirty="0">
                <a:solidFill>
                  <a:srgbClr val="BF0000"/>
                </a:solidFill>
                <a:latin typeface="Calibri"/>
                <a:cs typeface="Calibri"/>
              </a:rPr>
              <a:t> </a:t>
            </a:r>
            <a:r>
              <a:rPr sz="2206" i="1" spc="-13" dirty="0">
                <a:solidFill>
                  <a:srgbClr val="BF0000"/>
                </a:solidFill>
                <a:latin typeface="Calibri"/>
                <a:cs typeface="Calibri"/>
              </a:rPr>
              <a:t>forever</a:t>
            </a:r>
            <a:endParaRPr sz="2206" dirty="0">
              <a:latin typeface="Calibri"/>
              <a:cs typeface="Calibri"/>
            </a:endParaRPr>
          </a:p>
          <a:p>
            <a:pPr marL="313781" indent="-303135">
              <a:spcBef>
                <a:spcPts val="529"/>
              </a:spcBef>
              <a:buFont typeface="Arial"/>
              <a:buChar char="•"/>
              <a:tabLst>
                <a:tab pos="313781" algn="l"/>
                <a:tab pos="314342" algn="l"/>
              </a:tabLst>
            </a:pPr>
            <a:r>
              <a:rPr sz="2206" spc="-4" dirty="0">
                <a:latin typeface="Calibri"/>
                <a:cs typeface="Calibri"/>
              </a:rPr>
              <a:t>Also</a:t>
            </a:r>
            <a:r>
              <a:rPr sz="2206" spc="-9" dirty="0">
                <a:latin typeface="Calibri"/>
                <a:cs typeface="Calibri"/>
              </a:rPr>
              <a:t> known</a:t>
            </a:r>
            <a:r>
              <a:rPr sz="2206" spc="-4" dirty="0">
                <a:latin typeface="Calibri"/>
                <a:cs typeface="Calibri"/>
              </a:rPr>
              <a:t> as</a:t>
            </a:r>
            <a:r>
              <a:rPr sz="2206" spc="4" dirty="0">
                <a:latin typeface="Calibri"/>
                <a:cs typeface="Calibri"/>
              </a:rPr>
              <a:t> </a:t>
            </a:r>
            <a:r>
              <a:rPr sz="2206" spc="-4" dirty="0">
                <a:latin typeface="Calibri"/>
                <a:cs typeface="Calibri"/>
              </a:rPr>
              <a:t>a</a:t>
            </a:r>
            <a:r>
              <a:rPr sz="2206" spc="9" dirty="0">
                <a:latin typeface="Calibri"/>
                <a:cs typeface="Calibri"/>
              </a:rPr>
              <a:t> </a:t>
            </a:r>
            <a:r>
              <a:rPr sz="2206" spc="-13" dirty="0">
                <a:latin typeface="Calibri"/>
                <a:cs typeface="Calibri"/>
              </a:rPr>
              <a:t>recurrent</a:t>
            </a:r>
            <a:r>
              <a:rPr sz="2206" spc="18" dirty="0">
                <a:latin typeface="Calibri"/>
                <a:cs typeface="Calibri"/>
              </a:rPr>
              <a:t> </a:t>
            </a:r>
            <a:r>
              <a:rPr sz="2206" spc="-13" dirty="0">
                <a:latin typeface="Calibri"/>
                <a:cs typeface="Calibri"/>
              </a:rPr>
              <a:t>neural</a:t>
            </a:r>
            <a:r>
              <a:rPr sz="2206" spc="9" dirty="0">
                <a:latin typeface="Calibri"/>
                <a:cs typeface="Calibri"/>
              </a:rPr>
              <a:t> </a:t>
            </a:r>
            <a:r>
              <a:rPr sz="2206" spc="-9" dirty="0">
                <a:latin typeface="Calibri"/>
                <a:cs typeface="Calibri"/>
              </a:rPr>
              <a:t>net</a:t>
            </a:r>
            <a:endParaRPr sz="2206" dirty="0">
              <a:latin typeface="Calibri"/>
              <a:cs typeface="Calibri"/>
            </a:endParaRPr>
          </a:p>
        </p:txBody>
      </p:sp>
      <p:grpSp>
        <p:nvGrpSpPr>
          <p:cNvPr id="9" name="object 9"/>
          <p:cNvGrpSpPr/>
          <p:nvPr/>
        </p:nvGrpSpPr>
        <p:grpSpPr>
          <a:xfrm>
            <a:off x="2821641" y="2619486"/>
            <a:ext cx="7028890" cy="1517276"/>
            <a:chOff x="1318259" y="2968751"/>
            <a:chExt cx="7966075" cy="1719580"/>
          </a:xfrm>
        </p:grpSpPr>
        <p:sp>
          <p:nvSpPr>
            <p:cNvPr id="10" name="object 10"/>
            <p:cNvSpPr/>
            <p:nvPr/>
          </p:nvSpPr>
          <p:spPr>
            <a:xfrm>
              <a:off x="23103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1" name="object 11"/>
            <p:cNvSpPr/>
            <p:nvPr/>
          </p:nvSpPr>
          <p:spPr>
            <a:xfrm>
              <a:off x="23103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2" name="object 12"/>
            <p:cNvSpPr/>
            <p:nvPr/>
          </p:nvSpPr>
          <p:spPr>
            <a:xfrm>
              <a:off x="2316479"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3" name="object 13"/>
            <p:cNvSpPr/>
            <p:nvPr/>
          </p:nvSpPr>
          <p:spPr>
            <a:xfrm>
              <a:off x="2316479"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4" name="object 14"/>
            <p:cNvPicPr/>
            <p:nvPr/>
          </p:nvPicPr>
          <p:blipFill>
            <a:blip r:embed="rId4" cstate="print"/>
            <a:stretch>
              <a:fillRect/>
            </a:stretch>
          </p:blipFill>
          <p:spPr>
            <a:xfrm>
              <a:off x="2430779" y="4152900"/>
              <a:ext cx="76200" cy="228600"/>
            </a:xfrm>
            <a:prstGeom prst="rect">
              <a:avLst/>
            </a:prstGeom>
          </p:spPr>
        </p:pic>
        <p:sp>
          <p:nvSpPr>
            <p:cNvPr id="15" name="object 15"/>
            <p:cNvSpPr/>
            <p:nvPr/>
          </p:nvSpPr>
          <p:spPr>
            <a:xfrm>
              <a:off x="2316467" y="3314699"/>
              <a:ext cx="305435" cy="304800"/>
            </a:xfrm>
            <a:custGeom>
              <a:avLst/>
              <a:gdLst/>
              <a:ahLst/>
              <a:cxnLst/>
              <a:rect l="l" t="t" r="r" b="b"/>
              <a:pathLst>
                <a:path w="305435" h="304800">
                  <a:moveTo>
                    <a:pt x="304812" y="0"/>
                  </a:moveTo>
                  <a:lnTo>
                    <a:pt x="0" y="0"/>
                  </a:lnTo>
                  <a:lnTo>
                    <a:pt x="0" y="22860"/>
                  </a:lnTo>
                  <a:lnTo>
                    <a:pt x="0" y="304800"/>
                  </a:lnTo>
                  <a:lnTo>
                    <a:pt x="304812" y="304800"/>
                  </a:lnTo>
                  <a:lnTo>
                    <a:pt x="304812" y="22860"/>
                  </a:lnTo>
                  <a:lnTo>
                    <a:pt x="304812" y="0"/>
                  </a:lnTo>
                  <a:close/>
                </a:path>
              </a:pathLst>
            </a:custGeom>
            <a:solidFill>
              <a:srgbClr val="E46B0A"/>
            </a:solidFill>
          </p:spPr>
          <p:txBody>
            <a:bodyPr wrap="square" lIns="0" tIns="0" rIns="0" bIns="0" rtlCol="0"/>
            <a:lstStyle/>
            <a:p>
              <a:endParaRPr sz="1588"/>
            </a:p>
          </p:txBody>
        </p:sp>
        <p:sp>
          <p:nvSpPr>
            <p:cNvPr id="16" name="object 16"/>
            <p:cNvSpPr/>
            <p:nvPr/>
          </p:nvSpPr>
          <p:spPr>
            <a:xfrm>
              <a:off x="2316479"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4" cstate="print"/>
            <a:stretch>
              <a:fillRect/>
            </a:stretch>
          </p:blipFill>
          <p:spPr>
            <a:xfrm>
              <a:off x="2430779" y="3619500"/>
              <a:ext cx="76200" cy="228600"/>
            </a:xfrm>
            <a:prstGeom prst="rect">
              <a:avLst/>
            </a:prstGeom>
          </p:spPr>
        </p:pic>
        <p:pic>
          <p:nvPicPr>
            <p:cNvPr id="18" name="object 18"/>
            <p:cNvPicPr/>
            <p:nvPr/>
          </p:nvPicPr>
          <p:blipFill>
            <a:blip r:embed="rId4" cstate="print"/>
            <a:stretch>
              <a:fillRect/>
            </a:stretch>
          </p:blipFill>
          <p:spPr>
            <a:xfrm>
              <a:off x="2430779" y="3086099"/>
              <a:ext cx="76200" cy="228600"/>
            </a:xfrm>
            <a:prstGeom prst="rect">
              <a:avLst/>
            </a:prstGeom>
          </p:spPr>
        </p:pic>
        <p:sp>
          <p:nvSpPr>
            <p:cNvPr id="19" name="object 19"/>
            <p:cNvSpPr/>
            <p:nvPr/>
          </p:nvSpPr>
          <p:spPr>
            <a:xfrm>
              <a:off x="1830323" y="2968751"/>
              <a:ext cx="515620" cy="368935"/>
            </a:xfrm>
            <a:custGeom>
              <a:avLst/>
              <a:gdLst/>
              <a:ahLst/>
              <a:cxnLst/>
              <a:rect l="l" t="t" r="r" b="b"/>
              <a:pathLst>
                <a:path w="515619" h="368935">
                  <a:moveTo>
                    <a:pt x="515112" y="368808"/>
                  </a:moveTo>
                  <a:lnTo>
                    <a:pt x="0" y="368808"/>
                  </a:lnTo>
                  <a:lnTo>
                    <a:pt x="0" y="0"/>
                  </a:lnTo>
                  <a:lnTo>
                    <a:pt x="515112" y="0"/>
                  </a:lnTo>
                  <a:lnTo>
                    <a:pt x="515112" y="368808"/>
                  </a:lnTo>
                  <a:close/>
                </a:path>
              </a:pathLst>
            </a:custGeom>
            <a:solidFill>
              <a:srgbClr val="FFFFFF"/>
            </a:solidFill>
          </p:spPr>
          <p:txBody>
            <a:bodyPr wrap="square" lIns="0" tIns="0" rIns="0" bIns="0" rtlCol="0"/>
            <a:lstStyle/>
            <a:p>
              <a:endParaRPr sz="1588"/>
            </a:p>
          </p:txBody>
        </p:sp>
        <p:sp>
          <p:nvSpPr>
            <p:cNvPr id="20" name="object 20"/>
            <p:cNvSpPr/>
            <p:nvPr/>
          </p:nvSpPr>
          <p:spPr>
            <a:xfrm>
              <a:off x="1319783"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21" name="object 21"/>
            <p:cNvSpPr/>
            <p:nvPr/>
          </p:nvSpPr>
          <p:spPr>
            <a:xfrm>
              <a:off x="1319783"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2" name="object 22"/>
            <p:cNvSpPr/>
            <p:nvPr/>
          </p:nvSpPr>
          <p:spPr>
            <a:xfrm>
              <a:off x="1624583" y="39623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23" name="object 23"/>
            <p:cNvSpPr/>
            <p:nvPr/>
          </p:nvSpPr>
          <p:spPr>
            <a:xfrm>
              <a:off x="3297935"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4" name="object 24"/>
            <p:cNvSpPr/>
            <p:nvPr/>
          </p:nvSpPr>
          <p:spPr>
            <a:xfrm>
              <a:off x="3297935"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5" name="object 25"/>
            <p:cNvSpPr/>
            <p:nvPr/>
          </p:nvSpPr>
          <p:spPr>
            <a:xfrm>
              <a:off x="3297935"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6" name="object 26"/>
            <p:cNvSpPr/>
            <p:nvPr/>
          </p:nvSpPr>
          <p:spPr>
            <a:xfrm>
              <a:off x="3297935"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7" name="object 27"/>
            <p:cNvPicPr/>
            <p:nvPr/>
          </p:nvPicPr>
          <p:blipFill>
            <a:blip r:embed="rId4" cstate="print"/>
            <a:stretch>
              <a:fillRect/>
            </a:stretch>
          </p:blipFill>
          <p:spPr>
            <a:xfrm>
              <a:off x="3412236" y="4152900"/>
              <a:ext cx="76200" cy="228600"/>
            </a:xfrm>
            <a:prstGeom prst="rect">
              <a:avLst/>
            </a:prstGeom>
          </p:spPr>
        </p:pic>
        <p:sp>
          <p:nvSpPr>
            <p:cNvPr id="28" name="object 28"/>
            <p:cNvSpPr/>
            <p:nvPr/>
          </p:nvSpPr>
          <p:spPr>
            <a:xfrm>
              <a:off x="3297935"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9" name="object 29"/>
            <p:cNvSpPr/>
            <p:nvPr/>
          </p:nvSpPr>
          <p:spPr>
            <a:xfrm>
              <a:off x="3297935"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0" name="object 30"/>
            <p:cNvPicPr/>
            <p:nvPr/>
          </p:nvPicPr>
          <p:blipFill>
            <a:blip r:embed="rId4" cstate="print"/>
            <a:stretch>
              <a:fillRect/>
            </a:stretch>
          </p:blipFill>
          <p:spPr>
            <a:xfrm>
              <a:off x="3412236" y="3619500"/>
              <a:ext cx="76200" cy="228600"/>
            </a:xfrm>
            <a:prstGeom prst="rect">
              <a:avLst/>
            </a:prstGeom>
          </p:spPr>
        </p:pic>
        <p:pic>
          <p:nvPicPr>
            <p:cNvPr id="31" name="object 31"/>
            <p:cNvPicPr/>
            <p:nvPr/>
          </p:nvPicPr>
          <p:blipFill>
            <a:blip r:embed="rId4" cstate="print"/>
            <a:stretch>
              <a:fillRect/>
            </a:stretch>
          </p:blipFill>
          <p:spPr>
            <a:xfrm>
              <a:off x="3412236" y="3086099"/>
              <a:ext cx="76200" cy="228600"/>
            </a:xfrm>
            <a:prstGeom prst="rect">
              <a:avLst/>
            </a:prstGeom>
          </p:spPr>
        </p:pic>
        <p:sp>
          <p:nvSpPr>
            <p:cNvPr id="32" name="object 32"/>
            <p:cNvSpPr/>
            <p:nvPr/>
          </p:nvSpPr>
          <p:spPr>
            <a:xfrm>
              <a:off x="2621280" y="39623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33" name="object 33"/>
            <p:cNvSpPr/>
            <p:nvPr/>
          </p:nvSpPr>
          <p:spPr>
            <a:xfrm>
              <a:off x="42915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4" name="object 34"/>
            <p:cNvSpPr/>
            <p:nvPr/>
          </p:nvSpPr>
          <p:spPr>
            <a:xfrm>
              <a:off x="42915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5" name="object 35"/>
            <p:cNvSpPr/>
            <p:nvPr/>
          </p:nvSpPr>
          <p:spPr>
            <a:xfrm>
              <a:off x="4306824"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6" name="object 36"/>
            <p:cNvSpPr/>
            <p:nvPr/>
          </p:nvSpPr>
          <p:spPr>
            <a:xfrm>
              <a:off x="4306824"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7" name="object 37"/>
            <p:cNvPicPr/>
            <p:nvPr/>
          </p:nvPicPr>
          <p:blipFill>
            <a:blip r:embed="rId4" cstate="print"/>
            <a:stretch>
              <a:fillRect/>
            </a:stretch>
          </p:blipFill>
          <p:spPr>
            <a:xfrm>
              <a:off x="4421123" y="4152900"/>
              <a:ext cx="76200" cy="228600"/>
            </a:xfrm>
            <a:prstGeom prst="rect">
              <a:avLst/>
            </a:prstGeom>
          </p:spPr>
        </p:pic>
        <p:sp>
          <p:nvSpPr>
            <p:cNvPr id="38" name="object 38"/>
            <p:cNvSpPr/>
            <p:nvPr/>
          </p:nvSpPr>
          <p:spPr>
            <a:xfrm>
              <a:off x="4306824"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9" name="object 39"/>
            <p:cNvSpPr/>
            <p:nvPr/>
          </p:nvSpPr>
          <p:spPr>
            <a:xfrm>
              <a:off x="4306824"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4" cstate="print"/>
            <a:stretch>
              <a:fillRect/>
            </a:stretch>
          </p:blipFill>
          <p:spPr>
            <a:xfrm>
              <a:off x="4421123" y="3619500"/>
              <a:ext cx="76200" cy="228600"/>
            </a:xfrm>
            <a:prstGeom prst="rect">
              <a:avLst/>
            </a:prstGeom>
          </p:spPr>
        </p:pic>
        <p:pic>
          <p:nvPicPr>
            <p:cNvPr id="41" name="object 41"/>
            <p:cNvPicPr/>
            <p:nvPr/>
          </p:nvPicPr>
          <p:blipFill>
            <a:blip r:embed="rId4" cstate="print"/>
            <a:stretch>
              <a:fillRect/>
            </a:stretch>
          </p:blipFill>
          <p:spPr>
            <a:xfrm>
              <a:off x="4421123" y="3086099"/>
              <a:ext cx="76200" cy="228600"/>
            </a:xfrm>
            <a:prstGeom prst="rect">
              <a:avLst/>
            </a:prstGeom>
          </p:spPr>
        </p:pic>
        <p:sp>
          <p:nvSpPr>
            <p:cNvPr id="42" name="object 42"/>
            <p:cNvSpPr/>
            <p:nvPr/>
          </p:nvSpPr>
          <p:spPr>
            <a:xfrm>
              <a:off x="3608831" y="39623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43" name="object 43"/>
            <p:cNvSpPr/>
            <p:nvPr/>
          </p:nvSpPr>
          <p:spPr>
            <a:xfrm>
              <a:off x="52821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4" name="object 44"/>
            <p:cNvSpPr/>
            <p:nvPr/>
          </p:nvSpPr>
          <p:spPr>
            <a:xfrm>
              <a:off x="52821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5" name="object 45"/>
            <p:cNvSpPr/>
            <p:nvPr/>
          </p:nvSpPr>
          <p:spPr>
            <a:xfrm>
              <a:off x="5297423"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6" name="object 46"/>
            <p:cNvSpPr/>
            <p:nvPr/>
          </p:nvSpPr>
          <p:spPr>
            <a:xfrm>
              <a:off x="5297423"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7" name="object 47"/>
            <p:cNvPicPr/>
            <p:nvPr/>
          </p:nvPicPr>
          <p:blipFill>
            <a:blip r:embed="rId4" cstate="print"/>
            <a:stretch>
              <a:fillRect/>
            </a:stretch>
          </p:blipFill>
          <p:spPr>
            <a:xfrm>
              <a:off x="5411724" y="4152900"/>
              <a:ext cx="76200" cy="228600"/>
            </a:xfrm>
            <a:prstGeom prst="rect">
              <a:avLst/>
            </a:prstGeom>
          </p:spPr>
        </p:pic>
        <p:sp>
          <p:nvSpPr>
            <p:cNvPr id="48" name="object 48"/>
            <p:cNvSpPr/>
            <p:nvPr/>
          </p:nvSpPr>
          <p:spPr>
            <a:xfrm>
              <a:off x="5297423"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9" name="object 49"/>
            <p:cNvSpPr/>
            <p:nvPr/>
          </p:nvSpPr>
          <p:spPr>
            <a:xfrm>
              <a:off x="5297423"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0" name="object 50"/>
            <p:cNvPicPr/>
            <p:nvPr/>
          </p:nvPicPr>
          <p:blipFill>
            <a:blip r:embed="rId4" cstate="print"/>
            <a:stretch>
              <a:fillRect/>
            </a:stretch>
          </p:blipFill>
          <p:spPr>
            <a:xfrm>
              <a:off x="5411724" y="3619500"/>
              <a:ext cx="76200" cy="228600"/>
            </a:xfrm>
            <a:prstGeom prst="rect">
              <a:avLst/>
            </a:prstGeom>
          </p:spPr>
        </p:pic>
        <p:pic>
          <p:nvPicPr>
            <p:cNvPr id="51" name="object 51"/>
            <p:cNvPicPr/>
            <p:nvPr/>
          </p:nvPicPr>
          <p:blipFill>
            <a:blip r:embed="rId4" cstate="print"/>
            <a:stretch>
              <a:fillRect/>
            </a:stretch>
          </p:blipFill>
          <p:spPr>
            <a:xfrm>
              <a:off x="5411724" y="3086099"/>
              <a:ext cx="76200" cy="228600"/>
            </a:xfrm>
            <a:prstGeom prst="rect">
              <a:avLst/>
            </a:prstGeom>
          </p:spPr>
        </p:pic>
        <p:sp>
          <p:nvSpPr>
            <p:cNvPr id="52" name="object 52"/>
            <p:cNvSpPr/>
            <p:nvPr/>
          </p:nvSpPr>
          <p:spPr>
            <a:xfrm>
              <a:off x="4620768" y="39623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53" name="object 53"/>
            <p:cNvSpPr/>
            <p:nvPr/>
          </p:nvSpPr>
          <p:spPr>
            <a:xfrm>
              <a:off x="62727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4" name="object 54"/>
            <p:cNvSpPr/>
            <p:nvPr/>
          </p:nvSpPr>
          <p:spPr>
            <a:xfrm>
              <a:off x="62727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5" name="object 55"/>
            <p:cNvSpPr/>
            <p:nvPr/>
          </p:nvSpPr>
          <p:spPr>
            <a:xfrm>
              <a:off x="6288023"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6" name="object 56"/>
            <p:cNvSpPr/>
            <p:nvPr/>
          </p:nvSpPr>
          <p:spPr>
            <a:xfrm>
              <a:off x="6288023"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7" name="object 57"/>
            <p:cNvPicPr/>
            <p:nvPr/>
          </p:nvPicPr>
          <p:blipFill>
            <a:blip r:embed="rId4" cstate="print"/>
            <a:stretch>
              <a:fillRect/>
            </a:stretch>
          </p:blipFill>
          <p:spPr>
            <a:xfrm>
              <a:off x="6402324" y="4152900"/>
              <a:ext cx="76200" cy="228600"/>
            </a:xfrm>
            <a:prstGeom prst="rect">
              <a:avLst/>
            </a:prstGeom>
          </p:spPr>
        </p:pic>
        <p:sp>
          <p:nvSpPr>
            <p:cNvPr id="58" name="object 58"/>
            <p:cNvSpPr/>
            <p:nvPr/>
          </p:nvSpPr>
          <p:spPr>
            <a:xfrm>
              <a:off x="6288023"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9" name="object 59"/>
            <p:cNvSpPr/>
            <p:nvPr/>
          </p:nvSpPr>
          <p:spPr>
            <a:xfrm>
              <a:off x="6288023"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0" name="object 60"/>
            <p:cNvPicPr/>
            <p:nvPr/>
          </p:nvPicPr>
          <p:blipFill>
            <a:blip r:embed="rId4" cstate="print"/>
            <a:stretch>
              <a:fillRect/>
            </a:stretch>
          </p:blipFill>
          <p:spPr>
            <a:xfrm>
              <a:off x="6402324" y="3619500"/>
              <a:ext cx="76200" cy="228600"/>
            </a:xfrm>
            <a:prstGeom prst="rect">
              <a:avLst/>
            </a:prstGeom>
          </p:spPr>
        </p:pic>
        <p:pic>
          <p:nvPicPr>
            <p:cNvPr id="61" name="object 61"/>
            <p:cNvPicPr/>
            <p:nvPr/>
          </p:nvPicPr>
          <p:blipFill>
            <a:blip r:embed="rId4" cstate="print"/>
            <a:stretch>
              <a:fillRect/>
            </a:stretch>
          </p:blipFill>
          <p:spPr>
            <a:xfrm>
              <a:off x="6402324" y="3086099"/>
              <a:ext cx="76200" cy="228600"/>
            </a:xfrm>
            <a:prstGeom prst="rect">
              <a:avLst/>
            </a:prstGeom>
          </p:spPr>
        </p:pic>
        <p:sp>
          <p:nvSpPr>
            <p:cNvPr id="62" name="object 62"/>
            <p:cNvSpPr/>
            <p:nvPr/>
          </p:nvSpPr>
          <p:spPr>
            <a:xfrm>
              <a:off x="5602223" y="39623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63" name="object 63"/>
            <p:cNvSpPr/>
            <p:nvPr/>
          </p:nvSpPr>
          <p:spPr>
            <a:xfrm>
              <a:off x="72633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64" name="object 64"/>
            <p:cNvSpPr/>
            <p:nvPr/>
          </p:nvSpPr>
          <p:spPr>
            <a:xfrm>
              <a:off x="72633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5" name="object 65"/>
            <p:cNvSpPr/>
            <p:nvPr/>
          </p:nvSpPr>
          <p:spPr>
            <a:xfrm>
              <a:off x="7278623"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6" name="object 66"/>
            <p:cNvSpPr/>
            <p:nvPr/>
          </p:nvSpPr>
          <p:spPr>
            <a:xfrm>
              <a:off x="7278623"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7" name="object 67"/>
            <p:cNvPicPr/>
            <p:nvPr/>
          </p:nvPicPr>
          <p:blipFill>
            <a:blip r:embed="rId4" cstate="print"/>
            <a:stretch>
              <a:fillRect/>
            </a:stretch>
          </p:blipFill>
          <p:spPr>
            <a:xfrm>
              <a:off x="7392924" y="4152900"/>
              <a:ext cx="76200" cy="228600"/>
            </a:xfrm>
            <a:prstGeom prst="rect">
              <a:avLst/>
            </a:prstGeom>
          </p:spPr>
        </p:pic>
        <p:sp>
          <p:nvSpPr>
            <p:cNvPr id="68" name="object 68"/>
            <p:cNvSpPr/>
            <p:nvPr/>
          </p:nvSpPr>
          <p:spPr>
            <a:xfrm>
              <a:off x="7278623"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9" name="object 69"/>
            <p:cNvSpPr/>
            <p:nvPr/>
          </p:nvSpPr>
          <p:spPr>
            <a:xfrm>
              <a:off x="7278623"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0" name="object 70"/>
            <p:cNvPicPr/>
            <p:nvPr/>
          </p:nvPicPr>
          <p:blipFill>
            <a:blip r:embed="rId4" cstate="print"/>
            <a:stretch>
              <a:fillRect/>
            </a:stretch>
          </p:blipFill>
          <p:spPr>
            <a:xfrm>
              <a:off x="7392924" y="3619500"/>
              <a:ext cx="76200" cy="228600"/>
            </a:xfrm>
            <a:prstGeom prst="rect">
              <a:avLst/>
            </a:prstGeom>
          </p:spPr>
        </p:pic>
        <p:pic>
          <p:nvPicPr>
            <p:cNvPr id="71" name="object 71"/>
            <p:cNvPicPr/>
            <p:nvPr/>
          </p:nvPicPr>
          <p:blipFill>
            <a:blip r:embed="rId4" cstate="print"/>
            <a:stretch>
              <a:fillRect/>
            </a:stretch>
          </p:blipFill>
          <p:spPr>
            <a:xfrm>
              <a:off x="7392924" y="3086099"/>
              <a:ext cx="76200" cy="228600"/>
            </a:xfrm>
            <a:prstGeom prst="rect">
              <a:avLst/>
            </a:prstGeom>
          </p:spPr>
        </p:pic>
        <p:sp>
          <p:nvSpPr>
            <p:cNvPr id="72" name="object 72"/>
            <p:cNvSpPr/>
            <p:nvPr/>
          </p:nvSpPr>
          <p:spPr>
            <a:xfrm>
              <a:off x="6586728" y="39623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73" name="object 73"/>
            <p:cNvSpPr/>
            <p:nvPr/>
          </p:nvSpPr>
          <p:spPr>
            <a:xfrm>
              <a:off x="8253983" y="43815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74" name="object 74"/>
            <p:cNvSpPr/>
            <p:nvPr/>
          </p:nvSpPr>
          <p:spPr>
            <a:xfrm>
              <a:off x="8253983" y="43815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5" name="object 75"/>
            <p:cNvSpPr/>
            <p:nvPr/>
          </p:nvSpPr>
          <p:spPr>
            <a:xfrm>
              <a:off x="8253983" y="38481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6" name="object 76"/>
            <p:cNvSpPr/>
            <p:nvPr/>
          </p:nvSpPr>
          <p:spPr>
            <a:xfrm>
              <a:off x="8253983" y="3848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7" name="object 77"/>
            <p:cNvPicPr/>
            <p:nvPr/>
          </p:nvPicPr>
          <p:blipFill>
            <a:blip r:embed="rId5" cstate="print"/>
            <a:stretch>
              <a:fillRect/>
            </a:stretch>
          </p:blipFill>
          <p:spPr>
            <a:xfrm>
              <a:off x="8368283" y="4152900"/>
              <a:ext cx="76200" cy="228600"/>
            </a:xfrm>
            <a:prstGeom prst="rect">
              <a:avLst/>
            </a:prstGeom>
          </p:spPr>
        </p:pic>
        <p:sp>
          <p:nvSpPr>
            <p:cNvPr id="78" name="object 78"/>
            <p:cNvSpPr/>
            <p:nvPr/>
          </p:nvSpPr>
          <p:spPr>
            <a:xfrm>
              <a:off x="8253983" y="33147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79" name="object 79"/>
            <p:cNvSpPr/>
            <p:nvPr/>
          </p:nvSpPr>
          <p:spPr>
            <a:xfrm>
              <a:off x="8253983" y="3314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0" name="object 80"/>
            <p:cNvPicPr/>
            <p:nvPr/>
          </p:nvPicPr>
          <p:blipFill>
            <a:blip r:embed="rId5" cstate="print"/>
            <a:stretch>
              <a:fillRect/>
            </a:stretch>
          </p:blipFill>
          <p:spPr>
            <a:xfrm>
              <a:off x="8368283" y="3619500"/>
              <a:ext cx="76200" cy="228600"/>
            </a:xfrm>
            <a:prstGeom prst="rect">
              <a:avLst/>
            </a:prstGeom>
          </p:spPr>
        </p:pic>
        <p:pic>
          <p:nvPicPr>
            <p:cNvPr id="81" name="object 81"/>
            <p:cNvPicPr/>
            <p:nvPr/>
          </p:nvPicPr>
          <p:blipFill>
            <a:blip r:embed="rId5" cstate="print"/>
            <a:stretch>
              <a:fillRect/>
            </a:stretch>
          </p:blipFill>
          <p:spPr>
            <a:xfrm>
              <a:off x="8368283" y="3086099"/>
              <a:ext cx="76200" cy="228600"/>
            </a:xfrm>
            <a:prstGeom prst="rect">
              <a:avLst/>
            </a:prstGeom>
          </p:spPr>
        </p:pic>
        <p:sp>
          <p:nvSpPr>
            <p:cNvPr id="82" name="object 82"/>
            <p:cNvSpPr/>
            <p:nvPr/>
          </p:nvSpPr>
          <p:spPr>
            <a:xfrm>
              <a:off x="7575791" y="3962399"/>
              <a:ext cx="1708785" cy="76200"/>
            </a:xfrm>
            <a:custGeom>
              <a:avLst/>
              <a:gdLst/>
              <a:ahLst/>
              <a:cxnLst/>
              <a:rect l="l" t="t" r="r" b="b"/>
              <a:pathLst>
                <a:path w="1708784" h="76200">
                  <a:moveTo>
                    <a:pt x="690372" y="38100"/>
                  </a:moveTo>
                  <a:lnTo>
                    <a:pt x="678180" y="32004"/>
                  </a:lnTo>
                  <a:lnTo>
                    <a:pt x="614172" y="0"/>
                  </a:lnTo>
                  <a:lnTo>
                    <a:pt x="614172" y="32004"/>
                  </a:lnTo>
                  <a:lnTo>
                    <a:pt x="0" y="32004"/>
                  </a:lnTo>
                  <a:lnTo>
                    <a:pt x="0" y="45720"/>
                  </a:lnTo>
                  <a:lnTo>
                    <a:pt x="614172" y="45720"/>
                  </a:lnTo>
                  <a:lnTo>
                    <a:pt x="614172" y="76200"/>
                  </a:lnTo>
                  <a:lnTo>
                    <a:pt x="675132" y="45720"/>
                  </a:lnTo>
                  <a:lnTo>
                    <a:pt x="690372" y="38100"/>
                  </a:lnTo>
                  <a:close/>
                </a:path>
                <a:path w="1708784" h="76200">
                  <a:moveTo>
                    <a:pt x="1708416" y="38100"/>
                  </a:moveTo>
                  <a:lnTo>
                    <a:pt x="1696224" y="32004"/>
                  </a:lnTo>
                  <a:lnTo>
                    <a:pt x="1632216" y="0"/>
                  </a:lnTo>
                  <a:lnTo>
                    <a:pt x="1632216" y="32004"/>
                  </a:lnTo>
                  <a:lnTo>
                    <a:pt x="1016520" y="32004"/>
                  </a:lnTo>
                  <a:lnTo>
                    <a:pt x="1016520" y="45720"/>
                  </a:lnTo>
                  <a:lnTo>
                    <a:pt x="1632216" y="45720"/>
                  </a:lnTo>
                  <a:lnTo>
                    <a:pt x="1632216" y="76200"/>
                  </a:lnTo>
                  <a:lnTo>
                    <a:pt x="1693176" y="45720"/>
                  </a:lnTo>
                  <a:lnTo>
                    <a:pt x="1708416" y="38100"/>
                  </a:lnTo>
                  <a:close/>
                </a:path>
              </a:pathLst>
            </a:custGeom>
            <a:solidFill>
              <a:srgbClr val="000000"/>
            </a:solidFill>
          </p:spPr>
          <p:txBody>
            <a:bodyPr wrap="square" lIns="0" tIns="0" rIns="0" bIns="0" rtlCol="0"/>
            <a:lstStyle/>
            <a:p>
              <a:endParaRPr sz="1588"/>
            </a:p>
          </p:txBody>
        </p:sp>
      </p:grpSp>
      <p:sp>
        <p:nvSpPr>
          <p:cNvPr id="83" name="object 83"/>
          <p:cNvSpPr/>
          <p:nvPr/>
        </p:nvSpPr>
        <p:spPr>
          <a:xfrm>
            <a:off x="3541059" y="4438873"/>
            <a:ext cx="5446059" cy="67235"/>
          </a:xfrm>
          <a:custGeom>
            <a:avLst/>
            <a:gdLst/>
            <a:ahLst/>
            <a:cxnLst/>
            <a:rect l="l" t="t" r="r" b="b"/>
            <a:pathLst>
              <a:path w="6172200" h="76200">
                <a:moveTo>
                  <a:pt x="6096000" y="76200"/>
                </a:moveTo>
                <a:lnTo>
                  <a:pt x="6096000" y="0"/>
                </a:lnTo>
                <a:lnTo>
                  <a:pt x="6153912" y="28956"/>
                </a:lnTo>
                <a:lnTo>
                  <a:pt x="6109716" y="28956"/>
                </a:lnTo>
                <a:lnTo>
                  <a:pt x="6109716" y="47244"/>
                </a:lnTo>
                <a:lnTo>
                  <a:pt x="6153912" y="47244"/>
                </a:lnTo>
                <a:lnTo>
                  <a:pt x="6096000" y="76200"/>
                </a:lnTo>
                <a:close/>
              </a:path>
              <a:path w="6172200" h="76200">
                <a:moveTo>
                  <a:pt x="6096000" y="47244"/>
                </a:moveTo>
                <a:lnTo>
                  <a:pt x="0" y="47244"/>
                </a:lnTo>
                <a:lnTo>
                  <a:pt x="0" y="28956"/>
                </a:lnTo>
                <a:lnTo>
                  <a:pt x="6096000" y="28956"/>
                </a:lnTo>
                <a:lnTo>
                  <a:pt x="6096000" y="47244"/>
                </a:lnTo>
                <a:close/>
              </a:path>
              <a:path w="6172200" h="76200">
                <a:moveTo>
                  <a:pt x="6153912" y="47244"/>
                </a:moveTo>
                <a:lnTo>
                  <a:pt x="6109716" y="47244"/>
                </a:lnTo>
                <a:lnTo>
                  <a:pt x="6109716" y="28956"/>
                </a:lnTo>
                <a:lnTo>
                  <a:pt x="6153912" y="28956"/>
                </a:lnTo>
                <a:lnTo>
                  <a:pt x="6172200" y="38100"/>
                </a:lnTo>
                <a:lnTo>
                  <a:pt x="6153912" y="47244"/>
                </a:lnTo>
                <a:close/>
              </a:path>
            </a:pathLst>
          </a:custGeom>
          <a:solidFill>
            <a:srgbClr val="000000"/>
          </a:solidFill>
        </p:spPr>
        <p:txBody>
          <a:bodyPr wrap="square" lIns="0" tIns="0" rIns="0" bIns="0" rtlCol="0"/>
          <a:lstStyle/>
          <a:p>
            <a:endParaRPr sz="1588"/>
          </a:p>
        </p:txBody>
      </p:sp>
      <p:sp>
        <p:nvSpPr>
          <p:cNvPr id="84" name="object 84"/>
          <p:cNvSpPr txBox="1"/>
          <p:nvPr/>
        </p:nvSpPr>
        <p:spPr>
          <a:xfrm>
            <a:off x="2263588" y="2649070"/>
            <a:ext cx="7664824" cy="2059282"/>
          </a:xfrm>
          <a:prstGeom prst="rect">
            <a:avLst/>
          </a:prstGeom>
          <a:ln w="25907">
            <a:solidFill>
              <a:srgbClr val="385D89"/>
            </a:solidFill>
          </a:ln>
        </p:spPr>
        <p:txBody>
          <a:bodyPr vert="horz" wrap="square" lIns="0" tIns="0" rIns="0" bIns="0" rtlCol="0">
            <a:spAutoFit/>
          </a:bodyPr>
          <a:lstStyle/>
          <a:p>
            <a:pPr marL="1091511">
              <a:lnSpc>
                <a:spcPts val="1875"/>
              </a:lnSpc>
            </a:pPr>
            <a:r>
              <a:rPr sz="1588" spc="-4" dirty="0">
                <a:latin typeface="Calibri"/>
                <a:cs typeface="Calibri"/>
              </a:rPr>
              <a:t>Y(t)</a:t>
            </a:r>
            <a:endParaRPr sz="1588">
              <a:latin typeface="Calibri"/>
              <a:cs typeface="Calibri"/>
            </a:endParaRPr>
          </a:p>
          <a:p>
            <a:pPr>
              <a:spcBef>
                <a:spcPts val="26"/>
              </a:spcBef>
            </a:pPr>
            <a:endParaRPr sz="1677">
              <a:latin typeface="Calibri"/>
              <a:cs typeface="Calibri"/>
            </a:endParaRPr>
          </a:p>
          <a:p>
            <a:pPr marL="584418"/>
            <a:r>
              <a:rPr sz="2382" baseline="13888" dirty="0">
                <a:latin typeface="Calibri"/>
                <a:cs typeface="Calibri"/>
              </a:rPr>
              <a:t>h</a:t>
            </a:r>
            <a:r>
              <a:rPr sz="1059" dirty="0">
                <a:latin typeface="Calibri"/>
                <a:cs typeface="Calibri"/>
              </a:rPr>
              <a:t>-1</a:t>
            </a:r>
            <a:endParaRPr sz="1059">
              <a:latin typeface="Calibri"/>
              <a:cs typeface="Calibri"/>
            </a:endParaRPr>
          </a:p>
          <a:p>
            <a:pPr>
              <a:lnSpc>
                <a:spcPct val="100000"/>
              </a:lnSpc>
            </a:pPr>
            <a:endParaRPr sz="1853">
              <a:latin typeface="Calibri"/>
              <a:cs typeface="Calibri"/>
            </a:endParaRPr>
          </a:p>
          <a:p>
            <a:pPr marL="1000178">
              <a:spcBef>
                <a:spcPts val="1319"/>
              </a:spcBef>
            </a:pPr>
            <a:r>
              <a:rPr sz="1588" spc="-4" dirty="0">
                <a:latin typeface="Calibri"/>
                <a:cs typeface="Calibri"/>
              </a:rPr>
              <a:t>X(t)</a:t>
            </a:r>
            <a:endParaRPr sz="1588">
              <a:latin typeface="Calibri"/>
              <a:cs typeface="Calibri"/>
            </a:endParaRPr>
          </a:p>
          <a:p>
            <a:pPr marL="1415939">
              <a:spcBef>
                <a:spcPts val="922"/>
              </a:spcBef>
            </a:pPr>
            <a:r>
              <a:rPr sz="1588" spc="-4" dirty="0">
                <a:latin typeface="Calibri"/>
                <a:cs typeface="Calibri"/>
              </a:rPr>
              <a:t>t=0</a:t>
            </a:r>
            <a:endParaRPr sz="1588">
              <a:latin typeface="Calibri"/>
              <a:cs typeface="Calibri"/>
            </a:endParaRPr>
          </a:p>
          <a:p>
            <a:pPr marL="3712707">
              <a:spcBef>
                <a:spcPts val="124"/>
              </a:spcBef>
            </a:pPr>
            <a:r>
              <a:rPr sz="1588" spc="-4" dirty="0">
                <a:latin typeface="Calibri"/>
                <a:cs typeface="Calibri"/>
              </a:rPr>
              <a:t>Time</a:t>
            </a:r>
            <a:endParaRPr sz="1588">
              <a:latin typeface="Calibri"/>
              <a:cs typeface="Calibri"/>
            </a:endParaRPr>
          </a:p>
        </p:txBody>
      </p:sp>
      <p:sp>
        <p:nvSpPr>
          <p:cNvPr id="85" name="object 85"/>
          <p:cNvSpPr txBox="1"/>
          <p:nvPr/>
        </p:nvSpPr>
        <p:spPr>
          <a:xfrm>
            <a:off x="9497614" y="6073573"/>
            <a:ext cx="159684" cy="174309"/>
          </a:xfrm>
          <a:prstGeom prst="rect">
            <a:avLst/>
          </a:prstGeom>
        </p:spPr>
        <p:txBody>
          <a:bodyPr vert="horz" wrap="square" lIns="0" tIns="11206" rIns="0" bIns="0" rtlCol="0">
            <a:spAutoFit/>
          </a:bodyPr>
          <a:lstStyle/>
          <a:p>
            <a:pPr marL="11206">
              <a:spcBef>
                <a:spcPts val="88"/>
              </a:spcBef>
            </a:pPr>
            <a:r>
              <a:rPr sz="1059" dirty="0">
                <a:solidFill>
                  <a:srgbClr val="898989"/>
                </a:solidFill>
                <a:latin typeface="Calibri"/>
                <a:cs typeface="Calibri"/>
              </a:rPr>
              <a:t>51</a:t>
            </a:r>
            <a:endParaRPr sz="1059">
              <a:latin typeface="Calibri"/>
              <a:cs typeface="Calibri"/>
            </a:endParaRPr>
          </a:p>
        </p:txBody>
      </p:sp>
      <p:sp>
        <p:nvSpPr>
          <p:cNvPr id="86" name="object 86"/>
          <p:cNvSpPr txBox="1"/>
          <p:nvPr/>
        </p:nvSpPr>
        <p:spPr>
          <a:xfrm>
            <a:off x="5847261" y="2269386"/>
            <a:ext cx="76760" cy="190102"/>
          </a:xfrm>
          <a:prstGeom prst="rect">
            <a:avLst/>
          </a:prstGeom>
        </p:spPr>
        <p:txBody>
          <a:bodyPr vert="horz" wrap="square" lIns="0" tIns="13447" rIns="0" bIns="0" rtlCol="0">
            <a:spAutoFit/>
          </a:bodyPr>
          <a:lstStyle/>
          <a:p>
            <a:pPr>
              <a:spcBef>
                <a:spcPts val="106"/>
              </a:spcBef>
            </a:pPr>
            <a:r>
              <a:rPr sz="1147" spc="124" dirty="0">
                <a:latin typeface="Cambria Math"/>
                <a:cs typeface="Cambria Math"/>
              </a:rPr>
              <a:t>t</a:t>
            </a:r>
            <a:endParaRPr sz="1147">
              <a:latin typeface="Cambria Math"/>
              <a:cs typeface="Cambria Math"/>
            </a:endParaRPr>
          </a:p>
        </p:txBody>
      </p:sp>
      <p:pic>
        <p:nvPicPr>
          <p:cNvPr id="87" name="object 87"/>
          <p:cNvPicPr/>
          <p:nvPr/>
        </p:nvPicPr>
        <p:blipFill>
          <a:blip r:embed="rId6" cstate="print"/>
          <a:stretch>
            <a:fillRect/>
          </a:stretch>
        </p:blipFill>
        <p:spPr>
          <a:xfrm>
            <a:off x="5760747" y="1795182"/>
            <a:ext cx="100516" cy="142538"/>
          </a:xfrm>
          <a:prstGeom prst="rect">
            <a:avLst/>
          </a:prstGeom>
        </p:spPr>
      </p:pic>
      <p:sp>
        <p:nvSpPr>
          <p:cNvPr id="88" name="object 88"/>
          <p:cNvSpPr txBox="1"/>
          <p:nvPr/>
        </p:nvSpPr>
        <p:spPr>
          <a:xfrm>
            <a:off x="5863367" y="1818916"/>
            <a:ext cx="76760" cy="190102"/>
          </a:xfrm>
          <a:prstGeom prst="rect">
            <a:avLst/>
          </a:prstGeom>
        </p:spPr>
        <p:txBody>
          <a:bodyPr vert="horz" wrap="square" lIns="0" tIns="13447" rIns="0" bIns="0" rtlCol="0">
            <a:spAutoFit/>
          </a:bodyPr>
          <a:lstStyle/>
          <a:p>
            <a:pPr>
              <a:spcBef>
                <a:spcPts val="106"/>
              </a:spcBef>
            </a:pPr>
            <a:r>
              <a:rPr sz="1147" spc="124" dirty="0">
                <a:latin typeface="Cambria Math"/>
                <a:cs typeface="Cambria Math"/>
              </a:rPr>
              <a:t>t</a:t>
            </a:r>
            <a:endParaRPr sz="1147">
              <a:latin typeface="Cambria Math"/>
              <a:cs typeface="Cambria Math"/>
            </a:endParaRPr>
          </a:p>
        </p:txBody>
      </p:sp>
      <p:pic>
        <p:nvPicPr>
          <p:cNvPr id="89" name="object 89"/>
          <p:cNvPicPr/>
          <p:nvPr/>
        </p:nvPicPr>
        <p:blipFill>
          <a:blip r:embed="rId7" cstate="print"/>
          <a:stretch>
            <a:fillRect/>
          </a:stretch>
        </p:blipFill>
        <p:spPr>
          <a:xfrm>
            <a:off x="5760495" y="1376978"/>
            <a:ext cx="109173" cy="138505"/>
          </a:xfrm>
          <a:prstGeom prst="rect">
            <a:avLst/>
          </a:prstGeom>
        </p:spPr>
      </p:pic>
      <p:sp>
        <p:nvSpPr>
          <p:cNvPr id="90" name="object 90"/>
          <p:cNvSpPr txBox="1"/>
          <p:nvPr/>
        </p:nvSpPr>
        <p:spPr>
          <a:xfrm>
            <a:off x="5866039" y="1355011"/>
            <a:ext cx="76760" cy="190102"/>
          </a:xfrm>
          <a:prstGeom prst="rect">
            <a:avLst/>
          </a:prstGeom>
        </p:spPr>
        <p:txBody>
          <a:bodyPr vert="horz" wrap="square" lIns="0" tIns="13447" rIns="0" bIns="0" rtlCol="0">
            <a:spAutoFit/>
          </a:bodyPr>
          <a:lstStyle/>
          <a:p>
            <a:pPr>
              <a:spcBef>
                <a:spcPts val="106"/>
              </a:spcBef>
            </a:pPr>
            <a:r>
              <a:rPr sz="1147" spc="124" dirty="0">
                <a:latin typeface="Cambria Math"/>
                <a:cs typeface="Cambria Math"/>
              </a:rPr>
              <a:t>t</a:t>
            </a:r>
            <a:endParaRPr sz="1147">
              <a:latin typeface="Cambria Math"/>
              <a:cs typeface="Cambria Math"/>
            </a:endParaRPr>
          </a:p>
        </p:txBody>
      </p:sp>
      <p:pic>
        <p:nvPicPr>
          <p:cNvPr id="91" name="object 91"/>
          <p:cNvPicPr/>
          <p:nvPr/>
        </p:nvPicPr>
        <p:blipFill>
          <a:blip r:embed="rId8" cstate="print"/>
          <a:stretch>
            <a:fillRect/>
          </a:stretch>
        </p:blipFill>
        <p:spPr>
          <a:xfrm>
            <a:off x="4684983" y="1766944"/>
            <a:ext cx="100516" cy="142538"/>
          </a:xfrm>
          <a:prstGeom prst="rect">
            <a:avLst/>
          </a:prstGeom>
        </p:spPr>
      </p:pic>
      <p:sp>
        <p:nvSpPr>
          <p:cNvPr id="92" name="object 92"/>
          <p:cNvSpPr txBox="1"/>
          <p:nvPr/>
        </p:nvSpPr>
        <p:spPr>
          <a:xfrm>
            <a:off x="4787641" y="1790675"/>
            <a:ext cx="272863" cy="190102"/>
          </a:xfrm>
          <a:prstGeom prst="rect">
            <a:avLst/>
          </a:prstGeom>
        </p:spPr>
        <p:txBody>
          <a:bodyPr vert="horz" wrap="square" lIns="0" tIns="13447" rIns="0" bIns="0" rtlCol="0">
            <a:spAutoFit/>
          </a:bodyPr>
          <a:lstStyle/>
          <a:p>
            <a:pPr>
              <a:spcBef>
                <a:spcPts val="106"/>
              </a:spcBef>
            </a:pPr>
            <a:r>
              <a:rPr sz="1147" spc="146" dirty="0">
                <a:latin typeface="Cambria Math"/>
                <a:cs typeface="Cambria Math"/>
              </a:rPr>
              <a:t>t</a:t>
            </a:r>
            <a:r>
              <a:rPr sz="1147" spc="274" dirty="0">
                <a:latin typeface="Cambria Math"/>
                <a:cs typeface="Cambria Math"/>
              </a:rPr>
              <a:t>–</a:t>
            </a:r>
            <a:r>
              <a:rPr sz="1147" spc="35" dirty="0">
                <a:latin typeface="Cambria Math"/>
                <a:cs typeface="Cambria Math"/>
              </a:rPr>
              <a:t>1</a:t>
            </a:r>
            <a:endParaRPr sz="1147">
              <a:latin typeface="Cambria Math"/>
              <a:cs typeface="Cambria Math"/>
            </a:endParaRPr>
          </a:p>
        </p:txBody>
      </p:sp>
    </p:spTree>
    <p:extLst>
      <p:ext uri="{BB962C8B-B14F-4D97-AF65-F5344CB8AC3E}">
        <p14:creationId xmlns:p14="http://schemas.microsoft.com/office/powerpoint/2010/main" val="2541885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9377" y="345883"/>
            <a:ext cx="9037674" cy="1097201"/>
          </a:xfrm>
          <a:prstGeom prst="rect">
            <a:avLst/>
          </a:prstGeom>
        </p:spPr>
        <p:txBody>
          <a:bodyPr vert="horz" wrap="square" lIns="0" tIns="10646" rIns="0" bIns="0" rtlCol="0">
            <a:spAutoFit/>
          </a:bodyPr>
          <a:lstStyle/>
          <a:p>
            <a:pPr marL="2090009" marR="4483" indent="-2079362">
              <a:lnSpc>
                <a:spcPct val="100000"/>
              </a:lnSpc>
              <a:spcBef>
                <a:spcPts val="84"/>
              </a:spcBef>
            </a:pPr>
            <a:r>
              <a:rPr sz="3530" spc="-9" dirty="0"/>
              <a:t>The</a:t>
            </a:r>
            <a:r>
              <a:rPr sz="3530" dirty="0"/>
              <a:t> </a:t>
            </a:r>
            <a:r>
              <a:rPr sz="3530" spc="-13" dirty="0"/>
              <a:t>detailed</a:t>
            </a:r>
            <a:r>
              <a:rPr sz="3530" spc="22" dirty="0"/>
              <a:t> </a:t>
            </a:r>
            <a:r>
              <a:rPr sz="3530" spc="-18" dirty="0"/>
              <a:t>version</a:t>
            </a:r>
            <a:r>
              <a:rPr sz="3530" spc="22" dirty="0"/>
              <a:t> </a:t>
            </a:r>
            <a:r>
              <a:rPr sz="3530" dirty="0"/>
              <a:t>of</a:t>
            </a:r>
            <a:r>
              <a:rPr sz="3530" spc="-13" dirty="0"/>
              <a:t> </a:t>
            </a:r>
            <a:r>
              <a:rPr sz="3530" spc="-9" dirty="0"/>
              <a:t>the</a:t>
            </a:r>
            <a:r>
              <a:rPr sz="3530" dirty="0"/>
              <a:t> </a:t>
            </a:r>
            <a:r>
              <a:rPr sz="3530" spc="-4" dirty="0"/>
              <a:t>simplified </a:t>
            </a:r>
            <a:r>
              <a:rPr sz="3530" spc="-785" dirty="0"/>
              <a:t> </a:t>
            </a:r>
            <a:r>
              <a:rPr sz="3530" spc="-18" dirty="0"/>
              <a:t>representation</a:t>
            </a:r>
            <a:endParaRPr sz="3530" dirty="0"/>
          </a:p>
        </p:txBody>
      </p:sp>
      <p:grpSp>
        <p:nvGrpSpPr>
          <p:cNvPr id="3" name="object 3"/>
          <p:cNvGrpSpPr/>
          <p:nvPr/>
        </p:nvGrpSpPr>
        <p:grpSpPr>
          <a:xfrm>
            <a:off x="2586317" y="4168589"/>
            <a:ext cx="7027769" cy="1413622"/>
            <a:chOff x="1051559" y="4724400"/>
            <a:chExt cx="7964805" cy="1602105"/>
          </a:xfrm>
        </p:grpSpPr>
        <p:sp>
          <p:nvSpPr>
            <p:cNvPr id="4" name="object 4"/>
            <p:cNvSpPr/>
            <p:nvPr/>
          </p:nvSpPr>
          <p:spPr>
            <a:xfrm>
              <a:off x="20436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0436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048255"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 name="object 7"/>
            <p:cNvSpPr/>
            <p:nvPr/>
          </p:nvSpPr>
          <p:spPr>
            <a:xfrm>
              <a:off x="2048255"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162555" y="5791200"/>
              <a:ext cx="76200" cy="228600"/>
            </a:xfrm>
            <a:prstGeom prst="rect">
              <a:avLst/>
            </a:prstGeom>
          </p:spPr>
        </p:pic>
        <p:sp>
          <p:nvSpPr>
            <p:cNvPr id="9" name="object 9"/>
            <p:cNvSpPr/>
            <p:nvPr/>
          </p:nvSpPr>
          <p:spPr>
            <a:xfrm>
              <a:off x="2048255"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048255"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162555" y="5257800"/>
              <a:ext cx="76200" cy="228600"/>
            </a:xfrm>
            <a:prstGeom prst="rect">
              <a:avLst/>
            </a:prstGeom>
          </p:spPr>
        </p:pic>
        <p:pic>
          <p:nvPicPr>
            <p:cNvPr id="12" name="object 12"/>
            <p:cNvPicPr/>
            <p:nvPr/>
          </p:nvPicPr>
          <p:blipFill>
            <a:blip r:embed="rId2" cstate="print"/>
            <a:stretch>
              <a:fillRect/>
            </a:stretch>
          </p:blipFill>
          <p:spPr>
            <a:xfrm>
              <a:off x="2162555" y="4724400"/>
              <a:ext cx="76200" cy="228600"/>
            </a:xfrm>
            <a:prstGeom prst="rect">
              <a:avLst/>
            </a:prstGeom>
          </p:spPr>
        </p:pic>
        <p:sp>
          <p:nvSpPr>
            <p:cNvPr id="13" name="object 13"/>
            <p:cNvSpPr/>
            <p:nvPr/>
          </p:nvSpPr>
          <p:spPr>
            <a:xfrm>
              <a:off x="1053083"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14" name="object 14"/>
            <p:cNvSpPr/>
            <p:nvPr/>
          </p:nvSpPr>
          <p:spPr>
            <a:xfrm>
              <a:off x="1053083"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1357883" y="5600699"/>
              <a:ext cx="690880" cy="76200"/>
            </a:xfrm>
            <a:custGeom>
              <a:avLst/>
              <a:gdLst/>
              <a:ahLst/>
              <a:cxnLst/>
              <a:rect l="l" t="t" r="r" b="b"/>
              <a:pathLst>
                <a:path w="690880" h="76200">
                  <a:moveTo>
                    <a:pt x="614172" y="76200"/>
                  </a:moveTo>
                  <a:lnTo>
                    <a:pt x="614172" y="0"/>
                  </a:lnTo>
                  <a:lnTo>
                    <a:pt x="678180" y="32004"/>
                  </a:lnTo>
                  <a:lnTo>
                    <a:pt x="627887" y="32004"/>
                  </a:lnTo>
                  <a:lnTo>
                    <a:pt x="627887" y="45720"/>
                  </a:lnTo>
                  <a:lnTo>
                    <a:pt x="675132" y="45720"/>
                  </a:lnTo>
                  <a:lnTo>
                    <a:pt x="614172" y="76200"/>
                  </a:lnTo>
                  <a:close/>
                </a:path>
                <a:path w="690880" h="76200">
                  <a:moveTo>
                    <a:pt x="614172" y="45720"/>
                  </a:moveTo>
                  <a:lnTo>
                    <a:pt x="0" y="45720"/>
                  </a:lnTo>
                  <a:lnTo>
                    <a:pt x="0" y="32004"/>
                  </a:lnTo>
                  <a:lnTo>
                    <a:pt x="614172" y="32004"/>
                  </a:lnTo>
                  <a:lnTo>
                    <a:pt x="614172" y="45720"/>
                  </a:lnTo>
                  <a:close/>
                </a:path>
                <a:path w="690880"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16" name="object 16"/>
            <p:cNvSpPr/>
            <p:nvPr/>
          </p:nvSpPr>
          <p:spPr>
            <a:xfrm>
              <a:off x="3031235"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7" name="object 17"/>
            <p:cNvSpPr/>
            <p:nvPr/>
          </p:nvSpPr>
          <p:spPr>
            <a:xfrm>
              <a:off x="3031235"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8" name="object 18"/>
            <p:cNvSpPr/>
            <p:nvPr/>
          </p:nvSpPr>
          <p:spPr>
            <a:xfrm>
              <a:off x="3031235"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9" name="object 19"/>
            <p:cNvSpPr/>
            <p:nvPr/>
          </p:nvSpPr>
          <p:spPr>
            <a:xfrm>
              <a:off x="3031235"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145536" y="5791200"/>
              <a:ext cx="76200" cy="228600"/>
            </a:xfrm>
            <a:prstGeom prst="rect">
              <a:avLst/>
            </a:prstGeom>
          </p:spPr>
        </p:pic>
        <p:sp>
          <p:nvSpPr>
            <p:cNvPr id="21" name="object 21"/>
            <p:cNvSpPr/>
            <p:nvPr/>
          </p:nvSpPr>
          <p:spPr>
            <a:xfrm>
              <a:off x="3031235"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2" name="object 22"/>
            <p:cNvSpPr/>
            <p:nvPr/>
          </p:nvSpPr>
          <p:spPr>
            <a:xfrm>
              <a:off x="3031235"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3" name="object 23"/>
            <p:cNvPicPr/>
            <p:nvPr/>
          </p:nvPicPr>
          <p:blipFill>
            <a:blip r:embed="rId3" cstate="print"/>
            <a:stretch>
              <a:fillRect/>
            </a:stretch>
          </p:blipFill>
          <p:spPr>
            <a:xfrm>
              <a:off x="3145536" y="5257800"/>
              <a:ext cx="76200" cy="228600"/>
            </a:xfrm>
            <a:prstGeom prst="rect">
              <a:avLst/>
            </a:prstGeom>
          </p:spPr>
        </p:pic>
        <p:pic>
          <p:nvPicPr>
            <p:cNvPr id="24" name="object 24"/>
            <p:cNvPicPr/>
            <p:nvPr/>
          </p:nvPicPr>
          <p:blipFill>
            <a:blip r:embed="rId3" cstate="print"/>
            <a:stretch>
              <a:fillRect/>
            </a:stretch>
          </p:blipFill>
          <p:spPr>
            <a:xfrm>
              <a:off x="3145536" y="4724400"/>
              <a:ext cx="76200" cy="228600"/>
            </a:xfrm>
            <a:prstGeom prst="rect">
              <a:avLst/>
            </a:prstGeom>
          </p:spPr>
        </p:pic>
        <p:sp>
          <p:nvSpPr>
            <p:cNvPr id="25" name="object 25"/>
            <p:cNvSpPr/>
            <p:nvPr/>
          </p:nvSpPr>
          <p:spPr>
            <a:xfrm>
              <a:off x="2353055" y="56006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26" name="object 26"/>
            <p:cNvSpPr/>
            <p:nvPr/>
          </p:nvSpPr>
          <p:spPr>
            <a:xfrm>
              <a:off x="40248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7" name="object 27"/>
            <p:cNvSpPr/>
            <p:nvPr/>
          </p:nvSpPr>
          <p:spPr>
            <a:xfrm>
              <a:off x="40248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8" name="object 28"/>
            <p:cNvSpPr/>
            <p:nvPr/>
          </p:nvSpPr>
          <p:spPr>
            <a:xfrm>
              <a:off x="4038599"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9" name="object 29"/>
            <p:cNvSpPr/>
            <p:nvPr/>
          </p:nvSpPr>
          <p:spPr>
            <a:xfrm>
              <a:off x="4038599"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0" name="object 30"/>
            <p:cNvPicPr/>
            <p:nvPr/>
          </p:nvPicPr>
          <p:blipFill>
            <a:blip r:embed="rId2" cstate="print"/>
            <a:stretch>
              <a:fillRect/>
            </a:stretch>
          </p:blipFill>
          <p:spPr>
            <a:xfrm>
              <a:off x="4152899" y="5791200"/>
              <a:ext cx="76200" cy="228600"/>
            </a:xfrm>
            <a:prstGeom prst="rect">
              <a:avLst/>
            </a:prstGeom>
          </p:spPr>
        </p:pic>
        <p:sp>
          <p:nvSpPr>
            <p:cNvPr id="31" name="object 31"/>
            <p:cNvSpPr/>
            <p:nvPr/>
          </p:nvSpPr>
          <p:spPr>
            <a:xfrm>
              <a:off x="4038599"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2" name="object 32"/>
            <p:cNvSpPr/>
            <p:nvPr/>
          </p:nvSpPr>
          <p:spPr>
            <a:xfrm>
              <a:off x="4038599"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3" name="object 33"/>
            <p:cNvPicPr/>
            <p:nvPr/>
          </p:nvPicPr>
          <p:blipFill>
            <a:blip r:embed="rId2" cstate="print"/>
            <a:stretch>
              <a:fillRect/>
            </a:stretch>
          </p:blipFill>
          <p:spPr>
            <a:xfrm>
              <a:off x="4152899" y="5257800"/>
              <a:ext cx="76200" cy="228600"/>
            </a:xfrm>
            <a:prstGeom prst="rect">
              <a:avLst/>
            </a:prstGeom>
          </p:spPr>
        </p:pic>
        <p:pic>
          <p:nvPicPr>
            <p:cNvPr id="34" name="object 34"/>
            <p:cNvPicPr/>
            <p:nvPr/>
          </p:nvPicPr>
          <p:blipFill>
            <a:blip r:embed="rId2" cstate="print"/>
            <a:stretch>
              <a:fillRect/>
            </a:stretch>
          </p:blipFill>
          <p:spPr>
            <a:xfrm>
              <a:off x="4152899" y="4724400"/>
              <a:ext cx="76200" cy="228600"/>
            </a:xfrm>
            <a:prstGeom prst="rect">
              <a:avLst/>
            </a:prstGeom>
          </p:spPr>
        </p:pic>
        <p:sp>
          <p:nvSpPr>
            <p:cNvPr id="35" name="object 35"/>
            <p:cNvSpPr/>
            <p:nvPr/>
          </p:nvSpPr>
          <p:spPr>
            <a:xfrm>
              <a:off x="3342131" y="56006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36" name="object 36"/>
            <p:cNvSpPr/>
            <p:nvPr/>
          </p:nvSpPr>
          <p:spPr>
            <a:xfrm>
              <a:off x="50154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50154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5029200"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5029200"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5143499" y="5791200"/>
              <a:ext cx="76200" cy="228600"/>
            </a:xfrm>
            <a:prstGeom prst="rect">
              <a:avLst/>
            </a:prstGeom>
          </p:spPr>
        </p:pic>
        <p:sp>
          <p:nvSpPr>
            <p:cNvPr id="41" name="object 41"/>
            <p:cNvSpPr/>
            <p:nvPr/>
          </p:nvSpPr>
          <p:spPr>
            <a:xfrm>
              <a:off x="5029200"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5029200"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5143499" y="5257800"/>
              <a:ext cx="76200" cy="228600"/>
            </a:xfrm>
            <a:prstGeom prst="rect">
              <a:avLst/>
            </a:prstGeom>
          </p:spPr>
        </p:pic>
        <p:pic>
          <p:nvPicPr>
            <p:cNvPr id="44" name="object 44"/>
            <p:cNvPicPr/>
            <p:nvPr/>
          </p:nvPicPr>
          <p:blipFill>
            <a:blip r:embed="rId2" cstate="print"/>
            <a:stretch>
              <a:fillRect/>
            </a:stretch>
          </p:blipFill>
          <p:spPr>
            <a:xfrm>
              <a:off x="5143499" y="4724400"/>
              <a:ext cx="76200" cy="228600"/>
            </a:xfrm>
            <a:prstGeom prst="rect">
              <a:avLst/>
            </a:prstGeom>
          </p:spPr>
        </p:pic>
        <p:sp>
          <p:nvSpPr>
            <p:cNvPr id="45" name="object 45"/>
            <p:cNvSpPr/>
            <p:nvPr/>
          </p:nvSpPr>
          <p:spPr>
            <a:xfrm>
              <a:off x="4352543" y="56006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46" name="object 46"/>
            <p:cNvSpPr/>
            <p:nvPr/>
          </p:nvSpPr>
          <p:spPr>
            <a:xfrm>
              <a:off x="60060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7" name="object 47"/>
            <p:cNvSpPr/>
            <p:nvPr/>
          </p:nvSpPr>
          <p:spPr>
            <a:xfrm>
              <a:off x="60060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8" name="object 48"/>
            <p:cNvSpPr/>
            <p:nvPr/>
          </p:nvSpPr>
          <p:spPr>
            <a:xfrm>
              <a:off x="6019800"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9" name="object 49"/>
            <p:cNvSpPr/>
            <p:nvPr/>
          </p:nvSpPr>
          <p:spPr>
            <a:xfrm>
              <a:off x="6019800"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0" name="object 50"/>
            <p:cNvPicPr/>
            <p:nvPr/>
          </p:nvPicPr>
          <p:blipFill>
            <a:blip r:embed="rId2" cstate="print"/>
            <a:stretch>
              <a:fillRect/>
            </a:stretch>
          </p:blipFill>
          <p:spPr>
            <a:xfrm>
              <a:off x="6134099" y="5791200"/>
              <a:ext cx="76200" cy="228600"/>
            </a:xfrm>
            <a:prstGeom prst="rect">
              <a:avLst/>
            </a:prstGeom>
          </p:spPr>
        </p:pic>
        <p:sp>
          <p:nvSpPr>
            <p:cNvPr id="51" name="object 51"/>
            <p:cNvSpPr/>
            <p:nvPr/>
          </p:nvSpPr>
          <p:spPr>
            <a:xfrm>
              <a:off x="6019800"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2" name="object 52"/>
            <p:cNvSpPr/>
            <p:nvPr/>
          </p:nvSpPr>
          <p:spPr>
            <a:xfrm>
              <a:off x="6019800"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3" name="object 53"/>
            <p:cNvPicPr/>
            <p:nvPr/>
          </p:nvPicPr>
          <p:blipFill>
            <a:blip r:embed="rId2" cstate="print"/>
            <a:stretch>
              <a:fillRect/>
            </a:stretch>
          </p:blipFill>
          <p:spPr>
            <a:xfrm>
              <a:off x="6134099" y="5257800"/>
              <a:ext cx="76200" cy="228600"/>
            </a:xfrm>
            <a:prstGeom prst="rect">
              <a:avLst/>
            </a:prstGeom>
          </p:spPr>
        </p:pic>
        <p:pic>
          <p:nvPicPr>
            <p:cNvPr id="54" name="object 54"/>
            <p:cNvPicPr/>
            <p:nvPr/>
          </p:nvPicPr>
          <p:blipFill>
            <a:blip r:embed="rId2" cstate="print"/>
            <a:stretch>
              <a:fillRect/>
            </a:stretch>
          </p:blipFill>
          <p:spPr>
            <a:xfrm>
              <a:off x="6134099" y="4724400"/>
              <a:ext cx="76200" cy="228600"/>
            </a:xfrm>
            <a:prstGeom prst="rect">
              <a:avLst/>
            </a:prstGeom>
          </p:spPr>
        </p:pic>
        <p:sp>
          <p:nvSpPr>
            <p:cNvPr id="55" name="object 55"/>
            <p:cNvSpPr/>
            <p:nvPr/>
          </p:nvSpPr>
          <p:spPr>
            <a:xfrm>
              <a:off x="5335523" y="5600699"/>
              <a:ext cx="690880" cy="76200"/>
            </a:xfrm>
            <a:custGeom>
              <a:avLst/>
              <a:gdLst/>
              <a:ahLst/>
              <a:cxnLst/>
              <a:rect l="l" t="t" r="r" b="b"/>
              <a:pathLst>
                <a:path w="690879" h="76200">
                  <a:moveTo>
                    <a:pt x="614172" y="76200"/>
                  </a:moveTo>
                  <a:lnTo>
                    <a:pt x="614172" y="0"/>
                  </a:lnTo>
                  <a:lnTo>
                    <a:pt x="678180" y="32004"/>
                  </a:lnTo>
                  <a:lnTo>
                    <a:pt x="626364" y="32004"/>
                  </a:lnTo>
                  <a:lnTo>
                    <a:pt x="626364"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6364" y="45720"/>
                  </a:lnTo>
                  <a:lnTo>
                    <a:pt x="626364"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56" name="object 56"/>
            <p:cNvSpPr/>
            <p:nvPr/>
          </p:nvSpPr>
          <p:spPr>
            <a:xfrm>
              <a:off x="69966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7" name="object 57"/>
            <p:cNvSpPr/>
            <p:nvPr/>
          </p:nvSpPr>
          <p:spPr>
            <a:xfrm>
              <a:off x="69966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8" name="object 58"/>
            <p:cNvSpPr/>
            <p:nvPr/>
          </p:nvSpPr>
          <p:spPr>
            <a:xfrm>
              <a:off x="7010400"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9" name="object 59"/>
            <p:cNvSpPr/>
            <p:nvPr/>
          </p:nvSpPr>
          <p:spPr>
            <a:xfrm>
              <a:off x="7010400"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0" name="object 60"/>
            <p:cNvPicPr/>
            <p:nvPr/>
          </p:nvPicPr>
          <p:blipFill>
            <a:blip r:embed="rId2" cstate="print"/>
            <a:stretch>
              <a:fillRect/>
            </a:stretch>
          </p:blipFill>
          <p:spPr>
            <a:xfrm>
              <a:off x="7124699" y="5791200"/>
              <a:ext cx="76200" cy="228600"/>
            </a:xfrm>
            <a:prstGeom prst="rect">
              <a:avLst/>
            </a:prstGeom>
          </p:spPr>
        </p:pic>
        <p:sp>
          <p:nvSpPr>
            <p:cNvPr id="61" name="object 61"/>
            <p:cNvSpPr/>
            <p:nvPr/>
          </p:nvSpPr>
          <p:spPr>
            <a:xfrm>
              <a:off x="7010400"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2" name="object 62"/>
            <p:cNvSpPr/>
            <p:nvPr/>
          </p:nvSpPr>
          <p:spPr>
            <a:xfrm>
              <a:off x="7010400"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3" name="object 63"/>
            <p:cNvPicPr/>
            <p:nvPr/>
          </p:nvPicPr>
          <p:blipFill>
            <a:blip r:embed="rId2" cstate="print"/>
            <a:stretch>
              <a:fillRect/>
            </a:stretch>
          </p:blipFill>
          <p:spPr>
            <a:xfrm>
              <a:off x="7124699" y="4724400"/>
              <a:ext cx="76200" cy="228600"/>
            </a:xfrm>
            <a:prstGeom prst="rect">
              <a:avLst/>
            </a:prstGeom>
          </p:spPr>
        </p:pic>
        <p:pic>
          <p:nvPicPr>
            <p:cNvPr id="64" name="object 64"/>
            <p:cNvPicPr/>
            <p:nvPr/>
          </p:nvPicPr>
          <p:blipFill>
            <a:blip r:embed="rId2" cstate="print"/>
            <a:stretch>
              <a:fillRect/>
            </a:stretch>
          </p:blipFill>
          <p:spPr>
            <a:xfrm>
              <a:off x="7124699" y="5257800"/>
              <a:ext cx="76200" cy="228600"/>
            </a:xfrm>
            <a:prstGeom prst="rect">
              <a:avLst/>
            </a:prstGeom>
          </p:spPr>
        </p:pic>
        <p:sp>
          <p:nvSpPr>
            <p:cNvPr id="65" name="object 65"/>
            <p:cNvSpPr/>
            <p:nvPr/>
          </p:nvSpPr>
          <p:spPr>
            <a:xfrm>
              <a:off x="6320028" y="56006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66" name="object 66"/>
            <p:cNvSpPr/>
            <p:nvPr/>
          </p:nvSpPr>
          <p:spPr>
            <a:xfrm>
              <a:off x="7987283" y="60198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67" name="object 67"/>
            <p:cNvSpPr/>
            <p:nvPr/>
          </p:nvSpPr>
          <p:spPr>
            <a:xfrm>
              <a:off x="7987283" y="60198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8" name="object 68"/>
            <p:cNvSpPr/>
            <p:nvPr/>
          </p:nvSpPr>
          <p:spPr>
            <a:xfrm>
              <a:off x="7987283" y="5486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9" name="object 69"/>
            <p:cNvSpPr/>
            <p:nvPr/>
          </p:nvSpPr>
          <p:spPr>
            <a:xfrm>
              <a:off x="7987283" y="5486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0" name="object 70"/>
            <p:cNvPicPr/>
            <p:nvPr/>
          </p:nvPicPr>
          <p:blipFill>
            <a:blip r:embed="rId4" cstate="print"/>
            <a:stretch>
              <a:fillRect/>
            </a:stretch>
          </p:blipFill>
          <p:spPr>
            <a:xfrm>
              <a:off x="8101583" y="5791200"/>
              <a:ext cx="76200" cy="228600"/>
            </a:xfrm>
            <a:prstGeom prst="rect">
              <a:avLst/>
            </a:prstGeom>
          </p:spPr>
        </p:pic>
        <p:sp>
          <p:nvSpPr>
            <p:cNvPr id="71" name="object 71"/>
            <p:cNvSpPr/>
            <p:nvPr/>
          </p:nvSpPr>
          <p:spPr>
            <a:xfrm>
              <a:off x="7987283" y="4953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72" name="object 72"/>
            <p:cNvSpPr/>
            <p:nvPr/>
          </p:nvSpPr>
          <p:spPr>
            <a:xfrm>
              <a:off x="7987283" y="4953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3" name="object 73"/>
            <p:cNvPicPr/>
            <p:nvPr/>
          </p:nvPicPr>
          <p:blipFill>
            <a:blip r:embed="rId4" cstate="print"/>
            <a:stretch>
              <a:fillRect/>
            </a:stretch>
          </p:blipFill>
          <p:spPr>
            <a:xfrm>
              <a:off x="8101583" y="5257800"/>
              <a:ext cx="76200" cy="228600"/>
            </a:xfrm>
            <a:prstGeom prst="rect">
              <a:avLst/>
            </a:prstGeom>
          </p:spPr>
        </p:pic>
        <p:pic>
          <p:nvPicPr>
            <p:cNvPr id="74" name="object 74"/>
            <p:cNvPicPr/>
            <p:nvPr/>
          </p:nvPicPr>
          <p:blipFill>
            <a:blip r:embed="rId4" cstate="print"/>
            <a:stretch>
              <a:fillRect/>
            </a:stretch>
          </p:blipFill>
          <p:spPr>
            <a:xfrm>
              <a:off x="8101583" y="4724400"/>
              <a:ext cx="76200" cy="228600"/>
            </a:xfrm>
            <a:prstGeom prst="rect">
              <a:avLst/>
            </a:prstGeom>
          </p:spPr>
        </p:pic>
        <p:sp>
          <p:nvSpPr>
            <p:cNvPr id="75" name="object 75"/>
            <p:cNvSpPr/>
            <p:nvPr/>
          </p:nvSpPr>
          <p:spPr>
            <a:xfrm>
              <a:off x="7309091" y="5600699"/>
              <a:ext cx="1707514" cy="76200"/>
            </a:xfrm>
            <a:custGeom>
              <a:avLst/>
              <a:gdLst/>
              <a:ahLst/>
              <a:cxnLst/>
              <a:rect l="l" t="t" r="r" b="b"/>
              <a:pathLst>
                <a:path w="1707515" h="76200">
                  <a:moveTo>
                    <a:pt x="690372" y="38100"/>
                  </a:moveTo>
                  <a:lnTo>
                    <a:pt x="678180" y="32004"/>
                  </a:lnTo>
                  <a:lnTo>
                    <a:pt x="614172" y="0"/>
                  </a:lnTo>
                  <a:lnTo>
                    <a:pt x="614172" y="32004"/>
                  </a:lnTo>
                  <a:lnTo>
                    <a:pt x="0" y="32004"/>
                  </a:lnTo>
                  <a:lnTo>
                    <a:pt x="0" y="45720"/>
                  </a:lnTo>
                  <a:lnTo>
                    <a:pt x="614172" y="45720"/>
                  </a:lnTo>
                  <a:lnTo>
                    <a:pt x="614172" y="76200"/>
                  </a:lnTo>
                  <a:lnTo>
                    <a:pt x="675132" y="45720"/>
                  </a:lnTo>
                  <a:lnTo>
                    <a:pt x="690372" y="38100"/>
                  </a:lnTo>
                  <a:close/>
                </a:path>
                <a:path w="1707515" h="76200">
                  <a:moveTo>
                    <a:pt x="1706892" y="38100"/>
                  </a:moveTo>
                  <a:lnTo>
                    <a:pt x="1694700" y="32004"/>
                  </a:lnTo>
                  <a:lnTo>
                    <a:pt x="1630692" y="0"/>
                  </a:lnTo>
                  <a:lnTo>
                    <a:pt x="1630692" y="32004"/>
                  </a:lnTo>
                  <a:lnTo>
                    <a:pt x="1016520" y="32004"/>
                  </a:lnTo>
                  <a:lnTo>
                    <a:pt x="1016520" y="45720"/>
                  </a:lnTo>
                  <a:lnTo>
                    <a:pt x="1630692" y="45720"/>
                  </a:lnTo>
                  <a:lnTo>
                    <a:pt x="1630692" y="76200"/>
                  </a:lnTo>
                  <a:lnTo>
                    <a:pt x="1691652" y="45720"/>
                  </a:lnTo>
                  <a:lnTo>
                    <a:pt x="1706892" y="38100"/>
                  </a:lnTo>
                  <a:close/>
                </a:path>
              </a:pathLst>
            </a:custGeom>
            <a:solidFill>
              <a:srgbClr val="000000"/>
            </a:solidFill>
          </p:spPr>
          <p:txBody>
            <a:bodyPr wrap="square" lIns="0" tIns="0" rIns="0" bIns="0" rtlCol="0"/>
            <a:lstStyle/>
            <a:p>
              <a:endParaRPr sz="1588"/>
            </a:p>
          </p:txBody>
        </p:sp>
      </p:grpSp>
      <p:sp>
        <p:nvSpPr>
          <p:cNvPr id="76" name="object 76"/>
          <p:cNvSpPr/>
          <p:nvPr/>
        </p:nvSpPr>
        <p:spPr>
          <a:xfrm>
            <a:off x="3305735" y="5884432"/>
            <a:ext cx="5446059" cy="67235"/>
          </a:xfrm>
          <a:custGeom>
            <a:avLst/>
            <a:gdLst/>
            <a:ahLst/>
            <a:cxnLst/>
            <a:rect l="l" t="t" r="r" b="b"/>
            <a:pathLst>
              <a:path w="6172200" h="76200">
                <a:moveTo>
                  <a:pt x="6096000" y="76200"/>
                </a:moveTo>
                <a:lnTo>
                  <a:pt x="6096000" y="0"/>
                </a:lnTo>
                <a:lnTo>
                  <a:pt x="6153912" y="28956"/>
                </a:lnTo>
                <a:lnTo>
                  <a:pt x="6108192" y="28956"/>
                </a:lnTo>
                <a:lnTo>
                  <a:pt x="6108192" y="47244"/>
                </a:lnTo>
                <a:lnTo>
                  <a:pt x="6153912" y="47244"/>
                </a:lnTo>
                <a:lnTo>
                  <a:pt x="6096000" y="76200"/>
                </a:lnTo>
                <a:close/>
              </a:path>
              <a:path w="6172200" h="76200">
                <a:moveTo>
                  <a:pt x="6096000" y="47244"/>
                </a:moveTo>
                <a:lnTo>
                  <a:pt x="0" y="47244"/>
                </a:lnTo>
                <a:lnTo>
                  <a:pt x="0" y="28956"/>
                </a:lnTo>
                <a:lnTo>
                  <a:pt x="6096000" y="28956"/>
                </a:lnTo>
                <a:lnTo>
                  <a:pt x="6096000" y="47244"/>
                </a:lnTo>
                <a:close/>
              </a:path>
              <a:path w="6172200" h="76200">
                <a:moveTo>
                  <a:pt x="6153912" y="47244"/>
                </a:moveTo>
                <a:lnTo>
                  <a:pt x="6108192" y="47244"/>
                </a:lnTo>
                <a:lnTo>
                  <a:pt x="6108192" y="28956"/>
                </a:lnTo>
                <a:lnTo>
                  <a:pt x="6153912" y="28956"/>
                </a:lnTo>
                <a:lnTo>
                  <a:pt x="6172200" y="38100"/>
                </a:lnTo>
                <a:lnTo>
                  <a:pt x="6153912" y="47244"/>
                </a:lnTo>
                <a:close/>
              </a:path>
            </a:pathLst>
          </a:custGeom>
          <a:solidFill>
            <a:srgbClr val="000000"/>
          </a:solidFill>
        </p:spPr>
        <p:txBody>
          <a:bodyPr wrap="square" lIns="0" tIns="0" rIns="0" bIns="0" rtlCol="0"/>
          <a:lstStyle/>
          <a:p>
            <a:endParaRPr sz="1588"/>
          </a:p>
        </p:txBody>
      </p:sp>
      <p:sp>
        <p:nvSpPr>
          <p:cNvPr id="77" name="object 77"/>
          <p:cNvSpPr txBox="1"/>
          <p:nvPr/>
        </p:nvSpPr>
        <p:spPr>
          <a:xfrm>
            <a:off x="2544609" y="4079336"/>
            <a:ext cx="1189504" cy="1814117"/>
          </a:xfrm>
          <a:prstGeom prst="rect">
            <a:avLst/>
          </a:prstGeom>
        </p:spPr>
        <p:txBody>
          <a:bodyPr vert="horz" wrap="square" lIns="0" tIns="11206" rIns="0" bIns="0" rtlCol="0">
            <a:spAutoFit/>
          </a:bodyPr>
          <a:lstStyle/>
          <a:p>
            <a:pPr marL="572651">
              <a:spcBef>
                <a:spcPts val="88"/>
              </a:spcBef>
            </a:pPr>
            <a:r>
              <a:rPr sz="1588" spc="-4" dirty="0">
                <a:latin typeface="Calibri"/>
                <a:cs typeface="Calibri"/>
              </a:rPr>
              <a:t>Y(t)</a:t>
            </a:r>
            <a:endParaRPr sz="1588">
              <a:latin typeface="Calibri"/>
              <a:cs typeface="Calibri"/>
            </a:endParaRPr>
          </a:p>
          <a:p>
            <a:pPr>
              <a:spcBef>
                <a:spcPts val="26"/>
              </a:spcBef>
            </a:pPr>
            <a:endParaRPr sz="1677">
              <a:latin typeface="Calibri"/>
              <a:cs typeface="Calibri"/>
            </a:endParaRPr>
          </a:p>
          <a:p>
            <a:pPr marL="67239"/>
            <a:r>
              <a:rPr sz="2382" baseline="13888" dirty="0">
                <a:latin typeface="Calibri"/>
                <a:cs typeface="Calibri"/>
              </a:rPr>
              <a:t>h</a:t>
            </a:r>
            <a:r>
              <a:rPr sz="1059" dirty="0">
                <a:latin typeface="Calibri"/>
                <a:cs typeface="Calibri"/>
              </a:rPr>
              <a:t>-1</a:t>
            </a:r>
            <a:endParaRPr sz="1059">
              <a:latin typeface="Calibri"/>
              <a:cs typeface="Calibri"/>
            </a:endParaRPr>
          </a:p>
          <a:p>
            <a:pPr>
              <a:lnSpc>
                <a:spcPct val="100000"/>
              </a:lnSpc>
            </a:pPr>
            <a:endParaRPr sz="1853">
              <a:latin typeface="Calibri"/>
              <a:cs typeface="Calibri"/>
            </a:endParaRPr>
          </a:p>
          <a:p>
            <a:pPr marL="482439">
              <a:spcBef>
                <a:spcPts val="1319"/>
              </a:spcBef>
            </a:pPr>
            <a:r>
              <a:rPr sz="1588" spc="-4" dirty="0">
                <a:latin typeface="Calibri"/>
                <a:cs typeface="Calibri"/>
              </a:rPr>
              <a:t>X(t)</a:t>
            </a:r>
            <a:endParaRPr sz="1588">
              <a:latin typeface="Calibri"/>
              <a:cs typeface="Calibri"/>
            </a:endParaRPr>
          </a:p>
          <a:p>
            <a:pPr marL="874105" algn="ctr">
              <a:spcBef>
                <a:spcPts val="922"/>
              </a:spcBef>
            </a:pPr>
            <a:r>
              <a:rPr sz="1588" spc="-4" dirty="0">
                <a:latin typeface="Calibri"/>
                <a:cs typeface="Calibri"/>
              </a:rPr>
              <a:t>t=0</a:t>
            </a:r>
            <a:endParaRPr sz="1588">
              <a:latin typeface="Calibri"/>
              <a:cs typeface="Calibri"/>
            </a:endParaRPr>
          </a:p>
        </p:txBody>
      </p:sp>
      <p:grpSp>
        <p:nvGrpSpPr>
          <p:cNvPr id="78" name="object 78"/>
          <p:cNvGrpSpPr/>
          <p:nvPr/>
        </p:nvGrpSpPr>
        <p:grpSpPr>
          <a:xfrm>
            <a:off x="5727550" y="2085638"/>
            <a:ext cx="680757" cy="1615328"/>
            <a:chOff x="4611623" y="2363723"/>
            <a:chExt cx="771525" cy="1830705"/>
          </a:xfrm>
        </p:grpSpPr>
        <p:sp>
          <p:nvSpPr>
            <p:cNvPr id="79" name="object 79"/>
            <p:cNvSpPr/>
            <p:nvPr/>
          </p:nvSpPr>
          <p:spPr>
            <a:xfrm>
              <a:off x="4840223" y="3887723"/>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CCC1DA"/>
            </a:solidFill>
          </p:spPr>
          <p:txBody>
            <a:bodyPr wrap="square" lIns="0" tIns="0" rIns="0" bIns="0" rtlCol="0"/>
            <a:lstStyle/>
            <a:p>
              <a:endParaRPr sz="1588"/>
            </a:p>
          </p:txBody>
        </p:sp>
        <p:sp>
          <p:nvSpPr>
            <p:cNvPr id="80" name="object 80"/>
            <p:cNvSpPr/>
            <p:nvPr/>
          </p:nvSpPr>
          <p:spPr>
            <a:xfrm>
              <a:off x="4840223" y="3887723"/>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81" name="object 81"/>
            <p:cNvSpPr/>
            <p:nvPr/>
          </p:nvSpPr>
          <p:spPr>
            <a:xfrm>
              <a:off x="4844795" y="3212591"/>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82" name="object 82"/>
            <p:cNvSpPr/>
            <p:nvPr/>
          </p:nvSpPr>
          <p:spPr>
            <a:xfrm>
              <a:off x="4844795" y="3212591"/>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83" name="object 83"/>
            <p:cNvSpPr/>
            <p:nvPr/>
          </p:nvSpPr>
          <p:spPr>
            <a:xfrm>
              <a:off x="4957571" y="3517391"/>
              <a:ext cx="76200" cy="370840"/>
            </a:xfrm>
            <a:custGeom>
              <a:avLst/>
              <a:gdLst/>
              <a:ahLst/>
              <a:cxnLst/>
              <a:rect l="l" t="t" r="r" b="b"/>
              <a:pathLst>
                <a:path w="76200" h="370839">
                  <a:moveTo>
                    <a:pt x="31812" y="76836"/>
                  </a:moveTo>
                  <a:lnTo>
                    <a:pt x="0" y="76200"/>
                  </a:lnTo>
                  <a:lnTo>
                    <a:pt x="39624" y="0"/>
                  </a:lnTo>
                  <a:lnTo>
                    <a:pt x="69745" y="64008"/>
                  </a:lnTo>
                  <a:lnTo>
                    <a:pt x="32004" y="64008"/>
                  </a:lnTo>
                  <a:lnTo>
                    <a:pt x="31812" y="76836"/>
                  </a:lnTo>
                  <a:close/>
                </a:path>
                <a:path w="76200" h="370839">
                  <a:moveTo>
                    <a:pt x="45524" y="77110"/>
                  </a:moveTo>
                  <a:lnTo>
                    <a:pt x="31812" y="76836"/>
                  </a:lnTo>
                  <a:lnTo>
                    <a:pt x="32004" y="64008"/>
                  </a:lnTo>
                  <a:lnTo>
                    <a:pt x="45720" y="64008"/>
                  </a:lnTo>
                  <a:lnTo>
                    <a:pt x="45524" y="77110"/>
                  </a:lnTo>
                  <a:close/>
                </a:path>
                <a:path w="76200" h="370839">
                  <a:moveTo>
                    <a:pt x="76200" y="77724"/>
                  </a:moveTo>
                  <a:lnTo>
                    <a:pt x="45524" y="77110"/>
                  </a:lnTo>
                  <a:lnTo>
                    <a:pt x="45720" y="64008"/>
                  </a:lnTo>
                  <a:lnTo>
                    <a:pt x="69745" y="64008"/>
                  </a:lnTo>
                  <a:lnTo>
                    <a:pt x="76200" y="77724"/>
                  </a:lnTo>
                  <a:close/>
                </a:path>
                <a:path w="76200" h="370839">
                  <a:moveTo>
                    <a:pt x="41148" y="370332"/>
                  </a:moveTo>
                  <a:lnTo>
                    <a:pt x="27432" y="370332"/>
                  </a:lnTo>
                  <a:lnTo>
                    <a:pt x="31812" y="76836"/>
                  </a:lnTo>
                  <a:lnTo>
                    <a:pt x="45524" y="77110"/>
                  </a:lnTo>
                  <a:lnTo>
                    <a:pt x="41148" y="370332"/>
                  </a:lnTo>
                  <a:close/>
                </a:path>
              </a:pathLst>
            </a:custGeom>
            <a:solidFill>
              <a:srgbClr val="000000"/>
            </a:solidFill>
          </p:spPr>
          <p:txBody>
            <a:bodyPr wrap="square" lIns="0" tIns="0" rIns="0" bIns="0" rtlCol="0"/>
            <a:lstStyle/>
            <a:p>
              <a:endParaRPr sz="1588"/>
            </a:p>
          </p:txBody>
        </p:sp>
        <p:sp>
          <p:nvSpPr>
            <p:cNvPr id="84" name="object 84"/>
            <p:cNvSpPr/>
            <p:nvPr/>
          </p:nvSpPr>
          <p:spPr>
            <a:xfrm>
              <a:off x="4844795" y="2592323"/>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85" name="object 85"/>
            <p:cNvSpPr/>
            <p:nvPr/>
          </p:nvSpPr>
          <p:spPr>
            <a:xfrm>
              <a:off x="4844795" y="2592323"/>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86" name="object 86"/>
            <p:cNvSpPr/>
            <p:nvPr/>
          </p:nvSpPr>
          <p:spPr>
            <a:xfrm>
              <a:off x="4959096" y="2897123"/>
              <a:ext cx="76200" cy="315595"/>
            </a:xfrm>
            <a:custGeom>
              <a:avLst/>
              <a:gdLst/>
              <a:ahLst/>
              <a:cxnLst/>
              <a:rect l="l" t="t" r="r" b="b"/>
              <a:pathLst>
                <a:path w="76200" h="315594">
                  <a:moveTo>
                    <a:pt x="32004" y="76199"/>
                  </a:moveTo>
                  <a:lnTo>
                    <a:pt x="0" y="76199"/>
                  </a:lnTo>
                  <a:lnTo>
                    <a:pt x="38100" y="0"/>
                  </a:lnTo>
                  <a:lnTo>
                    <a:pt x="69342" y="62484"/>
                  </a:lnTo>
                  <a:lnTo>
                    <a:pt x="32004" y="62484"/>
                  </a:lnTo>
                  <a:lnTo>
                    <a:pt x="32004" y="76199"/>
                  </a:lnTo>
                  <a:close/>
                </a:path>
                <a:path w="76200" h="315594">
                  <a:moveTo>
                    <a:pt x="44196" y="315467"/>
                  </a:moveTo>
                  <a:lnTo>
                    <a:pt x="32004" y="315467"/>
                  </a:lnTo>
                  <a:lnTo>
                    <a:pt x="32004" y="62484"/>
                  </a:lnTo>
                  <a:lnTo>
                    <a:pt x="44196" y="62484"/>
                  </a:lnTo>
                  <a:lnTo>
                    <a:pt x="44196" y="315467"/>
                  </a:lnTo>
                  <a:close/>
                </a:path>
                <a:path w="76200" h="315594">
                  <a:moveTo>
                    <a:pt x="76200" y="76199"/>
                  </a:moveTo>
                  <a:lnTo>
                    <a:pt x="44196" y="76199"/>
                  </a:lnTo>
                  <a:lnTo>
                    <a:pt x="44196" y="62484"/>
                  </a:lnTo>
                  <a:lnTo>
                    <a:pt x="69342" y="62484"/>
                  </a:lnTo>
                  <a:lnTo>
                    <a:pt x="76200" y="76199"/>
                  </a:lnTo>
                  <a:close/>
                </a:path>
              </a:pathLst>
            </a:custGeom>
            <a:solidFill>
              <a:srgbClr val="000000"/>
            </a:solidFill>
          </p:spPr>
          <p:txBody>
            <a:bodyPr wrap="square" lIns="0" tIns="0" rIns="0" bIns="0" rtlCol="0"/>
            <a:lstStyle/>
            <a:p>
              <a:endParaRPr sz="1588"/>
            </a:p>
          </p:txBody>
        </p:sp>
        <p:pic>
          <p:nvPicPr>
            <p:cNvPr id="87" name="object 87"/>
            <p:cNvPicPr/>
            <p:nvPr/>
          </p:nvPicPr>
          <p:blipFill>
            <a:blip r:embed="rId4" cstate="print"/>
            <a:stretch>
              <a:fillRect/>
            </a:stretch>
          </p:blipFill>
          <p:spPr>
            <a:xfrm>
              <a:off x="4959096" y="2363723"/>
              <a:ext cx="76200" cy="228600"/>
            </a:xfrm>
            <a:prstGeom prst="rect">
              <a:avLst/>
            </a:prstGeom>
          </p:spPr>
        </p:pic>
        <p:sp>
          <p:nvSpPr>
            <p:cNvPr id="88" name="object 88"/>
            <p:cNvSpPr/>
            <p:nvPr/>
          </p:nvSpPr>
          <p:spPr>
            <a:xfrm>
              <a:off x="4611623" y="3354324"/>
              <a:ext cx="771525" cy="398145"/>
            </a:xfrm>
            <a:custGeom>
              <a:avLst/>
              <a:gdLst/>
              <a:ahLst/>
              <a:cxnLst/>
              <a:rect l="l" t="t" r="r" b="b"/>
              <a:pathLst>
                <a:path w="771525" h="398145">
                  <a:moveTo>
                    <a:pt x="157774" y="32920"/>
                  </a:moveTo>
                  <a:lnTo>
                    <a:pt x="152400" y="0"/>
                  </a:lnTo>
                  <a:lnTo>
                    <a:pt x="233172" y="24384"/>
                  </a:lnTo>
                  <a:lnTo>
                    <a:pt x="224859" y="30480"/>
                  </a:lnTo>
                  <a:lnTo>
                    <a:pt x="169163" y="30480"/>
                  </a:lnTo>
                  <a:lnTo>
                    <a:pt x="157774" y="32920"/>
                  </a:lnTo>
                  <a:close/>
                </a:path>
                <a:path w="771525" h="398145">
                  <a:moveTo>
                    <a:pt x="492252" y="387096"/>
                  </a:moveTo>
                  <a:lnTo>
                    <a:pt x="420624" y="387096"/>
                  </a:lnTo>
                  <a:lnTo>
                    <a:pt x="455676" y="384048"/>
                  </a:lnTo>
                  <a:lnTo>
                    <a:pt x="524256" y="371856"/>
                  </a:lnTo>
                  <a:lnTo>
                    <a:pt x="557784" y="362712"/>
                  </a:lnTo>
                  <a:lnTo>
                    <a:pt x="588264" y="353568"/>
                  </a:lnTo>
                  <a:lnTo>
                    <a:pt x="646176" y="329184"/>
                  </a:lnTo>
                  <a:lnTo>
                    <a:pt x="658368" y="321564"/>
                  </a:lnTo>
                  <a:lnTo>
                    <a:pt x="670560" y="315468"/>
                  </a:lnTo>
                  <a:lnTo>
                    <a:pt x="682752" y="307847"/>
                  </a:lnTo>
                  <a:lnTo>
                    <a:pt x="704088" y="292607"/>
                  </a:lnTo>
                  <a:lnTo>
                    <a:pt x="722376" y="277368"/>
                  </a:lnTo>
                  <a:lnTo>
                    <a:pt x="729996" y="268224"/>
                  </a:lnTo>
                  <a:lnTo>
                    <a:pt x="737616" y="260604"/>
                  </a:lnTo>
                  <a:lnTo>
                    <a:pt x="743712" y="252983"/>
                  </a:lnTo>
                  <a:lnTo>
                    <a:pt x="749808" y="243840"/>
                  </a:lnTo>
                  <a:lnTo>
                    <a:pt x="754380" y="236220"/>
                  </a:lnTo>
                  <a:lnTo>
                    <a:pt x="757428" y="227076"/>
                  </a:lnTo>
                  <a:lnTo>
                    <a:pt x="760476" y="219456"/>
                  </a:lnTo>
                  <a:lnTo>
                    <a:pt x="762000" y="210312"/>
                  </a:lnTo>
                  <a:lnTo>
                    <a:pt x="762000" y="193547"/>
                  </a:lnTo>
                  <a:lnTo>
                    <a:pt x="760476" y="184404"/>
                  </a:lnTo>
                  <a:lnTo>
                    <a:pt x="758952" y="176783"/>
                  </a:lnTo>
                  <a:lnTo>
                    <a:pt x="757428" y="167640"/>
                  </a:lnTo>
                  <a:lnTo>
                    <a:pt x="754380" y="160020"/>
                  </a:lnTo>
                  <a:lnTo>
                    <a:pt x="751332" y="150876"/>
                  </a:lnTo>
                  <a:lnTo>
                    <a:pt x="743712" y="134112"/>
                  </a:lnTo>
                  <a:lnTo>
                    <a:pt x="707136" y="88392"/>
                  </a:lnTo>
                  <a:lnTo>
                    <a:pt x="676656" y="62484"/>
                  </a:lnTo>
                  <a:lnTo>
                    <a:pt x="640080" y="41148"/>
                  </a:lnTo>
                  <a:lnTo>
                    <a:pt x="580644" y="19812"/>
                  </a:lnTo>
                  <a:lnTo>
                    <a:pt x="559308" y="16764"/>
                  </a:lnTo>
                  <a:lnTo>
                    <a:pt x="537972" y="16764"/>
                  </a:lnTo>
                  <a:lnTo>
                    <a:pt x="537972" y="6096"/>
                  </a:lnTo>
                  <a:lnTo>
                    <a:pt x="582168" y="10668"/>
                  </a:lnTo>
                  <a:lnTo>
                    <a:pt x="623316" y="22860"/>
                  </a:lnTo>
                  <a:lnTo>
                    <a:pt x="662940" y="42672"/>
                  </a:lnTo>
                  <a:lnTo>
                    <a:pt x="697992" y="67056"/>
                  </a:lnTo>
                  <a:lnTo>
                    <a:pt x="728472" y="96012"/>
                  </a:lnTo>
                  <a:lnTo>
                    <a:pt x="751332" y="129540"/>
                  </a:lnTo>
                  <a:lnTo>
                    <a:pt x="758952" y="146304"/>
                  </a:lnTo>
                  <a:lnTo>
                    <a:pt x="763524" y="155448"/>
                  </a:lnTo>
                  <a:lnTo>
                    <a:pt x="766572" y="164592"/>
                  </a:lnTo>
                  <a:lnTo>
                    <a:pt x="771144" y="192024"/>
                  </a:lnTo>
                  <a:lnTo>
                    <a:pt x="771144" y="211836"/>
                  </a:lnTo>
                  <a:lnTo>
                    <a:pt x="757428" y="248412"/>
                  </a:lnTo>
                  <a:lnTo>
                    <a:pt x="719328" y="292607"/>
                  </a:lnTo>
                  <a:lnTo>
                    <a:pt x="662940" y="330708"/>
                  </a:lnTo>
                  <a:lnTo>
                    <a:pt x="649224" y="336803"/>
                  </a:lnTo>
                  <a:lnTo>
                    <a:pt x="621792" y="350520"/>
                  </a:lnTo>
                  <a:lnTo>
                    <a:pt x="591312" y="361188"/>
                  </a:lnTo>
                  <a:lnTo>
                    <a:pt x="559308" y="371856"/>
                  </a:lnTo>
                  <a:lnTo>
                    <a:pt x="527304" y="381000"/>
                  </a:lnTo>
                  <a:lnTo>
                    <a:pt x="492252" y="387096"/>
                  </a:lnTo>
                  <a:close/>
                </a:path>
                <a:path w="771525" h="398145">
                  <a:moveTo>
                    <a:pt x="159320" y="42386"/>
                  </a:moveTo>
                  <a:lnTo>
                    <a:pt x="157774" y="32920"/>
                  </a:lnTo>
                  <a:lnTo>
                    <a:pt x="169163" y="30480"/>
                  </a:lnTo>
                  <a:lnTo>
                    <a:pt x="172211" y="39624"/>
                  </a:lnTo>
                  <a:lnTo>
                    <a:pt x="159320" y="42386"/>
                  </a:lnTo>
                  <a:close/>
                </a:path>
                <a:path w="771525" h="398145">
                  <a:moveTo>
                    <a:pt x="164591" y="74676"/>
                  </a:moveTo>
                  <a:lnTo>
                    <a:pt x="159320" y="42386"/>
                  </a:lnTo>
                  <a:lnTo>
                    <a:pt x="172211" y="39624"/>
                  </a:lnTo>
                  <a:lnTo>
                    <a:pt x="169163" y="30480"/>
                  </a:lnTo>
                  <a:lnTo>
                    <a:pt x="224859" y="30480"/>
                  </a:lnTo>
                  <a:lnTo>
                    <a:pt x="164591" y="74676"/>
                  </a:lnTo>
                  <a:close/>
                </a:path>
                <a:path w="771525" h="398145">
                  <a:moveTo>
                    <a:pt x="385572" y="397764"/>
                  </a:moveTo>
                  <a:lnTo>
                    <a:pt x="313944" y="393192"/>
                  </a:lnTo>
                  <a:lnTo>
                    <a:pt x="211835" y="373380"/>
                  </a:lnTo>
                  <a:lnTo>
                    <a:pt x="149352" y="352044"/>
                  </a:lnTo>
                  <a:lnTo>
                    <a:pt x="108204" y="332232"/>
                  </a:lnTo>
                  <a:lnTo>
                    <a:pt x="96011" y="326136"/>
                  </a:lnTo>
                  <a:lnTo>
                    <a:pt x="51815" y="295656"/>
                  </a:lnTo>
                  <a:lnTo>
                    <a:pt x="13715" y="252983"/>
                  </a:lnTo>
                  <a:lnTo>
                    <a:pt x="3048" y="227076"/>
                  </a:lnTo>
                  <a:lnTo>
                    <a:pt x="0" y="217932"/>
                  </a:lnTo>
                  <a:lnTo>
                    <a:pt x="0" y="199644"/>
                  </a:lnTo>
                  <a:lnTo>
                    <a:pt x="4572" y="172212"/>
                  </a:lnTo>
                  <a:lnTo>
                    <a:pt x="7620" y="164592"/>
                  </a:lnTo>
                  <a:lnTo>
                    <a:pt x="12191" y="155448"/>
                  </a:lnTo>
                  <a:lnTo>
                    <a:pt x="19811" y="138684"/>
                  </a:lnTo>
                  <a:lnTo>
                    <a:pt x="42672" y="106680"/>
                  </a:lnTo>
                  <a:lnTo>
                    <a:pt x="73152" y="77724"/>
                  </a:lnTo>
                  <a:lnTo>
                    <a:pt x="108204" y="53340"/>
                  </a:lnTo>
                  <a:lnTo>
                    <a:pt x="147828" y="35052"/>
                  </a:lnTo>
                  <a:lnTo>
                    <a:pt x="157774" y="32920"/>
                  </a:lnTo>
                  <a:lnTo>
                    <a:pt x="159320" y="42386"/>
                  </a:lnTo>
                  <a:lnTo>
                    <a:pt x="150876" y="44196"/>
                  </a:lnTo>
                  <a:lnTo>
                    <a:pt x="132587" y="51816"/>
                  </a:lnTo>
                  <a:lnTo>
                    <a:pt x="96011" y="73152"/>
                  </a:lnTo>
                  <a:lnTo>
                    <a:pt x="64008" y="99060"/>
                  </a:lnTo>
                  <a:lnTo>
                    <a:pt x="38100" y="128016"/>
                  </a:lnTo>
                  <a:lnTo>
                    <a:pt x="16763" y="167640"/>
                  </a:lnTo>
                  <a:lnTo>
                    <a:pt x="15239" y="175259"/>
                  </a:lnTo>
                  <a:lnTo>
                    <a:pt x="12191" y="182880"/>
                  </a:lnTo>
                  <a:lnTo>
                    <a:pt x="10667" y="192024"/>
                  </a:lnTo>
                  <a:lnTo>
                    <a:pt x="9144" y="199644"/>
                  </a:lnTo>
                  <a:lnTo>
                    <a:pt x="9144" y="207264"/>
                  </a:lnTo>
                  <a:lnTo>
                    <a:pt x="21335" y="248412"/>
                  </a:lnTo>
                  <a:lnTo>
                    <a:pt x="27432" y="256032"/>
                  </a:lnTo>
                  <a:lnTo>
                    <a:pt x="33528" y="265176"/>
                  </a:lnTo>
                  <a:lnTo>
                    <a:pt x="48767" y="280416"/>
                  </a:lnTo>
                  <a:lnTo>
                    <a:pt x="67056" y="295656"/>
                  </a:lnTo>
                  <a:lnTo>
                    <a:pt x="88391" y="310895"/>
                  </a:lnTo>
                  <a:lnTo>
                    <a:pt x="100584" y="316992"/>
                  </a:lnTo>
                  <a:lnTo>
                    <a:pt x="112776" y="324612"/>
                  </a:lnTo>
                  <a:lnTo>
                    <a:pt x="153924" y="342900"/>
                  </a:lnTo>
                  <a:lnTo>
                    <a:pt x="214884" y="364236"/>
                  </a:lnTo>
                  <a:lnTo>
                    <a:pt x="315467" y="384048"/>
                  </a:lnTo>
                  <a:lnTo>
                    <a:pt x="350520" y="387096"/>
                  </a:lnTo>
                  <a:lnTo>
                    <a:pt x="492252" y="387096"/>
                  </a:lnTo>
                  <a:lnTo>
                    <a:pt x="457200" y="393192"/>
                  </a:lnTo>
                  <a:lnTo>
                    <a:pt x="422148" y="396240"/>
                  </a:lnTo>
                  <a:lnTo>
                    <a:pt x="385572" y="397764"/>
                  </a:lnTo>
                  <a:close/>
                </a:path>
              </a:pathLst>
            </a:custGeom>
            <a:solidFill>
              <a:srgbClr val="BF0000"/>
            </a:solidFill>
          </p:spPr>
          <p:txBody>
            <a:bodyPr wrap="square" lIns="0" tIns="0" rIns="0" bIns="0" rtlCol="0"/>
            <a:lstStyle/>
            <a:p>
              <a:endParaRPr sz="1588"/>
            </a:p>
          </p:txBody>
        </p:sp>
      </p:grpSp>
      <p:sp>
        <p:nvSpPr>
          <p:cNvPr id="90" name="object 90"/>
          <p:cNvSpPr txBox="1"/>
          <p:nvPr/>
        </p:nvSpPr>
        <p:spPr>
          <a:xfrm>
            <a:off x="5795718" y="6128004"/>
            <a:ext cx="427504" cy="205184"/>
          </a:xfrm>
          <a:prstGeom prst="rect">
            <a:avLst/>
          </a:prstGeom>
        </p:spPr>
        <p:txBody>
          <a:bodyPr vert="horz" wrap="square" lIns="0" tIns="0" rIns="0" bIns="0" rtlCol="0">
            <a:spAutoFit/>
          </a:bodyPr>
          <a:lstStyle/>
          <a:p>
            <a:pPr marL="11206">
              <a:lnSpc>
                <a:spcPts val="1597"/>
              </a:lnSpc>
            </a:pPr>
            <a:r>
              <a:rPr sz="1588" dirty="0">
                <a:latin typeface="Calibri"/>
                <a:cs typeface="Calibri"/>
              </a:rPr>
              <a:t>T</a:t>
            </a:r>
            <a:r>
              <a:rPr sz="1588" spc="-18" dirty="0">
                <a:latin typeface="Calibri"/>
                <a:cs typeface="Calibri"/>
              </a:rPr>
              <a:t>i</a:t>
            </a:r>
            <a:r>
              <a:rPr sz="1588" dirty="0">
                <a:latin typeface="Calibri"/>
                <a:cs typeface="Calibri"/>
              </a:rPr>
              <a:t>me</a:t>
            </a:r>
            <a:endParaRPr sz="1588">
              <a:latin typeface="Calibri"/>
              <a:cs typeface="Calibri"/>
            </a:endParaRPr>
          </a:p>
        </p:txBody>
      </p:sp>
      <p:sp>
        <p:nvSpPr>
          <p:cNvPr id="95" name="TextBox 94">
            <a:extLst>
              <a:ext uri="{FF2B5EF4-FFF2-40B4-BE49-F238E27FC236}">
                <a16:creationId xmlns:a16="http://schemas.microsoft.com/office/drawing/2014/main" id="{EEAFA728-7599-450B-BA6F-DB732403C758}"/>
              </a:ext>
            </a:extLst>
          </p:cNvPr>
          <p:cNvSpPr txBox="1"/>
          <p:nvPr/>
        </p:nvSpPr>
        <p:spPr>
          <a:xfrm>
            <a:off x="3062457" y="6432898"/>
            <a:ext cx="6094428"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100"/>
              <a:buFont typeface="Arial"/>
              <a:buNone/>
            </a:pPr>
            <a:r>
              <a:rPr lang="en-US" sz="1400" dirty="0">
                <a:solidFill>
                  <a:schemeClr val="tx1">
                    <a:lumMod val="50000"/>
                    <a:lumOff val="50000"/>
                  </a:schemeClr>
                </a:solidFill>
                <a:latin typeface="Arial" panose="020B0604020202020204" pitchFamily="34" charset="0"/>
                <a:cs typeface="Arial" panose="020B0604020202020204" pitchFamily="34" charset="0"/>
              </a:rPr>
              <a:t>The Transformer Epiphany Speech - Vision - Text</a:t>
            </a:r>
            <a:r>
              <a:rPr lang="en-US" sz="1400" dirty="0">
                <a:solidFill>
                  <a:schemeClr val="tx1">
                    <a:lumMod val="50000"/>
                    <a:lumOff val="50000"/>
                  </a:schemeClr>
                </a:solidFill>
                <a:latin typeface="Arial" panose="020B0604020202020204" pitchFamily="34" charset="0"/>
                <a:cs typeface="Arial" panose="020B0604020202020204" pitchFamily="34" charset="0"/>
                <a:sym typeface="Arial"/>
              </a:rPr>
              <a:t> </a:t>
            </a:r>
            <a:r>
              <a:rPr lang="en-US" sz="1400" b="0" i="0" u="none" strike="noStrike" cap="none" dirty="0">
                <a:solidFill>
                  <a:schemeClr val="tx1">
                    <a:lumMod val="50000"/>
                    <a:lumOff val="50000"/>
                  </a:schemeClr>
                </a:solidFill>
                <a:latin typeface="Arial" panose="020B0604020202020204" pitchFamily="34" charset="0"/>
                <a:ea typeface="Arial"/>
                <a:cs typeface="Arial" panose="020B0604020202020204" pitchFamily="34" charset="0"/>
                <a:sym typeface="Arial"/>
              </a:rPr>
              <a:t>Workshop</a:t>
            </a:r>
          </a:p>
        </p:txBody>
      </p:sp>
    </p:spTree>
    <p:extLst>
      <p:ext uri="{BB962C8B-B14F-4D97-AF65-F5344CB8AC3E}">
        <p14:creationId xmlns:p14="http://schemas.microsoft.com/office/powerpoint/2010/main" val="1875841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67301" y="635557"/>
            <a:ext cx="6056219" cy="498244"/>
          </a:xfrm>
          <a:prstGeom prst="rect">
            <a:avLst/>
          </a:prstGeom>
        </p:spPr>
        <p:txBody>
          <a:bodyPr vert="horz" wrap="square" lIns="0" tIns="11206" rIns="0" bIns="0" rtlCol="0">
            <a:spAutoFit/>
          </a:bodyPr>
          <a:lstStyle/>
          <a:p>
            <a:pPr marL="11206">
              <a:lnSpc>
                <a:spcPct val="100000"/>
              </a:lnSpc>
              <a:spcBef>
                <a:spcPts val="88"/>
              </a:spcBef>
            </a:pPr>
            <a:r>
              <a:rPr dirty="0"/>
              <a:t>How</a:t>
            </a:r>
            <a:r>
              <a:rPr spc="-18" dirty="0"/>
              <a:t> </a:t>
            </a:r>
            <a:r>
              <a:rPr spc="-13" dirty="0"/>
              <a:t>do</a:t>
            </a:r>
            <a:r>
              <a:rPr spc="13" dirty="0"/>
              <a:t> </a:t>
            </a:r>
            <a:r>
              <a:rPr spc="-31" dirty="0"/>
              <a:t>we</a:t>
            </a:r>
            <a:r>
              <a:rPr spc="-4" dirty="0"/>
              <a:t> </a:t>
            </a:r>
            <a:r>
              <a:rPr spc="-4" dirty="0">
                <a:latin typeface="Arial" panose="020B0604020202020204" pitchFamily="34" charset="0"/>
                <a:cs typeface="Arial" panose="020B0604020202020204" pitchFamily="34" charset="0"/>
              </a:rPr>
              <a:t>train</a:t>
            </a:r>
            <a:r>
              <a:rPr i="1" spc="-9" dirty="0">
                <a:latin typeface="Calibri"/>
                <a:cs typeface="Calibri"/>
              </a:rPr>
              <a:t> </a:t>
            </a:r>
            <a:r>
              <a:rPr spc="-4" dirty="0"/>
              <a:t>the</a:t>
            </a:r>
            <a:r>
              <a:rPr spc="-9" dirty="0"/>
              <a:t> network</a:t>
            </a:r>
          </a:p>
        </p:txBody>
      </p:sp>
      <p:pic>
        <p:nvPicPr>
          <p:cNvPr id="3" name="object 3"/>
          <p:cNvPicPr/>
          <p:nvPr/>
        </p:nvPicPr>
        <p:blipFill>
          <a:blip r:embed="rId2" cstate="print"/>
          <a:stretch>
            <a:fillRect/>
          </a:stretch>
        </p:blipFill>
        <p:spPr>
          <a:xfrm>
            <a:off x="3581400" y="5560359"/>
            <a:ext cx="121023" cy="134471"/>
          </a:xfrm>
          <a:prstGeom prst="rect">
            <a:avLst/>
          </a:prstGeom>
        </p:spPr>
      </p:pic>
      <p:sp>
        <p:nvSpPr>
          <p:cNvPr id="4" name="object 4"/>
          <p:cNvSpPr/>
          <p:nvPr/>
        </p:nvSpPr>
        <p:spPr>
          <a:xfrm>
            <a:off x="3824613" y="5608779"/>
            <a:ext cx="121584" cy="56590"/>
          </a:xfrm>
          <a:custGeom>
            <a:avLst/>
            <a:gdLst/>
            <a:ahLst/>
            <a:cxnLst/>
            <a:rect l="l" t="t" r="r" b="b"/>
            <a:pathLst>
              <a:path w="137794" h="64135">
                <a:moveTo>
                  <a:pt x="137541" y="48768"/>
                </a:moveTo>
                <a:lnTo>
                  <a:pt x="0" y="48768"/>
                </a:lnTo>
                <a:lnTo>
                  <a:pt x="0" y="64008"/>
                </a:lnTo>
                <a:lnTo>
                  <a:pt x="137541" y="64008"/>
                </a:lnTo>
                <a:lnTo>
                  <a:pt x="137541" y="48768"/>
                </a:lnTo>
                <a:close/>
              </a:path>
              <a:path w="137794" h="64135">
                <a:moveTo>
                  <a:pt x="137541" y="0"/>
                </a:moveTo>
                <a:lnTo>
                  <a:pt x="0" y="0"/>
                </a:lnTo>
                <a:lnTo>
                  <a:pt x="0" y="15240"/>
                </a:lnTo>
                <a:lnTo>
                  <a:pt x="137541" y="15240"/>
                </a:lnTo>
                <a:lnTo>
                  <a:pt x="137541" y="0"/>
                </a:lnTo>
                <a:close/>
              </a:path>
            </a:pathLst>
          </a:custGeom>
          <a:solidFill>
            <a:srgbClr val="000000"/>
          </a:solidFill>
        </p:spPr>
        <p:txBody>
          <a:bodyPr wrap="square" lIns="0" tIns="0" rIns="0" bIns="0" rtlCol="0"/>
          <a:lstStyle/>
          <a:p>
            <a:endParaRPr sz="1588"/>
          </a:p>
        </p:txBody>
      </p:sp>
      <p:pic>
        <p:nvPicPr>
          <p:cNvPr id="5" name="object 5"/>
          <p:cNvPicPr/>
          <p:nvPr/>
        </p:nvPicPr>
        <p:blipFill>
          <a:blip r:embed="rId3" cstate="print"/>
          <a:stretch>
            <a:fillRect/>
          </a:stretch>
        </p:blipFill>
        <p:spPr>
          <a:xfrm>
            <a:off x="4027338" y="5560358"/>
            <a:ext cx="109761" cy="134471"/>
          </a:xfrm>
          <a:prstGeom prst="rect">
            <a:avLst/>
          </a:prstGeom>
        </p:spPr>
      </p:pic>
      <p:sp>
        <p:nvSpPr>
          <p:cNvPr id="6" name="object 6"/>
          <p:cNvSpPr/>
          <p:nvPr/>
        </p:nvSpPr>
        <p:spPr>
          <a:xfrm>
            <a:off x="4288716" y="5671970"/>
            <a:ext cx="29696" cy="49866"/>
          </a:xfrm>
          <a:custGeom>
            <a:avLst/>
            <a:gdLst/>
            <a:ahLst/>
            <a:cxnLst/>
            <a:rect l="l" t="t" r="r" b="b"/>
            <a:pathLst>
              <a:path w="33655" h="56514">
                <a:moveTo>
                  <a:pt x="6000" y="56387"/>
                </a:moveTo>
                <a:lnTo>
                  <a:pt x="0" y="49625"/>
                </a:lnTo>
                <a:lnTo>
                  <a:pt x="4000" y="46101"/>
                </a:lnTo>
                <a:lnTo>
                  <a:pt x="6857" y="42957"/>
                </a:lnTo>
                <a:lnTo>
                  <a:pt x="10477" y="37242"/>
                </a:lnTo>
                <a:lnTo>
                  <a:pt x="11810" y="34004"/>
                </a:lnTo>
                <a:lnTo>
                  <a:pt x="13334" y="26765"/>
                </a:lnTo>
                <a:lnTo>
                  <a:pt x="13715" y="22193"/>
                </a:lnTo>
                <a:lnTo>
                  <a:pt x="13715" y="11144"/>
                </a:lnTo>
                <a:lnTo>
                  <a:pt x="13239" y="5619"/>
                </a:lnTo>
                <a:lnTo>
                  <a:pt x="12191" y="0"/>
                </a:lnTo>
                <a:lnTo>
                  <a:pt x="31908" y="0"/>
                </a:lnTo>
                <a:lnTo>
                  <a:pt x="33051" y="5334"/>
                </a:lnTo>
                <a:lnTo>
                  <a:pt x="33527" y="10382"/>
                </a:lnTo>
                <a:lnTo>
                  <a:pt x="33527" y="20669"/>
                </a:lnTo>
                <a:lnTo>
                  <a:pt x="32670" y="25431"/>
                </a:lnTo>
                <a:lnTo>
                  <a:pt x="29051" y="33909"/>
                </a:lnTo>
                <a:lnTo>
                  <a:pt x="26193" y="38195"/>
                </a:lnTo>
                <a:lnTo>
                  <a:pt x="22193" y="42386"/>
                </a:lnTo>
                <a:lnTo>
                  <a:pt x="18287" y="46672"/>
                </a:lnTo>
                <a:lnTo>
                  <a:pt x="12858" y="51339"/>
                </a:lnTo>
                <a:lnTo>
                  <a:pt x="6000" y="56387"/>
                </a:lnTo>
                <a:close/>
              </a:path>
            </a:pathLst>
          </a:custGeom>
          <a:solidFill>
            <a:srgbClr val="000000"/>
          </a:solidFill>
        </p:spPr>
        <p:txBody>
          <a:bodyPr wrap="square" lIns="0" tIns="0" rIns="0" bIns="0" rtlCol="0"/>
          <a:lstStyle/>
          <a:p>
            <a:endParaRPr sz="1588"/>
          </a:p>
        </p:txBody>
      </p:sp>
      <p:sp>
        <p:nvSpPr>
          <p:cNvPr id="7" name="object 7"/>
          <p:cNvSpPr/>
          <p:nvPr/>
        </p:nvSpPr>
        <p:spPr>
          <a:xfrm>
            <a:off x="4386880" y="5671980"/>
            <a:ext cx="117101" cy="22971"/>
          </a:xfrm>
          <a:custGeom>
            <a:avLst/>
            <a:gdLst/>
            <a:ahLst/>
            <a:cxnLst/>
            <a:rect l="l" t="t" r="r" b="b"/>
            <a:pathLst>
              <a:path w="132714" h="26035">
                <a:moveTo>
                  <a:pt x="22860" y="0"/>
                </a:moveTo>
                <a:lnTo>
                  <a:pt x="0" y="0"/>
                </a:lnTo>
                <a:lnTo>
                  <a:pt x="0" y="25908"/>
                </a:lnTo>
                <a:lnTo>
                  <a:pt x="22860" y="25908"/>
                </a:lnTo>
                <a:lnTo>
                  <a:pt x="22860" y="0"/>
                </a:lnTo>
                <a:close/>
              </a:path>
              <a:path w="132714" h="26035">
                <a:moveTo>
                  <a:pt x="77724" y="0"/>
                </a:moveTo>
                <a:lnTo>
                  <a:pt x="54864" y="0"/>
                </a:lnTo>
                <a:lnTo>
                  <a:pt x="54864" y="25908"/>
                </a:lnTo>
                <a:lnTo>
                  <a:pt x="77724" y="25908"/>
                </a:lnTo>
                <a:lnTo>
                  <a:pt x="77724" y="0"/>
                </a:lnTo>
                <a:close/>
              </a:path>
              <a:path w="132714" h="26035">
                <a:moveTo>
                  <a:pt x="132588" y="0"/>
                </a:moveTo>
                <a:lnTo>
                  <a:pt x="109728" y="0"/>
                </a:lnTo>
                <a:lnTo>
                  <a:pt x="109728" y="25908"/>
                </a:lnTo>
                <a:lnTo>
                  <a:pt x="132588" y="25908"/>
                </a:lnTo>
                <a:lnTo>
                  <a:pt x="132588" y="0"/>
                </a:lnTo>
                <a:close/>
              </a:path>
            </a:pathLst>
          </a:custGeom>
          <a:solidFill>
            <a:srgbClr val="000000"/>
          </a:solidFill>
        </p:spPr>
        <p:txBody>
          <a:bodyPr wrap="square" lIns="0" tIns="0" rIns="0" bIns="0" rtlCol="0"/>
          <a:lstStyle/>
          <a:p>
            <a:endParaRPr sz="1588"/>
          </a:p>
        </p:txBody>
      </p:sp>
      <p:sp>
        <p:nvSpPr>
          <p:cNvPr id="8" name="object 8"/>
          <p:cNvSpPr/>
          <p:nvPr/>
        </p:nvSpPr>
        <p:spPr>
          <a:xfrm>
            <a:off x="4548244" y="5671970"/>
            <a:ext cx="29696" cy="49866"/>
          </a:xfrm>
          <a:custGeom>
            <a:avLst/>
            <a:gdLst/>
            <a:ahLst/>
            <a:cxnLst/>
            <a:rect l="l" t="t" r="r" b="b"/>
            <a:pathLst>
              <a:path w="33654" h="56514">
                <a:moveTo>
                  <a:pt x="6000" y="56387"/>
                </a:moveTo>
                <a:lnTo>
                  <a:pt x="0" y="49625"/>
                </a:lnTo>
                <a:lnTo>
                  <a:pt x="4000" y="46101"/>
                </a:lnTo>
                <a:lnTo>
                  <a:pt x="6857" y="42957"/>
                </a:lnTo>
                <a:lnTo>
                  <a:pt x="10477" y="37242"/>
                </a:lnTo>
                <a:lnTo>
                  <a:pt x="11810" y="34004"/>
                </a:lnTo>
                <a:lnTo>
                  <a:pt x="13334" y="26765"/>
                </a:lnTo>
                <a:lnTo>
                  <a:pt x="13715" y="22193"/>
                </a:lnTo>
                <a:lnTo>
                  <a:pt x="13715" y="11144"/>
                </a:lnTo>
                <a:lnTo>
                  <a:pt x="13239" y="5619"/>
                </a:lnTo>
                <a:lnTo>
                  <a:pt x="12191" y="0"/>
                </a:lnTo>
                <a:lnTo>
                  <a:pt x="31908" y="0"/>
                </a:lnTo>
                <a:lnTo>
                  <a:pt x="33051" y="5334"/>
                </a:lnTo>
                <a:lnTo>
                  <a:pt x="33527" y="10382"/>
                </a:lnTo>
                <a:lnTo>
                  <a:pt x="33527" y="20669"/>
                </a:lnTo>
                <a:lnTo>
                  <a:pt x="32670" y="25431"/>
                </a:lnTo>
                <a:lnTo>
                  <a:pt x="29051" y="33909"/>
                </a:lnTo>
                <a:lnTo>
                  <a:pt x="26193" y="38195"/>
                </a:lnTo>
                <a:lnTo>
                  <a:pt x="22193" y="42386"/>
                </a:lnTo>
                <a:lnTo>
                  <a:pt x="18287" y="46672"/>
                </a:lnTo>
                <a:lnTo>
                  <a:pt x="12858" y="51339"/>
                </a:lnTo>
                <a:lnTo>
                  <a:pt x="6000" y="56387"/>
                </a:lnTo>
                <a:close/>
              </a:path>
            </a:pathLst>
          </a:custGeom>
          <a:solidFill>
            <a:srgbClr val="000000"/>
          </a:solidFill>
        </p:spPr>
        <p:txBody>
          <a:bodyPr wrap="square" lIns="0" tIns="0" rIns="0" bIns="0" rtlCol="0"/>
          <a:lstStyle/>
          <a:p>
            <a:endParaRPr sz="1588"/>
          </a:p>
        </p:txBody>
      </p:sp>
      <p:pic>
        <p:nvPicPr>
          <p:cNvPr id="9" name="object 9"/>
          <p:cNvPicPr/>
          <p:nvPr/>
        </p:nvPicPr>
        <p:blipFill>
          <a:blip r:embed="rId3" cstate="print"/>
          <a:stretch>
            <a:fillRect/>
          </a:stretch>
        </p:blipFill>
        <p:spPr>
          <a:xfrm>
            <a:off x="4633800" y="5560358"/>
            <a:ext cx="109761" cy="134471"/>
          </a:xfrm>
          <a:prstGeom prst="rect">
            <a:avLst/>
          </a:prstGeom>
        </p:spPr>
      </p:pic>
      <p:sp>
        <p:nvSpPr>
          <p:cNvPr id="10" name="object 10"/>
          <p:cNvSpPr txBox="1"/>
          <p:nvPr/>
        </p:nvSpPr>
        <p:spPr>
          <a:xfrm>
            <a:off x="2801469" y="5483580"/>
            <a:ext cx="6405282" cy="861246"/>
          </a:xfrm>
          <a:prstGeom prst="rect">
            <a:avLst/>
          </a:prstGeom>
        </p:spPr>
        <p:txBody>
          <a:bodyPr vert="horz" wrap="square" lIns="0" tIns="70597" rIns="0" bIns="0" rtlCol="0">
            <a:spAutoFit/>
          </a:bodyPr>
          <a:lstStyle/>
          <a:p>
            <a:pPr marL="56032">
              <a:spcBef>
                <a:spcPts val="556"/>
              </a:spcBef>
              <a:tabLst>
                <a:tab pos="895958" algn="l"/>
                <a:tab pos="1311718" algn="l"/>
                <a:tab pos="1917989" algn="l"/>
              </a:tabLst>
            </a:pPr>
            <a:r>
              <a:rPr sz="1600" spc="-9" dirty="0">
                <a:latin typeface="Calibri"/>
                <a:cs typeface="Calibri"/>
              </a:rPr>
              <a:t>network	</a:t>
            </a:r>
            <a:r>
              <a:rPr sz="1600" spc="132" baseline="-14957" dirty="0">
                <a:latin typeface="Cambria Math"/>
                <a:cs typeface="Cambria Math"/>
              </a:rPr>
              <a:t>i	</a:t>
            </a:r>
            <a:r>
              <a:rPr sz="1600" spc="86" baseline="-14957" dirty="0">
                <a:latin typeface="Cambria Math"/>
                <a:cs typeface="Cambria Math"/>
              </a:rPr>
              <a:t>i,0	i,T</a:t>
            </a:r>
            <a:r>
              <a:rPr sz="1600" spc="291" baseline="-14957" dirty="0">
                <a:latin typeface="Cambria Math"/>
                <a:cs typeface="Cambria Math"/>
              </a:rPr>
              <a:t> </a:t>
            </a:r>
            <a:r>
              <a:rPr sz="1600" dirty="0">
                <a:latin typeface="Calibri"/>
                <a:cs typeface="Calibri"/>
              </a:rPr>
              <a:t>and</a:t>
            </a:r>
            <a:r>
              <a:rPr sz="1600" spc="4" dirty="0">
                <a:latin typeface="Calibri"/>
                <a:cs typeface="Calibri"/>
              </a:rPr>
              <a:t> </a:t>
            </a:r>
            <a:r>
              <a:rPr sz="1600" spc="-4" dirty="0">
                <a:latin typeface="Calibri"/>
                <a:cs typeface="Calibri"/>
              </a:rPr>
              <a:t>the</a:t>
            </a:r>
            <a:r>
              <a:rPr sz="1600" spc="-18" dirty="0">
                <a:latin typeface="Calibri"/>
                <a:cs typeface="Calibri"/>
              </a:rPr>
              <a:t> </a:t>
            </a:r>
            <a:r>
              <a:rPr sz="1600" spc="-4" dirty="0">
                <a:latin typeface="Calibri"/>
                <a:cs typeface="Calibri"/>
              </a:rPr>
              <a:t>desired</a:t>
            </a:r>
            <a:r>
              <a:rPr sz="1600" spc="4" dirty="0">
                <a:latin typeface="Calibri"/>
                <a:cs typeface="Calibri"/>
              </a:rPr>
              <a:t> </a:t>
            </a:r>
            <a:r>
              <a:rPr sz="1600" spc="-4" dirty="0">
                <a:latin typeface="Calibri"/>
                <a:cs typeface="Calibri"/>
              </a:rPr>
              <a:t>outputs</a:t>
            </a:r>
            <a:endParaRPr sz="1600" dirty="0">
              <a:latin typeface="Calibri"/>
              <a:cs typeface="Calibri"/>
            </a:endParaRPr>
          </a:p>
          <a:p>
            <a:pPr marL="409596" marR="26896" indent="-253266">
              <a:spcBef>
                <a:spcPts val="393"/>
              </a:spcBef>
              <a:tabLst>
                <a:tab pos="409596" algn="l"/>
              </a:tabLst>
            </a:pPr>
            <a:r>
              <a:rPr sz="1600" dirty="0">
                <a:latin typeface="Arial"/>
                <a:cs typeface="Arial"/>
              </a:rPr>
              <a:t>–	</a:t>
            </a:r>
            <a:r>
              <a:rPr sz="1600" dirty="0">
                <a:latin typeface="Calibri"/>
                <a:cs typeface="Calibri"/>
              </a:rPr>
              <a:t>This is the </a:t>
            </a:r>
            <a:r>
              <a:rPr sz="1600" spc="-4" dirty="0">
                <a:latin typeface="Calibri"/>
                <a:cs typeface="Calibri"/>
              </a:rPr>
              <a:t>most generic </a:t>
            </a:r>
            <a:r>
              <a:rPr sz="1600" spc="-9" dirty="0">
                <a:latin typeface="Calibri"/>
                <a:cs typeface="Calibri"/>
              </a:rPr>
              <a:t>setting. </a:t>
            </a:r>
            <a:r>
              <a:rPr sz="1600" spc="-4" dirty="0">
                <a:latin typeface="Calibri"/>
                <a:cs typeface="Calibri"/>
              </a:rPr>
              <a:t>In other settings </a:t>
            </a:r>
            <a:r>
              <a:rPr sz="1600" spc="-13" dirty="0">
                <a:latin typeface="Calibri"/>
                <a:cs typeface="Calibri"/>
              </a:rPr>
              <a:t>we </a:t>
            </a:r>
            <a:r>
              <a:rPr sz="1600" spc="-4" dirty="0">
                <a:latin typeface="Calibri"/>
                <a:cs typeface="Calibri"/>
              </a:rPr>
              <a:t>just </a:t>
            </a:r>
            <a:r>
              <a:rPr sz="1600" spc="-9" dirty="0">
                <a:latin typeface="Calibri"/>
                <a:cs typeface="Calibri"/>
              </a:rPr>
              <a:t>“remove” </a:t>
            </a:r>
            <a:r>
              <a:rPr sz="1600" spc="-4" dirty="0">
                <a:latin typeface="Calibri"/>
                <a:cs typeface="Calibri"/>
              </a:rPr>
              <a:t>some </a:t>
            </a:r>
            <a:r>
              <a:rPr sz="1600" dirty="0">
                <a:latin typeface="Calibri"/>
                <a:cs typeface="Calibri"/>
              </a:rPr>
              <a:t>of </a:t>
            </a:r>
            <a:r>
              <a:rPr sz="1600" spc="-4" dirty="0">
                <a:latin typeface="Calibri"/>
                <a:cs typeface="Calibri"/>
              </a:rPr>
              <a:t>the </a:t>
            </a:r>
            <a:r>
              <a:rPr sz="1600" dirty="0">
                <a:latin typeface="Calibri"/>
                <a:cs typeface="Calibri"/>
              </a:rPr>
              <a:t>input or </a:t>
            </a:r>
            <a:r>
              <a:rPr sz="1600" spc="-287" dirty="0">
                <a:latin typeface="Calibri"/>
                <a:cs typeface="Calibri"/>
              </a:rPr>
              <a:t> </a:t>
            </a:r>
            <a:r>
              <a:rPr sz="1600" dirty="0">
                <a:latin typeface="Calibri"/>
                <a:cs typeface="Calibri"/>
              </a:rPr>
              <a:t>output</a:t>
            </a:r>
            <a:r>
              <a:rPr sz="1600" spc="-35" dirty="0">
                <a:latin typeface="Calibri"/>
                <a:cs typeface="Calibri"/>
              </a:rPr>
              <a:t> </a:t>
            </a:r>
            <a:r>
              <a:rPr sz="1600" spc="-4" dirty="0">
                <a:latin typeface="Calibri"/>
                <a:cs typeface="Calibri"/>
              </a:rPr>
              <a:t>entries</a:t>
            </a:r>
            <a:endParaRPr sz="1600" dirty="0">
              <a:latin typeface="Calibri"/>
              <a:cs typeface="Calibri"/>
            </a:endParaRPr>
          </a:p>
        </p:txBody>
      </p:sp>
      <p:grpSp>
        <p:nvGrpSpPr>
          <p:cNvPr id="11" name="object 11"/>
          <p:cNvGrpSpPr/>
          <p:nvPr/>
        </p:nvGrpSpPr>
        <p:grpSpPr>
          <a:xfrm>
            <a:off x="3543692" y="2822481"/>
            <a:ext cx="2019860" cy="271743"/>
            <a:chOff x="2136584" y="3198812"/>
            <a:chExt cx="2289175" cy="307975"/>
          </a:xfrm>
        </p:grpSpPr>
        <p:sp>
          <p:nvSpPr>
            <p:cNvPr id="12" name="object 12"/>
            <p:cNvSpPr/>
            <p:nvPr/>
          </p:nvSpPr>
          <p:spPr>
            <a:xfrm>
              <a:off x="2138172"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3" name="object 13"/>
            <p:cNvSpPr/>
            <p:nvPr/>
          </p:nvSpPr>
          <p:spPr>
            <a:xfrm>
              <a:off x="2138172"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4" name="object 14"/>
            <p:cNvSpPr/>
            <p:nvPr/>
          </p:nvSpPr>
          <p:spPr>
            <a:xfrm>
              <a:off x="3124200"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5" name="object 15"/>
            <p:cNvSpPr/>
            <p:nvPr/>
          </p:nvSpPr>
          <p:spPr>
            <a:xfrm>
              <a:off x="3124200"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6" name="object 16"/>
            <p:cNvSpPr/>
            <p:nvPr/>
          </p:nvSpPr>
          <p:spPr>
            <a:xfrm>
              <a:off x="4119372"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7" name="object 17"/>
            <p:cNvSpPr/>
            <p:nvPr/>
          </p:nvSpPr>
          <p:spPr>
            <a:xfrm>
              <a:off x="4119372"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sp>
        <p:nvSpPr>
          <p:cNvPr id="18" name="object 18"/>
          <p:cNvSpPr/>
          <p:nvPr/>
        </p:nvSpPr>
        <p:spPr>
          <a:xfrm>
            <a:off x="3541059" y="3352352"/>
            <a:ext cx="5446059" cy="67235"/>
          </a:xfrm>
          <a:custGeom>
            <a:avLst/>
            <a:gdLst/>
            <a:ahLst/>
            <a:cxnLst/>
            <a:rect l="l" t="t" r="r" b="b"/>
            <a:pathLst>
              <a:path w="6172200" h="76200">
                <a:moveTo>
                  <a:pt x="6096000" y="76200"/>
                </a:moveTo>
                <a:lnTo>
                  <a:pt x="6096000" y="0"/>
                </a:lnTo>
                <a:lnTo>
                  <a:pt x="6153912" y="28956"/>
                </a:lnTo>
                <a:lnTo>
                  <a:pt x="6109716" y="28956"/>
                </a:lnTo>
                <a:lnTo>
                  <a:pt x="6109716" y="47244"/>
                </a:lnTo>
                <a:lnTo>
                  <a:pt x="6153912" y="47244"/>
                </a:lnTo>
                <a:lnTo>
                  <a:pt x="6096000" y="76200"/>
                </a:lnTo>
                <a:close/>
              </a:path>
              <a:path w="6172200" h="76200">
                <a:moveTo>
                  <a:pt x="6096000" y="47244"/>
                </a:moveTo>
                <a:lnTo>
                  <a:pt x="0" y="47244"/>
                </a:lnTo>
                <a:lnTo>
                  <a:pt x="0" y="28956"/>
                </a:lnTo>
                <a:lnTo>
                  <a:pt x="6096000" y="28956"/>
                </a:lnTo>
                <a:lnTo>
                  <a:pt x="6096000" y="47244"/>
                </a:lnTo>
                <a:close/>
              </a:path>
              <a:path w="6172200" h="76200">
                <a:moveTo>
                  <a:pt x="6153912" y="47244"/>
                </a:moveTo>
                <a:lnTo>
                  <a:pt x="6109716" y="47244"/>
                </a:lnTo>
                <a:lnTo>
                  <a:pt x="6109716" y="28956"/>
                </a:lnTo>
                <a:lnTo>
                  <a:pt x="6153912" y="28956"/>
                </a:lnTo>
                <a:lnTo>
                  <a:pt x="6172200" y="38100"/>
                </a:lnTo>
                <a:lnTo>
                  <a:pt x="6153912" y="47244"/>
                </a:lnTo>
                <a:close/>
              </a:path>
            </a:pathLst>
          </a:custGeom>
          <a:solidFill>
            <a:srgbClr val="3333FF"/>
          </a:solidFill>
        </p:spPr>
        <p:txBody>
          <a:bodyPr wrap="square" lIns="0" tIns="0" rIns="0" bIns="0" rtlCol="0"/>
          <a:lstStyle/>
          <a:p>
            <a:endParaRPr sz="1588"/>
          </a:p>
        </p:txBody>
      </p:sp>
      <p:grpSp>
        <p:nvGrpSpPr>
          <p:cNvPr id="19" name="object 19"/>
          <p:cNvGrpSpPr/>
          <p:nvPr/>
        </p:nvGrpSpPr>
        <p:grpSpPr>
          <a:xfrm>
            <a:off x="6701118" y="1680883"/>
            <a:ext cx="2358838" cy="1413622"/>
            <a:chOff x="5715000" y="1905000"/>
            <a:chExt cx="2673350" cy="1602105"/>
          </a:xfrm>
        </p:grpSpPr>
        <p:sp>
          <p:nvSpPr>
            <p:cNvPr id="20" name="object 20"/>
            <p:cNvSpPr/>
            <p:nvPr/>
          </p:nvSpPr>
          <p:spPr>
            <a:xfrm>
              <a:off x="6100571"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1" name="object 21"/>
            <p:cNvSpPr/>
            <p:nvPr/>
          </p:nvSpPr>
          <p:spPr>
            <a:xfrm>
              <a:off x="6100571"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2" name="object 22"/>
            <p:cNvSpPr/>
            <p:nvPr/>
          </p:nvSpPr>
          <p:spPr>
            <a:xfrm>
              <a:off x="6114287"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3" name="object 23"/>
            <p:cNvSpPr/>
            <p:nvPr/>
          </p:nvSpPr>
          <p:spPr>
            <a:xfrm>
              <a:off x="6114287"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4" name="object 24"/>
            <p:cNvPicPr/>
            <p:nvPr/>
          </p:nvPicPr>
          <p:blipFill>
            <a:blip r:embed="rId4" cstate="print"/>
            <a:stretch>
              <a:fillRect/>
            </a:stretch>
          </p:blipFill>
          <p:spPr>
            <a:xfrm>
              <a:off x="6228587" y="2971800"/>
              <a:ext cx="76200" cy="228600"/>
            </a:xfrm>
            <a:prstGeom prst="rect">
              <a:avLst/>
            </a:prstGeom>
          </p:spPr>
        </p:pic>
        <p:sp>
          <p:nvSpPr>
            <p:cNvPr id="25" name="object 25"/>
            <p:cNvSpPr/>
            <p:nvPr/>
          </p:nvSpPr>
          <p:spPr>
            <a:xfrm>
              <a:off x="6114287"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6" name="object 26"/>
            <p:cNvSpPr/>
            <p:nvPr/>
          </p:nvSpPr>
          <p:spPr>
            <a:xfrm>
              <a:off x="6114287"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7" name="object 27"/>
            <p:cNvPicPr/>
            <p:nvPr/>
          </p:nvPicPr>
          <p:blipFill>
            <a:blip r:embed="rId4" cstate="print"/>
            <a:stretch>
              <a:fillRect/>
            </a:stretch>
          </p:blipFill>
          <p:spPr>
            <a:xfrm>
              <a:off x="6228587" y="2438400"/>
              <a:ext cx="76200" cy="228600"/>
            </a:xfrm>
            <a:prstGeom prst="rect">
              <a:avLst/>
            </a:prstGeom>
          </p:spPr>
        </p:pic>
        <p:pic>
          <p:nvPicPr>
            <p:cNvPr id="28" name="object 28"/>
            <p:cNvPicPr/>
            <p:nvPr/>
          </p:nvPicPr>
          <p:blipFill>
            <a:blip r:embed="rId4" cstate="print"/>
            <a:stretch>
              <a:fillRect/>
            </a:stretch>
          </p:blipFill>
          <p:spPr>
            <a:xfrm>
              <a:off x="6228587" y="1905000"/>
              <a:ext cx="76200" cy="228600"/>
            </a:xfrm>
            <a:prstGeom prst="rect">
              <a:avLst/>
            </a:prstGeom>
          </p:spPr>
        </p:pic>
        <p:sp>
          <p:nvSpPr>
            <p:cNvPr id="29" name="object 29"/>
            <p:cNvSpPr/>
            <p:nvPr/>
          </p:nvSpPr>
          <p:spPr>
            <a:xfrm>
              <a:off x="5715000" y="2781299"/>
              <a:ext cx="405765" cy="76200"/>
            </a:xfrm>
            <a:custGeom>
              <a:avLst/>
              <a:gdLst/>
              <a:ahLst/>
              <a:cxnLst/>
              <a:rect l="l" t="t" r="r" b="b"/>
              <a:pathLst>
                <a:path w="405764" h="76200">
                  <a:moveTo>
                    <a:pt x="329184" y="76200"/>
                  </a:moveTo>
                  <a:lnTo>
                    <a:pt x="329184" y="0"/>
                  </a:lnTo>
                  <a:lnTo>
                    <a:pt x="393192" y="32004"/>
                  </a:lnTo>
                  <a:lnTo>
                    <a:pt x="341376" y="32004"/>
                  </a:lnTo>
                  <a:lnTo>
                    <a:pt x="341376" y="45720"/>
                  </a:lnTo>
                  <a:lnTo>
                    <a:pt x="390144" y="45720"/>
                  </a:lnTo>
                  <a:lnTo>
                    <a:pt x="329184" y="76200"/>
                  </a:lnTo>
                  <a:close/>
                </a:path>
                <a:path w="405764" h="76200">
                  <a:moveTo>
                    <a:pt x="329184" y="45720"/>
                  </a:moveTo>
                  <a:lnTo>
                    <a:pt x="0" y="45720"/>
                  </a:lnTo>
                  <a:lnTo>
                    <a:pt x="0" y="32004"/>
                  </a:lnTo>
                  <a:lnTo>
                    <a:pt x="329184" y="32004"/>
                  </a:lnTo>
                  <a:lnTo>
                    <a:pt x="329184" y="45720"/>
                  </a:lnTo>
                  <a:close/>
                </a:path>
                <a:path w="405764" h="76200">
                  <a:moveTo>
                    <a:pt x="390144" y="45720"/>
                  </a:moveTo>
                  <a:lnTo>
                    <a:pt x="341376" y="45720"/>
                  </a:lnTo>
                  <a:lnTo>
                    <a:pt x="341376" y="32004"/>
                  </a:lnTo>
                  <a:lnTo>
                    <a:pt x="393192" y="32004"/>
                  </a:lnTo>
                  <a:lnTo>
                    <a:pt x="405384" y="38100"/>
                  </a:lnTo>
                  <a:lnTo>
                    <a:pt x="390144" y="45720"/>
                  </a:lnTo>
                  <a:close/>
                </a:path>
              </a:pathLst>
            </a:custGeom>
            <a:solidFill>
              <a:srgbClr val="000000"/>
            </a:solidFill>
          </p:spPr>
          <p:txBody>
            <a:bodyPr wrap="square" lIns="0" tIns="0" rIns="0" bIns="0" rtlCol="0"/>
            <a:lstStyle/>
            <a:p>
              <a:endParaRPr sz="1588"/>
            </a:p>
          </p:txBody>
        </p:sp>
        <p:sp>
          <p:nvSpPr>
            <p:cNvPr id="30" name="object 30"/>
            <p:cNvSpPr/>
            <p:nvPr/>
          </p:nvSpPr>
          <p:spPr>
            <a:xfrm>
              <a:off x="7091171"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1" name="object 31"/>
            <p:cNvSpPr/>
            <p:nvPr/>
          </p:nvSpPr>
          <p:spPr>
            <a:xfrm>
              <a:off x="7091171"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2" name="object 32"/>
            <p:cNvSpPr/>
            <p:nvPr/>
          </p:nvSpPr>
          <p:spPr>
            <a:xfrm>
              <a:off x="7104887"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3" name="object 33"/>
            <p:cNvSpPr/>
            <p:nvPr/>
          </p:nvSpPr>
          <p:spPr>
            <a:xfrm>
              <a:off x="7104887"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4" name="object 34"/>
            <p:cNvPicPr/>
            <p:nvPr/>
          </p:nvPicPr>
          <p:blipFill>
            <a:blip r:embed="rId4" cstate="print"/>
            <a:stretch>
              <a:fillRect/>
            </a:stretch>
          </p:blipFill>
          <p:spPr>
            <a:xfrm>
              <a:off x="7219187" y="2971800"/>
              <a:ext cx="76200" cy="228600"/>
            </a:xfrm>
            <a:prstGeom prst="rect">
              <a:avLst/>
            </a:prstGeom>
          </p:spPr>
        </p:pic>
        <p:sp>
          <p:nvSpPr>
            <p:cNvPr id="35" name="object 35"/>
            <p:cNvSpPr/>
            <p:nvPr/>
          </p:nvSpPr>
          <p:spPr>
            <a:xfrm>
              <a:off x="7104887"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6" name="object 36"/>
            <p:cNvSpPr/>
            <p:nvPr/>
          </p:nvSpPr>
          <p:spPr>
            <a:xfrm>
              <a:off x="7104887"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7" name="object 37"/>
            <p:cNvPicPr/>
            <p:nvPr/>
          </p:nvPicPr>
          <p:blipFill>
            <a:blip r:embed="rId4" cstate="print"/>
            <a:stretch>
              <a:fillRect/>
            </a:stretch>
          </p:blipFill>
          <p:spPr>
            <a:xfrm>
              <a:off x="7219187" y="2438400"/>
              <a:ext cx="76200" cy="228600"/>
            </a:xfrm>
            <a:prstGeom prst="rect">
              <a:avLst/>
            </a:prstGeom>
          </p:spPr>
        </p:pic>
        <p:pic>
          <p:nvPicPr>
            <p:cNvPr id="38" name="object 38"/>
            <p:cNvPicPr/>
            <p:nvPr/>
          </p:nvPicPr>
          <p:blipFill>
            <a:blip r:embed="rId4" cstate="print"/>
            <a:stretch>
              <a:fillRect/>
            </a:stretch>
          </p:blipFill>
          <p:spPr>
            <a:xfrm>
              <a:off x="7219187" y="1905000"/>
              <a:ext cx="76200" cy="228600"/>
            </a:xfrm>
            <a:prstGeom prst="rect">
              <a:avLst/>
            </a:prstGeom>
          </p:spPr>
        </p:pic>
        <p:sp>
          <p:nvSpPr>
            <p:cNvPr id="39" name="object 39"/>
            <p:cNvSpPr/>
            <p:nvPr/>
          </p:nvSpPr>
          <p:spPr>
            <a:xfrm>
              <a:off x="6414516" y="2781299"/>
              <a:ext cx="690880" cy="76200"/>
            </a:xfrm>
            <a:custGeom>
              <a:avLst/>
              <a:gdLst/>
              <a:ahLst/>
              <a:cxnLst/>
              <a:rect l="l" t="t" r="r" b="b"/>
              <a:pathLst>
                <a:path w="690879" h="76200">
                  <a:moveTo>
                    <a:pt x="614172" y="76200"/>
                  </a:moveTo>
                  <a:lnTo>
                    <a:pt x="614172" y="0"/>
                  </a:lnTo>
                  <a:lnTo>
                    <a:pt x="678180" y="32004"/>
                  </a:lnTo>
                  <a:lnTo>
                    <a:pt x="627887" y="32004"/>
                  </a:lnTo>
                  <a:lnTo>
                    <a:pt x="627887" y="45720"/>
                  </a:lnTo>
                  <a:lnTo>
                    <a:pt x="675132" y="45720"/>
                  </a:lnTo>
                  <a:lnTo>
                    <a:pt x="614172" y="76200"/>
                  </a:lnTo>
                  <a:close/>
                </a:path>
                <a:path w="690879" h="76200">
                  <a:moveTo>
                    <a:pt x="614172" y="45720"/>
                  </a:moveTo>
                  <a:lnTo>
                    <a:pt x="0" y="45720"/>
                  </a:lnTo>
                  <a:lnTo>
                    <a:pt x="0" y="32004"/>
                  </a:lnTo>
                  <a:lnTo>
                    <a:pt x="614172" y="32004"/>
                  </a:lnTo>
                  <a:lnTo>
                    <a:pt x="614172" y="45720"/>
                  </a:lnTo>
                  <a:close/>
                </a:path>
                <a:path w="690879" h="76200">
                  <a:moveTo>
                    <a:pt x="675132" y="45720"/>
                  </a:moveTo>
                  <a:lnTo>
                    <a:pt x="627887" y="45720"/>
                  </a:lnTo>
                  <a:lnTo>
                    <a:pt x="627887" y="32004"/>
                  </a:lnTo>
                  <a:lnTo>
                    <a:pt x="678180" y="32004"/>
                  </a:lnTo>
                  <a:lnTo>
                    <a:pt x="690372" y="38100"/>
                  </a:lnTo>
                  <a:lnTo>
                    <a:pt x="675132" y="45720"/>
                  </a:lnTo>
                  <a:close/>
                </a:path>
              </a:pathLst>
            </a:custGeom>
            <a:solidFill>
              <a:srgbClr val="000000"/>
            </a:solidFill>
          </p:spPr>
          <p:txBody>
            <a:bodyPr wrap="square" lIns="0" tIns="0" rIns="0" bIns="0" rtlCol="0"/>
            <a:lstStyle/>
            <a:p>
              <a:endParaRPr sz="1588"/>
            </a:p>
          </p:txBody>
        </p:sp>
        <p:sp>
          <p:nvSpPr>
            <p:cNvPr id="40" name="object 40"/>
            <p:cNvSpPr/>
            <p:nvPr/>
          </p:nvSpPr>
          <p:spPr>
            <a:xfrm>
              <a:off x="8081771" y="32004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1" name="object 41"/>
            <p:cNvSpPr/>
            <p:nvPr/>
          </p:nvSpPr>
          <p:spPr>
            <a:xfrm>
              <a:off x="8081771" y="32004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2" name="object 42"/>
            <p:cNvSpPr/>
            <p:nvPr/>
          </p:nvSpPr>
          <p:spPr>
            <a:xfrm>
              <a:off x="8081771"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3" name="object 43"/>
            <p:cNvSpPr/>
            <p:nvPr/>
          </p:nvSpPr>
          <p:spPr>
            <a:xfrm>
              <a:off x="8081771"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4" name="object 44"/>
            <p:cNvPicPr/>
            <p:nvPr/>
          </p:nvPicPr>
          <p:blipFill>
            <a:blip r:embed="rId4" cstate="print"/>
            <a:stretch>
              <a:fillRect/>
            </a:stretch>
          </p:blipFill>
          <p:spPr>
            <a:xfrm>
              <a:off x="8196072" y="2971800"/>
              <a:ext cx="76200" cy="228600"/>
            </a:xfrm>
            <a:prstGeom prst="rect">
              <a:avLst/>
            </a:prstGeom>
          </p:spPr>
        </p:pic>
        <p:sp>
          <p:nvSpPr>
            <p:cNvPr id="45" name="object 45"/>
            <p:cNvSpPr/>
            <p:nvPr/>
          </p:nvSpPr>
          <p:spPr>
            <a:xfrm>
              <a:off x="8081771"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6" name="object 46"/>
            <p:cNvSpPr/>
            <p:nvPr/>
          </p:nvSpPr>
          <p:spPr>
            <a:xfrm>
              <a:off x="8081771"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7" name="object 47"/>
            <p:cNvPicPr/>
            <p:nvPr/>
          </p:nvPicPr>
          <p:blipFill>
            <a:blip r:embed="rId4" cstate="print"/>
            <a:stretch>
              <a:fillRect/>
            </a:stretch>
          </p:blipFill>
          <p:spPr>
            <a:xfrm>
              <a:off x="8196072" y="2438400"/>
              <a:ext cx="76200" cy="228600"/>
            </a:xfrm>
            <a:prstGeom prst="rect">
              <a:avLst/>
            </a:prstGeom>
          </p:spPr>
        </p:pic>
        <p:pic>
          <p:nvPicPr>
            <p:cNvPr id="48" name="object 48"/>
            <p:cNvPicPr/>
            <p:nvPr/>
          </p:nvPicPr>
          <p:blipFill>
            <a:blip r:embed="rId4" cstate="print"/>
            <a:stretch>
              <a:fillRect/>
            </a:stretch>
          </p:blipFill>
          <p:spPr>
            <a:xfrm>
              <a:off x="8196072" y="1905000"/>
              <a:ext cx="76200" cy="228600"/>
            </a:xfrm>
            <a:prstGeom prst="rect">
              <a:avLst/>
            </a:prstGeom>
          </p:spPr>
        </p:pic>
        <p:sp>
          <p:nvSpPr>
            <p:cNvPr id="49" name="object 49"/>
            <p:cNvSpPr/>
            <p:nvPr/>
          </p:nvSpPr>
          <p:spPr>
            <a:xfrm>
              <a:off x="7402067" y="27812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grpSp>
      <p:sp>
        <p:nvSpPr>
          <p:cNvPr id="50" name="object 50"/>
          <p:cNvSpPr txBox="1"/>
          <p:nvPr/>
        </p:nvSpPr>
        <p:spPr>
          <a:xfrm>
            <a:off x="3520419" y="3043913"/>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0</a:t>
            </a:r>
            <a:r>
              <a:rPr sz="1412" spc="-4" dirty="0">
                <a:latin typeface="Calibri"/>
                <a:cs typeface="Calibri"/>
              </a:rPr>
              <a:t>)</a:t>
            </a:r>
            <a:endParaRPr sz="1412">
              <a:latin typeface="Calibri"/>
              <a:cs typeface="Calibri"/>
            </a:endParaRPr>
          </a:p>
        </p:txBody>
      </p:sp>
      <p:grpSp>
        <p:nvGrpSpPr>
          <p:cNvPr id="51" name="object 51"/>
          <p:cNvGrpSpPr/>
          <p:nvPr/>
        </p:nvGrpSpPr>
        <p:grpSpPr>
          <a:xfrm>
            <a:off x="2665654" y="1680882"/>
            <a:ext cx="3228974" cy="1143000"/>
            <a:chOff x="1141475" y="1905000"/>
            <a:chExt cx="3659504" cy="1295400"/>
          </a:xfrm>
        </p:grpSpPr>
        <p:sp>
          <p:nvSpPr>
            <p:cNvPr id="52" name="object 52"/>
            <p:cNvSpPr/>
            <p:nvPr/>
          </p:nvSpPr>
          <p:spPr>
            <a:xfrm>
              <a:off x="2142744" y="2667000"/>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53" name="object 53"/>
            <p:cNvSpPr/>
            <p:nvPr/>
          </p:nvSpPr>
          <p:spPr>
            <a:xfrm>
              <a:off x="2142744" y="2667000"/>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4" name="object 54"/>
            <p:cNvPicPr/>
            <p:nvPr/>
          </p:nvPicPr>
          <p:blipFill>
            <a:blip r:embed="rId4" cstate="print"/>
            <a:stretch>
              <a:fillRect/>
            </a:stretch>
          </p:blipFill>
          <p:spPr>
            <a:xfrm>
              <a:off x="2257044" y="2971800"/>
              <a:ext cx="76200" cy="228600"/>
            </a:xfrm>
            <a:prstGeom prst="rect">
              <a:avLst/>
            </a:prstGeom>
          </p:spPr>
        </p:pic>
        <p:sp>
          <p:nvSpPr>
            <p:cNvPr id="55" name="object 55"/>
            <p:cNvSpPr/>
            <p:nvPr/>
          </p:nvSpPr>
          <p:spPr>
            <a:xfrm>
              <a:off x="2142744" y="2133600"/>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56" name="object 56"/>
            <p:cNvSpPr/>
            <p:nvPr/>
          </p:nvSpPr>
          <p:spPr>
            <a:xfrm>
              <a:off x="2142744" y="2133600"/>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7" name="object 57"/>
            <p:cNvPicPr/>
            <p:nvPr/>
          </p:nvPicPr>
          <p:blipFill>
            <a:blip r:embed="rId4" cstate="print"/>
            <a:stretch>
              <a:fillRect/>
            </a:stretch>
          </p:blipFill>
          <p:spPr>
            <a:xfrm>
              <a:off x="2257044" y="2438400"/>
              <a:ext cx="76200" cy="228600"/>
            </a:xfrm>
            <a:prstGeom prst="rect">
              <a:avLst/>
            </a:prstGeom>
          </p:spPr>
        </p:pic>
        <p:pic>
          <p:nvPicPr>
            <p:cNvPr id="58" name="object 58"/>
            <p:cNvPicPr/>
            <p:nvPr/>
          </p:nvPicPr>
          <p:blipFill>
            <a:blip r:embed="rId4" cstate="print"/>
            <a:stretch>
              <a:fillRect/>
            </a:stretch>
          </p:blipFill>
          <p:spPr>
            <a:xfrm>
              <a:off x="2257044" y="1905000"/>
              <a:ext cx="76200" cy="228600"/>
            </a:xfrm>
            <a:prstGeom prst="rect">
              <a:avLst/>
            </a:prstGeom>
          </p:spPr>
        </p:pic>
        <p:sp>
          <p:nvSpPr>
            <p:cNvPr id="59" name="object 59"/>
            <p:cNvSpPr/>
            <p:nvPr/>
          </p:nvSpPr>
          <p:spPr>
            <a:xfrm>
              <a:off x="1142999"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60" name="object 60"/>
            <p:cNvSpPr/>
            <p:nvPr/>
          </p:nvSpPr>
          <p:spPr>
            <a:xfrm>
              <a:off x="1142999"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1" name="object 61"/>
            <p:cNvSpPr/>
            <p:nvPr/>
          </p:nvSpPr>
          <p:spPr>
            <a:xfrm>
              <a:off x="1447799" y="27812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62" name="object 62"/>
            <p:cNvSpPr/>
            <p:nvPr/>
          </p:nvSpPr>
          <p:spPr>
            <a:xfrm>
              <a:off x="3124199"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3" name="object 63"/>
            <p:cNvSpPr/>
            <p:nvPr/>
          </p:nvSpPr>
          <p:spPr>
            <a:xfrm>
              <a:off x="3124199"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4" name="object 64"/>
            <p:cNvPicPr/>
            <p:nvPr/>
          </p:nvPicPr>
          <p:blipFill>
            <a:blip r:embed="rId5" cstate="print"/>
            <a:stretch>
              <a:fillRect/>
            </a:stretch>
          </p:blipFill>
          <p:spPr>
            <a:xfrm>
              <a:off x="3238499" y="2971800"/>
              <a:ext cx="76200" cy="228600"/>
            </a:xfrm>
            <a:prstGeom prst="rect">
              <a:avLst/>
            </a:prstGeom>
          </p:spPr>
        </p:pic>
        <p:sp>
          <p:nvSpPr>
            <p:cNvPr id="65" name="object 65"/>
            <p:cNvSpPr/>
            <p:nvPr/>
          </p:nvSpPr>
          <p:spPr>
            <a:xfrm>
              <a:off x="3124199"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6" name="object 66"/>
            <p:cNvSpPr/>
            <p:nvPr/>
          </p:nvSpPr>
          <p:spPr>
            <a:xfrm>
              <a:off x="3124199"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7" name="object 67"/>
            <p:cNvPicPr/>
            <p:nvPr/>
          </p:nvPicPr>
          <p:blipFill>
            <a:blip r:embed="rId5" cstate="print"/>
            <a:stretch>
              <a:fillRect/>
            </a:stretch>
          </p:blipFill>
          <p:spPr>
            <a:xfrm>
              <a:off x="3238499" y="2438400"/>
              <a:ext cx="76200" cy="228600"/>
            </a:xfrm>
            <a:prstGeom prst="rect">
              <a:avLst/>
            </a:prstGeom>
          </p:spPr>
        </p:pic>
        <p:pic>
          <p:nvPicPr>
            <p:cNvPr id="68" name="object 68"/>
            <p:cNvPicPr/>
            <p:nvPr/>
          </p:nvPicPr>
          <p:blipFill>
            <a:blip r:embed="rId5" cstate="print"/>
            <a:stretch>
              <a:fillRect/>
            </a:stretch>
          </p:blipFill>
          <p:spPr>
            <a:xfrm>
              <a:off x="3238499" y="1905000"/>
              <a:ext cx="76200" cy="228600"/>
            </a:xfrm>
            <a:prstGeom prst="rect">
              <a:avLst/>
            </a:prstGeom>
          </p:spPr>
        </p:pic>
        <p:sp>
          <p:nvSpPr>
            <p:cNvPr id="69" name="object 69"/>
            <p:cNvSpPr/>
            <p:nvPr/>
          </p:nvSpPr>
          <p:spPr>
            <a:xfrm>
              <a:off x="2447543" y="2781299"/>
              <a:ext cx="692150" cy="76200"/>
            </a:xfrm>
            <a:custGeom>
              <a:avLst/>
              <a:gdLst/>
              <a:ahLst/>
              <a:cxnLst/>
              <a:rect l="l" t="t" r="r" b="b"/>
              <a:pathLst>
                <a:path w="692150" h="76200">
                  <a:moveTo>
                    <a:pt x="615696" y="76200"/>
                  </a:moveTo>
                  <a:lnTo>
                    <a:pt x="615696" y="0"/>
                  </a:lnTo>
                  <a:lnTo>
                    <a:pt x="679704" y="32004"/>
                  </a:lnTo>
                  <a:lnTo>
                    <a:pt x="627887" y="32004"/>
                  </a:lnTo>
                  <a:lnTo>
                    <a:pt x="627887" y="45720"/>
                  </a:lnTo>
                  <a:lnTo>
                    <a:pt x="676656" y="45720"/>
                  </a:lnTo>
                  <a:lnTo>
                    <a:pt x="615696" y="76200"/>
                  </a:lnTo>
                  <a:close/>
                </a:path>
                <a:path w="692150" h="76200">
                  <a:moveTo>
                    <a:pt x="615696" y="45720"/>
                  </a:moveTo>
                  <a:lnTo>
                    <a:pt x="0" y="45720"/>
                  </a:lnTo>
                  <a:lnTo>
                    <a:pt x="0" y="32004"/>
                  </a:lnTo>
                  <a:lnTo>
                    <a:pt x="615696" y="32004"/>
                  </a:lnTo>
                  <a:lnTo>
                    <a:pt x="615696" y="45720"/>
                  </a:lnTo>
                  <a:close/>
                </a:path>
                <a:path w="692150" h="76200">
                  <a:moveTo>
                    <a:pt x="676656" y="45720"/>
                  </a:moveTo>
                  <a:lnTo>
                    <a:pt x="627887" y="45720"/>
                  </a:lnTo>
                  <a:lnTo>
                    <a:pt x="627887" y="32004"/>
                  </a:lnTo>
                  <a:lnTo>
                    <a:pt x="679704" y="32004"/>
                  </a:lnTo>
                  <a:lnTo>
                    <a:pt x="691896" y="38100"/>
                  </a:lnTo>
                  <a:lnTo>
                    <a:pt x="676656" y="45720"/>
                  </a:lnTo>
                  <a:close/>
                </a:path>
              </a:pathLst>
            </a:custGeom>
            <a:solidFill>
              <a:srgbClr val="000000"/>
            </a:solidFill>
          </p:spPr>
          <p:txBody>
            <a:bodyPr wrap="square" lIns="0" tIns="0" rIns="0" bIns="0" rtlCol="0"/>
            <a:lstStyle/>
            <a:p>
              <a:endParaRPr sz="1588"/>
            </a:p>
          </p:txBody>
        </p:sp>
        <p:sp>
          <p:nvSpPr>
            <p:cNvPr id="70" name="object 70"/>
            <p:cNvSpPr/>
            <p:nvPr/>
          </p:nvSpPr>
          <p:spPr>
            <a:xfrm>
              <a:off x="4133088" y="26670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1" name="object 71"/>
            <p:cNvSpPr/>
            <p:nvPr/>
          </p:nvSpPr>
          <p:spPr>
            <a:xfrm>
              <a:off x="4133088" y="2667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2" name="object 72"/>
            <p:cNvPicPr/>
            <p:nvPr/>
          </p:nvPicPr>
          <p:blipFill>
            <a:blip r:embed="rId4" cstate="print"/>
            <a:stretch>
              <a:fillRect/>
            </a:stretch>
          </p:blipFill>
          <p:spPr>
            <a:xfrm>
              <a:off x="4247387" y="2971800"/>
              <a:ext cx="76200" cy="228600"/>
            </a:xfrm>
            <a:prstGeom prst="rect">
              <a:avLst/>
            </a:prstGeom>
          </p:spPr>
        </p:pic>
        <p:sp>
          <p:nvSpPr>
            <p:cNvPr id="73" name="object 73"/>
            <p:cNvSpPr/>
            <p:nvPr/>
          </p:nvSpPr>
          <p:spPr>
            <a:xfrm>
              <a:off x="4133088" y="2133600"/>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74" name="object 74"/>
            <p:cNvSpPr/>
            <p:nvPr/>
          </p:nvSpPr>
          <p:spPr>
            <a:xfrm>
              <a:off x="4133088"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75" name="object 75"/>
            <p:cNvPicPr/>
            <p:nvPr/>
          </p:nvPicPr>
          <p:blipFill>
            <a:blip r:embed="rId4" cstate="print"/>
            <a:stretch>
              <a:fillRect/>
            </a:stretch>
          </p:blipFill>
          <p:spPr>
            <a:xfrm>
              <a:off x="4247387" y="2438400"/>
              <a:ext cx="76200" cy="228600"/>
            </a:xfrm>
            <a:prstGeom prst="rect">
              <a:avLst/>
            </a:prstGeom>
          </p:spPr>
        </p:pic>
        <p:pic>
          <p:nvPicPr>
            <p:cNvPr id="76" name="object 76"/>
            <p:cNvPicPr/>
            <p:nvPr/>
          </p:nvPicPr>
          <p:blipFill>
            <a:blip r:embed="rId4" cstate="print"/>
            <a:stretch>
              <a:fillRect/>
            </a:stretch>
          </p:blipFill>
          <p:spPr>
            <a:xfrm>
              <a:off x="4247387" y="1905000"/>
              <a:ext cx="76200" cy="228600"/>
            </a:xfrm>
            <a:prstGeom prst="rect">
              <a:avLst/>
            </a:prstGeom>
          </p:spPr>
        </p:pic>
        <p:sp>
          <p:nvSpPr>
            <p:cNvPr id="77" name="object 77"/>
            <p:cNvSpPr/>
            <p:nvPr/>
          </p:nvSpPr>
          <p:spPr>
            <a:xfrm>
              <a:off x="3436607" y="2781299"/>
              <a:ext cx="1364615" cy="76200"/>
            </a:xfrm>
            <a:custGeom>
              <a:avLst/>
              <a:gdLst/>
              <a:ahLst/>
              <a:cxnLst/>
              <a:rect l="l" t="t" r="r" b="b"/>
              <a:pathLst>
                <a:path w="1364614" h="76200">
                  <a:moveTo>
                    <a:pt x="690372" y="38100"/>
                  </a:moveTo>
                  <a:lnTo>
                    <a:pt x="678180" y="32004"/>
                  </a:lnTo>
                  <a:lnTo>
                    <a:pt x="614172" y="0"/>
                  </a:lnTo>
                  <a:lnTo>
                    <a:pt x="614172" y="32004"/>
                  </a:lnTo>
                  <a:lnTo>
                    <a:pt x="0" y="32004"/>
                  </a:lnTo>
                  <a:lnTo>
                    <a:pt x="0" y="45720"/>
                  </a:lnTo>
                  <a:lnTo>
                    <a:pt x="614172" y="45720"/>
                  </a:lnTo>
                  <a:lnTo>
                    <a:pt x="614172" y="76200"/>
                  </a:lnTo>
                  <a:lnTo>
                    <a:pt x="675132" y="45720"/>
                  </a:lnTo>
                  <a:lnTo>
                    <a:pt x="690372" y="38100"/>
                  </a:lnTo>
                  <a:close/>
                </a:path>
                <a:path w="1364614" h="76200">
                  <a:moveTo>
                    <a:pt x="1363992" y="38100"/>
                  </a:moveTo>
                  <a:lnTo>
                    <a:pt x="1351800" y="32004"/>
                  </a:lnTo>
                  <a:lnTo>
                    <a:pt x="1287792" y="0"/>
                  </a:lnTo>
                  <a:lnTo>
                    <a:pt x="1287792" y="32004"/>
                  </a:lnTo>
                  <a:lnTo>
                    <a:pt x="1010424" y="32004"/>
                  </a:lnTo>
                  <a:lnTo>
                    <a:pt x="1010424" y="45720"/>
                  </a:lnTo>
                  <a:lnTo>
                    <a:pt x="1287792" y="45720"/>
                  </a:lnTo>
                  <a:lnTo>
                    <a:pt x="1287792" y="76200"/>
                  </a:lnTo>
                  <a:lnTo>
                    <a:pt x="1348752" y="45720"/>
                  </a:lnTo>
                  <a:lnTo>
                    <a:pt x="1363992" y="38100"/>
                  </a:lnTo>
                  <a:close/>
                </a:path>
              </a:pathLst>
            </a:custGeom>
            <a:solidFill>
              <a:srgbClr val="000000"/>
            </a:solidFill>
          </p:spPr>
          <p:txBody>
            <a:bodyPr wrap="square" lIns="0" tIns="0" rIns="0" bIns="0" rtlCol="0"/>
            <a:lstStyle/>
            <a:p>
              <a:endParaRPr sz="1588"/>
            </a:p>
          </p:txBody>
        </p:sp>
      </p:grpSp>
      <p:sp>
        <p:nvSpPr>
          <p:cNvPr id="78" name="object 78"/>
          <p:cNvSpPr txBox="1"/>
          <p:nvPr/>
        </p:nvSpPr>
        <p:spPr>
          <a:xfrm>
            <a:off x="2564018" y="3086512"/>
            <a:ext cx="6494368" cy="2428067"/>
          </a:xfrm>
          <a:prstGeom prst="rect">
            <a:avLst/>
          </a:prstGeom>
        </p:spPr>
        <p:txBody>
          <a:bodyPr vert="horz" wrap="square" lIns="0" tIns="11206" rIns="0" bIns="0" rtlCol="0">
            <a:spAutoFit/>
          </a:bodyPr>
          <a:lstStyle/>
          <a:p>
            <a:pPr marL="846650">
              <a:spcBef>
                <a:spcPts val="88"/>
              </a:spcBef>
            </a:pPr>
            <a:r>
              <a:rPr sz="1588" dirty="0">
                <a:solidFill>
                  <a:srgbClr val="0000CC"/>
                </a:solidFill>
                <a:latin typeface="Calibri"/>
                <a:cs typeface="Calibri"/>
              </a:rPr>
              <a:t>t</a:t>
            </a:r>
            <a:endParaRPr sz="1588" dirty="0">
              <a:latin typeface="Calibri"/>
              <a:cs typeface="Calibri"/>
            </a:endParaRPr>
          </a:p>
          <a:p>
            <a:pPr marL="336194" indent="-302575">
              <a:spcBef>
                <a:spcPts val="1363"/>
              </a:spcBef>
              <a:buFont typeface="Arial"/>
              <a:buChar char="•"/>
              <a:tabLst>
                <a:tab pos="335634" algn="l"/>
                <a:tab pos="336194" algn="l"/>
              </a:tabLst>
            </a:pPr>
            <a:r>
              <a:rPr sz="1600" dirty="0">
                <a:latin typeface="Calibri"/>
                <a:cs typeface="Calibri"/>
              </a:rPr>
              <a:t>Back</a:t>
            </a:r>
            <a:r>
              <a:rPr sz="1600" spc="-18" dirty="0">
                <a:latin typeface="Calibri"/>
                <a:cs typeface="Calibri"/>
              </a:rPr>
              <a:t> </a:t>
            </a:r>
            <a:r>
              <a:rPr sz="1600" spc="-9" dirty="0">
                <a:latin typeface="Calibri"/>
                <a:cs typeface="Calibri"/>
              </a:rPr>
              <a:t>propagation</a:t>
            </a:r>
            <a:r>
              <a:rPr sz="1600" spc="4" dirty="0">
                <a:latin typeface="Calibri"/>
                <a:cs typeface="Calibri"/>
              </a:rPr>
              <a:t> </a:t>
            </a:r>
            <a:r>
              <a:rPr sz="1600" spc="-4" dirty="0">
                <a:latin typeface="Calibri"/>
                <a:cs typeface="Calibri"/>
              </a:rPr>
              <a:t>through</a:t>
            </a:r>
            <a:r>
              <a:rPr sz="1600" dirty="0">
                <a:latin typeface="Calibri"/>
                <a:cs typeface="Calibri"/>
              </a:rPr>
              <a:t> </a:t>
            </a:r>
            <a:r>
              <a:rPr sz="1600" spc="-4" dirty="0">
                <a:latin typeface="Calibri"/>
                <a:cs typeface="Calibri"/>
              </a:rPr>
              <a:t>time</a:t>
            </a:r>
            <a:r>
              <a:rPr sz="1600" dirty="0">
                <a:latin typeface="Calibri"/>
                <a:cs typeface="Calibri"/>
              </a:rPr>
              <a:t> </a:t>
            </a:r>
            <a:r>
              <a:rPr sz="1600" spc="-4" dirty="0">
                <a:latin typeface="Calibri"/>
                <a:cs typeface="Calibri"/>
              </a:rPr>
              <a:t>(BPTT)</a:t>
            </a:r>
            <a:endParaRPr sz="1600" dirty="0">
              <a:latin typeface="Calibri"/>
              <a:cs typeface="Calibri"/>
            </a:endParaRPr>
          </a:p>
          <a:p>
            <a:pPr>
              <a:lnSpc>
                <a:spcPct val="100000"/>
              </a:lnSpc>
              <a:buFont typeface="Arial"/>
              <a:buChar char="•"/>
            </a:pPr>
            <a:endParaRPr sz="1600" dirty="0">
              <a:latin typeface="Calibri"/>
              <a:cs typeface="Calibri"/>
            </a:endParaRPr>
          </a:p>
          <a:p>
            <a:pPr marL="336194" indent="-302575">
              <a:spcBef>
                <a:spcPts val="4"/>
              </a:spcBef>
              <a:buFont typeface="Arial"/>
              <a:buChar char="•"/>
              <a:tabLst>
                <a:tab pos="335634" algn="l"/>
                <a:tab pos="336194" algn="l"/>
              </a:tabLst>
            </a:pPr>
            <a:r>
              <a:rPr sz="1600" spc="-4" dirty="0">
                <a:latin typeface="Calibri"/>
                <a:cs typeface="Calibri"/>
              </a:rPr>
              <a:t>Given</a:t>
            </a:r>
            <a:r>
              <a:rPr sz="1600" spc="-9" dirty="0">
                <a:latin typeface="Calibri"/>
                <a:cs typeface="Calibri"/>
              </a:rPr>
              <a:t> </a:t>
            </a:r>
            <a:r>
              <a:rPr sz="1600" dirty="0">
                <a:latin typeface="Calibri"/>
                <a:cs typeface="Calibri"/>
              </a:rPr>
              <a:t>a </a:t>
            </a:r>
            <a:r>
              <a:rPr sz="1600" spc="-9" dirty="0">
                <a:latin typeface="Calibri"/>
                <a:cs typeface="Calibri"/>
              </a:rPr>
              <a:t>collection</a:t>
            </a:r>
            <a:r>
              <a:rPr sz="1600" spc="22" dirty="0">
                <a:latin typeface="Calibri"/>
                <a:cs typeface="Calibri"/>
              </a:rPr>
              <a:t> </a:t>
            </a:r>
            <a:r>
              <a:rPr sz="1600" dirty="0">
                <a:latin typeface="Calibri"/>
                <a:cs typeface="Calibri"/>
              </a:rPr>
              <a:t>of</a:t>
            </a:r>
            <a:r>
              <a:rPr sz="1600" spc="-9" dirty="0">
                <a:latin typeface="Calibri"/>
                <a:cs typeface="Calibri"/>
              </a:rPr>
              <a:t> </a:t>
            </a:r>
            <a:r>
              <a:rPr sz="1600" i="1" spc="-4" dirty="0">
                <a:latin typeface="Calibri"/>
                <a:cs typeface="Calibri"/>
              </a:rPr>
              <a:t>sequence</a:t>
            </a:r>
            <a:r>
              <a:rPr sz="1600" i="1" spc="26" dirty="0">
                <a:latin typeface="Calibri"/>
                <a:cs typeface="Calibri"/>
              </a:rPr>
              <a:t> </a:t>
            </a:r>
            <a:r>
              <a:rPr sz="1600" spc="-4" dirty="0">
                <a:latin typeface="Calibri"/>
                <a:cs typeface="Calibri"/>
              </a:rPr>
              <a:t>inputs</a:t>
            </a:r>
            <a:endParaRPr sz="1600" dirty="0">
              <a:latin typeface="Calibri"/>
              <a:cs typeface="Calibri"/>
            </a:endParaRPr>
          </a:p>
          <a:p>
            <a:pPr marL="437053">
              <a:spcBef>
                <a:spcPts val="339"/>
              </a:spcBef>
              <a:tabLst>
                <a:tab pos="689759" algn="l"/>
              </a:tabLst>
            </a:pPr>
            <a:r>
              <a:rPr sz="1600" dirty="0">
                <a:latin typeface="Arial"/>
                <a:cs typeface="Arial"/>
              </a:rPr>
              <a:t>–	</a:t>
            </a:r>
            <a:r>
              <a:rPr sz="1600" dirty="0">
                <a:latin typeface="Cambria Math"/>
                <a:cs typeface="Cambria Math"/>
              </a:rPr>
              <a:t>(</a:t>
            </a:r>
            <a:r>
              <a:rPr sz="1600" spc="49" dirty="0">
                <a:latin typeface="Cambria Math"/>
                <a:cs typeface="Cambria Math"/>
              </a:rPr>
              <a:t>𝐗</a:t>
            </a:r>
            <a:r>
              <a:rPr sz="1600" spc="224" baseline="-15151" dirty="0">
                <a:latin typeface="Cambria Math"/>
                <a:cs typeface="Cambria Math"/>
              </a:rPr>
              <a:t>i</a:t>
            </a:r>
            <a:r>
              <a:rPr sz="1600" dirty="0">
                <a:latin typeface="Cambria Math"/>
                <a:cs typeface="Cambria Math"/>
              </a:rPr>
              <a:t>,</a:t>
            </a:r>
            <a:r>
              <a:rPr sz="1600" spc="-66" dirty="0">
                <a:latin typeface="Cambria Math"/>
                <a:cs typeface="Cambria Math"/>
              </a:rPr>
              <a:t> </a:t>
            </a:r>
            <a:r>
              <a:rPr sz="1600" dirty="0">
                <a:latin typeface="Cambria Math"/>
                <a:cs typeface="Cambria Math"/>
              </a:rPr>
              <a:t>𝐃</a:t>
            </a:r>
            <a:r>
              <a:rPr sz="1600" spc="224" baseline="-15151" dirty="0">
                <a:latin typeface="Cambria Math"/>
                <a:cs typeface="Cambria Math"/>
              </a:rPr>
              <a:t>i</a:t>
            </a:r>
            <a:r>
              <a:rPr sz="1600" spc="9" dirty="0">
                <a:latin typeface="Cambria Math"/>
                <a:cs typeface="Cambria Math"/>
              </a:rPr>
              <a:t>)</a:t>
            </a:r>
            <a:r>
              <a:rPr sz="1600" dirty="0">
                <a:latin typeface="Calibri"/>
                <a:cs typeface="Calibri"/>
              </a:rPr>
              <a:t>, </a:t>
            </a:r>
            <a:r>
              <a:rPr sz="1600" spc="-4" dirty="0">
                <a:latin typeface="Calibri"/>
                <a:cs typeface="Calibri"/>
              </a:rPr>
              <a:t> </a:t>
            </a:r>
            <a:r>
              <a:rPr sz="1600" spc="-9" dirty="0">
                <a:latin typeface="Calibri"/>
                <a:cs typeface="Calibri"/>
              </a:rPr>
              <a:t>w</a:t>
            </a:r>
            <a:r>
              <a:rPr sz="1600" spc="4" dirty="0">
                <a:latin typeface="Calibri"/>
                <a:cs typeface="Calibri"/>
              </a:rPr>
              <a:t>h</a:t>
            </a:r>
            <a:r>
              <a:rPr sz="1600" spc="-13" dirty="0">
                <a:latin typeface="Calibri"/>
                <a:cs typeface="Calibri"/>
              </a:rPr>
              <a:t>er</a:t>
            </a:r>
            <a:r>
              <a:rPr sz="1600" dirty="0">
                <a:latin typeface="Calibri"/>
                <a:cs typeface="Calibri"/>
              </a:rPr>
              <a:t>e</a:t>
            </a:r>
          </a:p>
          <a:p>
            <a:pPr marL="437053">
              <a:spcBef>
                <a:spcPts val="578"/>
              </a:spcBef>
              <a:tabLst>
                <a:tab pos="689759" algn="l"/>
              </a:tabLst>
            </a:pPr>
            <a:r>
              <a:rPr sz="1600" dirty="0">
                <a:latin typeface="Arial"/>
                <a:cs typeface="Arial"/>
              </a:rPr>
              <a:t>–	</a:t>
            </a:r>
            <a:r>
              <a:rPr sz="1600" spc="49" dirty="0">
                <a:latin typeface="Cambria Math"/>
                <a:cs typeface="Cambria Math"/>
              </a:rPr>
              <a:t>𝐗</a:t>
            </a:r>
            <a:r>
              <a:rPr sz="1600" spc="99" baseline="-15151" dirty="0">
                <a:latin typeface="Cambria Math"/>
                <a:cs typeface="Cambria Math"/>
              </a:rPr>
              <a:t>i</a:t>
            </a:r>
            <a:r>
              <a:rPr sz="1600" baseline="-15151" dirty="0">
                <a:latin typeface="Cambria Math"/>
                <a:cs typeface="Cambria Math"/>
              </a:rPr>
              <a:t> </a:t>
            </a:r>
            <a:r>
              <a:rPr sz="1600" spc="39" baseline="-15151" dirty="0">
                <a:latin typeface="Cambria Math"/>
                <a:cs typeface="Cambria Math"/>
              </a:rPr>
              <a:t> </a:t>
            </a:r>
            <a:r>
              <a:rPr sz="1600" dirty="0">
                <a:latin typeface="Cambria Math"/>
                <a:cs typeface="Cambria Math"/>
              </a:rPr>
              <a:t>=</a:t>
            </a:r>
            <a:r>
              <a:rPr sz="1600" spc="75" dirty="0">
                <a:latin typeface="Cambria Math"/>
                <a:cs typeface="Cambria Math"/>
              </a:rPr>
              <a:t> </a:t>
            </a:r>
            <a:r>
              <a:rPr sz="1600" spc="-49" dirty="0">
                <a:latin typeface="Cambria Math"/>
                <a:cs typeface="Cambria Math"/>
              </a:rPr>
              <a:t>𝑋</a:t>
            </a:r>
            <a:r>
              <a:rPr sz="1600" spc="132" baseline="-15151" dirty="0">
                <a:latin typeface="Cambria Math"/>
                <a:cs typeface="Cambria Math"/>
              </a:rPr>
              <a:t>i</a:t>
            </a:r>
            <a:r>
              <a:rPr sz="1600" spc="-6" baseline="-15151" dirty="0">
                <a:latin typeface="Cambria Math"/>
                <a:cs typeface="Cambria Math"/>
              </a:rPr>
              <a:t>,</a:t>
            </a:r>
            <a:r>
              <a:rPr sz="1600" spc="106" baseline="-15151" dirty="0">
                <a:latin typeface="Cambria Math"/>
                <a:cs typeface="Cambria Math"/>
              </a:rPr>
              <a:t>0</a:t>
            </a:r>
            <a:r>
              <a:rPr sz="1600" dirty="0">
                <a:latin typeface="Cambria Math"/>
                <a:cs typeface="Cambria Math"/>
              </a:rPr>
              <a:t>,</a:t>
            </a:r>
            <a:r>
              <a:rPr sz="1600" spc="-62" dirty="0">
                <a:latin typeface="Cambria Math"/>
                <a:cs typeface="Cambria Math"/>
              </a:rPr>
              <a:t> </a:t>
            </a:r>
            <a:r>
              <a:rPr sz="1600" dirty="0">
                <a:latin typeface="Cambria Math"/>
                <a:cs typeface="Cambria Math"/>
              </a:rPr>
              <a:t>…</a:t>
            </a:r>
            <a:r>
              <a:rPr sz="1600" spc="-71" dirty="0">
                <a:latin typeface="Cambria Math"/>
                <a:cs typeface="Cambria Math"/>
              </a:rPr>
              <a:t> </a:t>
            </a:r>
            <a:r>
              <a:rPr sz="1600" dirty="0">
                <a:latin typeface="Cambria Math"/>
                <a:cs typeface="Cambria Math"/>
              </a:rPr>
              <a:t>,</a:t>
            </a:r>
            <a:r>
              <a:rPr sz="1600" spc="-75" dirty="0">
                <a:latin typeface="Cambria Math"/>
                <a:cs typeface="Cambria Math"/>
              </a:rPr>
              <a:t> </a:t>
            </a:r>
            <a:r>
              <a:rPr sz="1600" spc="-49" dirty="0">
                <a:latin typeface="Cambria Math"/>
                <a:cs typeface="Cambria Math"/>
              </a:rPr>
              <a:t>𝑋</a:t>
            </a:r>
            <a:r>
              <a:rPr sz="1600" spc="132" baseline="-15151" dirty="0">
                <a:latin typeface="Cambria Math"/>
                <a:cs typeface="Cambria Math"/>
              </a:rPr>
              <a:t>i</a:t>
            </a:r>
            <a:r>
              <a:rPr sz="1600" spc="-6" baseline="-15151" dirty="0">
                <a:latin typeface="Cambria Math"/>
                <a:cs typeface="Cambria Math"/>
              </a:rPr>
              <a:t>,</a:t>
            </a:r>
            <a:r>
              <a:rPr sz="1600" spc="19" baseline="-15151" dirty="0">
                <a:latin typeface="Cambria Math"/>
                <a:cs typeface="Cambria Math"/>
              </a:rPr>
              <a:t>T</a:t>
            </a:r>
            <a:endParaRPr sz="1600" baseline="-15151" dirty="0">
              <a:latin typeface="Cambria Math"/>
              <a:cs typeface="Cambria Math"/>
            </a:endParaRPr>
          </a:p>
          <a:p>
            <a:pPr marL="437053">
              <a:spcBef>
                <a:spcPts val="732"/>
              </a:spcBef>
              <a:tabLst>
                <a:tab pos="689759" algn="l"/>
              </a:tabLst>
            </a:pPr>
            <a:r>
              <a:rPr sz="1600" dirty="0">
                <a:latin typeface="Arial"/>
                <a:cs typeface="Arial"/>
              </a:rPr>
              <a:t>–	</a:t>
            </a:r>
            <a:r>
              <a:rPr sz="1600" dirty="0">
                <a:latin typeface="Cambria Math"/>
                <a:cs typeface="Cambria Math"/>
              </a:rPr>
              <a:t>𝐃</a:t>
            </a:r>
            <a:r>
              <a:rPr sz="1600" spc="99" baseline="-15151" dirty="0">
                <a:latin typeface="Cambria Math"/>
                <a:cs typeface="Cambria Math"/>
              </a:rPr>
              <a:t>i </a:t>
            </a:r>
            <a:r>
              <a:rPr sz="1600" spc="26" baseline="-15151" dirty="0">
                <a:latin typeface="Cambria Math"/>
                <a:cs typeface="Cambria Math"/>
              </a:rPr>
              <a:t> </a:t>
            </a:r>
            <a:r>
              <a:rPr sz="1600" dirty="0">
                <a:latin typeface="Cambria Math"/>
                <a:cs typeface="Cambria Math"/>
              </a:rPr>
              <a:t>=</a:t>
            </a:r>
            <a:r>
              <a:rPr sz="1600" spc="84" dirty="0">
                <a:latin typeface="Cambria Math"/>
                <a:cs typeface="Cambria Math"/>
              </a:rPr>
              <a:t> </a:t>
            </a:r>
            <a:r>
              <a:rPr sz="1600" spc="-71" dirty="0">
                <a:latin typeface="Cambria Math"/>
                <a:cs typeface="Cambria Math"/>
              </a:rPr>
              <a:t>𝐷</a:t>
            </a:r>
            <a:r>
              <a:rPr sz="1600" spc="132" baseline="-15151" dirty="0">
                <a:latin typeface="Cambria Math"/>
                <a:cs typeface="Cambria Math"/>
              </a:rPr>
              <a:t>i</a:t>
            </a:r>
            <a:r>
              <a:rPr sz="1600" spc="-6" baseline="-15151" dirty="0">
                <a:latin typeface="Cambria Math"/>
                <a:cs typeface="Cambria Math"/>
              </a:rPr>
              <a:t>,</a:t>
            </a:r>
            <a:r>
              <a:rPr sz="1600" spc="125" baseline="-15151" dirty="0">
                <a:latin typeface="Cambria Math"/>
                <a:cs typeface="Cambria Math"/>
              </a:rPr>
              <a:t>0</a:t>
            </a:r>
            <a:r>
              <a:rPr sz="1600" dirty="0">
                <a:latin typeface="Cambria Math"/>
                <a:cs typeface="Cambria Math"/>
              </a:rPr>
              <a:t>,</a:t>
            </a:r>
            <a:r>
              <a:rPr sz="1600" spc="-75" dirty="0">
                <a:latin typeface="Cambria Math"/>
                <a:cs typeface="Cambria Math"/>
              </a:rPr>
              <a:t> </a:t>
            </a:r>
            <a:r>
              <a:rPr sz="1600" dirty="0">
                <a:latin typeface="Cambria Math"/>
                <a:cs typeface="Cambria Math"/>
              </a:rPr>
              <a:t>…</a:t>
            </a:r>
            <a:r>
              <a:rPr sz="1600" spc="-71" dirty="0">
                <a:latin typeface="Cambria Math"/>
                <a:cs typeface="Cambria Math"/>
              </a:rPr>
              <a:t> </a:t>
            </a:r>
            <a:r>
              <a:rPr sz="1600" dirty="0">
                <a:latin typeface="Cambria Math"/>
                <a:cs typeface="Cambria Math"/>
              </a:rPr>
              <a:t>,</a:t>
            </a:r>
            <a:r>
              <a:rPr sz="1600" spc="-71" dirty="0">
                <a:latin typeface="Cambria Math"/>
                <a:cs typeface="Cambria Math"/>
              </a:rPr>
              <a:t> 𝐷</a:t>
            </a:r>
            <a:r>
              <a:rPr sz="1600" spc="132" baseline="-15151" dirty="0">
                <a:latin typeface="Cambria Math"/>
                <a:cs typeface="Cambria Math"/>
              </a:rPr>
              <a:t>i</a:t>
            </a:r>
            <a:r>
              <a:rPr sz="1600" spc="-6" baseline="-15151" dirty="0">
                <a:latin typeface="Cambria Math"/>
                <a:cs typeface="Cambria Math"/>
              </a:rPr>
              <a:t>,</a:t>
            </a:r>
            <a:r>
              <a:rPr sz="1600" spc="19" baseline="-15151" dirty="0">
                <a:latin typeface="Cambria Math"/>
                <a:cs typeface="Cambria Math"/>
              </a:rPr>
              <a:t>T</a:t>
            </a:r>
            <a:endParaRPr sz="1600" baseline="-15151" dirty="0">
              <a:latin typeface="Cambria Math"/>
              <a:cs typeface="Cambria Math"/>
            </a:endParaRPr>
          </a:p>
          <a:p>
            <a:pPr marL="336194" indent="-302575">
              <a:spcBef>
                <a:spcPts val="521"/>
              </a:spcBef>
              <a:buFont typeface="Arial"/>
              <a:buChar char="•"/>
              <a:tabLst>
                <a:tab pos="335634" algn="l"/>
                <a:tab pos="336194" algn="l"/>
              </a:tabLst>
            </a:pPr>
            <a:r>
              <a:rPr sz="1600" spc="-31" dirty="0">
                <a:latin typeface="Calibri"/>
                <a:cs typeface="Calibri"/>
              </a:rPr>
              <a:t>Train</a:t>
            </a:r>
            <a:r>
              <a:rPr sz="1600" spc="-4" dirty="0">
                <a:latin typeface="Calibri"/>
                <a:cs typeface="Calibri"/>
              </a:rPr>
              <a:t> network</a:t>
            </a:r>
            <a:r>
              <a:rPr sz="1600" dirty="0">
                <a:latin typeface="Calibri"/>
                <a:cs typeface="Calibri"/>
              </a:rPr>
              <a:t> </a:t>
            </a:r>
            <a:r>
              <a:rPr sz="1600" spc="-13" dirty="0">
                <a:latin typeface="Calibri"/>
                <a:cs typeface="Calibri"/>
              </a:rPr>
              <a:t>parameters</a:t>
            </a:r>
            <a:r>
              <a:rPr sz="1600" spc="9" dirty="0">
                <a:latin typeface="Calibri"/>
                <a:cs typeface="Calibri"/>
              </a:rPr>
              <a:t> </a:t>
            </a:r>
            <a:r>
              <a:rPr sz="1600" spc="-4" dirty="0">
                <a:latin typeface="Calibri"/>
                <a:cs typeface="Calibri"/>
              </a:rPr>
              <a:t>to</a:t>
            </a:r>
            <a:r>
              <a:rPr sz="1600" spc="-9" dirty="0">
                <a:latin typeface="Calibri"/>
                <a:cs typeface="Calibri"/>
              </a:rPr>
              <a:t> minimize</a:t>
            </a:r>
            <a:r>
              <a:rPr sz="1600" spc="26" dirty="0">
                <a:latin typeface="Calibri"/>
                <a:cs typeface="Calibri"/>
              </a:rPr>
              <a:t> </a:t>
            </a:r>
            <a:r>
              <a:rPr sz="1600" spc="-4" dirty="0">
                <a:latin typeface="Calibri"/>
                <a:cs typeface="Calibri"/>
              </a:rPr>
              <a:t>the </a:t>
            </a:r>
            <a:r>
              <a:rPr sz="1600" spc="-9" dirty="0">
                <a:latin typeface="Calibri"/>
                <a:cs typeface="Calibri"/>
              </a:rPr>
              <a:t>error</a:t>
            </a:r>
            <a:r>
              <a:rPr sz="1600" spc="9" dirty="0">
                <a:latin typeface="Calibri"/>
                <a:cs typeface="Calibri"/>
              </a:rPr>
              <a:t> </a:t>
            </a:r>
            <a:r>
              <a:rPr sz="1600" spc="-4" dirty="0">
                <a:latin typeface="Calibri"/>
                <a:cs typeface="Calibri"/>
              </a:rPr>
              <a:t>between</a:t>
            </a:r>
            <a:r>
              <a:rPr sz="1600" spc="18" dirty="0">
                <a:latin typeface="Calibri"/>
                <a:cs typeface="Calibri"/>
              </a:rPr>
              <a:t> </a:t>
            </a:r>
            <a:r>
              <a:rPr sz="1600" spc="-4" dirty="0">
                <a:latin typeface="Calibri"/>
                <a:cs typeface="Calibri"/>
              </a:rPr>
              <a:t>the</a:t>
            </a:r>
            <a:r>
              <a:rPr sz="1600" spc="9" dirty="0">
                <a:latin typeface="Calibri"/>
                <a:cs typeface="Calibri"/>
              </a:rPr>
              <a:t> </a:t>
            </a:r>
            <a:r>
              <a:rPr sz="1600" spc="-4" dirty="0">
                <a:latin typeface="Calibri"/>
                <a:cs typeface="Calibri"/>
              </a:rPr>
              <a:t>output</a:t>
            </a:r>
            <a:r>
              <a:rPr sz="1600" dirty="0">
                <a:latin typeface="Calibri"/>
                <a:cs typeface="Calibri"/>
              </a:rPr>
              <a:t> of</a:t>
            </a:r>
            <a:r>
              <a:rPr sz="1600" spc="18" dirty="0">
                <a:latin typeface="Calibri"/>
                <a:cs typeface="Calibri"/>
              </a:rPr>
              <a:t> </a:t>
            </a:r>
            <a:r>
              <a:rPr sz="1600" spc="-4" dirty="0">
                <a:latin typeface="Calibri"/>
                <a:cs typeface="Calibri"/>
              </a:rPr>
              <a:t>the</a:t>
            </a:r>
            <a:endParaRPr sz="1600" dirty="0">
              <a:latin typeface="Calibri"/>
              <a:cs typeface="Calibri"/>
            </a:endParaRPr>
          </a:p>
        </p:txBody>
      </p:sp>
      <p:sp>
        <p:nvSpPr>
          <p:cNvPr id="79" name="object 79"/>
          <p:cNvSpPr txBox="1"/>
          <p:nvPr/>
        </p:nvSpPr>
        <p:spPr>
          <a:xfrm>
            <a:off x="3533919" y="1404769"/>
            <a:ext cx="2094379" cy="255678"/>
          </a:xfrm>
          <a:prstGeom prst="rect">
            <a:avLst/>
          </a:prstGeom>
        </p:spPr>
        <p:txBody>
          <a:bodyPr vert="horz" wrap="square" lIns="0" tIns="11206" rIns="0" bIns="0" rtlCol="0">
            <a:spAutoFit/>
          </a:bodyPr>
          <a:lstStyle/>
          <a:p>
            <a:pPr marL="11206">
              <a:spcBef>
                <a:spcPts val="88"/>
              </a:spcBef>
              <a:tabLst>
                <a:tab pos="859537" algn="l"/>
                <a:tab pos="1761098" algn="l"/>
              </a:tabLst>
            </a:pPr>
            <a:r>
              <a:rPr sz="1588" dirty="0">
                <a:latin typeface="Calibri"/>
                <a:cs typeface="Calibri"/>
              </a:rPr>
              <a:t>Y</a:t>
            </a:r>
            <a:r>
              <a:rPr sz="1588" spc="-9" dirty="0">
                <a:latin typeface="Calibri"/>
                <a:cs typeface="Calibri"/>
              </a:rPr>
              <a:t>(</a:t>
            </a:r>
            <a:r>
              <a:rPr sz="1588" spc="-13" dirty="0">
                <a:latin typeface="Calibri"/>
                <a:cs typeface="Calibri"/>
              </a:rPr>
              <a:t>0</a:t>
            </a:r>
            <a:r>
              <a:rPr sz="1588" dirty="0">
                <a:latin typeface="Calibri"/>
                <a:cs typeface="Calibri"/>
              </a:rPr>
              <a:t>)	Y</a:t>
            </a:r>
            <a:r>
              <a:rPr sz="1588" spc="-9" dirty="0">
                <a:latin typeface="Calibri"/>
                <a:cs typeface="Calibri"/>
              </a:rPr>
              <a:t>(</a:t>
            </a:r>
            <a:r>
              <a:rPr sz="1588" spc="-13" dirty="0">
                <a:latin typeface="Calibri"/>
                <a:cs typeface="Calibri"/>
              </a:rPr>
              <a:t>1</a:t>
            </a:r>
            <a:r>
              <a:rPr sz="1588" dirty="0">
                <a:latin typeface="Calibri"/>
                <a:cs typeface="Calibri"/>
              </a:rPr>
              <a:t>)	</a:t>
            </a:r>
            <a:r>
              <a:rPr sz="1588" spc="-13" dirty="0">
                <a:latin typeface="Calibri"/>
                <a:cs typeface="Calibri"/>
              </a:rPr>
              <a:t>Y</a:t>
            </a:r>
            <a:r>
              <a:rPr sz="1588" spc="-9" dirty="0">
                <a:latin typeface="Calibri"/>
                <a:cs typeface="Calibri"/>
              </a:rPr>
              <a:t>(</a:t>
            </a:r>
            <a:r>
              <a:rPr sz="1588" spc="4" dirty="0">
                <a:latin typeface="Calibri"/>
                <a:cs typeface="Calibri"/>
              </a:rPr>
              <a:t>2</a:t>
            </a:r>
            <a:r>
              <a:rPr sz="1588" dirty="0">
                <a:latin typeface="Calibri"/>
                <a:cs typeface="Calibri"/>
              </a:rPr>
              <a:t>)</a:t>
            </a:r>
            <a:endParaRPr sz="1588">
              <a:latin typeface="Calibri"/>
              <a:cs typeface="Calibri"/>
            </a:endParaRPr>
          </a:p>
        </p:txBody>
      </p:sp>
      <p:sp>
        <p:nvSpPr>
          <p:cNvPr id="80" name="object 80"/>
          <p:cNvSpPr txBox="1"/>
          <p:nvPr/>
        </p:nvSpPr>
        <p:spPr>
          <a:xfrm>
            <a:off x="2661646" y="2097311"/>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sp>
        <p:nvSpPr>
          <p:cNvPr id="81" name="object 81"/>
          <p:cNvSpPr txBox="1"/>
          <p:nvPr/>
        </p:nvSpPr>
        <p:spPr>
          <a:xfrm>
            <a:off x="4389144" y="3056051"/>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82" name="object 82"/>
          <p:cNvSpPr txBox="1"/>
          <p:nvPr/>
        </p:nvSpPr>
        <p:spPr>
          <a:xfrm>
            <a:off x="5258329" y="3056051"/>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83" name="object 83"/>
          <p:cNvSpPr txBox="1"/>
          <p:nvPr/>
        </p:nvSpPr>
        <p:spPr>
          <a:xfrm>
            <a:off x="6972262" y="3061465"/>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pic>
        <p:nvPicPr>
          <p:cNvPr id="84" name="object 84"/>
          <p:cNvPicPr/>
          <p:nvPr/>
        </p:nvPicPr>
        <p:blipFill>
          <a:blip r:embed="rId6" cstate="print"/>
          <a:stretch>
            <a:fillRect/>
          </a:stretch>
        </p:blipFill>
        <p:spPr>
          <a:xfrm>
            <a:off x="6499412" y="2452743"/>
            <a:ext cx="67235" cy="67235"/>
          </a:xfrm>
          <a:prstGeom prst="rect">
            <a:avLst/>
          </a:prstGeom>
        </p:spPr>
      </p:pic>
      <p:pic>
        <p:nvPicPr>
          <p:cNvPr id="85" name="object 85"/>
          <p:cNvPicPr/>
          <p:nvPr/>
        </p:nvPicPr>
        <p:blipFill>
          <a:blip r:embed="rId6" cstate="print"/>
          <a:stretch>
            <a:fillRect/>
          </a:stretch>
        </p:blipFill>
        <p:spPr>
          <a:xfrm>
            <a:off x="6364941" y="2452743"/>
            <a:ext cx="67235" cy="67235"/>
          </a:xfrm>
          <a:prstGeom prst="rect">
            <a:avLst/>
          </a:prstGeom>
        </p:spPr>
      </p:pic>
      <p:pic>
        <p:nvPicPr>
          <p:cNvPr id="86" name="object 86"/>
          <p:cNvPicPr/>
          <p:nvPr/>
        </p:nvPicPr>
        <p:blipFill>
          <a:blip r:embed="rId6" cstate="print"/>
          <a:stretch>
            <a:fillRect/>
          </a:stretch>
        </p:blipFill>
        <p:spPr>
          <a:xfrm>
            <a:off x="6230471" y="2452743"/>
            <a:ext cx="67235" cy="67235"/>
          </a:xfrm>
          <a:prstGeom prst="rect">
            <a:avLst/>
          </a:prstGeom>
        </p:spPr>
      </p:pic>
      <p:pic>
        <p:nvPicPr>
          <p:cNvPr id="87" name="object 87"/>
          <p:cNvPicPr/>
          <p:nvPr/>
        </p:nvPicPr>
        <p:blipFill>
          <a:blip r:embed="rId6" cstate="print"/>
          <a:stretch>
            <a:fillRect/>
          </a:stretch>
        </p:blipFill>
        <p:spPr>
          <a:xfrm>
            <a:off x="6096000" y="2452743"/>
            <a:ext cx="67235" cy="67235"/>
          </a:xfrm>
          <a:prstGeom prst="rect">
            <a:avLst/>
          </a:prstGeom>
        </p:spPr>
      </p:pic>
      <p:sp>
        <p:nvSpPr>
          <p:cNvPr id="88" name="object 88"/>
          <p:cNvSpPr txBox="1"/>
          <p:nvPr/>
        </p:nvSpPr>
        <p:spPr>
          <a:xfrm>
            <a:off x="7830148" y="3061465"/>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89" name="object 89"/>
          <p:cNvSpPr txBox="1"/>
          <p:nvPr/>
        </p:nvSpPr>
        <p:spPr>
          <a:xfrm>
            <a:off x="8786967" y="3061465"/>
            <a:ext cx="310963"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90" name="object 90"/>
          <p:cNvSpPr txBox="1"/>
          <p:nvPr/>
        </p:nvSpPr>
        <p:spPr>
          <a:xfrm>
            <a:off x="6972262" y="1435707"/>
            <a:ext cx="2121274" cy="228054"/>
          </a:xfrm>
          <a:prstGeom prst="rect">
            <a:avLst/>
          </a:prstGeom>
        </p:spPr>
        <p:txBody>
          <a:bodyPr vert="horz" wrap="square" lIns="0" tIns="10646" rIns="0" bIns="0" rtlCol="0">
            <a:spAutoFit/>
          </a:bodyPr>
          <a:lstStyle/>
          <a:p>
            <a:pPr marL="11206">
              <a:spcBef>
                <a:spcPts val="84"/>
              </a:spcBef>
              <a:tabLst>
                <a:tab pos="869622" algn="l"/>
                <a:tab pos="1826095" algn="l"/>
              </a:tabLst>
            </a:pPr>
            <a:r>
              <a:rPr sz="1412" spc="-4" dirty="0">
                <a:latin typeface="Calibri"/>
                <a:cs typeface="Calibri"/>
              </a:rPr>
              <a:t>Y</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r>
              <a:rPr sz="1412" dirty="0">
                <a:latin typeface="Calibri"/>
                <a:cs typeface="Calibri"/>
              </a:rPr>
              <a:t>	</a:t>
            </a:r>
            <a:r>
              <a:rPr sz="1412" spc="-4" dirty="0">
                <a:latin typeface="Calibri"/>
                <a:cs typeface="Calibri"/>
              </a:rPr>
              <a:t>Y</a:t>
            </a:r>
            <a:r>
              <a:rPr sz="1412" spc="-13" dirty="0">
                <a:latin typeface="Calibri"/>
                <a:cs typeface="Calibri"/>
              </a:rPr>
              <a:t>(</a:t>
            </a:r>
            <a:r>
              <a:rPr sz="1412" spc="-4" dirty="0">
                <a:latin typeface="Calibri"/>
                <a:cs typeface="Calibri"/>
              </a:rPr>
              <a:t>T</a:t>
            </a:r>
            <a:r>
              <a:rPr sz="1412" spc="-13" dirty="0">
                <a:latin typeface="Calibri"/>
                <a:cs typeface="Calibri"/>
              </a:rPr>
              <a:t>-</a:t>
            </a:r>
            <a:r>
              <a:rPr sz="1412" dirty="0">
                <a:latin typeface="Calibri"/>
                <a:cs typeface="Calibri"/>
              </a:rPr>
              <a:t>1</a:t>
            </a:r>
            <a:r>
              <a:rPr sz="1412" spc="-4" dirty="0">
                <a:latin typeface="Calibri"/>
                <a:cs typeface="Calibri"/>
              </a:rPr>
              <a:t>)</a:t>
            </a:r>
            <a:r>
              <a:rPr sz="1412" dirty="0">
                <a:latin typeface="Calibri"/>
                <a:cs typeface="Calibri"/>
              </a:rPr>
              <a:t>	</a:t>
            </a:r>
            <a:r>
              <a:rPr sz="1412" spc="-4" dirty="0">
                <a:latin typeface="Calibri"/>
                <a:cs typeface="Calibri"/>
              </a:rPr>
              <a:t>Y</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96" name="TextBox 95">
            <a:extLst>
              <a:ext uri="{FF2B5EF4-FFF2-40B4-BE49-F238E27FC236}">
                <a16:creationId xmlns:a16="http://schemas.microsoft.com/office/drawing/2014/main" id="{EEAFA728-7599-450B-BA6F-DB732403C758}"/>
              </a:ext>
            </a:extLst>
          </p:cNvPr>
          <p:cNvSpPr txBox="1"/>
          <p:nvPr/>
        </p:nvSpPr>
        <p:spPr>
          <a:xfrm>
            <a:off x="2720662" y="6509917"/>
            <a:ext cx="6094428"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100"/>
              <a:buFont typeface="Arial"/>
              <a:buNone/>
            </a:pPr>
            <a:r>
              <a:rPr lang="en-US" sz="1400" dirty="0">
                <a:solidFill>
                  <a:schemeClr val="tx1">
                    <a:lumMod val="50000"/>
                    <a:lumOff val="50000"/>
                  </a:schemeClr>
                </a:solidFill>
                <a:latin typeface="Arial" panose="020B0604020202020204" pitchFamily="34" charset="0"/>
                <a:cs typeface="Arial" panose="020B0604020202020204" pitchFamily="34" charset="0"/>
              </a:rPr>
              <a:t>The Transformer Epiphany Speech - Vision - Text</a:t>
            </a:r>
            <a:r>
              <a:rPr lang="en-US" sz="1400" dirty="0">
                <a:solidFill>
                  <a:schemeClr val="tx1">
                    <a:lumMod val="50000"/>
                    <a:lumOff val="50000"/>
                  </a:schemeClr>
                </a:solidFill>
                <a:latin typeface="Arial" panose="020B0604020202020204" pitchFamily="34" charset="0"/>
                <a:cs typeface="Arial" panose="020B0604020202020204" pitchFamily="34" charset="0"/>
                <a:sym typeface="Arial"/>
              </a:rPr>
              <a:t> </a:t>
            </a:r>
            <a:r>
              <a:rPr lang="en-US" sz="1400" b="0" i="0" u="none" strike="noStrike" cap="none" dirty="0">
                <a:solidFill>
                  <a:schemeClr val="tx1">
                    <a:lumMod val="50000"/>
                    <a:lumOff val="50000"/>
                  </a:schemeClr>
                </a:solidFill>
                <a:latin typeface="Arial" panose="020B0604020202020204" pitchFamily="34" charset="0"/>
                <a:ea typeface="Arial"/>
                <a:cs typeface="Arial" panose="020B0604020202020204" pitchFamily="34" charset="0"/>
                <a:sym typeface="Arial"/>
              </a:rPr>
              <a:t>Workshop</a:t>
            </a:r>
          </a:p>
        </p:txBody>
      </p:sp>
    </p:spTree>
    <p:extLst>
      <p:ext uri="{BB962C8B-B14F-4D97-AF65-F5344CB8AC3E}">
        <p14:creationId xmlns:p14="http://schemas.microsoft.com/office/powerpoint/2010/main" val="88961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50224" y="635557"/>
            <a:ext cx="3491193" cy="498244"/>
          </a:xfrm>
          <a:prstGeom prst="rect">
            <a:avLst/>
          </a:prstGeom>
        </p:spPr>
        <p:txBody>
          <a:bodyPr vert="horz" wrap="square" lIns="0" tIns="11206" rIns="0" bIns="0" rtlCol="0">
            <a:spAutoFit/>
          </a:bodyPr>
          <a:lstStyle/>
          <a:p>
            <a:pPr marL="11206">
              <a:lnSpc>
                <a:spcPct val="100000"/>
              </a:lnSpc>
              <a:spcBef>
                <a:spcPts val="88"/>
              </a:spcBef>
            </a:pPr>
            <a:r>
              <a:rPr spc="-40" dirty="0"/>
              <a:t>Training</a:t>
            </a:r>
            <a:r>
              <a:rPr spc="-35" dirty="0"/>
              <a:t> </a:t>
            </a:r>
            <a:r>
              <a:rPr spc="-4" dirty="0"/>
              <a:t>the</a:t>
            </a:r>
            <a:r>
              <a:rPr spc="-31" dirty="0"/>
              <a:t> </a:t>
            </a:r>
            <a:r>
              <a:rPr spc="9" dirty="0"/>
              <a:t>RNN</a:t>
            </a:r>
          </a:p>
        </p:txBody>
      </p:sp>
      <p:grpSp>
        <p:nvGrpSpPr>
          <p:cNvPr id="3" name="object 3"/>
          <p:cNvGrpSpPr/>
          <p:nvPr/>
        </p:nvGrpSpPr>
        <p:grpSpPr>
          <a:xfrm>
            <a:off x="3543692" y="3315989"/>
            <a:ext cx="2019860" cy="271743"/>
            <a:chOff x="2136584" y="3758120"/>
            <a:chExt cx="2289175" cy="307975"/>
          </a:xfrm>
        </p:grpSpPr>
        <p:sp>
          <p:nvSpPr>
            <p:cNvPr id="4" name="object 4"/>
            <p:cNvSpPr/>
            <p:nvPr/>
          </p:nvSpPr>
          <p:spPr>
            <a:xfrm>
              <a:off x="21381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3124200"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7" name="object 7"/>
            <p:cNvSpPr/>
            <p:nvPr/>
          </p:nvSpPr>
          <p:spPr>
            <a:xfrm>
              <a:off x="3124200"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8" name="object 8"/>
            <p:cNvSpPr/>
            <p:nvPr/>
          </p:nvSpPr>
          <p:spPr>
            <a:xfrm>
              <a:off x="41193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9" name="object 9"/>
            <p:cNvSpPr/>
            <p:nvPr/>
          </p:nvSpPr>
          <p:spPr>
            <a:xfrm>
              <a:off x="41193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10" name="object 10"/>
          <p:cNvGrpSpPr/>
          <p:nvPr/>
        </p:nvGrpSpPr>
        <p:grpSpPr>
          <a:xfrm>
            <a:off x="6701118" y="2174389"/>
            <a:ext cx="2358838" cy="1413622"/>
            <a:chOff x="5715000" y="2464307"/>
            <a:chExt cx="2673350" cy="1602105"/>
          </a:xfrm>
        </p:grpSpPr>
        <p:sp>
          <p:nvSpPr>
            <p:cNvPr id="11" name="object 11"/>
            <p:cNvSpPr/>
            <p:nvPr/>
          </p:nvSpPr>
          <p:spPr>
            <a:xfrm>
              <a:off x="61005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2" name="object 12"/>
            <p:cNvSpPr/>
            <p:nvPr/>
          </p:nvSpPr>
          <p:spPr>
            <a:xfrm>
              <a:off x="61005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3" name="object 13"/>
            <p:cNvSpPr/>
            <p:nvPr/>
          </p:nvSpPr>
          <p:spPr>
            <a:xfrm>
              <a:off x="61142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4" name="object 14"/>
            <p:cNvSpPr/>
            <p:nvPr/>
          </p:nvSpPr>
          <p:spPr>
            <a:xfrm>
              <a:off x="61142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5" name="object 15"/>
            <p:cNvPicPr/>
            <p:nvPr/>
          </p:nvPicPr>
          <p:blipFill>
            <a:blip r:embed="rId2" cstate="print"/>
            <a:stretch>
              <a:fillRect/>
            </a:stretch>
          </p:blipFill>
          <p:spPr>
            <a:xfrm>
              <a:off x="6228587" y="3531107"/>
              <a:ext cx="76200" cy="228600"/>
            </a:xfrm>
            <a:prstGeom prst="rect">
              <a:avLst/>
            </a:prstGeom>
          </p:spPr>
        </p:pic>
        <p:sp>
          <p:nvSpPr>
            <p:cNvPr id="16" name="object 16"/>
            <p:cNvSpPr/>
            <p:nvPr/>
          </p:nvSpPr>
          <p:spPr>
            <a:xfrm>
              <a:off x="61142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7" name="object 17"/>
            <p:cNvSpPr/>
            <p:nvPr/>
          </p:nvSpPr>
          <p:spPr>
            <a:xfrm>
              <a:off x="61142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8" name="object 18"/>
            <p:cNvPicPr/>
            <p:nvPr/>
          </p:nvPicPr>
          <p:blipFill>
            <a:blip r:embed="rId2" cstate="print"/>
            <a:stretch>
              <a:fillRect/>
            </a:stretch>
          </p:blipFill>
          <p:spPr>
            <a:xfrm>
              <a:off x="6228587" y="2997707"/>
              <a:ext cx="76200" cy="228600"/>
            </a:xfrm>
            <a:prstGeom prst="rect">
              <a:avLst/>
            </a:prstGeom>
          </p:spPr>
        </p:pic>
        <p:pic>
          <p:nvPicPr>
            <p:cNvPr id="19" name="object 19"/>
            <p:cNvPicPr/>
            <p:nvPr/>
          </p:nvPicPr>
          <p:blipFill>
            <a:blip r:embed="rId2" cstate="print"/>
            <a:stretch>
              <a:fillRect/>
            </a:stretch>
          </p:blipFill>
          <p:spPr>
            <a:xfrm>
              <a:off x="6228587" y="2464307"/>
              <a:ext cx="76200" cy="228600"/>
            </a:xfrm>
            <a:prstGeom prst="rect">
              <a:avLst/>
            </a:prstGeom>
          </p:spPr>
        </p:pic>
        <p:sp>
          <p:nvSpPr>
            <p:cNvPr id="20" name="object 20"/>
            <p:cNvSpPr/>
            <p:nvPr/>
          </p:nvSpPr>
          <p:spPr>
            <a:xfrm>
              <a:off x="5715000" y="3340607"/>
              <a:ext cx="405765" cy="76200"/>
            </a:xfrm>
            <a:custGeom>
              <a:avLst/>
              <a:gdLst/>
              <a:ahLst/>
              <a:cxnLst/>
              <a:rect l="l" t="t" r="r" b="b"/>
              <a:pathLst>
                <a:path w="405764" h="76200">
                  <a:moveTo>
                    <a:pt x="329184" y="76200"/>
                  </a:moveTo>
                  <a:lnTo>
                    <a:pt x="329184" y="0"/>
                  </a:lnTo>
                  <a:lnTo>
                    <a:pt x="393192" y="32004"/>
                  </a:lnTo>
                  <a:lnTo>
                    <a:pt x="341376" y="32004"/>
                  </a:lnTo>
                  <a:lnTo>
                    <a:pt x="341376" y="44196"/>
                  </a:lnTo>
                  <a:lnTo>
                    <a:pt x="393192" y="44196"/>
                  </a:lnTo>
                  <a:lnTo>
                    <a:pt x="329184" y="76200"/>
                  </a:lnTo>
                  <a:close/>
                </a:path>
                <a:path w="405764" h="76200">
                  <a:moveTo>
                    <a:pt x="329184" y="44196"/>
                  </a:moveTo>
                  <a:lnTo>
                    <a:pt x="0" y="44196"/>
                  </a:lnTo>
                  <a:lnTo>
                    <a:pt x="0" y="32004"/>
                  </a:lnTo>
                  <a:lnTo>
                    <a:pt x="329184" y="32004"/>
                  </a:lnTo>
                  <a:lnTo>
                    <a:pt x="329184" y="44196"/>
                  </a:lnTo>
                  <a:close/>
                </a:path>
                <a:path w="405764" h="76200">
                  <a:moveTo>
                    <a:pt x="393192" y="44196"/>
                  </a:moveTo>
                  <a:lnTo>
                    <a:pt x="341376" y="44196"/>
                  </a:lnTo>
                  <a:lnTo>
                    <a:pt x="341376" y="32004"/>
                  </a:lnTo>
                  <a:lnTo>
                    <a:pt x="393192" y="32004"/>
                  </a:lnTo>
                  <a:lnTo>
                    <a:pt x="405384" y="38100"/>
                  </a:lnTo>
                  <a:lnTo>
                    <a:pt x="393192" y="44196"/>
                  </a:lnTo>
                  <a:close/>
                </a:path>
              </a:pathLst>
            </a:custGeom>
            <a:solidFill>
              <a:srgbClr val="000000"/>
            </a:solidFill>
          </p:spPr>
          <p:txBody>
            <a:bodyPr wrap="square" lIns="0" tIns="0" rIns="0" bIns="0" rtlCol="0"/>
            <a:lstStyle/>
            <a:p>
              <a:endParaRPr sz="1588"/>
            </a:p>
          </p:txBody>
        </p:sp>
        <p:sp>
          <p:nvSpPr>
            <p:cNvPr id="21" name="object 21"/>
            <p:cNvSpPr/>
            <p:nvPr/>
          </p:nvSpPr>
          <p:spPr>
            <a:xfrm>
              <a:off x="70911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2" name="object 22"/>
            <p:cNvSpPr/>
            <p:nvPr/>
          </p:nvSpPr>
          <p:spPr>
            <a:xfrm>
              <a:off x="70911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3" name="object 23"/>
            <p:cNvSpPr/>
            <p:nvPr/>
          </p:nvSpPr>
          <p:spPr>
            <a:xfrm>
              <a:off x="71048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4" name="object 24"/>
            <p:cNvSpPr/>
            <p:nvPr/>
          </p:nvSpPr>
          <p:spPr>
            <a:xfrm>
              <a:off x="71048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5" name="object 25"/>
            <p:cNvPicPr/>
            <p:nvPr/>
          </p:nvPicPr>
          <p:blipFill>
            <a:blip r:embed="rId2" cstate="print"/>
            <a:stretch>
              <a:fillRect/>
            </a:stretch>
          </p:blipFill>
          <p:spPr>
            <a:xfrm>
              <a:off x="7219187" y="3531107"/>
              <a:ext cx="76200" cy="228600"/>
            </a:xfrm>
            <a:prstGeom prst="rect">
              <a:avLst/>
            </a:prstGeom>
          </p:spPr>
        </p:pic>
        <p:sp>
          <p:nvSpPr>
            <p:cNvPr id="26" name="object 26"/>
            <p:cNvSpPr/>
            <p:nvPr/>
          </p:nvSpPr>
          <p:spPr>
            <a:xfrm>
              <a:off x="71048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7" name="object 27"/>
            <p:cNvSpPr/>
            <p:nvPr/>
          </p:nvSpPr>
          <p:spPr>
            <a:xfrm>
              <a:off x="71048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8" name="object 28"/>
            <p:cNvPicPr/>
            <p:nvPr/>
          </p:nvPicPr>
          <p:blipFill>
            <a:blip r:embed="rId2" cstate="print"/>
            <a:stretch>
              <a:fillRect/>
            </a:stretch>
          </p:blipFill>
          <p:spPr>
            <a:xfrm>
              <a:off x="7219187" y="2997707"/>
              <a:ext cx="76200" cy="228600"/>
            </a:xfrm>
            <a:prstGeom prst="rect">
              <a:avLst/>
            </a:prstGeom>
          </p:spPr>
        </p:pic>
        <p:pic>
          <p:nvPicPr>
            <p:cNvPr id="29" name="object 29"/>
            <p:cNvPicPr/>
            <p:nvPr/>
          </p:nvPicPr>
          <p:blipFill>
            <a:blip r:embed="rId2" cstate="print"/>
            <a:stretch>
              <a:fillRect/>
            </a:stretch>
          </p:blipFill>
          <p:spPr>
            <a:xfrm>
              <a:off x="7219187" y="2464307"/>
              <a:ext cx="76200" cy="228600"/>
            </a:xfrm>
            <a:prstGeom prst="rect">
              <a:avLst/>
            </a:prstGeom>
          </p:spPr>
        </p:pic>
        <p:sp>
          <p:nvSpPr>
            <p:cNvPr id="30" name="object 30"/>
            <p:cNvSpPr/>
            <p:nvPr/>
          </p:nvSpPr>
          <p:spPr>
            <a:xfrm>
              <a:off x="6414516" y="3340607"/>
              <a:ext cx="690880" cy="76200"/>
            </a:xfrm>
            <a:custGeom>
              <a:avLst/>
              <a:gdLst/>
              <a:ahLst/>
              <a:cxnLst/>
              <a:rect l="l" t="t" r="r" b="b"/>
              <a:pathLst>
                <a:path w="690879" h="76200">
                  <a:moveTo>
                    <a:pt x="614172" y="76200"/>
                  </a:moveTo>
                  <a:lnTo>
                    <a:pt x="614172" y="0"/>
                  </a:lnTo>
                  <a:lnTo>
                    <a:pt x="678180" y="32004"/>
                  </a:lnTo>
                  <a:lnTo>
                    <a:pt x="627887" y="32004"/>
                  </a:lnTo>
                  <a:lnTo>
                    <a:pt x="627887" y="44196"/>
                  </a:lnTo>
                  <a:lnTo>
                    <a:pt x="678180" y="44196"/>
                  </a:lnTo>
                  <a:lnTo>
                    <a:pt x="614172" y="76200"/>
                  </a:lnTo>
                  <a:close/>
                </a:path>
                <a:path w="690879" h="76200">
                  <a:moveTo>
                    <a:pt x="614172" y="44196"/>
                  </a:moveTo>
                  <a:lnTo>
                    <a:pt x="0" y="44196"/>
                  </a:lnTo>
                  <a:lnTo>
                    <a:pt x="0" y="32004"/>
                  </a:lnTo>
                  <a:lnTo>
                    <a:pt x="614172" y="32004"/>
                  </a:lnTo>
                  <a:lnTo>
                    <a:pt x="614172" y="44196"/>
                  </a:lnTo>
                  <a:close/>
                </a:path>
                <a:path w="690879" h="76200">
                  <a:moveTo>
                    <a:pt x="678180" y="44196"/>
                  </a:moveTo>
                  <a:lnTo>
                    <a:pt x="627887" y="44196"/>
                  </a:lnTo>
                  <a:lnTo>
                    <a:pt x="627887" y="32004"/>
                  </a:lnTo>
                  <a:lnTo>
                    <a:pt x="678180" y="32004"/>
                  </a:lnTo>
                  <a:lnTo>
                    <a:pt x="690372" y="38100"/>
                  </a:lnTo>
                  <a:lnTo>
                    <a:pt x="678180" y="44196"/>
                  </a:lnTo>
                  <a:close/>
                </a:path>
              </a:pathLst>
            </a:custGeom>
            <a:solidFill>
              <a:srgbClr val="000000"/>
            </a:solidFill>
          </p:spPr>
          <p:txBody>
            <a:bodyPr wrap="square" lIns="0" tIns="0" rIns="0" bIns="0" rtlCol="0"/>
            <a:lstStyle/>
            <a:p>
              <a:endParaRPr sz="1588"/>
            </a:p>
          </p:txBody>
        </p:sp>
        <p:sp>
          <p:nvSpPr>
            <p:cNvPr id="31" name="object 31"/>
            <p:cNvSpPr/>
            <p:nvPr/>
          </p:nvSpPr>
          <p:spPr>
            <a:xfrm>
              <a:off x="80817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2" name="object 32"/>
            <p:cNvSpPr/>
            <p:nvPr/>
          </p:nvSpPr>
          <p:spPr>
            <a:xfrm>
              <a:off x="80817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3" name="object 33"/>
            <p:cNvSpPr/>
            <p:nvPr/>
          </p:nvSpPr>
          <p:spPr>
            <a:xfrm>
              <a:off x="8081771"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4" name="object 34"/>
            <p:cNvSpPr/>
            <p:nvPr/>
          </p:nvSpPr>
          <p:spPr>
            <a:xfrm>
              <a:off x="8081771"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5" name="object 35"/>
            <p:cNvPicPr/>
            <p:nvPr/>
          </p:nvPicPr>
          <p:blipFill>
            <a:blip r:embed="rId2" cstate="print"/>
            <a:stretch>
              <a:fillRect/>
            </a:stretch>
          </p:blipFill>
          <p:spPr>
            <a:xfrm>
              <a:off x="8196072" y="3531107"/>
              <a:ext cx="76200" cy="228600"/>
            </a:xfrm>
            <a:prstGeom prst="rect">
              <a:avLst/>
            </a:prstGeom>
          </p:spPr>
        </p:pic>
        <p:sp>
          <p:nvSpPr>
            <p:cNvPr id="36" name="object 36"/>
            <p:cNvSpPr/>
            <p:nvPr/>
          </p:nvSpPr>
          <p:spPr>
            <a:xfrm>
              <a:off x="8081771"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7" name="object 37"/>
            <p:cNvSpPr/>
            <p:nvPr/>
          </p:nvSpPr>
          <p:spPr>
            <a:xfrm>
              <a:off x="8081771"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8" name="object 38"/>
            <p:cNvPicPr/>
            <p:nvPr/>
          </p:nvPicPr>
          <p:blipFill>
            <a:blip r:embed="rId2" cstate="print"/>
            <a:stretch>
              <a:fillRect/>
            </a:stretch>
          </p:blipFill>
          <p:spPr>
            <a:xfrm>
              <a:off x="8196072" y="2997707"/>
              <a:ext cx="76200" cy="228600"/>
            </a:xfrm>
            <a:prstGeom prst="rect">
              <a:avLst/>
            </a:prstGeom>
          </p:spPr>
        </p:pic>
        <p:pic>
          <p:nvPicPr>
            <p:cNvPr id="39" name="object 39"/>
            <p:cNvPicPr/>
            <p:nvPr/>
          </p:nvPicPr>
          <p:blipFill>
            <a:blip r:embed="rId2" cstate="print"/>
            <a:stretch>
              <a:fillRect/>
            </a:stretch>
          </p:blipFill>
          <p:spPr>
            <a:xfrm>
              <a:off x="8196072" y="2464307"/>
              <a:ext cx="76200" cy="228600"/>
            </a:xfrm>
            <a:prstGeom prst="rect">
              <a:avLst/>
            </a:prstGeom>
          </p:spPr>
        </p:pic>
        <p:sp>
          <p:nvSpPr>
            <p:cNvPr id="40" name="object 40"/>
            <p:cNvSpPr/>
            <p:nvPr/>
          </p:nvSpPr>
          <p:spPr>
            <a:xfrm>
              <a:off x="7402067"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grpSp>
      <p:sp>
        <p:nvSpPr>
          <p:cNvPr id="41" name="object 41"/>
          <p:cNvSpPr/>
          <p:nvPr/>
        </p:nvSpPr>
        <p:spPr>
          <a:xfrm>
            <a:off x="3541059" y="3845859"/>
            <a:ext cx="5446059" cy="67235"/>
          </a:xfrm>
          <a:custGeom>
            <a:avLst/>
            <a:gdLst/>
            <a:ahLst/>
            <a:cxnLst/>
            <a:rect l="l" t="t" r="r" b="b"/>
            <a:pathLst>
              <a:path w="6172200" h="76200">
                <a:moveTo>
                  <a:pt x="6096000" y="76200"/>
                </a:moveTo>
                <a:lnTo>
                  <a:pt x="6096000" y="0"/>
                </a:lnTo>
                <a:lnTo>
                  <a:pt x="6150864" y="27432"/>
                </a:lnTo>
                <a:lnTo>
                  <a:pt x="6109716" y="27432"/>
                </a:lnTo>
                <a:lnTo>
                  <a:pt x="6109716" y="47244"/>
                </a:lnTo>
                <a:lnTo>
                  <a:pt x="6153912" y="47244"/>
                </a:lnTo>
                <a:lnTo>
                  <a:pt x="6096000" y="76200"/>
                </a:lnTo>
                <a:close/>
              </a:path>
              <a:path w="6172200" h="76200">
                <a:moveTo>
                  <a:pt x="6096000" y="47244"/>
                </a:moveTo>
                <a:lnTo>
                  <a:pt x="0" y="47244"/>
                </a:lnTo>
                <a:lnTo>
                  <a:pt x="0" y="27432"/>
                </a:lnTo>
                <a:lnTo>
                  <a:pt x="6096000" y="27432"/>
                </a:lnTo>
                <a:lnTo>
                  <a:pt x="6096000" y="47244"/>
                </a:lnTo>
                <a:close/>
              </a:path>
              <a:path w="6172200" h="76200">
                <a:moveTo>
                  <a:pt x="6153912" y="47244"/>
                </a:moveTo>
                <a:lnTo>
                  <a:pt x="6109716" y="47244"/>
                </a:lnTo>
                <a:lnTo>
                  <a:pt x="6109716" y="27432"/>
                </a:lnTo>
                <a:lnTo>
                  <a:pt x="6150864" y="27432"/>
                </a:lnTo>
                <a:lnTo>
                  <a:pt x="6172200" y="38100"/>
                </a:lnTo>
                <a:lnTo>
                  <a:pt x="6153912" y="47244"/>
                </a:lnTo>
                <a:close/>
              </a:path>
            </a:pathLst>
          </a:custGeom>
          <a:solidFill>
            <a:srgbClr val="3333FF"/>
          </a:solidFill>
        </p:spPr>
        <p:txBody>
          <a:bodyPr wrap="square" lIns="0" tIns="0" rIns="0" bIns="0" rtlCol="0"/>
          <a:lstStyle/>
          <a:p>
            <a:endParaRPr sz="1588"/>
          </a:p>
        </p:txBody>
      </p:sp>
      <p:sp>
        <p:nvSpPr>
          <p:cNvPr id="42" name="object 42"/>
          <p:cNvSpPr txBox="1"/>
          <p:nvPr/>
        </p:nvSpPr>
        <p:spPr>
          <a:xfrm>
            <a:off x="3520419" y="3537482"/>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0</a:t>
            </a:r>
            <a:r>
              <a:rPr sz="1412" spc="-4" dirty="0">
                <a:latin typeface="Calibri"/>
                <a:cs typeface="Calibri"/>
              </a:rPr>
              <a:t>)</a:t>
            </a:r>
            <a:endParaRPr sz="1412">
              <a:latin typeface="Calibri"/>
              <a:cs typeface="Calibri"/>
            </a:endParaRPr>
          </a:p>
        </p:txBody>
      </p:sp>
      <p:grpSp>
        <p:nvGrpSpPr>
          <p:cNvPr id="43" name="object 43"/>
          <p:cNvGrpSpPr/>
          <p:nvPr/>
        </p:nvGrpSpPr>
        <p:grpSpPr>
          <a:xfrm>
            <a:off x="2665654" y="2174389"/>
            <a:ext cx="3228974" cy="1143000"/>
            <a:chOff x="1141475" y="2464307"/>
            <a:chExt cx="3659504" cy="1295400"/>
          </a:xfrm>
        </p:grpSpPr>
        <p:sp>
          <p:nvSpPr>
            <p:cNvPr id="44" name="object 44"/>
            <p:cNvSpPr/>
            <p:nvPr/>
          </p:nvSpPr>
          <p:spPr>
            <a:xfrm>
              <a:off x="2142744" y="32263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45" name="object 45"/>
            <p:cNvSpPr/>
            <p:nvPr/>
          </p:nvSpPr>
          <p:spPr>
            <a:xfrm>
              <a:off x="2142744" y="32263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6" name="object 46"/>
            <p:cNvPicPr/>
            <p:nvPr/>
          </p:nvPicPr>
          <p:blipFill>
            <a:blip r:embed="rId2" cstate="print"/>
            <a:stretch>
              <a:fillRect/>
            </a:stretch>
          </p:blipFill>
          <p:spPr>
            <a:xfrm>
              <a:off x="2257044" y="3531107"/>
              <a:ext cx="76200" cy="228600"/>
            </a:xfrm>
            <a:prstGeom prst="rect">
              <a:avLst/>
            </a:prstGeom>
          </p:spPr>
        </p:pic>
        <p:sp>
          <p:nvSpPr>
            <p:cNvPr id="47" name="object 47"/>
            <p:cNvSpPr/>
            <p:nvPr/>
          </p:nvSpPr>
          <p:spPr>
            <a:xfrm>
              <a:off x="2142744" y="26929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48" name="object 48"/>
            <p:cNvSpPr/>
            <p:nvPr/>
          </p:nvSpPr>
          <p:spPr>
            <a:xfrm>
              <a:off x="2142744" y="26929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2257044" y="2997707"/>
              <a:ext cx="76200" cy="228600"/>
            </a:xfrm>
            <a:prstGeom prst="rect">
              <a:avLst/>
            </a:prstGeom>
          </p:spPr>
        </p:pic>
        <p:pic>
          <p:nvPicPr>
            <p:cNvPr id="50" name="object 50"/>
            <p:cNvPicPr/>
            <p:nvPr/>
          </p:nvPicPr>
          <p:blipFill>
            <a:blip r:embed="rId2" cstate="print"/>
            <a:stretch>
              <a:fillRect/>
            </a:stretch>
          </p:blipFill>
          <p:spPr>
            <a:xfrm>
              <a:off x="2257044" y="2464307"/>
              <a:ext cx="76200" cy="228600"/>
            </a:xfrm>
            <a:prstGeom prst="rect">
              <a:avLst/>
            </a:prstGeom>
          </p:spPr>
        </p:pic>
        <p:sp>
          <p:nvSpPr>
            <p:cNvPr id="51" name="object 51"/>
            <p:cNvSpPr/>
            <p:nvPr/>
          </p:nvSpPr>
          <p:spPr>
            <a:xfrm>
              <a:off x="11429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52" name="object 52"/>
            <p:cNvSpPr/>
            <p:nvPr/>
          </p:nvSpPr>
          <p:spPr>
            <a:xfrm>
              <a:off x="11429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3" name="object 53"/>
            <p:cNvSpPr/>
            <p:nvPr/>
          </p:nvSpPr>
          <p:spPr>
            <a:xfrm>
              <a:off x="1447799"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54" name="object 54"/>
            <p:cNvSpPr/>
            <p:nvPr/>
          </p:nvSpPr>
          <p:spPr>
            <a:xfrm>
              <a:off x="31241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5" name="object 55"/>
            <p:cNvSpPr/>
            <p:nvPr/>
          </p:nvSpPr>
          <p:spPr>
            <a:xfrm>
              <a:off x="31241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6" name="object 56"/>
            <p:cNvPicPr/>
            <p:nvPr/>
          </p:nvPicPr>
          <p:blipFill>
            <a:blip r:embed="rId3" cstate="print"/>
            <a:stretch>
              <a:fillRect/>
            </a:stretch>
          </p:blipFill>
          <p:spPr>
            <a:xfrm>
              <a:off x="3238499" y="3531107"/>
              <a:ext cx="76200" cy="228600"/>
            </a:xfrm>
            <a:prstGeom prst="rect">
              <a:avLst/>
            </a:prstGeom>
          </p:spPr>
        </p:pic>
        <p:sp>
          <p:nvSpPr>
            <p:cNvPr id="57" name="object 57"/>
            <p:cNvSpPr/>
            <p:nvPr/>
          </p:nvSpPr>
          <p:spPr>
            <a:xfrm>
              <a:off x="3124199"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8" name="object 58"/>
            <p:cNvSpPr/>
            <p:nvPr/>
          </p:nvSpPr>
          <p:spPr>
            <a:xfrm>
              <a:off x="3124199"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3" cstate="print"/>
            <a:stretch>
              <a:fillRect/>
            </a:stretch>
          </p:blipFill>
          <p:spPr>
            <a:xfrm>
              <a:off x="3238499" y="2997707"/>
              <a:ext cx="76200" cy="228600"/>
            </a:xfrm>
            <a:prstGeom prst="rect">
              <a:avLst/>
            </a:prstGeom>
          </p:spPr>
        </p:pic>
        <p:pic>
          <p:nvPicPr>
            <p:cNvPr id="60" name="object 60"/>
            <p:cNvPicPr/>
            <p:nvPr/>
          </p:nvPicPr>
          <p:blipFill>
            <a:blip r:embed="rId3" cstate="print"/>
            <a:stretch>
              <a:fillRect/>
            </a:stretch>
          </p:blipFill>
          <p:spPr>
            <a:xfrm>
              <a:off x="3238499" y="2464307"/>
              <a:ext cx="76200" cy="228600"/>
            </a:xfrm>
            <a:prstGeom prst="rect">
              <a:avLst/>
            </a:prstGeom>
          </p:spPr>
        </p:pic>
        <p:sp>
          <p:nvSpPr>
            <p:cNvPr id="61" name="object 61"/>
            <p:cNvSpPr/>
            <p:nvPr/>
          </p:nvSpPr>
          <p:spPr>
            <a:xfrm>
              <a:off x="2447543"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62" name="object 62"/>
            <p:cNvSpPr/>
            <p:nvPr/>
          </p:nvSpPr>
          <p:spPr>
            <a:xfrm>
              <a:off x="4133088"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3" name="object 63"/>
            <p:cNvSpPr/>
            <p:nvPr/>
          </p:nvSpPr>
          <p:spPr>
            <a:xfrm>
              <a:off x="4133088"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4" name="object 64"/>
            <p:cNvPicPr/>
            <p:nvPr/>
          </p:nvPicPr>
          <p:blipFill>
            <a:blip r:embed="rId2" cstate="print"/>
            <a:stretch>
              <a:fillRect/>
            </a:stretch>
          </p:blipFill>
          <p:spPr>
            <a:xfrm>
              <a:off x="4247387" y="3531107"/>
              <a:ext cx="76200" cy="228600"/>
            </a:xfrm>
            <a:prstGeom prst="rect">
              <a:avLst/>
            </a:prstGeom>
          </p:spPr>
        </p:pic>
        <p:sp>
          <p:nvSpPr>
            <p:cNvPr id="65" name="object 65"/>
            <p:cNvSpPr/>
            <p:nvPr/>
          </p:nvSpPr>
          <p:spPr>
            <a:xfrm>
              <a:off x="4133088"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6" name="object 66"/>
            <p:cNvSpPr/>
            <p:nvPr/>
          </p:nvSpPr>
          <p:spPr>
            <a:xfrm>
              <a:off x="4133088"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7" name="object 67"/>
            <p:cNvPicPr/>
            <p:nvPr/>
          </p:nvPicPr>
          <p:blipFill>
            <a:blip r:embed="rId2" cstate="print"/>
            <a:stretch>
              <a:fillRect/>
            </a:stretch>
          </p:blipFill>
          <p:spPr>
            <a:xfrm>
              <a:off x="4247387" y="2997707"/>
              <a:ext cx="76200" cy="228600"/>
            </a:xfrm>
            <a:prstGeom prst="rect">
              <a:avLst/>
            </a:prstGeom>
          </p:spPr>
        </p:pic>
        <p:pic>
          <p:nvPicPr>
            <p:cNvPr id="68" name="object 68"/>
            <p:cNvPicPr/>
            <p:nvPr/>
          </p:nvPicPr>
          <p:blipFill>
            <a:blip r:embed="rId2" cstate="print"/>
            <a:stretch>
              <a:fillRect/>
            </a:stretch>
          </p:blipFill>
          <p:spPr>
            <a:xfrm>
              <a:off x="4247387" y="2464307"/>
              <a:ext cx="76200" cy="228600"/>
            </a:xfrm>
            <a:prstGeom prst="rect">
              <a:avLst/>
            </a:prstGeom>
          </p:spPr>
        </p:pic>
        <p:sp>
          <p:nvSpPr>
            <p:cNvPr id="69" name="object 69"/>
            <p:cNvSpPr/>
            <p:nvPr/>
          </p:nvSpPr>
          <p:spPr>
            <a:xfrm>
              <a:off x="3436607" y="3340607"/>
              <a:ext cx="1364615" cy="76200"/>
            </a:xfrm>
            <a:custGeom>
              <a:avLst/>
              <a:gdLst/>
              <a:ahLst/>
              <a:cxnLst/>
              <a:rect l="l" t="t" r="r" b="b"/>
              <a:pathLst>
                <a:path w="1364614" h="76200">
                  <a:moveTo>
                    <a:pt x="690372" y="38100"/>
                  </a:moveTo>
                  <a:lnTo>
                    <a:pt x="678180" y="32004"/>
                  </a:lnTo>
                  <a:lnTo>
                    <a:pt x="614172" y="0"/>
                  </a:lnTo>
                  <a:lnTo>
                    <a:pt x="614172" y="32004"/>
                  </a:lnTo>
                  <a:lnTo>
                    <a:pt x="0" y="32004"/>
                  </a:lnTo>
                  <a:lnTo>
                    <a:pt x="0" y="44196"/>
                  </a:lnTo>
                  <a:lnTo>
                    <a:pt x="614172" y="44196"/>
                  </a:lnTo>
                  <a:lnTo>
                    <a:pt x="614172" y="76200"/>
                  </a:lnTo>
                  <a:lnTo>
                    <a:pt x="678180" y="44196"/>
                  </a:lnTo>
                  <a:lnTo>
                    <a:pt x="690372" y="38100"/>
                  </a:lnTo>
                  <a:close/>
                </a:path>
                <a:path w="1364614" h="76200">
                  <a:moveTo>
                    <a:pt x="1363992" y="38100"/>
                  </a:moveTo>
                  <a:lnTo>
                    <a:pt x="1351800" y="32004"/>
                  </a:lnTo>
                  <a:lnTo>
                    <a:pt x="1287792" y="0"/>
                  </a:lnTo>
                  <a:lnTo>
                    <a:pt x="1287792" y="32004"/>
                  </a:lnTo>
                  <a:lnTo>
                    <a:pt x="1010424" y="32004"/>
                  </a:lnTo>
                  <a:lnTo>
                    <a:pt x="1010424" y="44196"/>
                  </a:lnTo>
                  <a:lnTo>
                    <a:pt x="1287792" y="44196"/>
                  </a:lnTo>
                  <a:lnTo>
                    <a:pt x="1287792" y="76200"/>
                  </a:lnTo>
                  <a:lnTo>
                    <a:pt x="1351800" y="44196"/>
                  </a:lnTo>
                  <a:lnTo>
                    <a:pt x="1363992" y="38100"/>
                  </a:lnTo>
                  <a:close/>
                </a:path>
              </a:pathLst>
            </a:custGeom>
            <a:solidFill>
              <a:srgbClr val="000000"/>
            </a:solidFill>
          </p:spPr>
          <p:txBody>
            <a:bodyPr wrap="square" lIns="0" tIns="0" rIns="0" bIns="0" rtlCol="0"/>
            <a:lstStyle/>
            <a:p>
              <a:endParaRPr sz="1588"/>
            </a:p>
          </p:txBody>
        </p:sp>
      </p:grpSp>
      <p:sp>
        <p:nvSpPr>
          <p:cNvPr id="70" name="object 70"/>
          <p:cNvSpPr txBox="1"/>
          <p:nvPr/>
        </p:nvSpPr>
        <p:spPr>
          <a:xfrm>
            <a:off x="2534783" y="3724381"/>
            <a:ext cx="7260851" cy="2343813"/>
          </a:xfrm>
          <a:prstGeom prst="rect">
            <a:avLst/>
          </a:prstGeom>
        </p:spPr>
        <p:txBody>
          <a:bodyPr vert="horz" wrap="square" lIns="0" tIns="11206" rIns="0" bIns="0" rtlCol="0">
            <a:spAutoFit/>
          </a:bodyPr>
          <a:lstStyle/>
          <a:p>
            <a:pPr marL="824237">
              <a:spcBef>
                <a:spcPts val="88"/>
              </a:spcBef>
            </a:pPr>
            <a:r>
              <a:rPr sz="1588" dirty="0">
                <a:solidFill>
                  <a:srgbClr val="0000CC"/>
                </a:solidFill>
                <a:latin typeface="Calibri"/>
                <a:cs typeface="Calibri"/>
              </a:rPr>
              <a:t>t</a:t>
            </a:r>
            <a:endParaRPr sz="1588">
              <a:latin typeface="Calibri"/>
              <a:cs typeface="Calibri"/>
            </a:endParaRPr>
          </a:p>
          <a:p>
            <a:pPr marL="313221" indent="-302575">
              <a:spcBef>
                <a:spcPts val="1421"/>
              </a:spcBef>
              <a:buFont typeface="Arial"/>
              <a:buChar char="•"/>
              <a:tabLst>
                <a:tab pos="313221" algn="l"/>
                <a:tab pos="313781" algn="l"/>
              </a:tabLst>
            </a:pPr>
            <a:r>
              <a:rPr sz="1765" spc="-4" dirty="0">
                <a:latin typeface="Calibri"/>
                <a:cs typeface="Calibri"/>
              </a:rPr>
              <a:t>The</a:t>
            </a:r>
            <a:r>
              <a:rPr sz="1765" spc="18" dirty="0">
                <a:latin typeface="Calibri"/>
                <a:cs typeface="Calibri"/>
              </a:rPr>
              <a:t> </a:t>
            </a:r>
            <a:r>
              <a:rPr sz="1765" spc="-9" dirty="0">
                <a:latin typeface="Calibri"/>
                <a:cs typeface="Calibri"/>
              </a:rPr>
              <a:t>“unrolled”</a:t>
            </a:r>
            <a:r>
              <a:rPr sz="1765" spc="18" dirty="0">
                <a:latin typeface="Calibri"/>
                <a:cs typeface="Calibri"/>
              </a:rPr>
              <a:t> </a:t>
            </a:r>
            <a:r>
              <a:rPr sz="1765" spc="-9" dirty="0">
                <a:latin typeface="Calibri"/>
                <a:cs typeface="Calibri"/>
              </a:rPr>
              <a:t>computation</a:t>
            </a:r>
            <a:r>
              <a:rPr sz="1765" spc="-13" dirty="0">
                <a:latin typeface="Calibri"/>
                <a:cs typeface="Calibri"/>
              </a:rPr>
              <a:t> </a:t>
            </a:r>
            <a:r>
              <a:rPr sz="1765" dirty="0">
                <a:latin typeface="Calibri"/>
                <a:cs typeface="Calibri"/>
              </a:rPr>
              <a:t>is</a:t>
            </a:r>
            <a:r>
              <a:rPr sz="1765" spc="31" dirty="0">
                <a:latin typeface="Calibri"/>
                <a:cs typeface="Calibri"/>
              </a:rPr>
              <a:t> </a:t>
            </a:r>
            <a:r>
              <a:rPr sz="1765" spc="-9" dirty="0">
                <a:latin typeface="Calibri"/>
                <a:cs typeface="Calibri"/>
              </a:rPr>
              <a:t>just</a:t>
            </a:r>
            <a:r>
              <a:rPr sz="1765" spc="4" dirty="0">
                <a:latin typeface="Calibri"/>
                <a:cs typeface="Calibri"/>
              </a:rPr>
              <a:t> </a:t>
            </a:r>
            <a:r>
              <a:rPr sz="1765" dirty="0">
                <a:latin typeface="Calibri"/>
                <a:cs typeface="Calibri"/>
              </a:rPr>
              <a:t>a </a:t>
            </a:r>
            <a:r>
              <a:rPr sz="1765" spc="-4" dirty="0">
                <a:latin typeface="Calibri"/>
                <a:cs typeface="Calibri"/>
              </a:rPr>
              <a:t>giant</a:t>
            </a:r>
            <a:r>
              <a:rPr sz="1765" spc="4" dirty="0">
                <a:latin typeface="Calibri"/>
                <a:cs typeface="Calibri"/>
              </a:rPr>
              <a:t> </a:t>
            </a:r>
            <a:r>
              <a:rPr sz="1765" spc="-9" dirty="0">
                <a:latin typeface="Calibri"/>
                <a:cs typeface="Calibri"/>
              </a:rPr>
              <a:t>shared-parameter</a:t>
            </a:r>
            <a:r>
              <a:rPr sz="1765" spc="18" dirty="0">
                <a:latin typeface="Calibri"/>
                <a:cs typeface="Calibri"/>
              </a:rPr>
              <a:t> </a:t>
            </a:r>
            <a:r>
              <a:rPr sz="1765" spc="-9" dirty="0">
                <a:latin typeface="Calibri"/>
                <a:cs typeface="Calibri"/>
              </a:rPr>
              <a:t>neural</a:t>
            </a:r>
            <a:r>
              <a:rPr sz="1765" spc="13" dirty="0">
                <a:latin typeface="Calibri"/>
                <a:cs typeface="Calibri"/>
              </a:rPr>
              <a:t> </a:t>
            </a:r>
            <a:r>
              <a:rPr sz="1765" spc="-9" dirty="0">
                <a:latin typeface="Calibri"/>
                <a:cs typeface="Calibri"/>
              </a:rPr>
              <a:t>network</a:t>
            </a:r>
            <a:endParaRPr sz="1765">
              <a:latin typeface="Calibri"/>
              <a:cs typeface="Calibri"/>
            </a:endParaRPr>
          </a:p>
          <a:p>
            <a:pPr marL="667346" lvl="1" indent="-253827">
              <a:spcBef>
                <a:spcPts val="388"/>
              </a:spcBef>
              <a:buFont typeface="Arial"/>
              <a:buChar char="–"/>
              <a:tabLst>
                <a:tab pos="667346" algn="l"/>
                <a:tab pos="667906" algn="l"/>
              </a:tabLst>
            </a:pPr>
            <a:r>
              <a:rPr sz="1588" dirty="0">
                <a:latin typeface="Calibri"/>
                <a:cs typeface="Calibri"/>
              </a:rPr>
              <a:t>All</a:t>
            </a:r>
            <a:r>
              <a:rPr sz="1588" spc="-4" dirty="0">
                <a:latin typeface="Calibri"/>
                <a:cs typeface="Calibri"/>
              </a:rPr>
              <a:t> columns</a:t>
            </a:r>
            <a:r>
              <a:rPr sz="1588" dirty="0">
                <a:latin typeface="Calibri"/>
                <a:cs typeface="Calibri"/>
              </a:rPr>
              <a:t> </a:t>
            </a:r>
            <a:r>
              <a:rPr sz="1588" spc="-13" dirty="0">
                <a:latin typeface="Calibri"/>
                <a:cs typeface="Calibri"/>
              </a:rPr>
              <a:t>are</a:t>
            </a:r>
            <a:r>
              <a:rPr sz="1588" spc="4" dirty="0">
                <a:latin typeface="Calibri"/>
                <a:cs typeface="Calibri"/>
              </a:rPr>
              <a:t> </a:t>
            </a:r>
            <a:r>
              <a:rPr sz="1588" spc="-4" dirty="0">
                <a:latin typeface="Calibri"/>
                <a:cs typeface="Calibri"/>
              </a:rPr>
              <a:t>identical</a:t>
            </a:r>
            <a:r>
              <a:rPr sz="1588" dirty="0">
                <a:latin typeface="Calibri"/>
                <a:cs typeface="Calibri"/>
              </a:rPr>
              <a:t> and</a:t>
            </a:r>
            <a:r>
              <a:rPr sz="1588" spc="9" dirty="0">
                <a:latin typeface="Calibri"/>
                <a:cs typeface="Calibri"/>
              </a:rPr>
              <a:t> </a:t>
            </a:r>
            <a:r>
              <a:rPr sz="1588" spc="-9" dirty="0">
                <a:latin typeface="Calibri"/>
                <a:cs typeface="Calibri"/>
              </a:rPr>
              <a:t>share</a:t>
            </a:r>
            <a:r>
              <a:rPr sz="1588" spc="4" dirty="0">
                <a:latin typeface="Calibri"/>
                <a:cs typeface="Calibri"/>
              </a:rPr>
              <a:t> </a:t>
            </a:r>
            <a:r>
              <a:rPr sz="1588" spc="-13" dirty="0">
                <a:latin typeface="Calibri"/>
                <a:cs typeface="Calibri"/>
              </a:rPr>
              <a:t>parameters</a:t>
            </a:r>
            <a:endParaRPr sz="1588">
              <a:latin typeface="Calibri"/>
              <a:cs typeface="Calibri"/>
            </a:endParaRPr>
          </a:p>
          <a:p>
            <a:pPr lvl="1">
              <a:spcBef>
                <a:spcPts val="22"/>
              </a:spcBef>
              <a:buFont typeface="Arial"/>
              <a:buChar char="–"/>
            </a:pPr>
            <a:endParaRPr sz="1677">
              <a:latin typeface="Calibri"/>
              <a:cs typeface="Calibri"/>
            </a:endParaRPr>
          </a:p>
          <a:p>
            <a:pPr marL="313221" marR="374857" indent="-302575">
              <a:buFont typeface="Arial"/>
              <a:buChar char="•"/>
              <a:tabLst>
                <a:tab pos="313221" algn="l"/>
                <a:tab pos="313781" algn="l"/>
              </a:tabLst>
            </a:pPr>
            <a:r>
              <a:rPr sz="1765" spc="-9" dirty="0">
                <a:latin typeface="Calibri"/>
                <a:cs typeface="Calibri"/>
              </a:rPr>
              <a:t>Network</a:t>
            </a:r>
            <a:r>
              <a:rPr sz="1765" dirty="0">
                <a:latin typeface="Calibri"/>
                <a:cs typeface="Calibri"/>
              </a:rPr>
              <a:t> </a:t>
            </a:r>
            <a:r>
              <a:rPr sz="1765" spc="-13" dirty="0">
                <a:latin typeface="Calibri"/>
                <a:cs typeface="Calibri"/>
              </a:rPr>
              <a:t>parameters</a:t>
            </a:r>
            <a:r>
              <a:rPr sz="1765" spc="31" dirty="0">
                <a:latin typeface="Calibri"/>
                <a:cs typeface="Calibri"/>
              </a:rPr>
              <a:t> </a:t>
            </a:r>
            <a:r>
              <a:rPr sz="1765" spc="-4" dirty="0">
                <a:latin typeface="Calibri"/>
                <a:cs typeface="Calibri"/>
              </a:rPr>
              <a:t>can</a:t>
            </a:r>
            <a:r>
              <a:rPr sz="1765" spc="-13" dirty="0">
                <a:latin typeface="Calibri"/>
                <a:cs typeface="Calibri"/>
              </a:rPr>
              <a:t> </a:t>
            </a:r>
            <a:r>
              <a:rPr sz="1765" dirty="0">
                <a:latin typeface="Calibri"/>
                <a:cs typeface="Calibri"/>
              </a:rPr>
              <a:t>be </a:t>
            </a:r>
            <a:r>
              <a:rPr sz="1765" spc="-4" dirty="0">
                <a:latin typeface="Calibri"/>
                <a:cs typeface="Calibri"/>
              </a:rPr>
              <a:t>trained</a:t>
            </a:r>
            <a:r>
              <a:rPr sz="1765" dirty="0">
                <a:latin typeface="Calibri"/>
                <a:cs typeface="Calibri"/>
              </a:rPr>
              <a:t> </a:t>
            </a:r>
            <a:r>
              <a:rPr sz="1765" spc="-9" dirty="0">
                <a:latin typeface="Calibri"/>
                <a:cs typeface="Calibri"/>
              </a:rPr>
              <a:t>via</a:t>
            </a:r>
            <a:r>
              <a:rPr sz="1765" spc="35" dirty="0">
                <a:latin typeface="Calibri"/>
                <a:cs typeface="Calibri"/>
              </a:rPr>
              <a:t> </a:t>
            </a:r>
            <a:r>
              <a:rPr sz="1765" spc="-9" dirty="0">
                <a:latin typeface="Calibri"/>
                <a:cs typeface="Calibri"/>
              </a:rPr>
              <a:t>gradient-descent</a:t>
            </a:r>
            <a:r>
              <a:rPr sz="1765" spc="22" dirty="0">
                <a:latin typeface="Calibri"/>
                <a:cs typeface="Calibri"/>
              </a:rPr>
              <a:t> </a:t>
            </a:r>
            <a:r>
              <a:rPr sz="1765" spc="-4" dirty="0">
                <a:latin typeface="Calibri"/>
                <a:cs typeface="Calibri"/>
              </a:rPr>
              <a:t>(or</a:t>
            </a:r>
            <a:r>
              <a:rPr sz="1765" dirty="0">
                <a:latin typeface="Calibri"/>
                <a:cs typeface="Calibri"/>
              </a:rPr>
              <a:t> </a:t>
            </a:r>
            <a:r>
              <a:rPr sz="1765" spc="-4" dirty="0">
                <a:latin typeface="Calibri"/>
                <a:cs typeface="Calibri"/>
              </a:rPr>
              <a:t>its</a:t>
            </a:r>
            <a:r>
              <a:rPr sz="1765" spc="13" dirty="0">
                <a:latin typeface="Calibri"/>
                <a:cs typeface="Calibri"/>
              </a:rPr>
              <a:t> </a:t>
            </a:r>
            <a:r>
              <a:rPr sz="1765" spc="-9" dirty="0">
                <a:latin typeface="Calibri"/>
                <a:cs typeface="Calibri"/>
              </a:rPr>
              <a:t>variants) </a:t>
            </a:r>
            <a:r>
              <a:rPr sz="1765" spc="-388" dirty="0">
                <a:latin typeface="Calibri"/>
                <a:cs typeface="Calibri"/>
              </a:rPr>
              <a:t> </a:t>
            </a:r>
            <a:r>
              <a:rPr sz="1765" spc="-4" dirty="0">
                <a:latin typeface="Calibri"/>
                <a:cs typeface="Calibri"/>
              </a:rPr>
              <a:t>using</a:t>
            </a:r>
            <a:r>
              <a:rPr sz="1765" dirty="0">
                <a:latin typeface="Calibri"/>
                <a:cs typeface="Calibri"/>
              </a:rPr>
              <a:t> </a:t>
            </a:r>
            <a:r>
              <a:rPr sz="1765" spc="-9" dirty="0">
                <a:latin typeface="Calibri"/>
                <a:cs typeface="Calibri"/>
              </a:rPr>
              <a:t>shared-parameter</a:t>
            </a:r>
            <a:r>
              <a:rPr sz="1765" spc="9" dirty="0">
                <a:latin typeface="Calibri"/>
                <a:cs typeface="Calibri"/>
              </a:rPr>
              <a:t> </a:t>
            </a:r>
            <a:r>
              <a:rPr sz="1765" spc="-9" dirty="0">
                <a:latin typeface="Calibri"/>
                <a:cs typeface="Calibri"/>
              </a:rPr>
              <a:t>gradient</a:t>
            </a:r>
            <a:r>
              <a:rPr sz="1765" spc="-4" dirty="0">
                <a:latin typeface="Calibri"/>
                <a:cs typeface="Calibri"/>
              </a:rPr>
              <a:t> descent rules</a:t>
            </a:r>
            <a:endParaRPr sz="1765">
              <a:latin typeface="Calibri"/>
              <a:cs typeface="Calibri"/>
            </a:endParaRPr>
          </a:p>
          <a:p>
            <a:pPr marL="667346" marR="13448" lvl="1" indent="-253266">
              <a:spcBef>
                <a:spcPts val="388"/>
              </a:spcBef>
              <a:buFont typeface="Arial"/>
              <a:buChar char="–"/>
              <a:tabLst>
                <a:tab pos="667346" algn="l"/>
                <a:tab pos="667906" algn="l"/>
              </a:tabLst>
            </a:pPr>
            <a:r>
              <a:rPr sz="1588" spc="-9" dirty="0">
                <a:latin typeface="Calibri"/>
                <a:cs typeface="Calibri"/>
              </a:rPr>
              <a:t>Gradient</a:t>
            </a:r>
            <a:r>
              <a:rPr sz="1588" spc="-4" dirty="0">
                <a:latin typeface="Calibri"/>
                <a:cs typeface="Calibri"/>
              </a:rPr>
              <a:t> </a:t>
            </a:r>
            <a:r>
              <a:rPr sz="1588" spc="-9" dirty="0">
                <a:latin typeface="Calibri"/>
                <a:cs typeface="Calibri"/>
              </a:rPr>
              <a:t>computation</a:t>
            </a:r>
            <a:r>
              <a:rPr sz="1588" spc="18" dirty="0">
                <a:latin typeface="Calibri"/>
                <a:cs typeface="Calibri"/>
              </a:rPr>
              <a:t> </a:t>
            </a:r>
            <a:r>
              <a:rPr sz="1588" spc="-9" dirty="0">
                <a:latin typeface="Calibri"/>
                <a:cs typeface="Calibri"/>
              </a:rPr>
              <a:t>requires</a:t>
            </a:r>
            <a:r>
              <a:rPr sz="1588" spc="4" dirty="0">
                <a:latin typeface="Calibri"/>
                <a:cs typeface="Calibri"/>
              </a:rPr>
              <a:t> </a:t>
            </a:r>
            <a:r>
              <a:rPr sz="1588" dirty="0">
                <a:latin typeface="Calibri"/>
                <a:cs typeface="Calibri"/>
              </a:rPr>
              <a:t>a</a:t>
            </a:r>
            <a:r>
              <a:rPr sz="1588" spc="9" dirty="0">
                <a:latin typeface="Calibri"/>
                <a:cs typeface="Calibri"/>
              </a:rPr>
              <a:t> </a:t>
            </a:r>
            <a:r>
              <a:rPr sz="1588" spc="-13" dirty="0">
                <a:latin typeface="Calibri"/>
                <a:cs typeface="Calibri"/>
              </a:rPr>
              <a:t>forward</a:t>
            </a:r>
            <a:r>
              <a:rPr sz="1588" spc="13" dirty="0">
                <a:latin typeface="Calibri"/>
                <a:cs typeface="Calibri"/>
              </a:rPr>
              <a:t> </a:t>
            </a:r>
            <a:r>
              <a:rPr sz="1588" dirty="0">
                <a:latin typeface="Calibri"/>
                <a:cs typeface="Calibri"/>
              </a:rPr>
              <a:t>pass,</a:t>
            </a:r>
            <a:r>
              <a:rPr sz="1588" spc="-9" dirty="0">
                <a:latin typeface="Calibri"/>
                <a:cs typeface="Calibri"/>
              </a:rPr>
              <a:t> </a:t>
            </a:r>
            <a:r>
              <a:rPr sz="1588" spc="-4" dirty="0">
                <a:latin typeface="Calibri"/>
                <a:cs typeface="Calibri"/>
              </a:rPr>
              <a:t>back</a:t>
            </a:r>
            <a:r>
              <a:rPr sz="1588" spc="18" dirty="0">
                <a:latin typeface="Calibri"/>
                <a:cs typeface="Calibri"/>
              </a:rPr>
              <a:t> </a:t>
            </a:r>
            <a:r>
              <a:rPr sz="1588" spc="-9" dirty="0">
                <a:latin typeface="Calibri"/>
                <a:cs typeface="Calibri"/>
              </a:rPr>
              <a:t>propagation,</a:t>
            </a:r>
            <a:r>
              <a:rPr sz="1588" spc="4" dirty="0">
                <a:latin typeface="Calibri"/>
                <a:cs typeface="Calibri"/>
              </a:rPr>
              <a:t> </a:t>
            </a:r>
            <a:r>
              <a:rPr sz="1588" dirty="0">
                <a:latin typeface="Calibri"/>
                <a:cs typeface="Calibri"/>
              </a:rPr>
              <a:t>and </a:t>
            </a:r>
            <a:r>
              <a:rPr sz="1588" spc="-4" dirty="0">
                <a:latin typeface="Calibri"/>
                <a:cs typeface="Calibri"/>
              </a:rPr>
              <a:t>pooling</a:t>
            </a:r>
            <a:r>
              <a:rPr sz="1588" spc="18" dirty="0">
                <a:latin typeface="Calibri"/>
                <a:cs typeface="Calibri"/>
              </a:rPr>
              <a:t> </a:t>
            </a:r>
            <a:r>
              <a:rPr sz="1588" dirty="0">
                <a:latin typeface="Calibri"/>
                <a:cs typeface="Calibri"/>
              </a:rPr>
              <a:t>of </a:t>
            </a:r>
            <a:r>
              <a:rPr sz="1588" spc="-344" dirty="0">
                <a:latin typeface="Calibri"/>
                <a:cs typeface="Calibri"/>
              </a:rPr>
              <a:t> </a:t>
            </a:r>
            <a:r>
              <a:rPr sz="1588" spc="-9" dirty="0">
                <a:latin typeface="Calibri"/>
                <a:cs typeface="Calibri"/>
              </a:rPr>
              <a:t>gradients</a:t>
            </a:r>
            <a:r>
              <a:rPr sz="1588" dirty="0">
                <a:latin typeface="Calibri"/>
                <a:cs typeface="Calibri"/>
              </a:rPr>
              <a:t> </a:t>
            </a:r>
            <a:r>
              <a:rPr sz="1588" spc="-13" dirty="0">
                <a:latin typeface="Calibri"/>
                <a:cs typeface="Calibri"/>
              </a:rPr>
              <a:t>(for</a:t>
            </a:r>
            <a:r>
              <a:rPr sz="1588" spc="4" dirty="0">
                <a:latin typeface="Calibri"/>
                <a:cs typeface="Calibri"/>
              </a:rPr>
              <a:t> </a:t>
            </a:r>
            <a:r>
              <a:rPr sz="1588" spc="-9" dirty="0">
                <a:latin typeface="Calibri"/>
                <a:cs typeface="Calibri"/>
              </a:rPr>
              <a:t>parameter</a:t>
            </a:r>
            <a:r>
              <a:rPr sz="1588" spc="4" dirty="0">
                <a:latin typeface="Calibri"/>
                <a:cs typeface="Calibri"/>
              </a:rPr>
              <a:t> </a:t>
            </a:r>
            <a:r>
              <a:rPr sz="1588" spc="-4" dirty="0">
                <a:latin typeface="Calibri"/>
                <a:cs typeface="Calibri"/>
              </a:rPr>
              <a:t>sharing)</a:t>
            </a:r>
            <a:endParaRPr sz="1588">
              <a:latin typeface="Calibri"/>
              <a:cs typeface="Calibri"/>
            </a:endParaRPr>
          </a:p>
        </p:txBody>
      </p:sp>
      <p:sp>
        <p:nvSpPr>
          <p:cNvPr id="71" name="object 71"/>
          <p:cNvSpPr txBox="1"/>
          <p:nvPr/>
        </p:nvSpPr>
        <p:spPr>
          <a:xfrm>
            <a:off x="3533919"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0</a:t>
            </a:r>
            <a:r>
              <a:rPr sz="1588" dirty="0">
                <a:latin typeface="Calibri"/>
                <a:cs typeface="Calibri"/>
              </a:rPr>
              <a:t>)</a:t>
            </a:r>
            <a:endParaRPr sz="1588">
              <a:latin typeface="Calibri"/>
              <a:cs typeface="Calibri"/>
            </a:endParaRPr>
          </a:p>
        </p:txBody>
      </p:sp>
      <p:sp>
        <p:nvSpPr>
          <p:cNvPr id="72" name="object 72"/>
          <p:cNvSpPr txBox="1"/>
          <p:nvPr/>
        </p:nvSpPr>
        <p:spPr>
          <a:xfrm>
            <a:off x="2661646" y="25908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sp>
        <p:nvSpPr>
          <p:cNvPr id="73" name="object 73"/>
          <p:cNvSpPr txBox="1"/>
          <p:nvPr/>
        </p:nvSpPr>
        <p:spPr>
          <a:xfrm>
            <a:off x="4389144"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74" name="object 74"/>
          <p:cNvSpPr txBox="1"/>
          <p:nvPr/>
        </p:nvSpPr>
        <p:spPr>
          <a:xfrm>
            <a:off x="5258329"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75" name="object 75"/>
          <p:cNvSpPr txBox="1"/>
          <p:nvPr/>
        </p:nvSpPr>
        <p:spPr>
          <a:xfrm>
            <a:off x="6972262"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pic>
        <p:nvPicPr>
          <p:cNvPr id="76" name="object 76"/>
          <p:cNvPicPr/>
          <p:nvPr/>
        </p:nvPicPr>
        <p:blipFill>
          <a:blip r:embed="rId4" cstate="print"/>
          <a:stretch>
            <a:fillRect/>
          </a:stretch>
        </p:blipFill>
        <p:spPr>
          <a:xfrm>
            <a:off x="6499412" y="2944905"/>
            <a:ext cx="67235" cy="67235"/>
          </a:xfrm>
          <a:prstGeom prst="rect">
            <a:avLst/>
          </a:prstGeom>
        </p:spPr>
      </p:pic>
      <p:pic>
        <p:nvPicPr>
          <p:cNvPr id="77" name="object 77"/>
          <p:cNvPicPr/>
          <p:nvPr/>
        </p:nvPicPr>
        <p:blipFill>
          <a:blip r:embed="rId4" cstate="print"/>
          <a:stretch>
            <a:fillRect/>
          </a:stretch>
        </p:blipFill>
        <p:spPr>
          <a:xfrm>
            <a:off x="6364941" y="2944905"/>
            <a:ext cx="67235" cy="67235"/>
          </a:xfrm>
          <a:prstGeom prst="rect">
            <a:avLst/>
          </a:prstGeom>
        </p:spPr>
      </p:pic>
      <p:pic>
        <p:nvPicPr>
          <p:cNvPr id="78" name="object 78"/>
          <p:cNvPicPr/>
          <p:nvPr/>
        </p:nvPicPr>
        <p:blipFill>
          <a:blip r:embed="rId4" cstate="print"/>
          <a:stretch>
            <a:fillRect/>
          </a:stretch>
        </p:blipFill>
        <p:spPr>
          <a:xfrm>
            <a:off x="6230471" y="2944905"/>
            <a:ext cx="67235" cy="67235"/>
          </a:xfrm>
          <a:prstGeom prst="rect">
            <a:avLst/>
          </a:prstGeom>
        </p:spPr>
      </p:pic>
      <p:pic>
        <p:nvPicPr>
          <p:cNvPr id="79" name="object 79"/>
          <p:cNvPicPr/>
          <p:nvPr/>
        </p:nvPicPr>
        <p:blipFill>
          <a:blip r:embed="rId4" cstate="print"/>
          <a:stretch>
            <a:fillRect/>
          </a:stretch>
        </p:blipFill>
        <p:spPr>
          <a:xfrm>
            <a:off x="6096000" y="2944905"/>
            <a:ext cx="67235" cy="67235"/>
          </a:xfrm>
          <a:prstGeom prst="rect">
            <a:avLst/>
          </a:prstGeom>
        </p:spPr>
      </p:pic>
      <p:sp>
        <p:nvSpPr>
          <p:cNvPr id="80" name="object 80"/>
          <p:cNvSpPr txBox="1"/>
          <p:nvPr/>
        </p:nvSpPr>
        <p:spPr>
          <a:xfrm>
            <a:off x="7830148"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81" name="object 81"/>
          <p:cNvSpPr txBox="1"/>
          <p:nvPr/>
        </p:nvSpPr>
        <p:spPr>
          <a:xfrm>
            <a:off x="8786967" y="3554948"/>
            <a:ext cx="310963"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82" name="object 82"/>
          <p:cNvSpPr txBox="1"/>
          <p:nvPr/>
        </p:nvSpPr>
        <p:spPr>
          <a:xfrm>
            <a:off x="4382401"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1</a:t>
            </a:r>
            <a:r>
              <a:rPr sz="1588" dirty="0">
                <a:latin typeface="Calibri"/>
                <a:cs typeface="Calibri"/>
              </a:rPr>
              <a:t>)</a:t>
            </a:r>
            <a:endParaRPr sz="1588">
              <a:latin typeface="Calibri"/>
              <a:cs typeface="Calibri"/>
            </a:endParaRPr>
          </a:p>
        </p:txBody>
      </p:sp>
      <p:sp>
        <p:nvSpPr>
          <p:cNvPr id="83" name="object 83"/>
          <p:cNvSpPr txBox="1"/>
          <p:nvPr/>
        </p:nvSpPr>
        <p:spPr>
          <a:xfrm>
            <a:off x="5284023" y="1898298"/>
            <a:ext cx="344021" cy="255678"/>
          </a:xfrm>
          <a:prstGeom prst="rect">
            <a:avLst/>
          </a:prstGeom>
        </p:spPr>
        <p:txBody>
          <a:bodyPr vert="horz" wrap="square" lIns="0" tIns="11206" rIns="0" bIns="0" rtlCol="0">
            <a:spAutoFit/>
          </a:bodyPr>
          <a:lstStyle/>
          <a:p>
            <a:pPr marL="11206">
              <a:spcBef>
                <a:spcPts val="88"/>
              </a:spcBef>
            </a:pPr>
            <a:r>
              <a:rPr sz="1588" spc="-13" dirty="0">
                <a:latin typeface="Calibri"/>
                <a:cs typeface="Calibri"/>
              </a:rPr>
              <a:t>Y</a:t>
            </a:r>
            <a:r>
              <a:rPr sz="1588" spc="-9" dirty="0">
                <a:latin typeface="Calibri"/>
                <a:cs typeface="Calibri"/>
              </a:rPr>
              <a:t>(</a:t>
            </a:r>
            <a:r>
              <a:rPr sz="1588" spc="4" dirty="0">
                <a:latin typeface="Calibri"/>
                <a:cs typeface="Calibri"/>
              </a:rPr>
              <a:t>2</a:t>
            </a:r>
            <a:r>
              <a:rPr sz="1588" dirty="0">
                <a:latin typeface="Calibri"/>
                <a:cs typeface="Calibri"/>
              </a:rPr>
              <a:t>)</a:t>
            </a:r>
            <a:endParaRPr sz="1588">
              <a:latin typeface="Calibri"/>
              <a:cs typeface="Calibri"/>
            </a:endParaRPr>
          </a:p>
        </p:txBody>
      </p:sp>
      <p:sp>
        <p:nvSpPr>
          <p:cNvPr id="84" name="object 84"/>
          <p:cNvSpPr txBox="1"/>
          <p:nvPr/>
        </p:nvSpPr>
        <p:spPr>
          <a:xfrm>
            <a:off x="6972262"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85" name="object 85"/>
          <p:cNvSpPr txBox="1"/>
          <p:nvPr/>
        </p:nvSpPr>
        <p:spPr>
          <a:xfrm>
            <a:off x="7830718"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spc="-13" dirty="0">
                <a:latin typeface="Calibri"/>
                <a:cs typeface="Calibri"/>
              </a:rPr>
              <a:t>-</a:t>
            </a:r>
            <a:r>
              <a:rPr sz="1412" dirty="0">
                <a:latin typeface="Calibri"/>
                <a:cs typeface="Calibri"/>
              </a:rPr>
              <a:t>1</a:t>
            </a:r>
            <a:r>
              <a:rPr sz="1412" spc="-4" dirty="0">
                <a:latin typeface="Calibri"/>
                <a:cs typeface="Calibri"/>
              </a:rPr>
              <a:t>)</a:t>
            </a:r>
            <a:endParaRPr sz="1412">
              <a:latin typeface="Calibri"/>
              <a:cs typeface="Calibri"/>
            </a:endParaRPr>
          </a:p>
        </p:txBody>
      </p:sp>
      <p:sp>
        <p:nvSpPr>
          <p:cNvPr id="86" name="object 86"/>
          <p:cNvSpPr txBox="1"/>
          <p:nvPr/>
        </p:nvSpPr>
        <p:spPr>
          <a:xfrm>
            <a:off x="8787537" y="1929190"/>
            <a:ext cx="305921"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92" name="TextBox 91">
            <a:extLst>
              <a:ext uri="{FF2B5EF4-FFF2-40B4-BE49-F238E27FC236}">
                <a16:creationId xmlns:a16="http://schemas.microsoft.com/office/drawing/2014/main" id="{EEAFA728-7599-450B-BA6F-DB732403C758}"/>
              </a:ext>
            </a:extLst>
          </p:cNvPr>
          <p:cNvSpPr txBox="1"/>
          <p:nvPr/>
        </p:nvSpPr>
        <p:spPr>
          <a:xfrm>
            <a:off x="3048786" y="6200183"/>
            <a:ext cx="6094428"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100"/>
              <a:buFont typeface="Arial"/>
              <a:buNone/>
            </a:pPr>
            <a:r>
              <a:rPr lang="en-US" sz="1400" dirty="0">
                <a:solidFill>
                  <a:schemeClr val="tx1">
                    <a:lumMod val="50000"/>
                    <a:lumOff val="50000"/>
                  </a:schemeClr>
                </a:solidFill>
                <a:latin typeface="Arial" panose="020B0604020202020204" pitchFamily="34" charset="0"/>
                <a:cs typeface="Arial" panose="020B0604020202020204" pitchFamily="34" charset="0"/>
              </a:rPr>
              <a:t>The Transformer Epiphany Speech - Vision - Text</a:t>
            </a:r>
            <a:r>
              <a:rPr lang="en-US" sz="1400" dirty="0">
                <a:solidFill>
                  <a:schemeClr val="tx1">
                    <a:lumMod val="50000"/>
                    <a:lumOff val="50000"/>
                  </a:schemeClr>
                </a:solidFill>
                <a:latin typeface="Arial" panose="020B0604020202020204" pitchFamily="34" charset="0"/>
                <a:cs typeface="Arial" panose="020B0604020202020204" pitchFamily="34" charset="0"/>
                <a:sym typeface="Arial"/>
              </a:rPr>
              <a:t> </a:t>
            </a:r>
            <a:r>
              <a:rPr lang="en-US" sz="1400" b="0" i="0" u="none" strike="noStrike" cap="none" dirty="0">
                <a:solidFill>
                  <a:schemeClr val="tx1">
                    <a:lumMod val="50000"/>
                    <a:lumOff val="50000"/>
                  </a:schemeClr>
                </a:solidFill>
                <a:latin typeface="Arial" panose="020B0604020202020204" pitchFamily="34" charset="0"/>
                <a:ea typeface="Arial"/>
                <a:cs typeface="Arial" panose="020B0604020202020204" pitchFamily="34" charset="0"/>
                <a:sym typeface="Arial"/>
              </a:rPr>
              <a:t>Workshop</a:t>
            </a:r>
          </a:p>
        </p:txBody>
      </p:sp>
    </p:spTree>
    <p:extLst>
      <p:ext uri="{BB962C8B-B14F-4D97-AF65-F5344CB8AC3E}">
        <p14:creationId xmlns:p14="http://schemas.microsoft.com/office/powerpoint/2010/main" val="1519216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6595" y="635557"/>
            <a:ext cx="4616824" cy="498244"/>
          </a:xfrm>
          <a:prstGeom prst="rect">
            <a:avLst/>
          </a:prstGeom>
        </p:spPr>
        <p:txBody>
          <a:bodyPr vert="horz" wrap="square" lIns="0" tIns="11206" rIns="0" bIns="0" rtlCol="0">
            <a:spAutoFit/>
          </a:bodyPr>
          <a:lstStyle/>
          <a:p>
            <a:pPr marL="11206">
              <a:lnSpc>
                <a:spcPct val="100000"/>
              </a:lnSpc>
              <a:spcBef>
                <a:spcPts val="88"/>
              </a:spcBef>
            </a:pPr>
            <a:r>
              <a:rPr spc="-35" dirty="0"/>
              <a:t>Training:</a:t>
            </a:r>
            <a:r>
              <a:rPr spc="-31" dirty="0"/>
              <a:t> </a:t>
            </a:r>
            <a:r>
              <a:rPr spc="-22" dirty="0"/>
              <a:t>Forward</a:t>
            </a:r>
            <a:r>
              <a:rPr spc="9" dirty="0"/>
              <a:t> </a:t>
            </a:r>
            <a:r>
              <a:rPr spc="-9" dirty="0"/>
              <a:t>pass</a:t>
            </a:r>
          </a:p>
        </p:txBody>
      </p:sp>
      <p:sp>
        <p:nvSpPr>
          <p:cNvPr id="3" name="object 3"/>
          <p:cNvSpPr txBox="1"/>
          <p:nvPr/>
        </p:nvSpPr>
        <p:spPr>
          <a:xfrm>
            <a:off x="2588126" y="4350323"/>
            <a:ext cx="7013762" cy="1031421"/>
          </a:xfrm>
          <a:prstGeom prst="rect">
            <a:avLst/>
          </a:prstGeom>
        </p:spPr>
        <p:txBody>
          <a:bodyPr vert="horz" wrap="square" lIns="0" tIns="70597" rIns="0" bIns="0" rtlCol="0">
            <a:spAutoFit/>
          </a:bodyPr>
          <a:lstStyle/>
          <a:p>
            <a:pPr marL="313781" indent="-302575">
              <a:spcBef>
                <a:spcPts val="556"/>
              </a:spcBef>
              <a:buFont typeface="Arial"/>
              <a:buChar char="•"/>
              <a:tabLst>
                <a:tab pos="313221" algn="l"/>
                <a:tab pos="313781" algn="l"/>
              </a:tabLst>
            </a:pPr>
            <a:r>
              <a:rPr sz="1941" spc="-9" dirty="0">
                <a:latin typeface="Calibri"/>
                <a:cs typeface="Calibri"/>
              </a:rPr>
              <a:t>For</a:t>
            </a:r>
            <a:r>
              <a:rPr sz="1941" spc="-31" dirty="0">
                <a:latin typeface="Calibri"/>
                <a:cs typeface="Calibri"/>
              </a:rPr>
              <a:t> </a:t>
            </a:r>
            <a:r>
              <a:rPr sz="1941" spc="-4" dirty="0">
                <a:latin typeface="Calibri"/>
                <a:cs typeface="Calibri"/>
              </a:rPr>
              <a:t>each</a:t>
            </a:r>
            <a:r>
              <a:rPr sz="1941" spc="-18" dirty="0">
                <a:latin typeface="Calibri"/>
                <a:cs typeface="Calibri"/>
              </a:rPr>
              <a:t> </a:t>
            </a:r>
            <a:r>
              <a:rPr sz="1941" spc="-9" dirty="0">
                <a:latin typeface="Calibri"/>
                <a:cs typeface="Calibri"/>
              </a:rPr>
              <a:t>training</a:t>
            </a:r>
            <a:r>
              <a:rPr sz="1941" spc="-13" dirty="0">
                <a:latin typeface="Calibri"/>
                <a:cs typeface="Calibri"/>
              </a:rPr>
              <a:t> </a:t>
            </a:r>
            <a:r>
              <a:rPr sz="1941" spc="-4" dirty="0">
                <a:latin typeface="Calibri"/>
                <a:cs typeface="Calibri"/>
              </a:rPr>
              <a:t>input:</a:t>
            </a:r>
            <a:endParaRPr sz="1941" dirty="0">
              <a:latin typeface="Calibri"/>
              <a:cs typeface="Calibri"/>
            </a:endParaRPr>
          </a:p>
          <a:p>
            <a:pPr marL="313221" marR="4483" indent="-302575">
              <a:spcBef>
                <a:spcPts val="463"/>
              </a:spcBef>
              <a:buFont typeface="Arial"/>
              <a:buChar char="•"/>
              <a:tabLst>
                <a:tab pos="313221" algn="l"/>
                <a:tab pos="313781" algn="l"/>
              </a:tabLst>
            </a:pPr>
            <a:r>
              <a:rPr sz="1941" spc="-9" dirty="0">
                <a:latin typeface="Calibri"/>
                <a:cs typeface="Calibri"/>
              </a:rPr>
              <a:t>Forward</a:t>
            </a:r>
            <a:r>
              <a:rPr sz="1941" spc="-22" dirty="0">
                <a:latin typeface="Calibri"/>
                <a:cs typeface="Calibri"/>
              </a:rPr>
              <a:t> </a:t>
            </a:r>
            <a:r>
              <a:rPr sz="1941" spc="-4" dirty="0">
                <a:latin typeface="Calibri"/>
                <a:cs typeface="Calibri"/>
              </a:rPr>
              <a:t>pass:</a:t>
            </a:r>
            <a:r>
              <a:rPr sz="1941" spc="13" dirty="0">
                <a:latin typeface="Calibri"/>
                <a:cs typeface="Calibri"/>
              </a:rPr>
              <a:t> </a:t>
            </a:r>
            <a:r>
              <a:rPr sz="1941" spc="-4" dirty="0">
                <a:latin typeface="Calibri"/>
                <a:cs typeface="Calibri"/>
              </a:rPr>
              <a:t>pass</a:t>
            </a:r>
            <a:r>
              <a:rPr sz="1941" spc="9" dirty="0">
                <a:latin typeface="Calibri"/>
                <a:cs typeface="Calibri"/>
              </a:rPr>
              <a:t> </a:t>
            </a:r>
            <a:r>
              <a:rPr sz="1941" spc="-13" dirty="0">
                <a:latin typeface="Calibri"/>
                <a:cs typeface="Calibri"/>
              </a:rPr>
              <a:t>the</a:t>
            </a:r>
            <a:r>
              <a:rPr sz="1941" spc="13" dirty="0">
                <a:latin typeface="Calibri"/>
                <a:cs typeface="Calibri"/>
              </a:rPr>
              <a:t> </a:t>
            </a:r>
            <a:r>
              <a:rPr sz="1941" spc="-13" dirty="0">
                <a:latin typeface="Calibri"/>
                <a:cs typeface="Calibri"/>
              </a:rPr>
              <a:t>entire</a:t>
            </a:r>
            <a:r>
              <a:rPr sz="1941" spc="18" dirty="0">
                <a:latin typeface="Calibri"/>
                <a:cs typeface="Calibri"/>
              </a:rPr>
              <a:t> </a:t>
            </a:r>
            <a:r>
              <a:rPr sz="1941" spc="-13" dirty="0">
                <a:latin typeface="Calibri"/>
                <a:cs typeface="Calibri"/>
              </a:rPr>
              <a:t>data</a:t>
            </a:r>
            <a:r>
              <a:rPr sz="1941" spc="9" dirty="0">
                <a:latin typeface="Calibri"/>
                <a:cs typeface="Calibri"/>
              </a:rPr>
              <a:t> </a:t>
            </a:r>
            <a:r>
              <a:rPr sz="1941" spc="-9" dirty="0">
                <a:latin typeface="Calibri"/>
                <a:cs typeface="Calibri"/>
              </a:rPr>
              <a:t>sequence</a:t>
            </a:r>
            <a:r>
              <a:rPr sz="1941" spc="13" dirty="0">
                <a:latin typeface="Calibri"/>
                <a:cs typeface="Calibri"/>
              </a:rPr>
              <a:t> </a:t>
            </a:r>
            <a:r>
              <a:rPr sz="1941" spc="-9" dirty="0">
                <a:latin typeface="Calibri"/>
                <a:cs typeface="Calibri"/>
              </a:rPr>
              <a:t>through</a:t>
            </a:r>
            <a:r>
              <a:rPr sz="1941" dirty="0">
                <a:latin typeface="Calibri"/>
                <a:cs typeface="Calibri"/>
              </a:rPr>
              <a:t> </a:t>
            </a:r>
            <a:r>
              <a:rPr sz="1941" spc="-13" dirty="0">
                <a:latin typeface="Calibri"/>
                <a:cs typeface="Calibri"/>
              </a:rPr>
              <a:t>the</a:t>
            </a:r>
            <a:r>
              <a:rPr sz="1941" spc="40" dirty="0">
                <a:latin typeface="Calibri"/>
                <a:cs typeface="Calibri"/>
              </a:rPr>
              <a:t> </a:t>
            </a:r>
            <a:r>
              <a:rPr sz="1941" spc="-13" dirty="0">
                <a:latin typeface="Calibri"/>
                <a:cs typeface="Calibri"/>
              </a:rPr>
              <a:t>network, </a:t>
            </a:r>
            <a:r>
              <a:rPr sz="1941" spc="-427" dirty="0">
                <a:latin typeface="Calibri"/>
                <a:cs typeface="Calibri"/>
              </a:rPr>
              <a:t> </a:t>
            </a:r>
            <a:r>
              <a:rPr sz="1941" spc="-18" dirty="0">
                <a:latin typeface="Calibri"/>
                <a:cs typeface="Calibri"/>
              </a:rPr>
              <a:t>generate</a:t>
            </a:r>
            <a:r>
              <a:rPr sz="1941" spc="26" dirty="0">
                <a:latin typeface="Calibri"/>
                <a:cs typeface="Calibri"/>
              </a:rPr>
              <a:t> </a:t>
            </a:r>
            <a:r>
              <a:rPr sz="1941" spc="-4" dirty="0">
                <a:latin typeface="Calibri"/>
                <a:cs typeface="Calibri"/>
              </a:rPr>
              <a:t>outputs</a:t>
            </a:r>
            <a:endParaRPr sz="1941" dirty="0">
              <a:latin typeface="Calibri"/>
              <a:cs typeface="Calibri"/>
            </a:endParaRPr>
          </a:p>
        </p:txBody>
      </p:sp>
      <p:grpSp>
        <p:nvGrpSpPr>
          <p:cNvPr id="4" name="object 4"/>
          <p:cNvGrpSpPr/>
          <p:nvPr/>
        </p:nvGrpSpPr>
        <p:grpSpPr>
          <a:xfrm>
            <a:off x="3543692" y="3315989"/>
            <a:ext cx="2019860" cy="271743"/>
            <a:chOff x="2136584" y="3758120"/>
            <a:chExt cx="2289175" cy="307975"/>
          </a:xfrm>
        </p:grpSpPr>
        <p:sp>
          <p:nvSpPr>
            <p:cNvPr id="5" name="object 5"/>
            <p:cNvSpPr/>
            <p:nvPr/>
          </p:nvSpPr>
          <p:spPr>
            <a:xfrm>
              <a:off x="21381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6" name="object 6"/>
            <p:cNvSpPr/>
            <p:nvPr/>
          </p:nvSpPr>
          <p:spPr>
            <a:xfrm>
              <a:off x="21381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 name="object 7"/>
            <p:cNvSpPr/>
            <p:nvPr/>
          </p:nvSpPr>
          <p:spPr>
            <a:xfrm>
              <a:off x="3124200"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8" name="object 8"/>
            <p:cNvSpPr/>
            <p:nvPr/>
          </p:nvSpPr>
          <p:spPr>
            <a:xfrm>
              <a:off x="3124200"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9" name="object 9"/>
            <p:cNvSpPr/>
            <p:nvPr/>
          </p:nvSpPr>
          <p:spPr>
            <a:xfrm>
              <a:off x="41193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0" name="object 10"/>
            <p:cNvSpPr/>
            <p:nvPr/>
          </p:nvSpPr>
          <p:spPr>
            <a:xfrm>
              <a:off x="41193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11" name="object 11"/>
          <p:cNvGrpSpPr/>
          <p:nvPr/>
        </p:nvGrpSpPr>
        <p:grpSpPr>
          <a:xfrm>
            <a:off x="6701118" y="2174389"/>
            <a:ext cx="2358838" cy="1413622"/>
            <a:chOff x="5715000" y="2464307"/>
            <a:chExt cx="2673350" cy="1602105"/>
          </a:xfrm>
        </p:grpSpPr>
        <p:sp>
          <p:nvSpPr>
            <p:cNvPr id="12" name="object 12"/>
            <p:cNvSpPr/>
            <p:nvPr/>
          </p:nvSpPr>
          <p:spPr>
            <a:xfrm>
              <a:off x="61005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3" name="object 13"/>
            <p:cNvSpPr/>
            <p:nvPr/>
          </p:nvSpPr>
          <p:spPr>
            <a:xfrm>
              <a:off x="61005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4" name="object 14"/>
            <p:cNvSpPr/>
            <p:nvPr/>
          </p:nvSpPr>
          <p:spPr>
            <a:xfrm>
              <a:off x="61142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5" name="object 15"/>
            <p:cNvSpPr/>
            <p:nvPr/>
          </p:nvSpPr>
          <p:spPr>
            <a:xfrm>
              <a:off x="61142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6" name="object 16"/>
            <p:cNvPicPr/>
            <p:nvPr/>
          </p:nvPicPr>
          <p:blipFill>
            <a:blip r:embed="rId2" cstate="print"/>
            <a:stretch>
              <a:fillRect/>
            </a:stretch>
          </p:blipFill>
          <p:spPr>
            <a:xfrm>
              <a:off x="6228587" y="3531107"/>
              <a:ext cx="76200" cy="228600"/>
            </a:xfrm>
            <a:prstGeom prst="rect">
              <a:avLst/>
            </a:prstGeom>
          </p:spPr>
        </p:pic>
        <p:sp>
          <p:nvSpPr>
            <p:cNvPr id="17" name="object 17"/>
            <p:cNvSpPr/>
            <p:nvPr/>
          </p:nvSpPr>
          <p:spPr>
            <a:xfrm>
              <a:off x="61142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8" name="object 18"/>
            <p:cNvSpPr/>
            <p:nvPr/>
          </p:nvSpPr>
          <p:spPr>
            <a:xfrm>
              <a:off x="61142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9" name="object 19"/>
            <p:cNvPicPr/>
            <p:nvPr/>
          </p:nvPicPr>
          <p:blipFill>
            <a:blip r:embed="rId2" cstate="print"/>
            <a:stretch>
              <a:fillRect/>
            </a:stretch>
          </p:blipFill>
          <p:spPr>
            <a:xfrm>
              <a:off x="6228587" y="2997707"/>
              <a:ext cx="76200" cy="228600"/>
            </a:xfrm>
            <a:prstGeom prst="rect">
              <a:avLst/>
            </a:prstGeom>
          </p:spPr>
        </p:pic>
        <p:pic>
          <p:nvPicPr>
            <p:cNvPr id="20" name="object 20"/>
            <p:cNvPicPr/>
            <p:nvPr/>
          </p:nvPicPr>
          <p:blipFill>
            <a:blip r:embed="rId2" cstate="print"/>
            <a:stretch>
              <a:fillRect/>
            </a:stretch>
          </p:blipFill>
          <p:spPr>
            <a:xfrm>
              <a:off x="6228587" y="2464307"/>
              <a:ext cx="76200" cy="228600"/>
            </a:xfrm>
            <a:prstGeom prst="rect">
              <a:avLst/>
            </a:prstGeom>
          </p:spPr>
        </p:pic>
        <p:sp>
          <p:nvSpPr>
            <p:cNvPr id="21" name="object 21"/>
            <p:cNvSpPr/>
            <p:nvPr/>
          </p:nvSpPr>
          <p:spPr>
            <a:xfrm>
              <a:off x="5715000" y="3340607"/>
              <a:ext cx="405765" cy="76200"/>
            </a:xfrm>
            <a:custGeom>
              <a:avLst/>
              <a:gdLst/>
              <a:ahLst/>
              <a:cxnLst/>
              <a:rect l="l" t="t" r="r" b="b"/>
              <a:pathLst>
                <a:path w="405764" h="76200">
                  <a:moveTo>
                    <a:pt x="329184" y="76200"/>
                  </a:moveTo>
                  <a:lnTo>
                    <a:pt x="329184" y="0"/>
                  </a:lnTo>
                  <a:lnTo>
                    <a:pt x="393192" y="32004"/>
                  </a:lnTo>
                  <a:lnTo>
                    <a:pt x="341376" y="32004"/>
                  </a:lnTo>
                  <a:lnTo>
                    <a:pt x="341376" y="44196"/>
                  </a:lnTo>
                  <a:lnTo>
                    <a:pt x="393192" y="44196"/>
                  </a:lnTo>
                  <a:lnTo>
                    <a:pt x="329184" y="76200"/>
                  </a:lnTo>
                  <a:close/>
                </a:path>
                <a:path w="405764" h="76200">
                  <a:moveTo>
                    <a:pt x="329184" y="44196"/>
                  </a:moveTo>
                  <a:lnTo>
                    <a:pt x="0" y="44196"/>
                  </a:lnTo>
                  <a:lnTo>
                    <a:pt x="0" y="32004"/>
                  </a:lnTo>
                  <a:lnTo>
                    <a:pt x="329184" y="32004"/>
                  </a:lnTo>
                  <a:lnTo>
                    <a:pt x="329184" y="44196"/>
                  </a:lnTo>
                  <a:close/>
                </a:path>
                <a:path w="405764" h="76200">
                  <a:moveTo>
                    <a:pt x="393192" y="44196"/>
                  </a:moveTo>
                  <a:lnTo>
                    <a:pt x="341376" y="44196"/>
                  </a:lnTo>
                  <a:lnTo>
                    <a:pt x="341376" y="32004"/>
                  </a:lnTo>
                  <a:lnTo>
                    <a:pt x="393192" y="32004"/>
                  </a:lnTo>
                  <a:lnTo>
                    <a:pt x="405384" y="38100"/>
                  </a:lnTo>
                  <a:lnTo>
                    <a:pt x="393192" y="44196"/>
                  </a:lnTo>
                  <a:close/>
                </a:path>
              </a:pathLst>
            </a:custGeom>
            <a:solidFill>
              <a:srgbClr val="000000"/>
            </a:solidFill>
          </p:spPr>
          <p:txBody>
            <a:bodyPr wrap="square" lIns="0" tIns="0" rIns="0" bIns="0" rtlCol="0"/>
            <a:lstStyle/>
            <a:p>
              <a:endParaRPr sz="1588"/>
            </a:p>
          </p:txBody>
        </p:sp>
        <p:sp>
          <p:nvSpPr>
            <p:cNvPr id="22" name="object 22"/>
            <p:cNvSpPr/>
            <p:nvPr/>
          </p:nvSpPr>
          <p:spPr>
            <a:xfrm>
              <a:off x="70911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70911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71048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71048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7219187" y="3531107"/>
              <a:ext cx="76200" cy="228600"/>
            </a:xfrm>
            <a:prstGeom prst="rect">
              <a:avLst/>
            </a:prstGeom>
          </p:spPr>
        </p:pic>
        <p:sp>
          <p:nvSpPr>
            <p:cNvPr id="27" name="object 27"/>
            <p:cNvSpPr/>
            <p:nvPr/>
          </p:nvSpPr>
          <p:spPr>
            <a:xfrm>
              <a:off x="71048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71048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7219187" y="2997707"/>
              <a:ext cx="76200" cy="228600"/>
            </a:xfrm>
            <a:prstGeom prst="rect">
              <a:avLst/>
            </a:prstGeom>
          </p:spPr>
        </p:pic>
        <p:pic>
          <p:nvPicPr>
            <p:cNvPr id="30" name="object 30"/>
            <p:cNvPicPr/>
            <p:nvPr/>
          </p:nvPicPr>
          <p:blipFill>
            <a:blip r:embed="rId2" cstate="print"/>
            <a:stretch>
              <a:fillRect/>
            </a:stretch>
          </p:blipFill>
          <p:spPr>
            <a:xfrm>
              <a:off x="7219187" y="2464307"/>
              <a:ext cx="76200" cy="228600"/>
            </a:xfrm>
            <a:prstGeom prst="rect">
              <a:avLst/>
            </a:prstGeom>
          </p:spPr>
        </p:pic>
        <p:sp>
          <p:nvSpPr>
            <p:cNvPr id="31" name="object 31"/>
            <p:cNvSpPr/>
            <p:nvPr/>
          </p:nvSpPr>
          <p:spPr>
            <a:xfrm>
              <a:off x="6414516" y="3340607"/>
              <a:ext cx="690880" cy="76200"/>
            </a:xfrm>
            <a:custGeom>
              <a:avLst/>
              <a:gdLst/>
              <a:ahLst/>
              <a:cxnLst/>
              <a:rect l="l" t="t" r="r" b="b"/>
              <a:pathLst>
                <a:path w="690879" h="76200">
                  <a:moveTo>
                    <a:pt x="614172" y="76200"/>
                  </a:moveTo>
                  <a:lnTo>
                    <a:pt x="614172" y="0"/>
                  </a:lnTo>
                  <a:lnTo>
                    <a:pt x="678180" y="32004"/>
                  </a:lnTo>
                  <a:lnTo>
                    <a:pt x="627887" y="32004"/>
                  </a:lnTo>
                  <a:lnTo>
                    <a:pt x="627887" y="44196"/>
                  </a:lnTo>
                  <a:lnTo>
                    <a:pt x="678180" y="44196"/>
                  </a:lnTo>
                  <a:lnTo>
                    <a:pt x="614172" y="76200"/>
                  </a:lnTo>
                  <a:close/>
                </a:path>
                <a:path w="690879" h="76200">
                  <a:moveTo>
                    <a:pt x="614172" y="44196"/>
                  </a:moveTo>
                  <a:lnTo>
                    <a:pt x="0" y="44196"/>
                  </a:lnTo>
                  <a:lnTo>
                    <a:pt x="0" y="32004"/>
                  </a:lnTo>
                  <a:lnTo>
                    <a:pt x="614172" y="32004"/>
                  </a:lnTo>
                  <a:lnTo>
                    <a:pt x="614172" y="44196"/>
                  </a:lnTo>
                  <a:close/>
                </a:path>
                <a:path w="690879" h="76200">
                  <a:moveTo>
                    <a:pt x="678180" y="44196"/>
                  </a:moveTo>
                  <a:lnTo>
                    <a:pt x="627887" y="44196"/>
                  </a:lnTo>
                  <a:lnTo>
                    <a:pt x="627887" y="32004"/>
                  </a:lnTo>
                  <a:lnTo>
                    <a:pt x="678180" y="32004"/>
                  </a:lnTo>
                  <a:lnTo>
                    <a:pt x="690372" y="38100"/>
                  </a:lnTo>
                  <a:lnTo>
                    <a:pt x="678180" y="44196"/>
                  </a:lnTo>
                  <a:close/>
                </a:path>
              </a:pathLst>
            </a:custGeom>
            <a:solidFill>
              <a:srgbClr val="000000"/>
            </a:solidFill>
          </p:spPr>
          <p:txBody>
            <a:bodyPr wrap="square" lIns="0" tIns="0" rIns="0" bIns="0" rtlCol="0"/>
            <a:lstStyle/>
            <a:p>
              <a:endParaRPr sz="1588"/>
            </a:p>
          </p:txBody>
        </p:sp>
        <p:sp>
          <p:nvSpPr>
            <p:cNvPr id="32" name="object 32"/>
            <p:cNvSpPr/>
            <p:nvPr/>
          </p:nvSpPr>
          <p:spPr>
            <a:xfrm>
              <a:off x="80817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3" name="object 33"/>
            <p:cNvSpPr/>
            <p:nvPr/>
          </p:nvSpPr>
          <p:spPr>
            <a:xfrm>
              <a:off x="80817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8081771"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5" name="object 35"/>
            <p:cNvSpPr/>
            <p:nvPr/>
          </p:nvSpPr>
          <p:spPr>
            <a:xfrm>
              <a:off x="8081771"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6" name="object 36"/>
            <p:cNvPicPr/>
            <p:nvPr/>
          </p:nvPicPr>
          <p:blipFill>
            <a:blip r:embed="rId2" cstate="print"/>
            <a:stretch>
              <a:fillRect/>
            </a:stretch>
          </p:blipFill>
          <p:spPr>
            <a:xfrm>
              <a:off x="8196072" y="3531107"/>
              <a:ext cx="76200" cy="228600"/>
            </a:xfrm>
            <a:prstGeom prst="rect">
              <a:avLst/>
            </a:prstGeom>
          </p:spPr>
        </p:pic>
        <p:sp>
          <p:nvSpPr>
            <p:cNvPr id="37" name="object 37"/>
            <p:cNvSpPr/>
            <p:nvPr/>
          </p:nvSpPr>
          <p:spPr>
            <a:xfrm>
              <a:off x="8081771"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8" name="object 38"/>
            <p:cNvSpPr/>
            <p:nvPr/>
          </p:nvSpPr>
          <p:spPr>
            <a:xfrm>
              <a:off x="8081771"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9" name="object 39"/>
            <p:cNvPicPr/>
            <p:nvPr/>
          </p:nvPicPr>
          <p:blipFill>
            <a:blip r:embed="rId2" cstate="print"/>
            <a:stretch>
              <a:fillRect/>
            </a:stretch>
          </p:blipFill>
          <p:spPr>
            <a:xfrm>
              <a:off x="8196072" y="2997707"/>
              <a:ext cx="76200" cy="228600"/>
            </a:xfrm>
            <a:prstGeom prst="rect">
              <a:avLst/>
            </a:prstGeom>
          </p:spPr>
        </p:pic>
        <p:pic>
          <p:nvPicPr>
            <p:cNvPr id="40" name="object 40"/>
            <p:cNvPicPr/>
            <p:nvPr/>
          </p:nvPicPr>
          <p:blipFill>
            <a:blip r:embed="rId2" cstate="print"/>
            <a:stretch>
              <a:fillRect/>
            </a:stretch>
          </p:blipFill>
          <p:spPr>
            <a:xfrm>
              <a:off x="8196072" y="2464307"/>
              <a:ext cx="76200" cy="228600"/>
            </a:xfrm>
            <a:prstGeom prst="rect">
              <a:avLst/>
            </a:prstGeom>
          </p:spPr>
        </p:pic>
        <p:sp>
          <p:nvSpPr>
            <p:cNvPr id="41" name="object 41"/>
            <p:cNvSpPr/>
            <p:nvPr/>
          </p:nvSpPr>
          <p:spPr>
            <a:xfrm>
              <a:off x="7402067"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grpSp>
      <p:sp>
        <p:nvSpPr>
          <p:cNvPr id="42" name="object 42"/>
          <p:cNvSpPr/>
          <p:nvPr/>
        </p:nvSpPr>
        <p:spPr>
          <a:xfrm>
            <a:off x="3541059" y="3845859"/>
            <a:ext cx="5446059" cy="67235"/>
          </a:xfrm>
          <a:custGeom>
            <a:avLst/>
            <a:gdLst/>
            <a:ahLst/>
            <a:cxnLst/>
            <a:rect l="l" t="t" r="r" b="b"/>
            <a:pathLst>
              <a:path w="6172200" h="76200">
                <a:moveTo>
                  <a:pt x="6096000" y="76200"/>
                </a:moveTo>
                <a:lnTo>
                  <a:pt x="6096000" y="0"/>
                </a:lnTo>
                <a:lnTo>
                  <a:pt x="6150864" y="27432"/>
                </a:lnTo>
                <a:lnTo>
                  <a:pt x="6109716" y="27432"/>
                </a:lnTo>
                <a:lnTo>
                  <a:pt x="6109716" y="47244"/>
                </a:lnTo>
                <a:lnTo>
                  <a:pt x="6153912" y="47244"/>
                </a:lnTo>
                <a:lnTo>
                  <a:pt x="6096000" y="76200"/>
                </a:lnTo>
                <a:close/>
              </a:path>
              <a:path w="6172200" h="76200">
                <a:moveTo>
                  <a:pt x="6096000" y="47244"/>
                </a:moveTo>
                <a:lnTo>
                  <a:pt x="0" y="47244"/>
                </a:lnTo>
                <a:lnTo>
                  <a:pt x="0" y="27432"/>
                </a:lnTo>
                <a:lnTo>
                  <a:pt x="6096000" y="27432"/>
                </a:lnTo>
                <a:lnTo>
                  <a:pt x="6096000" y="47244"/>
                </a:lnTo>
                <a:close/>
              </a:path>
              <a:path w="6172200" h="76200">
                <a:moveTo>
                  <a:pt x="6153912" y="47244"/>
                </a:moveTo>
                <a:lnTo>
                  <a:pt x="6109716" y="47244"/>
                </a:lnTo>
                <a:lnTo>
                  <a:pt x="6109716" y="27432"/>
                </a:lnTo>
                <a:lnTo>
                  <a:pt x="6150864" y="27432"/>
                </a:lnTo>
                <a:lnTo>
                  <a:pt x="6172200" y="38100"/>
                </a:lnTo>
                <a:lnTo>
                  <a:pt x="6153912" y="47244"/>
                </a:lnTo>
                <a:close/>
              </a:path>
            </a:pathLst>
          </a:custGeom>
          <a:solidFill>
            <a:srgbClr val="3333FF"/>
          </a:solidFill>
        </p:spPr>
        <p:txBody>
          <a:bodyPr wrap="square" lIns="0" tIns="0" rIns="0" bIns="0" rtlCol="0"/>
          <a:lstStyle/>
          <a:p>
            <a:endParaRPr sz="1588"/>
          </a:p>
        </p:txBody>
      </p:sp>
      <p:sp>
        <p:nvSpPr>
          <p:cNvPr id="43" name="object 43"/>
          <p:cNvSpPr txBox="1"/>
          <p:nvPr/>
        </p:nvSpPr>
        <p:spPr>
          <a:xfrm>
            <a:off x="3520419" y="3537482"/>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0</a:t>
            </a:r>
            <a:r>
              <a:rPr sz="1412" spc="-4" dirty="0">
                <a:latin typeface="Calibri"/>
                <a:cs typeface="Calibri"/>
              </a:rPr>
              <a:t>)</a:t>
            </a:r>
            <a:endParaRPr sz="1412">
              <a:latin typeface="Calibri"/>
              <a:cs typeface="Calibri"/>
            </a:endParaRPr>
          </a:p>
        </p:txBody>
      </p:sp>
      <p:grpSp>
        <p:nvGrpSpPr>
          <p:cNvPr id="44" name="object 44"/>
          <p:cNvGrpSpPr/>
          <p:nvPr/>
        </p:nvGrpSpPr>
        <p:grpSpPr>
          <a:xfrm>
            <a:off x="2665654" y="2174389"/>
            <a:ext cx="3228974" cy="1143000"/>
            <a:chOff x="1141475" y="2464307"/>
            <a:chExt cx="3659504" cy="1295400"/>
          </a:xfrm>
        </p:grpSpPr>
        <p:sp>
          <p:nvSpPr>
            <p:cNvPr id="45" name="object 45"/>
            <p:cNvSpPr/>
            <p:nvPr/>
          </p:nvSpPr>
          <p:spPr>
            <a:xfrm>
              <a:off x="2142744" y="32263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46" name="object 46"/>
            <p:cNvSpPr/>
            <p:nvPr/>
          </p:nvSpPr>
          <p:spPr>
            <a:xfrm>
              <a:off x="2142744" y="32263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7" name="object 47"/>
            <p:cNvPicPr/>
            <p:nvPr/>
          </p:nvPicPr>
          <p:blipFill>
            <a:blip r:embed="rId2" cstate="print"/>
            <a:stretch>
              <a:fillRect/>
            </a:stretch>
          </p:blipFill>
          <p:spPr>
            <a:xfrm>
              <a:off x="2257044" y="3531107"/>
              <a:ext cx="76200" cy="228600"/>
            </a:xfrm>
            <a:prstGeom prst="rect">
              <a:avLst/>
            </a:prstGeom>
          </p:spPr>
        </p:pic>
        <p:sp>
          <p:nvSpPr>
            <p:cNvPr id="48" name="object 48"/>
            <p:cNvSpPr/>
            <p:nvPr/>
          </p:nvSpPr>
          <p:spPr>
            <a:xfrm>
              <a:off x="2142744" y="26929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49" name="object 49"/>
            <p:cNvSpPr/>
            <p:nvPr/>
          </p:nvSpPr>
          <p:spPr>
            <a:xfrm>
              <a:off x="2142744" y="26929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0" name="object 50"/>
            <p:cNvPicPr/>
            <p:nvPr/>
          </p:nvPicPr>
          <p:blipFill>
            <a:blip r:embed="rId2" cstate="print"/>
            <a:stretch>
              <a:fillRect/>
            </a:stretch>
          </p:blipFill>
          <p:spPr>
            <a:xfrm>
              <a:off x="2257044" y="2997707"/>
              <a:ext cx="76200" cy="228600"/>
            </a:xfrm>
            <a:prstGeom prst="rect">
              <a:avLst/>
            </a:prstGeom>
          </p:spPr>
        </p:pic>
        <p:pic>
          <p:nvPicPr>
            <p:cNvPr id="51" name="object 51"/>
            <p:cNvPicPr/>
            <p:nvPr/>
          </p:nvPicPr>
          <p:blipFill>
            <a:blip r:embed="rId2" cstate="print"/>
            <a:stretch>
              <a:fillRect/>
            </a:stretch>
          </p:blipFill>
          <p:spPr>
            <a:xfrm>
              <a:off x="2257044" y="2464307"/>
              <a:ext cx="76200" cy="228600"/>
            </a:xfrm>
            <a:prstGeom prst="rect">
              <a:avLst/>
            </a:prstGeom>
          </p:spPr>
        </p:pic>
        <p:sp>
          <p:nvSpPr>
            <p:cNvPr id="52" name="object 52"/>
            <p:cNvSpPr/>
            <p:nvPr/>
          </p:nvSpPr>
          <p:spPr>
            <a:xfrm>
              <a:off x="11429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53" name="object 53"/>
            <p:cNvSpPr/>
            <p:nvPr/>
          </p:nvSpPr>
          <p:spPr>
            <a:xfrm>
              <a:off x="11429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4" name="object 54"/>
            <p:cNvSpPr/>
            <p:nvPr/>
          </p:nvSpPr>
          <p:spPr>
            <a:xfrm>
              <a:off x="1447799"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55" name="object 55"/>
            <p:cNvSpPr/>
            <p:nvPr/>
          </p:nvSpPr>
          <p:spPr>
            <a:xfrm>
              <a:off x="31241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6" name="object 56"/>
            <p:cNvSpPr/>
            <p:nvPr/>
          </p:nvSpPr>
          <p:spPr>
            <a:xfrm>
              <a:off x="31241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7" name="object 57"/>
            <p:cNvPicPr/>
            <p:nvPr/>
          </p:nvPicPr>
          <p:blipFill>
            <a:blip r:embed="rId3" cstate="print"/>
            <a:stretch>
              <a:fillRect/>
            </a:stretch>
          </p:blipFill>
          <p:spPr>
            <a:xfrm>
              <a:off x="3238499" y="3531107"/>
              <a:ext cx="76200" cy="228600"/>
            </a:xfrm>
            <a:prstGeom prst="rect">
              <a:avLst/>
            </a:prstGeom>
          </p:spPr>
        </p:pic>
        <p:sp>
          <p:nvSpPr>
            <p:cNvPr id="58" name="object 58"/>
            <p:cNvSpPr/>
            <p:nvPr/>
          </p:nvSpPr>
          <p:spPr>
            <a:xfrm>
              <a:off x="3124199"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9" name="object 59"/>
            <p:cNvSpPr/>
            <p:nvPr/>
          </p:nvSpPr>
          <p:spPr>
            <a:xfrm>
              <a:off x="3124199"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0" name="object 60"/>
            <p:cNvPicPr/>
            <p:nvPr/>
          </p:nvPicPr>
          <p:blipFill>
            <a:blip r:embed="rId3" cstate="print"/>
            <a:stretch>
              <a:fillRect/>
            </a:stretch>
          </p:blipFill>
          <p:spPr>
            <a:xfrm>
              <a:off x="3238499" y="2464307"/>
              <a:ext cx="76200" cy="228600"/>
            </a:xfrm>
            <a:prstGeom prst="rect">
              <a:avLst/>
            </a:prstGeom>
          </p:spPr>
        </p:pic>
        <p:pic>
          <p:nvPicPr>
            <p:cNvPr id="61" name="object 61"/>
            <p:cNvPicPr/>
            <p:nvPr/>
          </p:nvPicPr>
          <p:blipFill>
            <a:blip r:embed="rId3" cstate="print"/>
            <a:stretch>
              <a:fillRect/>
            </a:stretch>
          </p:blipFill>
          <p:spPr>
            <a:xfrm>
              <a:off x="3238499" y="2997707"/>
              <a:ext cx="76200" cy="228600"/>
            </a:xfrm>
            <a:prstGeom prst="rect">
              <a:avLst/>
            </a:prstGeom>
          </p:spPr>
        </p:pic>
        <p:sp>
          <p:nvSpPr>
            <p:cNvPr id="62" name="object 62"/>
            <p:cNvSpPr/>
            <p:nvPr/>
          </p:nvSpPr>
          <p:spPr>
            <a:xfrm>
              <a:off x="2447543"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63" name="object 63"/>
            <p:cNvSpPr/>
            <p:nvPr/>
          </p:nvSpPr>
          <p:spPr>
            <a:xfrm>
              <a:off x="4133088"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4" name="object 64"/>
            <p:cNvSpPr/>
            <p:nvPr/>
          </p:nvSpPr>
          <p:spPr>
            <a:xfrm>
              <a:off x="4133088"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5" name="object 65"/>
            <p:cNvPicPr/>
            <p:nvPr/>
          </p:nvPicPr>
          <p:blipFill>
            <a:blip r:embed="rId2" cstate="print"/>
            <a:stretch>
              <a:fillRect/>
            </a:stretch>
          </p:blipFill>
          <p:spPr>
            <a:xfrm>
              <a:off x="4247387" y="3531107"/>
              <a:ext cx="76200" cy="228600"/>
            </a:xfrm>
            <a:prstGeom prst="rect">
              <a:avLst/>
            </a:prstGeom>
          </p:spPr>
        </p:pic>
        <p:sp>
          <p:nvSpPr>
            <p:cNvPr id="66" name="object 66"/>
            <p:cNvSpPr/>
            <p:nvPr/>
          </p:nvSpPr>
          <p:spPr>
            <a:xfrm>
              <a:off x="4133088"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7" name="object 67"/>
            <p:cNvSpPr/>
            <p:nvPr/>
          </p:nvSpPr>
          <p:spPr>
            <a:xfrm>
              <a:off x="4133088"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8" name="object 68"/>
            <p:cNvPicPr/>
            <p:nvPr/>
          </p:nvPicPr>
          <p:blipFill>
            <a:blip r:embed="rId2" cstate="print"/>
            <a:stretch>
              <a:fillRect/>
            </a:stretch>
          </p:blipFill>
          <p:spPr>
            <a:xfrm>
              <a:off x="4247387" y="2997707"/>
              <a:ext cx="76200" cy="228600"/>
            </a:xfrm>
            <a:prstGeom prst="rect">
              <a:avLst/>
            </a:prstGeom>
          </p:spPr>
        </p:pic>
        <p:pic>
          <p:nvPicPr>
            <p:cNvPr id="69" name="object 69"/>
            <p:cNvPicPr/>
            <p:nvPr/>
          </p:nvPicPr>
          <p:blipFill>
            <a:blip r:embed="rId2" cstate="print"/>
            <a:stretch>
              <a:fillRect/>
            </a:stretch>
          </p:blipFill>
          <p:spPr>
            <a:xfrm>
              <a:off x="4247387" y="2464307"/>
              <a:ext cx="76200" cy="228600"/>
            </a:xfrm>
            <a:prstGeom prst="rect">
              <a:avLst/>
            </a:prstGeom>
          </p:spPr>
        </p:pic>
        <p:sp>
          <p:nvSpPr>
            <p:cNvPr id="70" name="object 70"/>
            <p:cNvSpPr/>
            <p:nvPr/>
          </p:nvSpPr>
          <p:spPr>
            <a:xfrm>
              <a:off x="3436607" y="3340607"/>
              <a:ext cx="1364615" cy="76200"/>
            </a:xfrm>
            <a:custGeom>
              <a:avLst/>
              <a:gdLst/>
              <a:ahLst/>
              <a:cxnLst/>
              <a:rect l="l" t="t" r="r" b="b"/>
              <a:pathLst>
                <a:path w="1364614" h="76200">
                  <a:moveTo>
                    <a:pt x="690372" y="38100"/>
                  </a:moveTo>
                  <a:lnTo>
                    <a:pt x="678180" y="32004"/>
                  </a:lnTo>
                  <a:lnTo>
                    <a:pt x="614172" y="0"/>
                  </a:lnTo>
                  <a:lnTo>
                    <a:pt x="614172" y="32004"/>
                  </a:lnTo>
                  <a:lnTo>
                    <a:pt x="0" y="32004"/>
                  </a:lnTo>
                  <a:lnTo>
                    <a:pt x="0" y="44196"/>
                  </a:lnTo>
                  <a:lnTo>
                    <a:pt x="614172" y="44196"/>
                  </a:lnTo>
                  <a:lnTo>
                    <a:pt x="614172" y="76200"/>
                  </a:lnTo>
                  <a:lnTo>
                    <a:pt x="678180" y="44196"/>
                  </a:lnTo>
                  <a:lnTo>
                    <a:pt x="690372" y="38100"/>
                  </a:lnTo>
                  <a:close/>
                </a:path>
                <a:path w="1364614" h="76200">
                  <a:moveTo>
                    <a:pt x="1363992" y="38100"/>
                  </a:moveTo>
                  <a:lnTo>
                    <a:pt x="1351800" y="32004"/>
                  </a:lnTo>
                  <a:lnTo>
                    <a:pt x="1287792" y="0"/>
                  </a:lnTo>
                  <a:lnTo>
                    <a:pt x="1287792" y="32004"/>
                  </a:lnTo>
                  <a:lnTo>
                    <a:pt x="1010424" y="32004"/>
                  </a:lnTo>
                  <a:lnTo>
                    <a:pt x="1010424" y="44196"/>
                  </a:lnTo>
                  <a:lnTo>
                    <a:pt x="1287792" y="44196"/>
                  </a:lnTo>
                  <a:lnTo>
                    <a:pt x="1287792" y="76200"/>
                  </a:lnTo>
                  <a:lnTo>
                    <a:pt x="1351800" y="44196"/>
                  </a:lnTo>
                  <a:lnTo>
                    <a:pt x="1363992" y="38100"/>
                  </a:lnTo>
                  <a:close/>
                </a:path>
              </a:pathLst>
            </a:custGeom>
            <a:solidFill>
              <a:srgbClr val="000000"/>
            </a:solidFill>
          </p:spPr>
          <p:txBody>
            <a:bodyPr wrap="square" lIns="0" tIns="0" rIns="0" bIns="0" rtlCol="0"/>
            <a:lstStyle/>
            <a:p>
              <a:endParaRPr sz="1588"/>
            </a:p>
          </p:txBody>
        </p:sp>
      </p:grpSp>
      <p:sp>
        <p:nvSpPr>
          <p:cNvPr id="71" name="object 71"/>
          <p:cNvSpPr txBox="1"/>
          <p:nvPr/>
        </p:nvSpPr>
        <p:spPr>
          <a:xfrm>
            <a:off x="3533919"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0</a:t>
            </a:r>
            <a:r>
              <a:rPr sz="1588" dirty="0">
                <a:latin typeface="Calibri"/>
                <a:cs typeface="Calibri"/>
              </a:rPr>
              <a:t>)</a:t>
            </a:r>
            <a:endParaRPr sz="1588">
              <a:latin typeface="Calibri"/>
              <a:cs typeface="Calibri"/>
            </a:endParaRPr>
          </a:p>
        </p:txBody>
      </p:sp>
      <p:sp>
        <p:nvSpPr>
          <p:cNvPr id="72" name="object 72"/>
          <p:cNvSpPr txBox="1"/>
          <p:nvPr/>
        </p:nvSpPr>
        <p:spPr>
          <a:xfrm>
            <a:off x="3348268" y="3724381"/>
            <a:ext cx="90207" cy="255678"/>
          </a:xfrm>
          <a:prstGeom prst="rect">
            <a:avLst/>
          </a:prstGeom>
        </p:spPr>
        <p:txBody>
          <a:bodyPr vert="horz" wrap="square" lIns="0" tIns="11206" rIns="0" bIns="0" rtlCol="0">
            <a:spAutoFit/>
          </a:bodyPr>
          <a:lstStyle/>
          <a:p>
            <a:pPr marL="11206">
              <a:spcBef>
                <a:spcPts val="88"/>
              </a:spcBef>
            </a:pPr>
            <a:r>
              <a:rPr sz="1588" dirty="0">
                <a:solidFill>
                  <a:srgbClr val="0000CC"/>
                </a:solidFill>
                <a:latin typeface="Calibri"/>
                <a:cs typeface="Calibri"/>
              </a:rPr>
              <a:t>t</a:t>
            </a:r>
            <a:endParaRPr sz="1588">
              <a:latin typeface="Calibri"/>
              <a:cs typeface="Calibri"/>
            </a:endParaRPr>
          </a:p>
        </p:txBody>
      </p:sp>
      <p:sp>
        <p:nvSpPr>
          <p:cNvPr id="73" name="object 73"/>
          <p:cNvSpPr txBox="1"/>
          <p:nvPr/>
        </p:nvSpPr>
        <p:spPr>
          <a:xfrm>
            <a:off x="2661646" y="25908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sp>
        <p:nvSpPr>
          <p:cNvPr id="74" name="object 74"/>
          <p:cNvSpPr txBox="1"/>
          <p:nvPr/>
        </p:nvSpPr>
        <p:spPr>
          <a:xfrm>
            <a:off x="4389144"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75" name="object 75"/>
          <p:cNvSpPr txBox="1"/>
          <p:nvPr/>
        </p:nvSpPr>
        <p:spPr>
          <a:xfrm>
            <a:off x="5258329"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76" name="object 76"/>
          <p:cNvSpPr txBox="1"/>
          <p:nvPr/>
        </p:nvSpPr>
        <p:spPr>
          <a:xfrm>
            <a:off x="6972262"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pic>
        <p:nvPicPr>
          <p:cNvPr id="77" name="object 77"/>
          <p:cNvPicPr/>
          <p:nvPr/>
        </p:nvPicPr>
        <p:blipFill>
          <a:blip r:embed="rId4" cstate="print"/>
          <a:stretch>
            <a:fillRect/>
          </a:stretch>
        </p:blipFill>
        <p:spPr>
          <a:xfrm>
            <a:off x="6499412" y="2944905"/>
            <a:ext cx="67235" cy="67235"/>
          </a:xfrm>
          <a:prstGeom prst="rect">
            <a:avLst/>
          </a:prstGeom>
        </p:spPr>
      </p:pic>
      <p:pic>
        <p:nvPicPr>
          <p:cNvPr id="78" name="object 78"/>
          <p:cNvPicPr/>
          <p:nvPr/>
        </p:nvPicPr>
        <p:blipFill>
          <a:blip r:embed="rId4" cstate="print"/>
          <a:stretch>
            <a:fillRect/>
          </a:stretch>
        </p:blipFill>
        <p:spPr>
          <a:xfrm>
            <a:off x="6364941" y="2944905"/>
            <a:ext cx="67235" cy="67235"/>
          </a:xfrm>
          <a:prstGeom prst="rect">
            <a:avLst/>
          </a:prstGeom>
        </p:spPr>
      </p:pic>
      <p:pic>
        <p:nvPicPr>
          <p:cNvPr id="79" name="object 79"/>
          <p:cNvPicPr/>
          <p:nvPr/>
        </p:nvPicPr>
        <p:blipFill>
          <a:blip r:embed="rId4" cstate="print"/>
          <a:stretch>
            <a:fillRect/>
          </a:stretch>
        </p:blipFill>
        <p:spPr>
          <a:xfrm>
            <a:off x="6230471" y="2944905"/>
            <a:ext cx="67235" cy="67235"/>
          </a:xfrm>
          <a:prstGeom prst="rect">
            <a:avLst/>
          </a:prstGeom>
        </p:spPr>
      </p:pic>
      <p:pic>
        <p:nvPicPr>
          <p:cNvPr id="80" name="object 80"/>
          <p:cNvPicPr/>
          <p:nvPr/>
        </p:nvPicPr>
        <p:blipFill>
          <a:blip r:embed="rId4" cstate="print"/>
          <a:stretch>
            <a:fillRect/>
          </a:stretch>
        </p:blipFill>
        <p:spPr>
          <a:xfrm>
            <a:off x="6096000" y="2944905"/>
            <a:ext cx="67235" cy="67235"/>
          </a:xfrm>
          <a:prstGeom prst="rect">
            <a:avLst/>
          </a:prstGeom>
        </p:spPr>
      </p:pic>
      <p:sp>
        <p:nvSpPr>
          <p:cNvPr id="81" name="object 81"/>
          <p:cNvSpPr txBox="1"/>
          <p:nvPr/>
        </p:nvSpPr>
        <p:spPr>
          <a:xfrm>
            <a:off x="7830148"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82" name="object 82"/>
          <p:cNvSpPr txBox="1"/>
          <p:nvPr/>
        </p:nvSpPr>
        <p:spPr>
          <a:xfrm>
            <a:off x="8786967" y="3554948"/>
            <a:ext cx="310963"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83" name="object 83"/>
          <p:cNvSpPr txBox="1"/>
          <p:nvPr/>
        </p:nvSpPr>
        <p:spPr>
          <a:xfrm>
            <a:off x="4382401"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1</a:t>
            </a:r>
            <a:r>
              <a:rPr sz="1588" dirty="0">
                <a:latin typeface="Calibri"/>
                <a:cs typeface="Calibri"/>
              </a:rPr>
              <a:t>)</a:t>
            </a:r>
            <a:endParaRPr sz="1588">
              <a:latin typeface="Calibri"/>
              <a:cs typeface="Calibri"/>
            </a:endParaRPr>
          </a:p>
        </p:txBody>
      </p:sp>
      <p:sp>
        <p:nvSpPr>
          <p:cNvPr id="84" name="object 84"/>
          <p:cNvSpPr txBox="1"/>
          <p:nvPr/>
        </p:nvSpPr>
        <p:spPr>
          <a:xfrm>
            <a:off x="5284023" y="1898298"/>
            <a:ext cx="344021" cy="255678"/>
          </a:xfrm>
          <a:prstGeom prst="rect">
            <a:avLst/>
          </a:prstGeom>
        </p:spPr>
        <p:txBody>
          <a:bodyPr vert="horz" wrap="square" lIns="0" tIns="11206" rIns="0" bIns="0" rtlCol="0">
            <a:spAutoFit/>
          </a:bodyPr>
          <a:lstStyle/>
          <a:p>
            <a:pPr marL="11206">
              <a:spcBef>
                <a:spcPts val="88"/>
              </a:spcBef>
            </a:pPr>
            <a:r>
              <a:rPr sz="1588" spc="-13" dirty="0">
                <a:latin typeface="Calibri"/>
                <a:cs typeface="Calibri"/>
              </a:rPr>
              <a:t>Y</a:t>
            </a:r>
            <a:r>
              <a:rPr sz="1588" spc="-9" dirty="0">
                <a:latin typeface="Calibri"/>
                <a:cs typeface="Calibri"/>
              </a:rPr>
              <a:t>(</a:t>
            </a:r>
            <a:r>
              <a:rPr sz="1588" spc="4" dirty="0">
                <a:latin typeface="Calibri"/>
                <a:cs typeface="Calibri"/>
              </a:rPr>
              <a:t>2</a:t>
            </a:r>
            <a:r>
              <a:rPr sz="1588" dirty="0">
                <a:latin typeface="Calibri"/>
                <a:cs typeface="Calibri"/>
              </a:rPr>
              <a:t>)</a:t>
            </a:r>
            <a:endParaRPr sz="1588">
              <a:latin typeface="Calibri"/>
              <a:cs typeface="Calibri"/>
            </a:endParaRPr>
          </a:p>
        </p:txBody>
      </p:sp>
      <p:sp>
        <p:nvSpPr>
          <p:cNvPr id="85" name="object 85"/>
          <p:cNvSpPr txBox="1"/>
          <p:nvPr/>
        </p:nvSpPr>
        <p:spPr>
          <a:xfrm>
            <a:off x="6972262"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86" name="object 86"/>
          <p:cNvSpPr txBox="1"/>
          <p:nvPr/>
        </p:nvSpPr>
        <p:spPr>
          <a:xfrm>
            <a:off x="7830718"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spc="-13" dirty="0">
                <a:latin typeface="Calibri"/>
                <a:cs typeface="Calibri"/>
              </a:rPr>
              <a:t>-</a:t>
            </a:r>
            <a:r>
              <a:rPr sz="1412" dirty="0">
                <a:latin typeface="Calibri"/>
                <a:cs typeface="Calibri"/>
              </a:rPr>
              <a:t>1</a:t>
            </a:r>
            <a:r>
              <a:rPr sz="1412" spc="-4" dirty="0">
                <a:latin typeface="Calibri"/>
                <a:cs typeface="Calibri"/>
              </a:rPr>
              <a:t>)</a:t>
            </a:r>
            <a:endParaRPr sz="1412">
              <a:latin typeface="Calibri"/>
              <a:cs typeface="Calibri"/>
            </a:endParaRPr>
          </a:p>
        </p:txBody>
      </p:sp>
      <p:sp>
        <p:nvSpPr>
          <p:cNvPr id="87" name="object 87"/>
          <p:cNvSpPr txBox="1"/>
          <p:nvPr/>
        </p:nvSpPr>
        <p:spPr>
          <a:xfrm>
            <a:off x="8787537" y="1929190"/>
            <a:ext cx="305921"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endParaRPr sz="1412">
              <a:latin typeface="Calibri"/>
              <a:cs typeface="Calibri"/>
            </a:endParaRPr>
          </a:p>
        </p:txBody>
      </p:sp>
    </p:spTree>
    <p:extLst>
      <p:ext uri="{BB962C8B-B14F-4D97-AF65-F5344CB8AC3E}">
        <p14:creationId xmlns:p14="http://schemas.microsoft.com/office/powerpoint/2010/main" val="88133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3564" y="635557"/>
            <a:ext cx="6161554" cy="498244"/>
          </a:xfrm>
          <a:prstGeom prst="rect">
            <a:avLst/>
          </a:prstGeom>
        </p:spPr>
        <p:txBody>
          <a:bodyPr vert="horz" wrap="square" lIns="0" tIns="11206" rIns="0" bIns="0" rtlCol="0">
            <a:spAutoFit/>
          </a:bodyPr>
          <a:lstStyle/>
          <a:p>
            <a:pPr marL="11206">
              <a:lnSpc>
                <a:spcPct val="100000"/>
              </a:lnSpc>
              <a:spcBef>
                <a:spcPts val="88"/>
              </a:spcBef>
            </a:pPr>
            <a:r>
              <a:rPr spc="-35" dirty="0"/>
              <a:t>Training:</a:t>
            </a:r>
            <a:r>
              <a:rPr spc="-13" dirty="0"/>
              <a:t> </a:t>
            </a:r>
            <a:r>
              <a:rPr spc="-4" dirty="0"/>
              <a:t>Computing</a:t>
            </a:r>
            <a:r>
              <a:rPr spc="-40" dirty="0"/>
              <a:t> </a:t>
            </a:r>
            <a:r>
              <a:rPr spc="-18" dirty="0"/>
              <a:t>gradients</a:t>
            </a:r>
          </a:p>
        </p:txBody>
      </p:sp>
      <p:sp>
        <p:nvSpPr>
          <p:cNvPr id="3" name="object 3"/>
          <p:cNvSpPr txBox="1"/>
          <p:nvPr/>
        </p:nvSpPr>
        <p:spPr>
          <a:xfrm>
            <a:off x="2572406" y="4785024"/>
            <a:ext cx="6661897" cy="1185023"/>
          </a:xfrm>
          <a:prstGeom prst="rect">
            <a:avLst/>
          </a:prstGeom>
        </p:spPr>
        <p:txBody>
          <a:bodyPr vert="horz" wrap="square" lIns="0" tIns="78441" rIns="0" bIns="0" rtlCol="0">
            <a:spAutoFit/>
          </a:bodyPr>
          <a:lstStyle/>
          <a:p>
            <a:pPr marL="313781" indent="-303135">
              <a:spcBef>
                <a:spcPts val="618"/>
              </a:spcBef>
              <a:buFont typeface="Arial"/>
              <a:buChar char="•"/>
              <a:tabLst>
                <a:tab pos="313781" algn="l"/>
                <a:tab pos="314342" algn="l"/>
              </a:tabLst>
            </a:pPr>
            <a:r>
              <a:rPr sz="2206" spc="-9" dirty="0">
                <a:latin typeface="Calibri"/>
                <a:cs typeface="Calibri"/>
              </a:rPr>
              <a:t>For</a:t>
            </a:r>
            <a:r>
              <a:rPr sz="2206" spc="-26" dirty="0">
                <a:latin typeface="Calibri"/>
                <a:cs typeface="Calibri"/>
              </a:rPr>
              <a:t> </a:t>
            </a:r>
            <a:r>
              <a:rPr sz="2206" spc="-4" dirty="0">
                <a:latin typeface="Calibri"/>
                <a:cs typeface="Calibri"/>
              </a:rPr>
              <a:t>each</a:t>
            </a:r>
            <a:r>
              <a:rPr sz="2206" spc="9" dirty="0">
                <a:latin typeface="Calibri"/>
                <a:cs typeface="Calibri"/>
              </a:rPr>
              <a:t> </a:t>
            </a:r>
            <a:r>
              <a:rPr sz="2206" spc="-9" dirty="0">
                <a:latin typeface="Calibri"/>
                <a:cs typeface="Calibri"/>
              </a:rPr>
              <a:t>training</a:t>
            </a:r>
            <a:r>
              <a:rPr sz="2206" spc="-31" dirty="0">
                <a:latin typeface="Calibri"/>
                <a:cs typeface="Calibri"/>
              </a:rPr>
              <a:t> </a:t>
            </a:r>
            <a:r>
              <a:rPr sz="2206" spc="-4" dirty="0">
                <a:latin typeface="Calibri"/>
                <a:cs typeface="Calibri"/>
              </a:rPr>
              <a:t>input:</a:t>
            </a:r>
            <a:endParaRPr sz="2206">
              <a:latin typeface="Calibri"/>
              <a:cs typeface="Calibri"/>
            </a:endParaRPr>
          </a:p>
          <a:p>
            <a:pPr marL="313781" indent="-303135">
              <a:spcBef>
                <a:spcPts val="525"/>
              </a:spcBef>
              <a:buFont typeface="Arial"/>
              <a:buChar char="•"/>
              <a:tabLst>
                <a:tab pos="313781" algn="l"/>
                <a:tab pos="314342" algn="l"/>
              </a:tabLst>
            </a:pPr>
            <a:r>
              <a:rPr sz="2206" spc="-9" dirty="0">
                <a:solidFill>
                  <a:srgbClr val="BF0000"/>
                </a:solidFill>
                <a:latin typeface="Calibri"/>
                <a:cs typeface="Calibri"/>
              </a:rPr>
              <a:t>Backward</a:t>
            </a:r>
            <a:r>
              <a:rPr sz="2206" spc="-13" dirty="0">
                <a:solidFill>
                  <a:srgbClr val="BF0000"/>
                </a:solidFill>
                <a:latin typeface="Calibri"/>
                <a:cs typeface="Calibri"/>
              </a:rPr>
              <a:t> </a:t>
            </a:r>
            <a:r>
              <a:rPr sz="2206" spc="-4" dirty="0">
                <a:solidFill>
                  <a:srgbClr val="BF0000"/>
                </a:solidFill>
                <a:latin typeface="Calibri"/>
                <a:cs typeface="Calibri"/>
              </a:rPr>
              <a:t>pass:</a:t>
            </a:r>
            <a:r>
              <a:rPr sz="2206" spc="4" dirty="0">
                <a:solidFill>
                  <a:srgbClr val="BF0000"/>
                </a:solidFill>
                <a:latin typeface="Calibri"/>
                <a:cs typeface="Calibri"/>
              </a:rPr>
              <a:t> </a:t>
            </a:r>
            <a:r>
              <a:rPr sz="2206" spc="-9" dirty="0">
                <a:solidFill>
                  <a:srgbClr val="BF0000"/>
                </a:solidFill>
                <a:latin typeface="Calibri"/>
                <a:cs typeface="Calibri"/>
              </a:rPr>
              <a:t>Compute</a:t>
            </a:r>
            <a:r>
              <a:rPr sz="2206" spc="4" dirty="0">
                <a:solidFill>
                  <a:srgbClr val="BF0000"/>
                </a:solidFill>
                <a:latin typeface="Calibri"/>
                <a:cs typeface="Calibri"/>
              </a:rPr>
              <a:t> </a:t>
            </a:r>
            <a:r>
              <a:rPr sz="2206" spc="-9" dirty="0">
                <a:solidFill>
                  <a:srgbClr val="BF0000"/>
                </a:solidFill>
                <a:latin typeface="Calibri"/>
                <a:cs typeface="Calibri"/>
              </a:rPr>
              <a:t>gradients</a:t>
            </a:r>
            <a:r>
              <a:rPr sz="2206" dirty="0">
                <a:solidFill>
                  <a:srgbClr val="BF0000"/>
                </a:solidFill>
                <a:latin typeface="Calibri"/>
                <a:cs typeface="Calibri"/>
              </a:rPr>
              <a:t> </a:t>
            </a:r>
            <a:r>
              <a:rPr sz="2206" spc="-4" dirty="0">
                <a:solidFill>
                  <a:srgbClr val="BF0000"/>
                </a:solidFill>
                <a:latin typeface="Calibri"/>
                <a:cs typeface="Calibri"/>
              </a:rPr>
              <a:t>via</a:t>
            </a:r>
            <a:r>
              <a:rPr sz="2206" spc="4" dirty="0">
                <a:solidFill>
                  <a:srgbClr val="BF0000"/>
                </a:solidFill>
                <a:latin typeface="Calibri"/>
                <a:cs typeface="Calibri"/>
              </a:rPr>
              <a:t> </a:t>
            </a:r>
            <a:r>
              <a:rPr sz="2206" spc="-9" dirty="0">
                <a:solidFill>
                  <a:srgbClr val="BF0000"/>
                </a:solidFill>
                <a:latin typeface="Calibri"/>
                <a:cs typeface="Calibri"/>
              </a:rPr>
              <a:t>backpropagation</a:t>
            </a:r>
            <a:endParaRPr sz="2206">
              <a:latin typeface="Calibri"/>
              <a:cs typeface="Calibri"/>
            </a:endParaRPr>
          </a:p>
          <a:p>
            <a:pPr marL="414640">
              <a:spcBef>
                <a:spcPts val="490"/>
              </a:spcBef>
              <a:tabLst>
                <a:tab pos="667346" algn="l"/>
              </a:tabLst>
            </a:pPr>
            <a:r>
              <a:rPr sz="1941" spc="-4" dirty="0">
                <a:latin typeface="Arial"/>
                <a:cs typeface="Arial"/>
              </a:rPr>
              <a:t>–	</a:t>
            </a:r>
            <a:r>
              <a:rPr sz="1941" i="1" spc="-4" dirty="0">
                <a:latin typeface="Calibri"/>
                <a:cs typeface="Calibri"/>
              </a:rPr>
              <a:t>Back</a:t>
            </a:r>
            <a:r>
              <a:rPr sz="1941" i="1" spc="-13" dirty="0">
                <a:latin typeface="Calibri"/>
                <a:cs typeface="Calibri"/>
              </a:rPr>
              <a:t> </a:t>
            </a:r>
            <a:r>
              <a:rPr sz="1941" i="1" spc="-4" dirty="0">
                <a:latin typeface="Calibri"/>
                <a:cs typeface="Calibri"/>
              </a:rPr>
              <a:t>Propagation</a:t>
            </a:r>
            <a:r>
              <a:rPr sz="1941" i="1" spc="-49" dirty="0">
                <a:latin typeface="Calibri"/>
                <a:cs typeface="Calibri"/>
              </a:rPr>
              <a:t> </a:t>
            </a:r>
            <a:r>
              <a:rPr sz="1941" i="1" spc="-4" dirty="0">
                <a:latin typeface="Calibri"/>
                <a:cs typeface="Calibri"/>
              </a:rPr>
              <a:t>Through</a:t>
            </a:r>
            <a:r>
              <a:rPr sz="1941" i="1" spc="-9" dirty="0">
                <a:latin typeface="Calibri"/>
                <a:cs typeface="Calibri"/>
              </a:rPr>
              <a:t> Time</a:t>
            </a:r>
            <a:endParaRPr sz="1941">
              <a:latin typeface="Calibri"/>
              <a:cs typeface="Calibri"/>
            </a:endParaRPr>
          </a:p>
        </p:txBody>
      </p:sp>
      <p:grpSp>
        <p:nvGrpSpPr>
          <p:cNvPr id="4" name="object 4"/>
          <p:cNvGrpSpPr/>
          <p:nvPr/>
        </p:nvGrpSpPr>
        <p:grpSpPr>
          <a:xfrm>
            <a:off x="3543692" y="3315989"/>
            <a:ext cx="2019860" cy="271743"/>
            <a:chOff x="2136584" y="3758120"/>
            <a:chExt cx="2289175" cy="307975"/>
          </a:xfrm>
        </p:grpSpPr>
        <p:sp>
          <p:nvSpPr>
            <p:cNvPr id="5" name="object 5"/>
            <p:cNvSpPr/>
            <p:nvPr/>
          </p:nvSpPr>
          <p:spPr>
            <a:xfrm>
              <a:off x="21381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6" name="object 6"/>
            <p:cNvSpPr/>
            <p:nvPr/>
          </p:nvSpPr>
          <p:spPr>
            <a:xfrm>
              <a:off x="21381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 name="object 7"/>
            <p:cNvSpPr/>
            <p:nvPr/>
          </p:nvSpPr>
          <p:spPr>
            <a:xfrm>
              <a:off x="3124200"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8" name="object 8"/>
            <p:cNvSpPr/>
            <p:nvPr/>
          </p:nvSpPr>
          <p:spPr>
            <a:xfrm>
              <a:off x="3124200"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9" name="object 9"/>
            <p:cNvSpPr/>
            <p:nvPr/>
          </p:nvSpPr>
          <p:spPr>
            <a:xfrm>
              <a:off x="4119372" y="3759708"/>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0" name="object 10"/>
            <p:cNvSpPr/>
            <p:nvPr/>
          </p:nvSpPr>
          <p:spPr>
            <a:xfrm>
              <a:off x="4119372" y="375970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11" name="object 11"/>
          <p:cNvGrpSpPr/>
          <p:nvPr/>
        </p:nvGrpSpPr>
        <p:grpSpPr>
          <a:xfrm>
            <a:off x="6701118" y="2174389"/>
            <a:ext cx="2358838" cy="1413622"/>
            <a:chOff x="5715000" y="2464307"/>
            <a:chExt cx="2673350" cy="1602105"/>
          </a:xfrm>
        </p:grpSpPr>
        <p:sp>
          <p:nvSpPr>
            <p:cNvPr id="12" name="object 12"/>
            <p:cNvSpPr/>
            <p:nvPr/>
          </p:nvSpPr>
          <p:spPr>
            <a:xfrm>
              <a:off x="61005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3" name="object 13"/>
            <p:cNvSpPr/>
            <p:nvPr/>
          </p:nvSpPr>
          <p:spPr>
            <a:xfrm>
              <a:off x="61005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4" name="object 14"/>
            <p:cNvSpPr/>
            <p:nvPr/>
          </p:nvSpPr>
          <p:spPr>
            <a:xfrm>
              <a:off x="61142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5" name="object 15"/>
            <p:cNvSpPr/>
            <p:nvPr/>
          </p:nvSpPr>
          <p:spPr>
            <a:xfrm>
              <a:off x="61142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6" name="object 16"/>
            <p:cNvPicPr/>
            <p:nvPr/>
          </p:nvPicPr>
          <p:blipFill>
            <a:blip r:embed="rId2" cstate="print"/>
            <a:stretch>
              <a:fillRect/>
            </a:stretch>
          </p:blipFill>
          <p:spPr>
            <a:xfrm>
              <a:off x="6228587" y="3531107"/>
              <a:ext cx="76200" cy="228600"/>
            </a:xfrm>
            <a:prstGeom prst="rect">
              <a:avLst/>
            </a:prstGeom>
          </p:spPr>
        </p:pic>
        <p:sp>
          <p:nvSpPr>
            <p:cNvPr id="17" name="object 17"/>
            <p:cNvSpPr/>
            <p:nvPr/>
          </p:nvSpPr>
          <p:spPr>
            <a:xfrm>
              <a:off x="61142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8" name="object 18"/>
            <p:cNvSpPr/>
            <p:nvPr/>
          </p:nvSpPr>
          <p:spPr>
            <a:xfrm>
              <a:off x="61142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9" name="object 19"/>
            <p:cNvPicPr/>
            <p:nvPr/>
          </p:nvPicPr>
          <p:blipFill>
            <a:blip r:embed="rId2" cstate="print"/>
            <a:stretch>
              <a:fillRect/>
            </a:stretch>
          </p:blipFill>
          <p:spPr>
            <a:xfrm>
              <a:off x="6228587" y="2997707"/>
              <a:ext cx="76200" cy="228600"/>
            </a:xfrm>
            <a:prstGeom prst="rect">
              <a:avLst/>
            </a:prstGeom>
          </p:spPr>
        </p:pic>
        <p:pic>
          <p:nvPicPr>
            <p:cNvPr id="20" name="object 20"/>
            <p:cNvPicPr/>
            <p:nvPr/>
          </p:nvPicPr>
          <p:blipFill>
            <a:blip r:embed="rId2" cstate="print"/>
            <a:stretch>
              <a:fillRect/>
            </a:stretch>
          </p:blipFill>
          <p:spPr>
            <a:xfrm>
              <a:off x="6228587" y="2464307"/>
              <a:ext cx="76200" cy="228600"/>
            </a:xfrm>
            <a:prstGeom prst="rect">
              <a:avLst/>
            </a:prstGeom>
          </p:spPr>
        </p:pic>
        <p:sp>
          <p:nvSpPr>
            <p:cNvPr id="21" name="object 21"/>
            <p:cNvSpPr/>
            <p:nvPr/>
          </p:nvSpPr>
          <p:spPr>
            <a:xfrm>
              <a:off x="5715000" y="3340607"/>
              <a:ext cx="405765" cy="76200"/>
            </a:xfrm>
            <a:custGeom>
              <a:avLst/>
              <a:gdLst/>
              <a:ahLst/>
              <a:cxnLst/>
              <a:rect l="l" t="t" r="r" b="b"/>
              <a:pathLst>
                <a:path w="405764" h="76200">
                  <a:moveTo>
                    <a:pt x="329184" y="76200"/>
                  </a:moveTo>
                  <a:lnTo>
                    <a:pt x="329184" y="0"/>
                  </a:lnTo>
                  <a:lnTo>
                    <a:pt x="393192" y="32004"/>
                  </a:lnTo>
                  <a:lnTo>
                    <a:pt x="341376" y="32004"/>
                  </a:lnTo>
                  <a:lnTo>
                    <a:pt x="341376" y="44196"/>
                  </a:lnTo>
                  <a:lnTo>
                    <a:pt x="393192" y="44196"/>
                  </a:lnTo>
                  <a:lnTo>
                    <a:pt x="329184" y="76200"/>
                  </a:lnTo>
                  <a:close/>
                </a:path>
                <a:path w="405764" h="76200">
                  <a:moveTo>
                    <a:pt x="329184" y="44196"/>
                  </a:moveTo>
                  <a:lnTo>
                    <a:pt x="0" y="44196"/>
                  </a:lnTo>
                  <a:lnTo>
                    <a:pt x="0" y="32004"/>
                  </a:lnTo>
                  <a:lnTo>
                    <a:pt x="329184" y="32004"/>
                  </a:lnTo>
                  <a:lnTo>
                    <a:pt x="329184" y="44196"/>
                  </a:lnTo>
                  <a:close/>
                </a:path>
                <a:path w="405764" h="76200">
                  <a:moveTo>
                    <a:pt x="393192" y="44196"/>
                  </a:moveTo>
                  <a:lnTo>
                    <a:pt x="341376" y="44196"/>
                  </a:lnTo>
                  <a:lnTo>
                    <a:pt x="341376" y="32004"/>
                  </a:lnTo>
                  <a:lnTo>
                    <a:pt x="393192" y="32004"/>
                  </a:lnTo>
                  <a:lnTo>
                    <a:pt x="405384" y="38100"/>
                  </a:lnTo>
                  <a:lnTo>
                    <a:pt x="393192" y="44196"/>
                  </a:lnTo>
                  <a:close/>
                </a:path>
              </a:pathLst>
            </a:custGeom>
            <a:solidFill>
              <a:srgbClr val="000000"/>
            </a:solidFill>
          </p:spPr>
          <p:txBody>
            <a:bodyPr wrap="square" lIns="0" tIns="0" rIns="0" bIns="0" rtlCol="0"/>
            <a:lstStyle/>
            <a:p>
              <a:endParaRPr sz="1588"/>
            </a:p>
          </p:txBody>
        </p:sp>
        <p:sp>
          <p:nvSpPr>
            <p:cNvPr id="22" name="object 22"/>
            <p:cNvSpPr/>
            <p:nvPr/>
          </p:nvSpPr>
          <p:spPr>
            <a:xfrm>
              <a:off x="70911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70911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7104887"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7104887"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7219187" y="3531107"/>
              <a:ext cx="76200" cy="228600"/>
            </a:xfrm>
            <a:prstGeom prst="rect">
              <a:avLst/>
            </a:prstGeom>
          </p:spPr>
        </p:pic>
        <p:sp>
          <p:nvSpPr>
            <p:cNvPr id="27" name="object 27"/>
            <p:cNvSpPr/>
            <p:nvPr/>
          </p:nvSpPr>
          <p:spPr>
            <a:xfrm>
              <a:off x="7104887"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7104887"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7219187" y="2997707"/>
              <a:ext cx="76200" cy="228600"/>
            </a:xfrm>
            <a:prstGeom prst="rect">
              <a:avLst/>
            </a:prstGeom>
          </p:spPr>
        </p:pic>
        <p:pic>
          <p:nvPicPr>
            <p:cNvPr id="30" name="object 30"/>
            <p:cNvPicPr/>
            <p:nvPr/>
          </p:nvPicPr>
          <p:blipFill>
            <a:blip r:embed="rId2" cstate="print"/>
            <a:stretch>
              <a:fillRect/>
            </a:stretch>
          </p:blipFill>
          <p:spPr>
            <a:xfrm>
              <a:off x="7219187" y="2464307"/>
              <a:ext cx="76200" cy="228600"/>
            </a:xfrm>
            <a:prstGeom prst="rect">
              <a:avLst/>
            </a:prstGeom>
          </p:spPr>
        </p:pic>
        <p:sp>
          <p:nvSpPr>
            <p:cNvPr id="31" name="object 31"/>
            <p:cNvSpPr/>
            <p:nvPr/>
          </p:nvSpPr>
          <p:spPr>
            <a:xfrm>
              <a:off x="6414516" y="3340607"/>
              <a:ext cx="690880" cy="76200"/>
            </a:xfrm>
            <a:custGeom>
              <a:avLst/>
              <a:gdLst/>
              <a:ahLst/>
              <a:cxnLst/>
              <a:rect l="l" t="t" r="r" b="b"/>
              <a:pathLst>
                <a:path w="690879" h="76200">
                  <a:moveTo>
                    <a:pt x="614172" y="76200"/>
                  </a:moveTo>
                  <a:lnTo>
                    <a:pt x="614172" y="0"/>
                  </a:lnTo>
                  <a:lnTo>
                    <a:pt x="678180" y="32004"/>
                  </a:lnTo>
                  <a:lnTo>
                    <a:pt x="627887" y="32004"/>
                  </a:lnTo>
                  <a:lnTo>
                    <a:pt x="627887" y="44196"/>
                  </a:lnTo>
                  <a:lnTo>
                    <a:pt x="678180" y="44196"/>
                  </a:lnTo>
                  <a:lnTo>
                    <a:pt x="614172" y="76200"/>
                  </a:lnTo>
                  <a:close/>
                </a:path>
                <a:path w="690879" h="76200">
                  <a:moveTo>
                    <a:pt x="614172" y="44196"/>
                  </a:moveTo>
                  <a:lnTo>
                    <a:pt x="0" y="44196"/>
                  </a:lnTo>
                  <a:lnTo>
                    <a:pt x="0" y="32004"/>
                  </a:lnTo>
                  <a:lnTo>
                    <a:pt x="614172" y="32004"/>
                  </a:lnTo>
                  <a:lnTo>
                    <a:pt x="614172" y="44196"/>
                  </a:lnTo>
                  <a:close/>
                </a:path>
                <a:path w="690879" h="76200">
                  <a:moveTo>
                    <a:pt x="678180" y="44196"/>
                  </a:moveTo>
                  <a:lnTo>
                    <a:pt x="627887" y="44196"/>
                  </a:lnTo>
                  <a:lnTo>
                    <a:pt x="627887" y="32004"/>
                  </a:lnTo>
                  <a:lnTo>
                    <a:pt x="678180" y="32004"/>
                  </a:lnTo>
                  <a:lnTo>
                    <a:pt x="690372" y="38100"/>
                  </a:lnTo>
                  <a:lnTo>
                    <a:pt x="678180" y="44196"/>
                  </a:lnTo>
                  <a:close/>
                </a:path>
              </a:pathLst>
            </a:custGeom>
            <a:solidFill>
              <a:srgbClr val="000000"/>
            </a:solidFill>
          </p:spPr>
          <p:txBody>
            <a:bodyPr wrap="square" lIns="0" tIns="0" rIns="0" bIns="0" rtlCol="0"/>
            <a:lstStyle/>
            <a:p>
              <a:endParaRPr sz="1588"/>
            </a:p>
          </p:txBody>
        </p:sp>
        <p:sp>
          <p:nvSpPr>
            <p:cNvPr id="32" name="object 32"/>
            <p:cNvSpPr/>
            <p:nvPr/>
          </p:nvSpPr>
          <p:spPr>
            <a:xfrm>
              <a:off x="8081771" y="37597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3" name="object 33"/>
            <p:cNvSpPr/>
            <p:nvPr/>
          </p:nvSpPr>
          <p:spPr>
            <a:xfrm>
              <a:off x="8081771" y="37597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8081771"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5" name="object 35"/>
            <p:cNvSpPr/>
            <p:nvPr/>
          </p:nvSpPr>
          <p:spPr>
            <a:xfrm>
              <a:off x="8081771"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6" name="object 36"/>
            <p:cNvPicPr/>
            <p:nvPr/>
          </p:nvPicPr>
          <p:blipFill>
            <a:blip r:embed="rId2" cstate="print"/>
            <a:stretch>
              <a:fillRect/>
            </a:stretch>
          </p:blipFill>
          <p:spPr>
            <a:xfrm>
              <a:off x="8196072" y="3531107"/>
              <a:ext cx="76200" cy="228600"/>
            </a:xfrm>
            <a:prstGeom prst="rect">
              <a:avLst/>
            </a:prstGeom>
          </p:spPr>
        </p:pic>
        <p:sp>
          <p:nvSpPr>
            <p:cNvPr id="37" name="object 37"/>
            <p:cNvSpPr/>
            <p:nvPr/>
          </p:nvSpPr>
          <p:spPr>
            <a:xfrm>
              <a:off x="8081771"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38" name="object 38"/>
            <p:cNvSpPr/>
            <p:nvPr/>
          </p:nvSpPr>
          <p:spPr>
            <a:xfrm>
              <a:off x="8081771"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39" name="object 39"/>
            <p:cNvPicPr/>
            <p:nvPr/>
          </p:nvPicPr>
          <p:blipFill>
            <a:blip r:embed="rId2" cstate="print"/>
            <a:stretch>
              <a:fillRect/>
            </a:stretch>
          </p:blipFill>
          <p:spPr>
            <a:xfrm>
              <a:off x="8196072" y="2997707"/>
              <a:ext cx="76200" cy="228600"/>
            </a:xfrm>
            <a:prstGeom prst="rect">
              <a:avLst/>
            </a:prstGeom>
          </p:spPr>
        </p:pic>
        <p:pic>
          <p:nvPicPr>
            <p:cNvPr id="40" name="object 40"/>
            <p:cNvPicPr/>
            <p:nvPr/>
          </p:nvPicPr>
          <p:blipFill>
            <a:blip r:embed="rId2" cstate="print"/>
            <a:stretch>
              <a:fillRect/>
            </a:stretch>
          </p:blipFill>
          <p:spPr>
            <a:xfrm>
              <a:off x="8196072" y="2464307"/>
              <a:ext cx="76200" cy="228600"/>
            </a:xfrm>
            <a:prstGeom prst="rect">
              <a:avLst/>
            </a:prstGeom>
          </p:spPr>
        </p:pic>
        <p:sp>
          <p:nvSpPr>
            <p:cNvPr id="41" name="object 41"/>
            <p:cNvSpPr/>
            <p:nvPr/>
          </p:nvSpPr>
          <p:spPr>
            <a:xfrm>
              <a:off x="7402067"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grpSp>
      <p:sp>
        <p:nvSpPr>
          <p:cNvPr id="42" name="object 42"/>
          <p:cNvSpPr/>
          <p:nvPr/>
        </p:nvSpPr>
        <p:spPr>
          <a:xfrm>
            <a:off x="3541059" y="3845859"/>
            <a:ext cx="5446059" cy="67235"/>
          </a:xfrm>
          <a:custGeom>
            <a:avLst/>
            <a:gdLst/>
            <a:ahLst/>
            <a:cxnLst/>
            <a:rect l="l" t="t" r="r" b="b"/>
            <a:pathLst>
              <a:path w="6172200" h="76200">
                <a:moveTo>
                  <a:pt x="6096000" y="76200"/>
                </a:moveTo>
                <a:lnTo>
                  <a:pt x="6096000" y="0"/>
                </a:lnTo>
                <a:lnTo>
                  <a:pt x="6150864" y="27432"/>
                </a:lnTo>
                <a:lnTo>
                  <a:pt x="6109716" y="27432"/>
                </a:lnTo>
                <a:lnTo>
                  <a:pt x="6109716" y="47244"/>
                </a:lnTo>
                <a:lnTo>
                  <a:pt x="6153912" y="47244"/>
                </a:lnTo>
                <a:lnTo>
                  <a:pt x="6096000" y="76200"/>
                </a:lnTo>
                <a:close/>
              </a:path>
              <a:path w="6172200" h="76200">
                <a:moveTo>
                  <a:pt x="6096000" y="47244"/>
                </a:moveTo>
                <a:lnTo>
                  <a:pt x="0" y="47244"/>
                </a:lnTo>
                <a:lnTo>
                  <a:pt x="0" y="27432"/>
                </a:lnTo>
                <a:lnTo>
                  <a:pt x="6096000" y="27432"/>
                </a:lnTo>
                <a:lnTo>
                  <a:pt x="6096000" y="47244"/>
                </a:lnTo>
                <a:close/>
              </a:path>
              <a:path w="6172200" h="76200">
                <a:moveTo>
                  <a:pt x="6153912" y="47244"/>
                </a:moveTo>
                <a:lnTo>
                  <a:pt x="6109716" y="47244"/>
                </a:lnTo>
                <a:lnTo>
                  <a:pt x="6109716" y="27432"/>
                </a:lnTo>
                <a:lnTo>
                  <a:pt x="6150864" y="27432"/>
                </a:lnTo>
                <a:lnTo>
                  <a:pt x="6172200" y="38100"/>
                </a:lnTo>
                <a:lnTo>
                  <a:pt x="6153912" y="47244"/>
                </a:lnTo>
                <a:close/>
              </a:path>
            </a:pathLst>
          </a:custGeom>
          <a:solidFill>
            <a:srgbClr val="3333FF"/>
          </a:solidFill>
        </p:spPr>
        <p:txBody>
          <a:bodyPr wrap="square" lIns="0" tIns="0" rIns="0" bIns="0" rtlCol="0"/>
          <a:lstStyle/>
          <a:p>
            <a:endParaRPr sz="1588"/>
          </a:p>
        </p:txBody>
      </p:sp>
      <p:sp>
        <p:nvSpPr>
          <p:cNvPr id="43" name="object 43"/>
          <p:cNvSpPr txBox="1"/>
          <p:nvPr/>
        </p:nvSpPr>
        <p:spPr>
          <a:xfrm>
            <a:off x="3520419" y="3537482"/>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0</a:t>
            </a:r>
            <a:r>
              <a:rPr sz="1412" spc="-4" dirty="0">
                <a:latin typeface="Calibri"/>
                <a:cs typeface="Calibri"/>
              </a:rPr>
              <a:t>)</a:t>
            </a:r>
            <a:endParaRPr sz="1412">
              <a:latin typeface="Calibri"/>
              <a:cs typeface="Calibri"/>
            </a:endParaRPr>
          </a:p>
        </p:txBody>
      </p:sp>
      <p:grpSp>
        <p:nvGrpSpPr>
          <p:cNvPr id="44" name="object 44"/>
          <p:cNvGrpSpPr/>
          <p:nvPr/>
        </p:nvGrpSpPr>
        <p:grpSpPr>
          <a:xfrm>
            <a:off x="2665654" y="2174389"/>
            <a:ext cx="3228974" cy="1143000"/>
            <a:chOff x="1141475" y="2464307"/>
            <a:chExt cx="3659504" cy="1295400"/>
          </a:xfrm>
        </p:grpSpPr>
        <p:sp>
          <p:nvSpPr>
            <p:cNvPr id="45" name="object 45"/>
            <p:cNvSpPr/>
            <p:nvPr/>
          </p:nvSpPr>
          <p:spPr>
            <a:xfrm>
              <a:off x="2142744" y="32263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46" name="object 46"/>
            <p:cNvSpPr/>
            <p:nvPr/>
          </p:nvSpPr>
          <p:spPr>
            <a:xfrm>
              <a:off x="2142744" y="32263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7" name="object 47"/>
            <p:cNvPicPr/>
            <p:nvPr/>
          </p:nvPicPr>
          <p:blipFill>
            <a:blip r:embed="rId2" cstate="print"/>
            <a:stretch>
              <a:fillRect/>
            </a:stretch>
          </p:blipFill>
          <p:spPr>
            <a:xfrm>
              <a:off x="2257044" y="3531107"/>
              <a:ext cx="76200" cy="228600"/>
            </a:xfrm>
            <a:prstGeom prst="rect">
              <a:avLst/>
            </a:prstGeom>
          </p:spPr>
        </p:pic>
        <p:sp>
          <p:nvSpPr>
            <p:cNvPr id="48" name="object 48"/>
            <p:cNvSpPr/>
            <p:nvPr/>
          </p:nvSpPr>
          <p:spPr>
            <a:xfrm>
              <a:off x="2142744" y="26929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49" name="object 49"/>
            <p:cNvSpPr/>
            <p:nvPr/>
          </p:nvSpPr>
          <p:spPr>
            <a:xfrm>
              <a:off x="2142744" y="26929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0" name="object 50"/>
            <p:cNvPicPr/>
            <p:nvPr/>
          </p:nvPicPr>
          <p:blipFill>
            <a:blip r:embed="rId2" cstate="print"/>
            <a:stretch>
              <a:fillRect/>
            </a:stretch>
          </p:blipFill>
          <p:spPr>
            <a:xfrm>
              <a:off x="2257044" y="2997707"/>
              <a:ext cx="76200" cy="228600"/>
            </a:xfrm>
            <a:prstGeom prst="rect">
              <a:avLst/>
            </a:prstGeom>
          </p:spPr>
        </p:pic>
        <p:pic>
          <p:nvPicPr>
            <p:cNvPr id="51" name="object 51"/>
            <p:cNvPicPr/>
            <p:nvPr/>
          </p:nvPicPr>
          <p:blipFill>
            <a:blip r:embed="rId2" cstate="print"/>
            <a:stretch>
              <a:fillRect/>
            </a:stretch>
          </p:blipFill>
          <p:spPr>
            <a:xfrm>
              <a:off x="2257044" y="2464307"/>
              <a:ext cx="76200" cy="228600"/>
            </a:xfrm>
            <a:prstGeom prst="rect">
              <a:avLst/>
            </a:prstGeom>
          </p:spPr>
        </p:pic>
        <p:sp>
          <p:nvSpPr>
            <p:cNvPr id="52" name="object 52"/>
            <p:cNvSpPr/>
            <p:nvPr/>
          </p:nvSpPr>
          <p:spPr>
            <a:xfrm>
              <a:off x="11429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53" name="object 53"/>
            <p:cNvSpPr/>
            <p:nvPr/>
          </p:nvSpPr>
          <p:spPr>
            <a:xfrm>
              <a:off x="11429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4" name="object 54"/>
            <p:cNvSpPr/>
            <p:nvPr/>
          </p:nvSpPr>
          <p:spPr>
            <a:xfrm>
              <a:off x="1447799"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55" name="object 55"/>
            <p:cNvSpPr/>
            <p:nvPr/>
          </p:nvSpPr>
          <p:spPr>
            <a:xfrm>
              <a:off x="3124199"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6" name="object 56"/>
            <p:cNvSpPr/>
            <p:nvPr/>
          </p:nvSpPr>
          <p:spPr>
            <a:xfrm>
              <a:off x="3124199"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7" name="object 57"/>
            <p:cNvPicPr/>
            <p:nvPr/>
          </p:nvPicPr>
          <p:blipFill>
            <a:blip r:embed="rId3" cstate="print"/>
            <a:stretch>
              <a:fillRect/>
            </a:stretch>
          </p:blipFill>
          <p:spPr>
            <a:xfrm>
              <a:off x="3238499" y="3531107"/>
              <a:ext cx="76200" cy="228600"/>
            </a:xfrm>
            <a:prstGeom prst="rect">
              <a:avLst/>
            </a:prstGeom>
          </p:spPr>
        </p:pic>
        <p:sp>
          <p:nvSpPr>
            <p:cNvPr id="58" name="object 58"/>
            <p:cNvSpPr/>
            <p:nvPr/>
          </p:nvSpPr>
          <p:spPr>
            <a:xfrm>
              <a:off x="3124199"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9" name="object 59"/>
            <p:cNvSpPr/>
            <p:nvPr/>
          </p:nvSpPr>
          <p:spPr>
            <a:xfrm>
              <a:off x="3124199"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0" name="object 60"/>
            <p:cNvPicPr/>
            <p:nvPr/>
          </p:nvPicPr>
          <p:blipFill>
            <a:blip r:embed="rId3" cstate="print"/>
            <a:stretch>
              <a:fillRect/>
            </a:stretch>
          </p:blipFill>
          <p:spPr>
            <a:xfrm>
              <a:off x="3238499" y="2997707"/>
              <a:ext cx="76200" cy="228600"/>
            </a:xfrm>
            <a:prstGeom prst="rect">
              <a:avLst/>
            </a:prstGeom>
          </p:spPr>
        </p:pic>
        <p:pic>
          <p:nvPicPr>
            <p:cNvPr id="61" name="object 61"/>
            <p:cNvPicPr/>
            <p:nvPr/>
          </p:nvPicPr>
          <p:blipFill>
            <a:blip r:embed="rId3" cstate="print"/>
            <a:stretch>
              <a:fillRect/>
            </a:stretch>
          </p:blipFill>
          <p:spPr>
            <a:xfrm>
              <a:off x="3238499" y="2464307"/>
              <a:ext cx="76200" cy="228600"/>
            </a:xfrm>
            <a:prstGeom prst="rect">
              <a:avLst/>
            </a:prstGeom>
          </p:spPr>
        </p:pic>
        <p:sp>
          <p:nvSpPr>
            <p:cNvPr id="62" name="object 62"/>
            <p:cNvSpPr/>
            <p:nvPr/>
          </p:nvSpPr>
          <p:spPr>
            <a:xfrm>
              <a:off x="2447543" y="3340607"/>
              <a:ext cx="692150" cy="76200"/>
            </a:xfrm>
            <a:custGeom>
              <a:avLst/>
              <a:gdLst/>
              <a:ahLst/>
              <a:cxnLst/>
              <a:rect l="l" t="t" r="r" b="b"/>
              <a:pathLst>
                <a:path w="692150" h="76200">
                  <a:moveTo>
                    <a:pt x="615696" y="76200"/>
                  </a:moveTo>
                  <a:lnTo>
                    <a:pt x="615696" y="0"/>
                  </a:lnTo>
                  <a:lnTo>
                    <a:pt x="679704" y="32004"/>
                  </a:lnTo>
                  <a:lnTo>
                    <a:pt x="627887" y="32004"/>
                  </a:lnTo>
                  <a:lnTo>
                    <a:pt x="627887" y="44196"/>
                  </a:lnTo>
                  <a:lnTo>
                    <a:pt x="679704" y="44196"/>
                  </a:lnTo>
                  <a:lnTo>
                    <a:pt x="615696" y="76200"/>
                  </a:lnTo>
                  <a:close/>
                </a:path>
                <a:path w="692150" h="76200">
                  <a:moveTo>
                    <a:pt x="615696" y="44196"/>
                  </a:moveTo>
                  <a:lnTo>
                    <a:pt x="0" y="44196"/>
                  </a:lnTo>
                  <a:lnTo>
                    <a:pt x="0" y="32004"/>
                  </a:lnTo>
                  <a:lnTo>
                    <a:pt x="615696" y="32004"/>
                  </a:lnTo>
                  <a:lnTo>
                    <a:pt x="615696" y="44196"/>
                  </a:lnTo>
                  <a:close/>
                </a:path>
                <a:path w="692150" h="76200">
                  <a:moveTo>
                    <a:pt x="679704" y="44196"/>
                  </a:moveTo>
                  <a:lnTo>
                    <a:pt x="627887" y="44196"/>
                  </a:lnTo>
                  <a:lnTo>
                    <a:pt x="627887" y="32004"/>
                  </a:lnTo>
                  <a:lnTo>
                    <a:pt x="679704" y="32004"/>
                  </a:lnTo>
                  <a:lnTo>
                    <a:pt x="691896" y="38100"/>
                  </a:lnTo>
                  <a:lnTo>
                    <a:pt x="679704" y="44196"/>
                  </a:lnTo>
                  <a:close/>
                </a:path>
              </a:pathLst>
            </a:custGeom>
            <a:solidFill>
              <a:srgbClr val="000000"/>
            </a:solidFill>
          </p:spPr>
          <p:txBody>
            <a:bodyPr wrap="square" lIns="0" tIns="0" rIns="0" bIns="0" rtlCol="0"/>
            <a:lstStyle/>
            <a:p>
              <a:endParaRPr sz="1588"/>
            </a:p>
          </p:txBody>
        </p:sp>
        <p:sp>
          <p:nvSpPr>
            <p:cNvPr id="63" name="object 63"/>
            <p:cNvSpPr/>
            <p:nvPr/>
          </p:nvSpPr>
          <p:spPr>
            <a:xfrm>
              <a:off x="4133088" y="32263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64" name="object 64"/>
            <p:cNvSpPr/>
            <p:nvPr/>
          </p:nvSpPr>
          <p:spPr>
            <a:xfrm>
              <a:off x="4133088" y="32263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5" name="object 65"/>
            <p:cNvSpPr/>
            <p:nvPr/>
          </p:nvSpPr>
          <p:spPr>
            <a:xfrm>
              <a:off x="4133088" y="26929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6" name="object 66"/>
            <p:cNvSpPr/>
            <p:nvPr/>
          </p:nvSpPr>
          <p:spPr>
            <a:xfrm>
              <a:off x="4133088" y="26929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7" name="object 67"/>
            <p:cNvPicPr/>
            <p:nvPr/>
          </p:nvPicPr>
          <p:blipFill>
            <a:blip r:embed="rId2" cstate="print"/>
            <a:stretch>
              <a:fillRect/>
            </a:stretch>
          </p:blipFill>
          <p:spPr>
            <a:xfrm>
              <a:off x="4247387" y="2997707"/>
              <a:ext cx="76200" cy="228600"/>
            </a:xfrm>
            <a:prstGeom prst="rect">
              <a:avLst/>
            </a:prstGeom>
          </p:spPr>
        </p:pic>
        <p:pic>
          <p:nvPicPr>
            <p:cNvPr id="68" name="object 68"/>
            <p:cNvPicPr/>
            <p:nvPr/>
          </p:nvPicPr>
          <p:blipFill>
            <a:blip r:embed="rId2" cstate="print"/>
            <a:stretch>
              <a:fillRect/>
            </a:stretch>
          </p:blipFill>
          <p:spPr>
            <a:xfrm>
              <a:off x="4247387" y="3531107"/>
              <a:ext cx="76200" cy="228600"/>
            </a:xfrm>
            <a:prstGeom prst="rect">
              <a:avLst/>
            </a:prstGeom>
          </p:spPr>
        </p:pic>
        <p:pic>
          <p:nvPicPr>
            <p:cNvPr id="69" name="object 69"/>
            <p:cNvPicPr/>
            <p:nvPr/>
          </p:nvPicPr>
          <p:blipFill>
            <a:blip r:embed="rId2" cstate="print"/>
            <a:stretch>
              <a:fillRect/>
            </a:stretch>
          </p:blipFill>
          <p:spPr>
            <a:xfrm>
              <a:off x="4247387" y="2464307"/>
              <a:ext cx="76200" cy="228600"/>
            </a:xfrm>
            <a:prstGeom prst="rect">
              <a:avLst/>
            </a:prstGeom>
          </p:spPr>
        </p:pic>
        <p:sp>
          <p:nvSpPr>
            <p:cNvPr id="70" name="object 70"/>
            <p:cNvSpPr/>
            <p:nvPr/>
          </p:nvSpPr>
          <p:spPr>
            <a:xfrm>
              <a:off x="3436607" y="3340607"/>
              <a:ext cx="1364615" cy="76200"/>
            </a:xfrm>
            <a:custGeom>
              <a:avLst/>
              <a:gdLst/>
              <a:ahLst/>
              <a:cxnLst/>
              <a:rect l="l" t="t" r="r" b="b"/>
              <a:pathLst>
                <a:path w="1364614" h="76200">
                  <a:moveTo>
                    <a:pt x="690372" y="38100"/>
                  </a:moveTo>
                  <a:lnTo>
                    <a:pt x="678180" y="32004"/>
                  </a:lnTo>
                  <a:lnTo>
                    <a:pt x="614172" y="0"/>
                  </a:lnTo>
                  <a:lnTo>
                    <a:pt x="614172" y="32004"/>
                  </a:lnTo>
                  <a:lnTo>
                    <a:pt x="0" y="32004"/>
                  </a:lnTo>
                  <a:lnTo>
                    <a:pt x="0" y="44196"/>
                  </a:lnTo>
                  <a:lnTo>
                    <a:pt x="614172" y="44196"/>
                  </a:lnTo>
                  <a:lnTo>
                    <a:pt x="614172" y="76200"/>
                  </a:lnTo>
                  <a:lnTo>
                    <a:pt x="678180" y="44196"/>
                  </a:lnTo>
                  <a:lnTo>
                    <a:pt x="690372" y="38100"/>
                  </a:lnTo>
                  <a:close/>
                </a:path>
                <a:path w="1364614" h="76200">
                  <a:moveTo>
                    <a:pt x="1363992" y="38100"/>
                  </a:moveTo>
                  <a:lnTo>
                    <a:pt x="1351800" y="32004"/>
                  </a:lnTo>
                  <a:lnTo>
                    <a:pt x="1287792" y="0"/>
                  </a:lnTo>
                  <a:lnTo>
                    <a:pt x="1287792" y="32004"/>
                  </a:lnTo>
                  <a:lnTo>
                    <a:pt x="1010424" y="32004"/>
                  </a:lnTo>
                  <a:lnTo>
                    <a:pt x="1010424" y="44196"/>
                  </a:lnTo>
                  <a:lnTo>
                    <a:pt x="1287792" y="44196"/>
                  </a:lnTo>
                  <a:lnTo>
                    <a:pt x="1287792" y="76200"/>
                  </a:lnTo>
                  <a:lnTo>
                    <a:pt x="1351800" y="44196"/>
                  </a:lnTo>
                  <a:lnTo>
                    <a:pt x="1363992" y="38100"/>
                  </a:lnTo>
                  <a:close/>
                </a:path>
              </a:pathLst>
            </a:custGeom>
            <a:solidFill>
              <a:srgbClr val="000000"/>
            </a:solidFill>
          </p:spPr>
          <p:txBody>
            <a:bodyPr wrap="square" lIns="0" tIns="0" rIns="0" bIns="0" rtlCol="0"/>
            <a:lstStyle/>
            <a:p>
              <a:endParaRPr sz="1588"/>
            </a:p>
          </p:txBody>
        </p:sp>
      </p:grpSp>
      <p:sp>
        <p:nvSpPr>
          <p:cNvPr id="71" name="object 71"/>
          <p:cNvSpPr txBox="1"/>
          <p:nvPr/>
        </p:nvSpPr>
        <p:spPr>
          <a:xfrm>
            <a:off x="3533919"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0</a:t>
            </a:r>
            <a:r>
              <a:rPr sz="1588" dirty="0">
                <a:latin typeface="Calibri"/>
                <a:cs typeface="Calibri"/>
              </a:rPr>
              <a:t>)</a:t>
            </a:r>
            <a:endParaRPr sz="1588">
              <a:latin typeface="Calibri"/>
              <a:cs typeface="Calibri"/>
            </a:endParaRPr>
          </a:p>
        </p:txBody>
      </p:sp>
      <p:sp>
        <p:nvSpPr>
          <p:cNvPr id="72" name="object 72"/>
          <p:cNvSpPr txBox="1"/>
          <p:nvPr/>
        </p:nvSpPr>
        <p:spPr>
          <a:xfrm>
            <a:off x="3348268" y="3724381"/>
            <a:ext cx="90207" cy="255678"/>
          </a:xfrm>
          <a:prstGeom prst="rect">
            <a:avLst/>
          </a:prstGeom>
        </p:spPr>
        <p:txBody>
          <a:bodyPr vert="horz" wrap="square" lIns="0" tIns="11206" rIns="0" bIns="0" rtlCol="0">
            <a:spAutoFit/>
          </a:bodyPr>
          <a:lstStyle/>
          <a:p>
            <a:pPr marL="11206">
              <a:spcBef>
                <a:spcPts val="88"/>
              </a:spcBef>
            </a:pPr>
            <a:r>
              <a:rPr sz="1588" dirty="0">
                <a:solidFill>
                  <a:srgbClr val="0000CC"/>
                </a:solidFill>
                <a:latin typeface="Calibri"/>
                <a:cs typeface="Calibri"/>
              </a:rPr>
              <a:t>t</a:t>
            </a:r>
            <a:endParaRPr sz="1588">
              <a:latin typeface="Calibri"/>
              <a:cs typeface="Calibri"/>
            </a:endParaRPr>
          </a:p>
        </p:txBody>
      </p:sp>
      <p:sp>
        <p:nvSpPr>
          <p:cNvPr id="73" name="object 73"/>
          <p:cNvSpPr txBox="1"/>
          <p:nvPr/>
        </p:nvSpPr>
        <p:spPr>
          <a:xfrm>
            <a:off x="2661646" y="25908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sp>
        <p:nvSpPr>
          <p:cNvPr id="74" name="object 74"/>
          <p:cNvSpPr txBox="1"/>
          <p:nvPr/>
        </p:nvSpPr>
        <p:spPr>
          <a:xfrm>
            <a:off x="4389144"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75" name="object 75"/>
          <p:cNvSpPr txBox="1"/>
          <p:nvPr/>
        </p:nvSpPr>
        <p:spPr>
          <a:xfrm>
            <a:off x="5258329" y="3549534"/>
            <a:ext cx="313204"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76" name="object 76"/>
          <p:cNvSpPr txBox="1"/>
          <p:nvPr/>
        </p:nvSpPr>
        <p:spPr>
          <a:xfrm>
            <a:off x="6972262"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pic>
        <p:nvPicPr>
          <p:cNvPr id="77" name="object 77"/>
          <p:cNvPicPr/>
          <p:nvPr/>
        </p:nvPicPr>
        <p:blipFill>
          <a:blip r:embed="rId4" cstate="print"/>
          <a:stretch>
            <a:fillRect/>
          </a:stretch>
        </p:blipFill>
        <p:spPr>
          <a:xfrm>
            <a:off x="6499412" y="2944905"/>
            <a:ext cx="67235" cy="67235"/>
          </a:xfrm>
          <a:prstGeom prst="rect">
            <a:avLst/>
          </a:prstGeom>
        </p:spPr>
      </p:pic>
      <p:pic>
        <p:nvPicPr>
          <p:cNvPr id="78" name="object 78"/>
          <p:cNvPicPr/>
          <p:nvPr/>
        </p:nvPicPr>
        <p:blipFill>
          <a:blip r:embed="rId4" cstate="print"/>
          <a:stretch>
            <a:fillRect/>
          </a:stretch>
        </p:blipFill>
        <p:spPr>
          <a:xfrm>
            <a:off x="6364941" y="2944905"/>
            <a:ext cx="67235" cy="67235"/>
          </a:xfrm>
          <a:prstGeom prst="rect">
            <a:avLst/>
          </a:prstGeom>
        </p:spPr>
      </p:pic>
      <p:pic>
        <p:nvPicPr>
          <p:cNvPr id="79" name="object 79"/>
          <p:cNvPicPr/>
          <p:nvPr/>
        </p:nvPicPr>
        <p:blipFill>
          <a:blip r:embed="rId4" cstate="print"/>
          <a:stretch>
            <a:fillRect/>
          </a:stretch>
        </p:blipFill>
        <p:spPr>
          <a:xfrm>
            <a:off x="6230471" y="2944905"/>
            <a:ext cx="67235" cy="67235"/>
          </a:xfrm>
          <a:prstGeom prst="rect">
            <a:avLst/>
          </a:prstGeom>
        </p:spPr>
      </p:pic>
      <p:pic>
        <p:nvPicPr>
          <p:cNvPr id="80" name="object 80"/>
          <p:cNvPicPr/>
          <p:nvPr/>
        </p:nvPicPr>
        <p:blipFill>
          <a:blip r:embed="rId4" cstate="print"/>
          <a:stretch>
            <a:fillRect/>
          </a:stretch>
        </p:blipFill>
        <p:spPr>
          <a:xfrm>
            <a:off x="6096000" y="2944905"/>
            <a:ext cx="67235" cy="67235"/>
          </a:xfrm>
          <a:prstGeom prst="rect">
            <a:avLst/>
          </a:prstGeom>
        </p:spPr>
      </p:pic>
      <p:sp>
        <p:nvSpPr>
          <p:cNvPr id="81" name="object 81"/>
          <p:cNvSpPr txBox="1"/>
          <p:nvPr/>
        </p:nvSpPr>
        <p:spPr>
          <a:xfrm>
            <a:off x="7830148" y="3554948"/>
            <a:ext cx="456079"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1</a:t>
            </a:r>
            <a:r>
              <a:rPr sz="1412" spc="-4" dirty="0">
                <a:latin typeface="Calibri"/>
                <a:cs typeface="Calibri"/>
              </a:rPr>
              <a:t>)</a:t>
            </a:r>
            <a:endParaRPr sz="1412">
              <a:latin typeface="Calibri"/>
              <a:cs typeface="Calibri"/>
            </a:endParaRPr>
          </a:p>
        </p:txBody>
      </p:sp>
      <p:sp>
        <p:nvSpPr>
          <p:cNvPr id="82" name="object 82"/>
          <p:cNvSpPr txBox="1"/>
          <p:nvPr/>
        </p:nvSpPr>
        <p:spPr>
          <a:xfrm>
            <a:off x="8786967" y="3554948"/>
            <a:ext cx="310963"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X</a:t>
            </a:r>
            <a:r>
              <a:rPr sz="1412" spc="-13" dirty="0">
                <a:latin typeface="Calibri"/>
                <a:cs typeface="Calibri"/>
              </a:rPr>
              <a:t>(</a:t>
            </a:r>
            <a:r>
              <a:rPr sz="1412" spc="-4" dirty="0">
                <a:latin typeface="Calibri"/>
                <a:cs typeface="Calibri"/>
              </a:rPr>
              <a:t>T)</a:t>
            </a:r>
            <a:endParaRPr sz="1412">
              <a:latin typeface="Calibri"/>
              <a:cs typeface="Calibri"/>
            </a:endParaRPr>
          </a:p>
        </p:txBody>
      </p:sp>
      <p:sp>
        <p:nvSpPr>
          <p:cNvPr id="83" name="object 83"/>
          <p:cNvSpPr txBox="1"/>
          <p:nvPr/>
        </p:nvSpPr>
        <p:spPr>
          <a:xfrm>
            <a:off x="4382401" y="1898298"/>
            <a:ext cx="344021" cy="255678"/>
          </a:xfrm>
          <a:prstGeom prst="rect">
            <a:avLst/>
          </a:prstGeom>
        </p:spPr>
        <p:txBody>
          <a:bodyPr vert="horz" wrap="square" lIns="0" tIns="11206" rIns="0" bIns="0" rtlCol="0">
            <a:spAutoFit/>
          </a:bodyPr>
          <a:lstStyle/>
          <a:p>
            <a:pPr marL="11206">
              <a:spcBef>
                <a:spcPts val="88"/>
              </a:spcBef>
            </a:pPr>
            <a:r>
              <a:rPr sz="1588" dirty="0">
                <a:latin typeface="Calibri"/>
                <a:cs typeface="Calibri"/>
              </a:rPr>
              <a:t>Y</a:t>
            </a:r>
            <a:r>
              <a:rPr sz="1588" spc="-9" dirty="0">
                <a:latin typeface="Calibri"/>
                <a:cs typeface="Calibri"/>
              </a:rPr>
              <a:t>(</a:t>
            </a:r>
            <a:r>
              <a:rPr sz="1588" spc="-13" dirty="0">
                <a:latin typeface="Calibri"/>
                <a:cs typeface="Calibri"/>
              </a:rPr>
              <a:t>1</a:t>
            </a:r>
            <a:r>
              <a:rPr sz="1588" dirty="0">
                <a:latin typeface="Calibri"/>
                <a:cs typeface="Calibri"/>
              </a:rPr>
              <a:t>)</a:t>
            </a:r>
            <a:endParaRPr sz="1588">
              <a:latin typeface="Calibri"/>
              <a:cs typeface="Calibri"/>
            </a:endParaRPr>
          </a:p>
        </p:txBody>
      </p:sp>
      <p:sp>
        <p:nvSpPr>
          <p:cNvPr id="84" name="object 84"/>
          <p:cNvSpPr txBox="1"/>
          <p:nvPr/>
        </p:nvSpPr>
        <p:spPr>
          <a:xfrm>
            <a:off x="5284023" y="1898298"/>
            <a:ext cx="344021" cy="255678"/>
          </a:xfrm>
          <a:prstGeom prst="rect">
            <a:avLst/>
          </a:prstGeom>
        </p:spPr>
        <p:txBody>
          <a:bodyPr vert="horz" wrap="square" lIns="0" tIns="11206" rIns="0" bIns="0" rtlCol="0">
            <a:spAutoFit/>
          </a:bodyPr>
          <a:lstStyle/>
          <a:p>
            <a:pPr marL="11206">
              <a:spcBef>
                <a:spcPts val="88"/>
              </a:spcBef>
            </a:pPr>
            <a:r>
              <a:rPr sz="1588" spc="-13" dirty="0">
                <a:latin typeface="Calibri"/>
                <a:cs typeface="Calibri"/>
              </a:rPr>
              <a:t>Y</a:t>
            </a:r>
            <a:r>
              <a:rPr sz="1588" spc="-9" dirty="0">
                <a:latin typeface="Calibri"/>
                <a:cs typeface="Calibri"/>
              </a:rPr>
              <a:t>(</a:t>
            </a:r>
            <a:r>
              <a:rPr sz="1588" spc="4" dirty="0">
                <a:latin typeface="Calibri"/>
                <a:cs typeface="Calibri"/>
              </a:rPr>
              <a:t>2</a:t>
            </a:r>
            <a:r>
              <a:rPr sz="1588" dirty="0">
                <a:latin typeface="Calibri"/>
                <a:cs typeface="Calibri"/>
              </a:rPr>
              <a:t>)</a:t>
            </a:r>
            <a:endParaRPr sz="1588">
              <a:latin typeface="Calibri"/>
              <a:cs typeface="Calibri"/>
            </a:endParaRPr>
          </a:p>
        </p:txBody>
      </p:sp>
      <p:sp>
        <p:nvSpPr>
          <p:cNvPr id="85" name="object 85"/>
          <p:cNvSpPr txBox="1"/>
          <p:nvPr/>
        </p:nvSpPr>
        <p:spPr>
          <a:xfrm>
            <a:off x="6972262"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dirty="0">
                <a:latin typeface="Calibri"/>
                <a:cs typeface="Calibri"/>
              </a:rPr>
              <a:t>-</a:t>
            </a:r>
            <a:r>
              <a:rPr sz="1412" spc="-18" dirty="0">
                <a:latin typeface="Calibri"/>
                <a:cs typeface="Calibri"/>
              </a:rPr>
              <a:t>2</a:t>
            </a:r>
            <a:r>
              <a:rPr sz="1412" spc="-4" dirty="0">
                <a:latin typeface="Calibri"/>
                <a:cs typeface="Calibri"/>
              </a:rPr>
              <a:t>)</a:t>
            </a:r>
            <a:endParaRPr sz="1412">
              <a:latin typeface="Calibri"/>
              <a:cs typeface="Calibri"/>
            </a:endParaRPr>
          </a:p>
        </p:txBody>
      </p:sp>
      <p:sp>
        <p:nvSpPr>
          <p:cNvPr id="86" name="object 86"/>
          <p:cNvSpPr txBox="1"/>
          <p:nvPr/>
        </p:nvSpPr>
        <p:spPr>
          <a:xfrm>
            <a:off x="7830718" y="1929190"/>
            <a:ext cx="450476"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r>
              <a:rPr sz="1412" spc="-13" dirty="0">
                <a:latin typeface="Calibri"/>
                <a:cs typeface="Calibri"/>
              </a:rPr>
              <a:t>-</a:t>
            </a:r>
            <a:r>
              <a:rPr sz="1412" dirty="0">
                <a:latin typeface="Calibri"/>
                <a:cs typeface="Calibri"/>
              </a:rPr>
              <a:t>1</a:t>
            </a:r>
            <a:r>
              <a:rPr sz="1412" spc="-4" dirty="0">
                <a:latin typeface="Calibri"/>
                <a:cs typeface="Calibri"/>
              </a:rPr>
              <a:t>)</a:t>
            </a:r>
            <a:endParaRPr sz="1412">
              <a:latin typeface="Calibri"/>
              <a:cs typeface="Calibri"/>
            </a:endParaRPr>
          </a:p>
        </p:txBody>
      </p:sp>
      <p:sp>
        <p:nvSpPr>
          <p:cNvPr id="87" name="object 87"/>
          <p:cNvSpPr txBox="1"/>
          <p:nvPr/>
        </p:nvSpPr>
        <p:spPr>
          <a:xfrm>
            <a:off x="8787537" y="1929190"/>
            <a:ext cx="305921" cy="228054"/>
          </a:xfrm>
          <a:prstGeom prst="rect">
            <a:avLst/>
          </a:prstGeom>
        </p:spPr>
        <p:txBody>
          <a:bodyPr vert="horz" wrap="square" lIns="0" tIns="10646" rIns="0" bIns="0" rtlCol="0">
            <a:spAutoFit/>
          </a:bodyPr>
          <a:lstStyle/>
          <a:p>
            <a:pPr marL="11206">
              <a:spcBef>
                <a:spcPts val="84"/>
              </a:spcBef>
            </a:pPr>
            <a:r>
              <a:rPr sz="1412" spc="-4" dirty="0">
                <a:latin typeface="Calibri"/>
                <a:cs typeface="Calibri"/>
              </a:rPr>
              <a:t>Y</a:t>
            </a:r>
            <a:r>
              <a:rPr sz="1412" spc="-13" dirty="0">
                <a:latin typeface="Calibri"/>
                <a:cs typeface="Calibri"/>
              </a:rPr>
              <a:t>(</a:t>
            </a:r>
            <a:r>
              <a:rPr sz="1412" spc="-4" dirty="0">
                <a:latin typeface="Calibri"/>
                <a:cs typeface="Calibri"/>
              </a:rPr>
              <a:t>T)</a:t>
            </a:r>
            <a:endParaRPr sz="1412">
              <a:latin typeface="Calibri"/>
              <a:cs typeface="Calibri"/>
            </a:endParaRPr>
          </a:p>
        </p:txBody>
      </p:sp>
      <p:grpSp>
        <p:nvGrpSpPr>
          <p:cNvPr id="88" name="object 88"/>
          <p:cNvGrpSpPr/>
          <p:nvPr/>
        </p:nvGrpSpPr>
        <p:grpSpPr>
          <a:xfrm>
            <a:off x="3134957" y="4233134"/>
            <a:ext cx="5791760" cy="341779"/>
            <a:chOff x="1673351" y="4797552"/>
            <a:chExt cx="6563995" cy="387350"/>
          </a:xfrm>
        </p:grpSpPr>
        <p:sp>
          <p:nvSpPr>
            <p:cNvPr id="89" name="object 89"/>
            <p:cNvSpPr/>
            <p:nvPr/>
          </p:nvSpPr>
          <p:spPr>
            <a:xfrm>
              <a:off x="1676399" y="4800600"/>
              <a:ext cx="6558280" cy="381000"/>
            </a:xfrm>
            <a:custGeom>
              <a:avLst/>
              <a:gdLst/>
              <a:ahLst/>
              <a:cxnLst/>
              <a:rect l="l" t="t" r="r" b="b"/>
              <a:pathLst>
                <a:path w="6558280" h="381000">
                  <a:moveTo>
                    <a:pt x="190500" y="381000"/>
                  </a:moveTo>
                  <a:lnTo>
                    <a:pt x="0" y="190500"/>
                  </a:lnTo>
                  <a:lnTo>
                    <a:pt x="190500" y="0"/>
                  </a:lnTo>
                  <a:lnTo>
                    <a:pt x="190500" y="96012"/>
                  </a:lnTo>
                  <a:lnTo>
                    <a:pt x="6557771" y="96012"/>
                  </a:lnTo>
                  <a:lnTo>
                    <a:pt x="6557771" y="286512"/>
                  </a:lnTo>
                  <a:lnTo>
                    <a:pt x="190500" y="286512"/>
                  </a:lnTo>
                  <a:lnTo>
                    <a:pt x="190500" y="381000"/>
                  </a:lnTo>
                  <a:close/>
                </a:path>
              </a:pathLst>
            </a:custGeom>
            <a:solidFill>
              <a:srgbClr val="FFFF00"/>
            </a:solidFill>
          </p:spPr>
          <p:txBody>
            <a:bodyPr wrap="square" lIns="0" tIns="0" rIns="0" bIns="0" rtlCol="0"/>
            <a:lstStyle/>
            <a:p>
              <a:endParaRPr sz="1588"/>
            </a:p>
          </p:txBody>
        </p:sp>
        <p:sp>
          <p:nvSpPr>
            <p:cNvPr id="90" name="object 90"/>
            <p:cNvSpPr/>
            <p:nvPr/>
          </p:nvSpPr>
          <p:spPr>
            <a:xfrm>
              <a:off x="1676399" y="4800600"/>
              <a:ext cx="6558280" cy="381000"/>
            </a:xfrm>
            <a:custGeom>
              <a:avLst/>
              <a:gdLst/>
              <a:ahLst/>
              <a:cxnLst/>
              <a:rect l="l" t="t" r="r" b="b"/>
              <a:pathLst>
                <a:path w="6558280" h="381000">
                  <a:moveTo>
                    <a:pt x="0" y="190500"/>
                  </a:moveTo>
                  <a:lnTo>
                    <a:pt x="190500" y="0"/>
                  </a:lnTo>
                  <a:lnTo>
                    <a:pt x="190500" y="96012"/>
                  </a:lnTo>
                  <a:lnTo>
                    <a:pt x="6557771" y="96012"/>
                  </a:lnTo>
                  <a:lnTo>
                    <a:pt x="6557771" y="286512"/>
                  </a:lnTo>
                  <a:lnTo>
                    <a:pt x="190500" y="286512"/>
                  </a:lnTo>
                  <a:lnTo>
                    <a:pt x="190500" y="381000"/>
                  </a:lnTo>
                  <a:lnTo>
                    <a:pt x="0" y="190500"/>
                  </a:lnTo>
                  <a:close/>
                </a:path>
              </a:pathLst>
            </a:custGeom>
            <a:ln w="6096">
              <a:solidFill>
                <a:srgbClr val="000000"/>
              </a:solidFill>
            </a:ln>
          </p:spPr>
          <p:txBody>
            <a:bodyPr wrap="square" lIns="0" tIns="0" rIns="0" bIns="0" rtlCol="0"/>
            <a:lstStyle/>
            <a:p>
              <a:endParaRPr sz="1588"/>
            </a:p>
          </p:txBody>
        </p:sp>
      </p:grpSp>
      <p:sp>
        <p:nvSpPr>
          <p:cNvPr id="97" name="TextBox 96">
            <a:extLst>
              <a:ext uri="{FF2B5EF4-FFF2-40B4-BE49-F238E27FC236}">
                <a16:creationId xmlns:a16="http://schemas.microsoft.com/office/drawing/2014/main" id="{EEAFA728-7599-450B-BA6F-DB732403C758}"/>
              </a:ext>
            </a:extLst>
          </p:cNvPr>
          <p:cNvSpPr txBox="1"/>
          <p:nvPr/>
        </p:nvSpPr>
        <p:spPr>
          <a:xfrm>
            <a:off x="3048786" y="6200183"/>
            <a:ext cx="6094428"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100"/>
              <a:buFont typeface="Arial"/>
              <a:buNone/>
            </a:pPr>
            <a:r>
              <a:rPr lang="en-US" sz="1400" dirty="0">
                <a:solidFill>
                  <a:schemeClr val="tx1">
                    <a:lumMod val="50000"/>
                    <a:lumOff val="50000"/>
                  </a:schemeClr>
                </a:solidFill>
                <a:latin typeface="Arial" panose="020B0604020202020204" pitchFamily="34" charset="0"/>
                <a:cs typeface="Arial" panose="020B0604020202020204" pitchFamily="34" charset="0"/>
              </a:rPr>
              <a:t>The Transformer Epiphany Speech - Vision - Text</a:t>
            </a:r>
            <a:r>
              <a:rPr lang="en-US" sz="1400" dirty="0">
                <a:solidFill>
                  <a:schemeClr val="tx1">
                    <a:lumMod val="50000"/>
                    <a:lumOff val="50000"/>
                  </a:schemeClr>
                </a:solidFill>
                <a:latin typeface="Arial" panose="020B0604020202020204" pitchFamily="34" charset="0"/>
                <a:cs typeface="Arial" panose="020B0604020202020204" pitchFamily="34" charset="0"/>
                <a:sym typeface="Arial"/>
              </a:rPr>
              <a:t> </a:t>
            </a:r>
            <a:r>
              <a:rPr lang="en-US" sz="1400" b="0" i="0" u="none" strike="noStrike" cap="none" dirty="0">
                <a:solidFill>
                  <a:schemeClr val="tx1">
                    <a:lumMod val="50000"/>
                    <a:lumOff val="50000"/>
                  </a:schemeClr>
                </a:solidFill>
                <a:latin typeface="Arial" panose="020B0604020202020204" pitchFamily="34" charset="0"/>
                <a:ea typeface="Arial"/>
                <a:cs typeface="Arial" panose="020B0604020202020204" pitchFamily="34" charset="0"/>
                <a:sym typeface="Arial"/>
              </a:rPr>
              <a:t>Workshop</a:t>
            </a:r>
          </a:p>
        </p:txBody>
      </p:sp>
    </p:spTree>
    <p:extLst>
      <p:ext uri="{BB962C8B-B14F-4D97-AF65-F5344CB8AC3E}">
        <p14:creationId xmlns:p14="http://schemas.microsoft.com/office/powerpoint/2010/main" val="2480723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019860" cy="1413622"/>
            <a:chOff x="6099047" y="2906267"/>
            <a:chExt cx="2289175"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grpSp>
      <p:sp>
        <p:nvSpPr>
          <p:cNvPr id="65" name="object 65"/>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6" name="object 66"/>
          <p:cNvPicPr/>
          <p:nvPr/>
        </p:nvPicPr>
        <p:blipFill>
          <a:blip r:embed="rId4" cstate="print"/>
          <a:stretch>
            <a:fillRect/>
          </a:stretch>
        </p:blipFill>
        <p:spPr>
          <a:xfrm>
            <a:off x="6499412" y="3334871"/>
            <a:ext cx="67235" cy="67235"/>
          </a:xfrm>
          <a:prstGeom prst="rect">
            <a:avLst/>
          </a:prstGeom>
        </p:spPr>
      </p:pic>
      <p:pic>
        <p:nvPicPr>
          <p:cNvPr id="67" name="object 67"/>
          <p:cNvPicPr/>
          <p:nvPr/>
        </p:nvPicPr>
        <p:blipFill>
          <a:blip r:embed="rId4" cstate="print"/>
          <a:stretch>
            <a:fillRect/>
          </a:stretch>
        </p:blipFill>
        <p:spPr>
          <a:xfrm>
            <a:off x="6364941" y="3334871"/>
            <a:ext cx="67235" cy="67235"/>
          </a:xfrm>
          <a:prstGeom prst="rect">
            <a:avLst/>
          </a:prstGeom>
        </p:spPr>
      </p:pic>
      <p:pic>
        <p:nvPicPr>
          <p:cNvPr id="68" name="object 68"/>
          <p:cNvPicPr/>
          <p:nvPr/>
        </p:nvPicPr>
        <p:blipFill>
          <a:blip r:embed="rId4" cstate="print"/>
          <a:stretch>
            <a:fillRect/>
          </a:stretch>
        </p:blipFill>
        <p:spPr>
          <a:xfrm>
            <a:off x="6230471" y="3334871"/>
            <a:ext cx="67235" cy="67235"/>
          </a:xfrm>
          <a:prstGeom prst="rect">
            <a:avLst/>
          </a:prstGeom>
        </p:spPr>
      </p:pic>
      <p:pic>
        <p:nvPicPr>
          <p:cNvPr id="69" name="object 69"/>
          <p:cNvPicPr/>
          <p:nvPr/>
        </p:nvPicPr>
        <p:blipFill>
          <a:blip r:embed="rId4" cstate="print"/>
          <a:stretch>
            <a:fillRect/>
          </a:stretch>
        </p:blipFill>
        <p:spPr>
          <a:xfrm>
            <a:off x="6096000" y="3334871"/>
            <a:ext cx="67235" cy="67235"/>
          </a:xfrm>
          <a:prstGeom prst="rect">
            <a:avLst/>
          </a:prstGeom>
        </p:spPr>
      </p:pic>
      <p:sp>
        <p:nvSpPr>
          <p:cNvPr id="70" name="object 70"/>
          <p:cNvSpPr txBox="1"/>
          <p:nvPr/>
        </p:nvSpPr>
        <p:spPr>
          <a:xfrm>
            <a:off x="2478742" y="4156170"/>
            <a:ext cx="7048500" cy="1884083"/>
          </a:xfrm>
          <a:prstGeom prst="rect">
            <a:avLst/>
          </a:prstGeom>
        </p:spPr>
        <p:txBody>
          <a:bodyPr vert="horz" wrap="square" lIns="0" tIns="10646" rIns="0" bIns="0" rtlCol="0">
            <a:spAutoFit/>
          </a:bodyPr>
          <a:lstStyle/>
          <a:p>
            <a:pPr marL="1037160">
              <a:spcBef>
                <a:spcPts val="84"/>
              </a:spcBef>
              <a:tabLst>
                <a:tab pos="1881568" algn="l"/>
                <a:tab pos="2747269" algn="l"/>
                <a:tab pos="4308892" algn="l"/>
                <a:tab pos="5281054" algn="l"/>
                <a:tab pos="6257138" algn="l"/>
              </a:tabLst>
            </a:pPr>
            <a:r>
              <a:rPr sz="1412" spc="4" dirty="0">
                <a:latin typeface="Cambria Math"/>
                <a:cs typeface="Cambria Math"/>
              </a:rPr>
              <a:t>𝑋(0)	</a:t>
            </a:r>
            <a:r>
              <a:rPr sz="1412" spc="9" dirty="0">
                <a:latin typeface="Cambria Math"/>
                <a:cs typeface="Cambria Math"/>
              </a:rPr>
              <a:t>𝑋(1)	𝑋(2)	𝑋(𝑇</a:t>
            </a:r>
            <a:r>
              <a:rPr sz="1412" spc="35"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	</a:t>
            </a:r>
            <a:r>
              <a:rPr sz="1412" spc="9" dirty="0">
                <a:latin typeface="Cambria Math"/>
                <a:cs typeface="Cambria Math"/>
              </a:rPr>
              <a:t>𝑋(𝑇</a:t>
            </a:r>
            <a:r>
              <a:rPr sz="1412" spc="40" dirty="0">
                <a:latin typeface="Cambria Math"/>
                <a:cs typeface="Cambria Math"/>
              </a:rPr>
              <a:t> </a:t>
            </a:r>
            <a:r>
              <a:rPr sz="1412" spc="-4" dirty="0">
                <a:latin typeface="Cambria Math"/>
                <a:cs typeface="Cambria Math"/>
              </a:rPr>
              <a:t>−</a:t>
            </a:r>
            <a:r>
              <a:rPr sz="1412" spc="13" dirty="0">
                <a:latin typeface="Cambria Math"/>
                <a:cs typeface="Cambria Math"/>
              </a:rPr>
              <a:t> </a:t>
            </a:r>
            <a:r>
              <a:rPr sz="1412" spc="-9" dirty="0">
                <a:latin typeface="Cambria Math"/>
                <a:cs typeface="Cambria Math"/>
              </a:rPr>
              <a:t>1)	</a:t>
            </a:r>
            <a:r>
              <a:rPr sz="1412" spc="13" dirty="0">
                <a:latin typeface="Cambria Math"/>
                <a:cs typeface="Cambria Math"/>
              </a:rPr>
              <a:t>𝑋(𝑇)</a:t>
            </a:r>
            <a:endParaRPr lang="en-US" sz="1412" spc="13" dirty="0">
              <a:latin typeface="Cambria Math"/>
              <a:cs typeface="Cambria Math"/>
            </a:endParaRPr>
          </a:p>
          <a:p>
            <a:pPr marL="1037160">
              <a:spcBef>
                <a:spcPts val="84"/>
              </a:spcBef>
              <a:tabLst>
                <a:tab pos="1881568" algn="l"/>
                <a:tab pos="2747269" algn="l"/>
                <a:tab pos="4308892" algn="l"/>
                <a:tab pos="5281054" algn="l"/>
                <a:tab pos="6257138" algn="l"/>
              </a:tabLst>
            </a:pPr>
            <a:endParaRPr sz="1412" dirty="0">
              <a:latin typeface="Cambria Math"/>
              <a:cs typeface="Cambria Math"/>
            </a:endParaRPr>
          </a:p>
          <a:p>
            <a:pPr>
              <a:spcBef>
                <a:spcPts val="13"/>
              </a:spcBef>
            </a:pPr>
            <a:endParaRPr sz="1588" dirty="0">
              <a:latin typeface="Cambria Math"/>
              <a:cs typeface="Cambria Math"/>
            </a:endParaRPr>
          </a:p>
          <a:p>
            <a:pPr marL="263913" indent="-253266">
              <a:buFont typeface="Arial"/>
              <a:buChar char="•"/>
              <a:tabLst>
                <a:tab pos="263913" algn="l"/>
                <a:tab pos="264473" algn="l"/>
              </a:tabLst>
            </a:pPr>
            <a:r>
              <a:rPr sz="2118" spc="-4" dirty="0">
                <a:latin typeface="Calibri"/>
                <a:cs typeface="Calibri"/>
              </a:rPr>
              <a:t>The</a:t>
            </a:r>
            <a:r>
              <a:rPr sz="2118" spc="4" dirty="0">
                <a:latin typeface="Calibri"/>
                <a:cs typeface="Calibri"/>
              </a:rPr>
              <a:t> </a:t>
            </a:r>
            <a:r>
              <a:rPr sz="2118" spc="-9" dirty="0">
                <a:latin typeface="Calibri"/>
                <a:cs typeface="Calibri"/>
              </a:rPr>
              <a:t>divergence</a:t>
            </a:r>
            <a:r>
              <a:rPr sz="2118" spc="9" dirty="0">
                <a:latin typeface="Calibri"/>
                <a:cs typeface="Calibri"/>
              </a:rPr>
              <a:t> </a:t>
            </a:r>
            <a:r>
              <a:rPr sz="2118" spc="-9" dirty="0">
                <a:latin typeface="Calibri"/>
                <a:cs typeface="Calibri"/>
              </a:rPr>
              <a:t>computed </a:t>
            </a:r>
            <a:r>
              <a:rPr sz="2118" dirty="0">
                <a:latin typeface="Calibri"/>
                <a:cs typeface="Calibri"/>
              </a:rPr>
              <a:t>is</a:t>
            </a:r>
            <a:r>
              <a:rPr sz="2118" spc="-22" dirty="0">
                <a:latin typeface="Calibri"/>
                <a:cs typeface="Calibri"/>
              </a:rPr>
              <a:t> </a:t>
            </a:r>
            <a:r>
              <a:rPr sz="2118" spc="-4" dirty="0">
                <a:latin typeface="Calibri"/>
                <a:cs typeface="Calibri"/>
              </a:rPr>
              <a:t>between</a:t>
            </a:r>
            <a:r>
              <a:rPr sz="2118" spc="-9" dirty="0">
                <a:latin typeface="Calibri"/>
                <a:cs typeface="Calibri"/>
              </a:rPr>
              <a:t> </a:t>
            </a:r>
            <a:r>
              <a:rPr sz="2118" spc="-4" dirty="0">
                <a:latin typeface="Calibri"/>
                <a:cs typeface="Calibri"/>
              </a:rPr>
              <a:t>the</a:t>
            </a:r>
            <a:r>
              <a:rPr sz="2118" spc="-9" dirty="0">
                <a:latin typeface="Calibri"/>
                <a:cs typeface="Calibri"/>
              </a:rPr>
              <a:t> </a:t>
            </a:r>
            <a:r>
              <a:rPr sz="2118" i="1" dirty="0">
                <a:latin typeface="Calibri"/>
                <a:cs typeface="Calibri"/>
              </a:rPr>
              <a:t>sequence</a:t>
            </a:r>
            <a:r>
              <a:rPr sz="2118" i="1" spc="-13" dirty="0">
                <a:latin typeface="Calibri"/>
                <a:cs typeface="Calibri"/>
              </a:rPr>
              <a:t> </a:t>
            </a:r>
            <a:r>
              <a:rPr sz="2118" i="1" spc="-4" dirty="0">
                <a:latin typeface="Calibri"/>
                <a:cs typeface="Calibri"/>
              </a:rPr>
              <a:t>of</a:t>
            </a:r>
            <a:r>
              <a:rPr sz="2118" i="1" spc="13" dirty="0">
                <a:latin typeface="Calibri"/>
                <a:cs typeface="Calibri"/>
              </a:rPr>
              <a:t> </a:t>
            </a:r>
            <a:r>
              <a:rPr sz="2118" i="1" dirty="0">
                <a:latin typeface="Calibri"/>
                <a:cs typeface="Calibri"/>
              </a:rPr>
              <a:t>outputs</a:t>
            </a:r>
            <a:endParaRPr sz="2118" dirty="0">
              <a:latin typeface="Calibri"/>
              <a:cs typeface="Calibri"/>
            </a:endParaRPr>
          </a:p>
          <a:p>
            <a:pPr marL="263913"/>
            <a:r>
              <a:rPr sz="2118" spc="-9" dirty="0">
                <a:latin typeface="Calibri"/>
                <a:cs typeface="Calibri"/>
              </a:rPr>
              <a:t>by</a:t>
            </a:r>
            <a:r>
              <a:rPr sz="2118" spc="-4" dirty="0">
                <a:latin typeface="Calibri"/>
                <a:cs typeface="Calibri"/>
              </a:rPr>
              <a:t> the</a:t>
            </a:r>
            <a:r>
              <a:rPr sz="2118" spc="-9" dirty="0">
                <a:latin typeface="Calibri"/>
                <a:cs typeface="Calibri"/>
              </a:rPr>
              <a:t> network</a:t>
            </a:r>
            <a:r>
              <a:rPr sz="2118" spc="-4" dirty="0">
                <a:latin typeface="Calibri"/>
                <a:cs typeface="Calibri"/>
              </a:rPr>
              <a:t> </a:t>
            </a:r>
            <a:r>
              <a:rPr sz="2118" dirty="0">
                <a:latin typeface="Calibri"/>
                <a:cs typeface="Calibri"/>
              </a:rPr>
              <a:t>and</a:t>
            </a:r>
            <a:r>
              <a:rPr sz="2118" spc="-9" dirty="0">
                <a:latin typeface="Calibri"/>
                <a:cs typeface="Calibri"/>
              </a:rPr>
              <a:t> the</a:t>
            </a:r>
            <a:r>
              <a:rPr sz="2118" spc="13" dirty="0">
                <a:latin typeface="Calibri"/>
                <a:cs typeface="Calibri"/>
              </a:rPr>
              <a:t> </a:t>
            </a:r>
            <a:r>
              <a:rPr sz="2118" i="1" dirty="0">
                <a:latin typeface="Calibri"/>
                <a:cs typeface="Calibri"/>
              </a:rPr>
              <a:t>desired</a:t>
            </a:r>
            <a:r>
              <a:rPr sz="2118" i="1" spc="-4" dirty="0">
                <a:latin typeface="Calibri"/>
                <a:cs typeface="Calibri"/>
              </a:rPr>
              <a:t> sequence</a:t>
            </a:r>
            <a:r>
              <a:rPr sz="2118" i="1" spc="9" dirty="0">
                <a:latin typeface="Calibri"/>
                <a:cs typeface="Calibri"/>
              </a:rPr>
              <a:t> </a:t>
            </a:r>
            <a:r>
              <a:rPr sz="2118" i="1" spc="-4" dirty="0">
                <a:latin typeface="Calibri"/>
                <a:cs typeface="Calibri"/>
              </a:rPr>
              <a:t>of </a:t>
            </a:r>
            <a:r>
              <a:rPr sz="2118" i="1" dirty="0">
                <a:latin typeface="Calibri"/>
                <a:cs typeface="Calibri"/>
              </a:rPr>
              <a:t>outputs</a:t>
            </a:r>
            <a:endParaRPr sz="2118" dirty="0">
              <a:latin typeface="Calibri"/>
              <a:cs typeface="Calibri"/>
            </a:endParaRPr>
          </a:p>
          <a:p>
            <a:pPr marL="667346" lvl="1" indent="-253266">
              <a:spcBef>
                <a:spcPts val="26"/>
              </a:spcBef>
              <a:buFont typeface="Arial"/>
              <a:buChar char="•"/>
              <a:tabLst>
                <a:tab pos="667346" algn="l"/>
                <a:tab pos="667906" algn="l"/>
              </a:tabLst>
            </a:pPr>
            <a:r>
              <a:rPr sz="1765" dirty="0">
                <a:latin typeface="Calibri"/>
                <a:cs typeface="Calibri"/>
              </a:rPr>
              <a:t>DIV</a:t>
            </a:r>
            <a:r>
              <a:rPr sz="1765" spc="-26" dirty="0">
                <a:latin typeface="Calibri"/>
                <a:cs typeface="Calibri"/>
              </a:rPr>
              <a:t> </a:t>
            </a:r>
            <a:r>
              <a:rPr sz="1765" dirty="0">
                <a:latin typeface="Calibri"/>
                <a:cs typeface="Calibri"/>
              </a:rPr>
              <a:t>is</a:t>
            </a:r>
            <a:r>
              <a:rPr sz="1765" spc="9" dirty="0">
                <a:latin typeface="Calibri"/>
                <a:cs typeface="Calibri"/>
              </a:rPr>
              <a:t> </a:t>
            </a:r>
            <a:r>
              <a:rPr sz="1765" dirty="0">
                <a:latin typeface="Calibri"/>
                <a:cs typeface="Calibri"/>
              </a:rPr>
              <a:t>a</a:t>
            </a:r>
            <a:r>
              <a:rPr sz="1765" spc="-4" dirty="0">
                <a:latin typeface="Calibri"/>
                <a:cs typeface="Calibri"/>
              </a:rPr>
              <a:t> scalar</a:t>
            </a:r>
            <a:r>
              <a:rPr sz="1765" spc="9" dirty="0">
                <a:latin typeface="Calibri"/>
                <a:cs typeface="Calibri"/>
              </a:rPr>
              <a:t> </a:t>
            </a:r>
            <a:r>
              <a:rPr sz="1765" spc="-4" dirty="0">
                <a:latin typeface="Calibri"/>
                <a:cs typeface="Calibri"/>
              </a:rPr>
              <a:t>function</a:t>
            </a:r>
            <a:r>
              <a:rPr sz="1765" dirty="0">
                <a:latin typeface="Calibri"/>
                <a:cs typeface="Calibri"/>
              </a:rPr>
              <a:t> </a:t>
            </a:r>
            <a:r>
              <a:rPr sz="1765" spc="-9" dirty="0">
                <a:latin typeface="Calibri"/>
                <a:cs typeface="Calibri"/>
              </a:rPr>
              <a:t>of</a:t>
            </a:r>
            <a:r>
              <a:rPr sz="1765" spc="18" dirty="0">
                <a:latin typeface="Calibri"/>
                <a:cs typeface="Calibri"/>
              </a:rPr>
              <a:t> </a:t>
            </a:r>
            <a:r>
              <a:rPr sz="1765" dirty="0">
                <a:latin typeface="Calibri"/>
                <a:cs typeface="Calibri"/>
              </a:rPr>
              <a:t>a</a:t>
            </a:r>
            <a:r>
              <a:rPr sz="1765" spc="-4" dirty="0">
                <a:latin typeface="Calibri"/>
                <a:cs typeface="Calibri"/>
              </a:rPr>
              <a:t> </a:t>
            </a:r>
            <a:r>
              <a:rPr sz="1765" spc="-9" dirty="0">
                <a:latin typeface="Calibri"/>
                <a:cs typeface="Calibri"/>
              </a:rPr>
              <a:t>series</a:t>
            </a:r>
            <a:r>
              <a:rPr sz="1765" spc="44" dirty="0">
                <a:latin typeface="Calibri"/>
                <a:cs typeface="Calibri"/>
              </a:rPr>
              <a:t> </a:t>
            </a:r>
            <a:r>
              <a:rPr sz="1765" dirty="0">
                <a:latin typeface="Calibri"/>
                <a:cs typeface="Calibri"/>
              </a:rPr>
              <a:t>of</a:t>
            </a:r>
            <a:r>
              <a:rPr sz="1765" spc="-22" dirty="0">
                <a:latin typeface="Calibri"/>
                <a:cs typeface="Calibri"/>
              </a:rPr>
              <a:t> </a:t>
            </a:r>
            <a:r>
              <a:rPr sz="1765" spc="-13" dirty="0">
                <a:latin typeface="Calibri"/>
                <a:cs typeface="Calibri"/>
              </a:rPr>
              <a:t>vectors!</a:t>
            </a:r>
            <a:endParaRPr sz="1765" dirty="0">
              <a:latin typeface="Calibri"/>
              <a:cs typeface="Calibri"/>
            </a:endParaRPr>
          </a:p>
          <a:p>
            <a:pPr lvl="1">
              <a:spcBef>
                <a:spcPts val="44"/>
              </a:spcBef>
              <a:buFont typeface="Arial"/>
              <a:buChar char="•"/>
            </a:pPr>
            <a:endParaRPr sz="1677" dirty="0">
              <a:latin typeface="Calibri"/>
              <a:cs typeface="Calibri"/>
            </a:endParaRPr>
          </a:p>
        </p:txBody>
      </p:sp>
      <p:sp>
        <p:nvSpPr>
          <p:cNvPr id="71" name="object 71"/>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2" name="object 72"/>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75" name="object 75"/>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76" name="object 76"/>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77" name="object 77"/>
          <p:cNvGrpSpPr/>
          <p:nvPr/>
        </p:nvGrpSpPr>
        <p:grpSpPr>
          <a:xfrm>
            <a:off x="3543692" y="1832778"/>
            <a:ext cx="5516096" cy="491378"/>
            <a:chOff x="2136584" y="2077148"/>
            <a:chExt cx="6251575" cy="556895"/>
          </a:xfrm>
        </p:grpSpPr>
        <p:sp>
          <p:nvSpPr>
            <p:cNvPr id="78" name="object 78"/>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79" name="object 79"/>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0" name="object 80"/>
            <p:cNvPicPr/>
            <p:nvPr/>
          </p:nvPicPr>
          <p:blipFill>
            <a:blip r:embed="rId2" cstate="print"/>
            <a:stretch>
              <a:fillRect/>
            </a:stretch>
          </p:blipFill>
          <p:spPr>
            <a:xfrm>
              <a:off x="8196072" y="2404872"/>
              <a:ext cx="76200" cy="228600"/>
            </a:xfrm>
            <a:prstGeom prst="rect">
              <a:avLst/>
            </a:prstGeom>
          </p:spPr>
        </p:pic>
      </p:grpSp>
      <p:sp>
        <p:nvSpPr>
          <p:cNvPr id="81" name="object 81"/>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2" name="object 82"/>
          <p:cNvGrpSpPr/>
          <p:nvPr/>
        </p:nvGrpSpPr>
        <p:grpSpPr>
          <a:xfrm>
            <a:off x="3649980" y="1928309"/>
            <a:ext cx="5610225" cy="395567"/>
            <a:chOff x="2257044" y="2185416"/>
            <a:chExt cx="6358255" cy="448309"/>
          </a:xfrm>
        </p:grpSpPr>
        <p:pic>
          <p:nvPicPr>
            <p:cNvPr id="83" name="object 83"/>
            <p:cNvPicPr/>
            <p:nvPr/>
          </p:nvPicPr>
          <p:blipFill>
            <a:blip r:embed="rId5" cstate="print"/>
            <a:stretch>
              <a:fillRect/>
            </a:stretch>
          </p:blipFill>
          <p:spPr>
            <a:xfrm>
              <a:off x="8386571" y="2185416"/>
              <a:ext cx="228600" cy="76200"/>
            </a:xfrm>
            <a:prstGeom prst="rect">
              <a:avLst/>
            </a:prstGeom>
          </p:spPr>
        </p:pic>
        <p:pic>
          <p:nvPicPr>
            <p:cNvPr id="84" name="object 84"/>
            <p:cNvPicPr/>
            <p:nvPr/>
          </p:nvPicPr>
          <p:blipFill>
            <a:blip r:embed="rId2" cstate="print"/>
            <a:stretch>
              <a:fillRect/>
            </a:stretch>
          </p:blipFill>
          <p:spPr>
            <a:xfrm>
              <a:off x="7211567" y="2404872"/>
              <a:ext cx="76200" cy="228600"/>
            </a:xfrm>
            <a:prstGeom prst="rect">
              <a:avLst/>
            </a:prstGeom>
          </p:spPr>
        </p:pic>
        <p:pic>
          <p:nvPicPr>
            <p:cNvPr id="85" name="object 85"/>
            <p:cNvPicPr/>
            <p:nvPr/>
          </p:nvPicPr>
          <p:blipFill>
            <a:blip r:embed="rId3" cstate="print"/>
            <a:stretch>
              <a:fillRect/>
            </a:stretch>
          </p:blipFill>
          <p:spPr>
            <a:xfrm>
              <a:off x="6210300" y="2404872"/>
              <a:ext cx="76200" cy="228600"/>
            </a:xfrm>
            <a:prstGeom prst="rect">
              <a:avLst/>
            </a:prstGeom>
          </p:spPr>
        </p:pic>
        <p:pic>
          <p:nvPicPr>
            <p:cNvPr id="86" name="object 86"/>
            <p:cNvPicPr/>
            <p:nvPr/>
          </p:nvPicPr>
          <p:blipFill>
            <a:blip r:embed="rId3" cstate="print"/>
            <a:stretch>
              <a:fillRect/>
            </a:stretch>
          </p:blipFill>
          <p:spPr>
            <a:xfrm>
              <a:off x="3238499" y="2404872"/>
              <a:ext cx="76200" cy="228600"/>
            </a:xfrm>
            <a:prstGeom prst="rect">
              <a:avLst/>
            </a:prstGeom>
          </p:spPr>
        </p:pic>
        <p:pic>
          <p:nvPicPr>
            <p:cNvPr id="87" name="object 87"/>
            <p:cNvPicPr/>
            <p:nvPr/>
          </p:nvPicPr>
          <p:blipFill>
            <a:blip r:embed="rId6" cstate="print"/>
            <a:stretch>
              <a:fillRect/>
            </a:stretch>
          </p:blipFill>
          <p:spPr>
            <a:xfrm>
              <a:off x="4227576" y="2404872"/>
              <a:ext cx="76200" cy="228600"/>
            </a:xfrm>
            <a:prstGeom prst="rect">
              <a:avLst/>
            </a:prstGeom>
          </p:spPr>
        </p:pic>
        <p:pic>
          <p:nvPicPr>
            <p:cNvPr id="88" name="object 88"/>
            <p:cNvPicPr/>
            <p:nvPr/>
          </p:nvPicPr>
          <p:blipFill>
            <a:blip r:embed="rId2" cstate="print"/>
            <a:stretch>
              <a:fillRect/>
            </a:stretch>
          </p:blipFill>
          <p:spPr>
            <a:xfrm>
              <a:off x="2257044" y="2404872"/>
              <a:ext cx="76200" cy="228600"/>
            </a:xfrm>
            <a:prstGeom prst="rect">
              <a:avLst/>
            </a:prstGeom>
          </p:spPr>
        </p:pic>
      </p:grpSp>
      <p:sp>
        <p:nvSpPr>
          <p:cNvPr id="89" name="object 89"/>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1751972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43510"/>
            <a:ext cx="2631141" cy="1434353"/>
            <a:chOff x="6099047" y="2882645"/>
            <a:chExt cx="2981960" cy="1625600"/>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8330183" y="2895599"/>
              <a:ext cx="737870" cy="201295"/>
            </a:xfrm>
            <a:custGeom>
              <a:avLst/>
              <a:gdLst/>
              <a:ahLst/>
              <a:cxnLst/>
              <a:rect l="l" t="t" r="r" b="b"/>
              <a:pathLst>
                <a:path w="737870" h="201294">
                  <a:moveTo>
                    <a:pt x="100583" y="201167"/>
                  </a:moveTo>
                  <a:lnTo>
                    <a:pt x="0" y="100583"/>
                  </a:lnTo>
                  <a:lnTo>
                    <a:pt x="100583" y="0"/>
                  </a:lnTo>
                  <a:lnTo>
                    <a:pt x="100583" y="50291"/>
                  </a:lnTo>
                  <a:lnTo>
                    <a:pt x="737616" y="50291"/>
                  </a:lnTo>
                  <a:lnTo>
                    <a:pt x="737616" y="150875"/>
                  </a:lnTo>
                  <a:lnTo>
                    <a:pt x="100583" y="150875"/>
                  </a:lnTo>
                  <a:lnTo>
                    <a:pt x="100583" y="201167"/>
                  </a:lnTo>
                  <a:close/>
                </a:path>
              </a:pathLst>
            </a:custGeom>
            <a:solidFill>
              <a:srgbClr val="00AF50"/>
            </a:solidFill>
          </p:spPr>
          <p:txBody>
            <a:bodyPr wrap="square" lIns="0" tIns="0" rIns="0" bIns="0" rtlCol="0"/>
            <a:lstStyle/>
            <a:p>
              <a:endParaRPr sz="1588"/>
            </a:p>
          </p:txBody>
        </p:sp>
        <p:sp>
          <p:nvSpPr>
            <p:cNvPr id="66" name="object 66"/>
            <p:cNvSpPr/>
            <p:nvPr/>
          </p:nvSpPr>
          <p:spPr>
            <a:xfrm>
              <a:off x="8330183" y="2895599"/>
              <a:ext cx="737870" cy="201295"/>
            </a:xfrm>
            <a:custGeom>
              <a:avLst/>
              <a:gdLst/>
              <a:ahLst/>
              <a:cxnLst/>
              <a:rect l="l" t="t" r="r" b="b"/>
              <a:pathLst>
                <a:path w="737870" h="201294">
                  <a:moveTo>
                    <a:pt x="0" y="100583"/>
                  </a:moveTo>
                  <a:lnTo>
                    <a:pt x="100583" y="0"/>
                  </a:lnTo>
                  <a:lnTo>
                    <a:pt x="100583" y="50291"/>
                  </a:lnTo>
                  <a:lnTo>
                    <a:pt x="737616" y="50291"/>
                  </a:lnTo>
                  <a:lnTo>
                    <a:pt x="737616" y="150875"/>
                  </a:lnTo>
                  <a:lnTo>
                    <a:pt x="100583" y="150875"/>
                  </a:lnTo>
                  <a:lnTo>
                    <a:pt x="100583" y="201167"/>
                  </a:lnTo>
                  <a:lnTo>
                    <a:pt x="0" y="100583"/>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4" name="object 84"/>
          <p:cNvGrpSpPr/>
          <p:nvPr/>
        </p:nvGrpSpPr>
        <p:grpSpPr>
          <a:xfrm>
            <a:off x="3543692" y="1832778"/>
            <a:ext cx="5516096" cy="491378"/>
            <a:chOff x="2136584" y="2077148"/>
            <a:chExt cx="6251575" cy="556895"/>
          </a:xfrm>
        </p:grpSpPr>
        <p:sp>
          <p:nvSpPr>
            <p:cNvPr id="85" name="object 85"/>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6" name="object 86"/>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7" name="object 87"/>
            <p:cNvPicPr/>
            <p:nvPr/>
          </p:nvPicPr>
          <p:blipFill>
            <a:blip r:embed="rId2" cstate="print"/>
            <a:stretch>
              <a:fillRect/>
            </a:stretch>
          </p:blipFill>
          <p:spPr>
            <a:xfrm>
              <a:off x="8196072" y="2404872"/>
              <a:ext cx="76200" cy="228600"/>
            </a:xfrm>
            <a:prstGeom prst="rect">
              <a:avLst/>
            </a:prstGeom>
          </p:spPr>
        </p:pic>
      </p:grpSp>
      <p:sp>
        <p:nvSpPr>
          <p:cNvPr id="88" name="object 88"/>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9" name="object 89"/>
          <p:cNvGrpSpPr/>
          <p:nvPr/>
        </p:nvGrpSpPr>
        <p:grpSpPr>
          <a:xfrm>
            <a:off x="3649980" y="1928309"/>
            <a:ext cx="5610225" cy="395567"/>
            <a:chOff x="2257044" y="2185416"/>
            <a:chExt cx="6358255" cy="448309"/>
          </a:xfrm>
        </p:grpSpPr>
        <p:pic>
          <p:nvPicPr>
            <p:cNvPr id="90" name="object 90"/>
            <p:cNvPicPr/>
            <p:nvPr/>
          </p:nvPicPr>
          <p:blipFill>
            <a:blip r:embed="rId5" cstate="print"/>
            <a:stretch>
              <a:fillRect/>
            </a:stretch>
          </p:blipFill>
          <p:spPr>
            <a:xfrm>
              <a:off x="8386571" y="2185416"/>
              <a:ext cx="228600" cy="76200"/>
            </a:xfrm>
            <a:prstGeom prst="rect">
              <a:avLst/>
            </a:prstGeom>
          </p:spPr>
        </p:pic>
        <p:pic>
          <p:nvPicPr>
            <p:cNvPr id="91" name="object 91"/>
            <p:cNvPicPr/>
            <p:nvPr/>
          </p:nvPicPr>
          <p:blipFill>
            <a:blip r:embed="rId2" cstate="print"/>
            <a:stretch>
              <a:fillRect/>
            </a:stretch>
          </p:blipFill>
          <p:spPr>
            <a:xfrm>
              <a:off x="7211567" y="2404872"/>
              <a:ext cx="76200" cy="228600"/>
            </a:xfrm>
            <a:prstGeom prst="rect">
              <a:avLst/>
            </a:prstGeom>
          </p:spPr>
        </p:pic>
        <p:pic>
          <p:nvPicPr>
            <p:cNvPr id="92" name="object 92"/>
            <p:cNvPicPr/>
            <p:nvPr/>
          </p:nvPicPr>
          <p:blipFill>
            <a:blip r:embed="rId3" cstate="print"/>
            <a:stretch>
              <a:fillRect/>
            </a:stretch>
          </p:blipFill>
          <p:spPr>
            <a:xfrm>
              <a:off x="6210300" y="2404872"/>
              <a:ext cx="76200" cy="228600"/>
            </a:xfrm>
            <a:prstGeom prst="rect">
              <a:avLst/>
            </a:prstGeom>
          </p:spPr>
        </p:pic>
        <p:pic>
          <p:nvPicPr>
            <p:cNvPr id="93" name="object 93"/>
            <p:cNvPicPr/>
            <p:nvPr/>
          </p:nvPicPr>
          <p:blipFill>
            <a:blip r:embed="rId6" cstate="print"/>
            <a:stretch>
              <a:fillRect/>
            </a:stretch>
          </p:blipFill>
          <p:spPr>
            <a:xfrm>
              <a:off x="4227576" y="2404872"/>
              <a:ext cx="76200" cy="228600"/>
            </a:xfrm>
            <a:prstGeom prst="rect">
              <a:avLst/>
            </a:prstGeom>
          </p:spPr>
        </p:pic>
        <p:pic>
          <p:nvPicPr>
            <p:cNvPr id="94" name="object 94"/>
            <p:cNvPicPr/>
            <p:nvPr/>
          </p:nvPicPr>
          <p:blipFill>
            <a:blip r:embed="rId3" cstate="print"/>
            <a:stretch>
              <a:fillRect/>
            </a:stretch>
          </p:blipFill>
          <p:spPr>
            <a:xfrm>
              <a:off x="3238499" y="2404872"/>
              <a:ext cx="76200" cy="228600"/>
            </a:xfrm>
            <a:prstGeom prst="rect">
              <a:avLst/>
            </a:prstGeom>
          </p:spPr>
        </p:pic>
        <p:pic>
          <p:nvPicPr>
            <p:cNvPr id="95" name="object 95"/>
            <p:cNvPicPr/>
            <p:nvPr/>
          </p:nvPicPr>
          <p:blipFill>
            <a:blip r:embed="rId2" cstate="print"/>
            <a:stretch>
              <a:fillRect/>
            </a:stretch>
          </p:blipFill>
          <p:spPr>
            <a:xfrm>
              <a:off x="2257044" y="2404872"/>
              <a:ext cx="76200" cy="228600"/>
            </a:xfrm>
            <a:prstGeom prst="rect">
              <a:avLst/>
            </a:prstGeom>
          </p:spPr>
        </p:pic>
      </p:grpSp>
      <p:sp>
        <p:nvSpPr>
          <p:cNvPr id="96" name="object 96"/>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480851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Text Placeholder 2"/>
          <p:cNvSpPr>
            <a:spLocks noGrp="1"/>
          </p:cNvSpPr>
          <p:nvPr>
            <p:ph type="body" idx="1"/>
          </p:nvPr>
        </p:nvSpPr>
        <p:spPr/>
        <p:txBody>
          <a:bodyPr/>
          <a:lstStyle/>
          <a:p>
            <a:r>
              <a:rPr lang="en-US" dirty="0"/>
              <a:t> </a:t>
            </a:r>
            <a:endParaRPr lang="en-IN" dirty="0"/>
          </a:p>
        </p:txBody>
      </p:sp>
      <p:pic>
        <p:nvPicPr>
          <p:cNvPr id="10" name="Picture 9"/>
          <p:cNvPicPr>
            <a:picLocks noChangeAspect="1"/>
          </p:cNvPicPr>
          <p:nvPr/>
        </p:nvPicPr>
        <p:blipFill>
          <a:blip r:embed="rId2"/>
          <a:stretch>
            <a:fillRect/>
          </a:stretch>
        </p:blipFill>
        <p:spPr>
          <a:xfrm>
            <a:off x="609600" y="1337200"/>
            <a:ext cx="10297111" cy="3981082"/>
          </a:xfrm>
          <a:prstGeom prst="rect">
            <a:avLst/>
          </a:prstGeom>
        </p:spPr>
      </p:pic>
    </p:spTree>
    <p:extLst>
      <p:ext uri="{BB962C8B-B14F-4D97-AF65-F5344CB8AC3E}">
        <p14:creationId xmlns:p14="http://schemas.microsoft.com/office/powerpoint/2010/main" val="166423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631141" cy="1413622"/>
            <a:chOff x="6099047" y="2906267"/>
            <a:chExt cx="298196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8330183" y="3547872"/>
              <a:ext cx="737870" cy="200025"/>
            </a:xfrm>
            <a:custGeom>
              <a:avLst/>
              <a:gdLst/>
              <a:ahLst/>
              <a:cxnLst/>
              <a:rect l="l" t="t" r="r" b="b"/>
              <a:pathLst>
                <a:path w="737870" h="200025">
                  <a:moveTo>
                    <a:pt x="100583" y="199643"/>
                  </a:moveTo>
                  <a:lnTo>
                    <a:pt x="0" y="99059"/>
                  </a:lnTo>
                  <a:lnTo>
                    <a:pt x="100583" y="0"/>
                  </a:lnTo>
                  <a:lnTo>
                    <a:pt x="100583" y="50291"/>
                  </a:lnTo>
                  <a:lnTo>
                    <a:pt x="737616" y="50291"/>
                  </a:lnTo>
                  <a:lnTo>
                    <a:pt x="737616" y="149351"/>
                  </a:lnTo>
                  <a:lnTo>
                    <a:pt x="100583" y="149351"/>
                  </a:lnTo>
                  <a:lnTo>
                    <a:pt x="100583" y="199643"/>
                  </a:lnTo>
                  <a:close/>
                </a:path>
              </a:pathLst>
            </a:custGeom>
            <a:solidFill>
              <a:srgbClr val="00AF50"/>
            </a:solidFill>
          </p:spPr>
          <p:txBody>
            <a:bodyPr wrap="square" lIns="0" tIns="0" rIns="0" bIns="0" rtlCol="0"/>
            <a:lstStyle/>
            <a:p>
              <a:endParaRPr sz="1588"/>
            </a:p>
          </p:txBody>
        </p:sp>
        <p:sp>
          <p:nvSpPr>
            <p:cNvPr id="66" name="object 66"/>
            <p:cNvSpPr/>
            <p:nvPr/>
          </p:nvSpPr>
          <p:spPr>
            <a:xfrm>
              <a:off x="8330183" y="3547872"/>
              <a:ext cx="737870" cy="200025"/>
            </a:xfrm>
            <a:custGeom>
              <a:avLst/>
              <a:gdLst/>
              <a:ahLst/>
              <a:cxnLst/>
              <a:rect l="l" t="t" r="r" b="b"/>
              <a:pathLst>
                <a:path w="737870" h="200025">
                  <a:moveTo>
                    <a:pt x="0" y="99059"/>
                  </a:moveTo>
                  <a:lnTo>
                    <a:pt x="100583" y="0"/>
                  </a:lnTo>
                  <a:lnTo>
                    <a:pt x="100583" y="50291"/>
                  </a:lnTo>
                  <a:lnTo>
                    <a:pt x="737616" y="50291"/>
                  </a:lnTo>
                  <a:lnTo>
                    <a:pt x="737616" y="149351"/>
                  </a:lnTo>
                  <a:lnTo>
                    <a:pt x="100583" y="149351"/>
                  </a:lnTo>
                  <a:lnTo>
                    <a:pt x="100583" y="199643"/>
                  </a:lnTo>
                  <a:lnTo>
                    <a:pt x="0" y="99059"/>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56" name="object 156"/>
          <p:cNvGrpSpPr/>
          <p:nvPr/>
        </p:nvGrpSpPr>
        <p:grpSpPr>
          <a:xfrm>
            <a:off x="3543692" y="1832778"/>
            <a:ext cx="5516096" cy="491378"/>
            <a:chOff x="2136584" y="2077148"/>
            <a:chExt cx="6251575" cy="556895"/>
          </a:xfrm>
        </p:grpSpPr>
        <p:sp>
          <p:nvSpPr>
            <p:cNvPr id="157" name="object 157"/>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58" name="object 158"/>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59" name="object 159"/>
            <p:cNvPicPr/>
            <p:nvPr/>
          </p:nvPicPr>
          <p:blipFill>
            <a:blip r:embed="rId2" cstate="print"/>
            <a:stretch>
              <a:fillRect/>
            </a:stretch>
          </p:blipFill>
          <p:spPr>
            <a:xfrm>
              <a:off x="8196072" y="2404872"/>
              <a:ext cx="76200" cy="228600"/>
            </a:xfrm>
            <a:prstGeom prst="rect">
              <a:avLst/>
            </a:prstGeom>
          </p:spPr>
        </p:pic>
      </p:grpSp>
      <p:sp>
        <p:nvSpPr>
          <p:cNvPr id="160" name="object 160"/>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61" name="object 161"/>
          <p:cNvGrpSpPr/>
          <p:nvPr/>
        </p:nvGrpSpPr>
        <p:grpSpPr>
          <a:xfrm>
            <a:off x="3649980" y="1928309"/>
            <a:ext cx="5610225" cy="395567"/>
            <a:chOff x="2257044" y="2185416"/>
            <a:chExt cx="6358255" cy="448309"/>
          </a:xfrm>
        </p:grpSpPr>
        <p:pic>
          <p:nvPicPr>
            <p:cNvPr id="162" name="object 162"/>
            <p:cNvPicPr/>
            <p:nvPr/>
          </p:nvPicPr>
          <p:blipFill>
            <a:blip r:embed="rId5" cstate="print"/>
            <a:stretch>
              <a:fillRect/>
            </a:stretch>
          </p:blipFill>
          <p:spPr>
            <a:xfrm>
              <a:off x="8386571" y="2185416"/>
              <a:ext cx="228600" cy="76200"/>
            </a:xfrm>
            <a:prstGeom prst="rect">
              <a:avLst/>
            </a:prstGeom>
          </p:spPr>
        </p:pic>
        <p:pic>
          <p:nvPicPr>
            <p:cNvPr id="163" name="object 163"/>
            <p:cNvPicPr/>
            <p:nvPr/>
          </p:nvPicPr>
          <p:blipFill>
            <a:blip r:embed="rId2" cstate="print"/>
            <a:stretch>
              <a:fillRect/>
            </a:stretch>
          </p:blipFill>
          <p:spPr>
            <a:xfrm>
              <a:off x="7211567" y="2404872"/>
              <a:ext cx="76200" cy="228600"/>
            </a:xfrm>
            <a:prstGeom prst="rect">
              <a:avLst/>
            </a:prstGeom>
          </p:spPr>
        </p:pic>
        <p:pic>
          <p:nvPicPr>
            <p:cNvPr id="164" name="object 164"/>
            <p:cNvPicPr/>
            <p:nvPr/>
          </p:nvPicPr>
          <p:blipFill>
            <a:blip r:embed="rId3" cstate="print"/>
            <a:stretch>
              <a:fillRect/>
            </a:stretch>
          </p:blipFill>
          <p:spPr>
            <a:xfrm>
              <a:off x="6210300" y="2404872"/>
              <a:ext cx="76200" cy="228600"/>
            </a:xfrm>
            <a:prstGeom prst="rect">
              <a:avLst/>
            </a:prstGeom>
          </p:spPr>
        </p:pic>
        <p:pic>
          <p:nvPicPr>
            <p:cNvPr id="165" name="object 165"/>
            <p:cNvPicPr/>
            <p:nvPr/>
          </p:nvPicPr>
          <p:blipFill>
            <a:blip r:embed="rId6" cstate="print"/>
            <a:stretch>
              <a:fillRect/>
            </a:stretch>
          </p:blipFill>
          <p:spPr>
            <a:xfrm>
              <a:off x="4227576" y="2404872"/>
              <a:ext cx="76200" cy="228600"/>
            </a:xfrm>
            <a:prstGeom prst="rect">
              <a:avLst/>
            </a:prstGeom>
          </p:spPr>
        </p:pic>
        <p:pic>
          <p:nvPicPr>
            <p:cNvPr id="166" name="object 166"/>
            <p:cNvPicPr/>
            <p:nvPr/>
          </p:nvPicPr>
          <p:blipFill>
            <a:blip r:embed="rId3" cstate="print"/>
            <a:stretch>
              <a:fillRect/>
            </a:stretch>
          </p:blipFill>
          <p:spPr>
            <a:xfrm>
              <a:off x="3238499" y="2404872"/>
              <a:ext cx="76200" cy="228600"/>
            </a:xfrm>
            <a:prstGeom prst="rect">
              <a:avLst/>
            </a:prstGeom>
          </p:spPr>
        </p:pic>
        <p:pic>
          <p:nvPicPr>
            <p:cNvPr id="167" name="object 167"/>
            <p:cNvPicPr/>
            <p:nvPr/>
          </p:nvPicPr>
          <p:blipFill>
            <a:blip r:embed="rId2" cstate="print"/>
            <a:stretch>
              <a:fillRect/>
            </a:stretch>
          </p:blipFill>
          <p:spPr>
            <a:xfrm>
              <a:off x="2257044" y="2404872"/>
              <a:ext cx="76200" cy="228600"/>
            </a:xfrm>
            <a:prstGeom prst="rect">
              <a:avLst/>
            </a:prstGeom>
          </p:spPr>
        </p:pic>
      </p:grpSp>
      <p:sp>
        <p:nvSpPr>
          <p:cNvPr id="168" name="object 168"/>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3816247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9221"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654113" cy="1413622"/>
            <a:chOff x="6099047" y="2906267"/>
            <a:chExt cx="3007995"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8956" y="164591"/>
                  </a:lnTo>
                  <a:lnTo>
                    <a:pt x="24384" y="173735"/>
                  </a:lnTo>
                  <a:lnTo>
                    <a:pt x="19812"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193547" y="9143"/>
                  </a:lnTo>
                  <a:lnTo>
                    <a:pt x="204216" y="6095"/>
                  </a:lnTo>
                  <a:lnTo>
                    <a:pt x="216408" y="3047"/>
                  </a:lnTo>
                  <a:lnTo>
                    <a:pt x="240792" y="0"/>
                  </a:lnTo>
                  <a:lnTo>
                    <a:pt x="251459" y="0"/>
                  </a:lnTo>
                  <a:lnTo>
                    <a:pt x="288035" y="4571"/>
                  </a:lnTo>
                  <a:lnTo>
                    <a:pt x="312420" y="13715"/>
                  </a:lnTo>
                  <a:lnTo>
                    <a:pt x="230123" y="13715"/>
                  </a:lnTo>
                  <a:lnTo>
                    <a:pt x="219456" y="15239"/>
                  </a:lnTo>
                  <a:lnTo>
                    <a:pt x="164592" y="3200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8356092" y="3886200"/>
              <a:ext cx="737870" cy="201295"/>
            </a:xfrm>
            <a:custGeom>
              <a:avLst/>
              <a:gdLst/>
              <a:ahLst/>
              <a:cxnLst/>
              <a:rect l="l" t="t" r="r" b="b"/>
              <a:pathLst>
                <a:path w="737870" h="201295">
                  <a:moveTo>
                    <a:pt x="100583" y="201167"/>
                  </a:moveTo>
                  <a:lnTo>
                    <a:pt x="0" y="100583"/>
                  </a:lnTo>
                  <a:lnTo>
                    <a:pt x="100583" y="0"/>
                  </a:lnTo>
                  <a:lnTo>
                    <a:pt x="100583" y="50291"/>
                  </a:lnTo>
                  <a:lnTo>
                    <a:pt x="737615" y="50291"/>
                  </a:lnTo>
                  <a:lnTo>
                    <a:pt x="737615" y="150875"/>
                  </a:lnTo>
                  <a:lnTo>
                    <a:pt x="100583" y="150875"/>
                  </a:lnTo>
                  <a:lnTo>
                    <a:pt x="100583" y="201167"/>
                  </a:lnTo>
                  <a:close/>
                </a:path>
              </a:pathLst>
            </a:custGeom>
            <a:solidFill>
              <a:srgbClr val="00AF50"/>
            </a:solidFill>
          </p:spPr>
          <p:txBody>
            <a:bodyPr wrap="square" lIns="0" tIns="0" rIns="0" bIns="0" rtlCol="0"/>
            <a:lstStyle/>
            <a:p>
              <a:endParaRPr sz="1588"/>
            </a:p>
          </p:txBody>
        </p:sp>
        <p:sp>
          <p:nvSpPr>
            <p:cNvPr id="66" name="object 66"/>
            <p:cNvSpPr/>
            <p:nvPr/>
          </p:nvSpPr>
          <p:spPr>
            <a:xfrm>
              <a:off x="8356092" y="3886200"/>
              <a:ext cx="737870" cy="201295"/>
            </a:xfrm>
            <a:custGeom>
              <a:avLst/>
              <a:gdLst/>
              <a:ahLst/>
              <a:cxnLst/>
              <a:rect l="l" t="t" r="r" b="b"/>
              <a:pathLst>
                <a:path w="737870" h="201295">
                  <a:moveTo>
                    <a:pt x="0" y="100583"/>
                  </a:moveTo>
                  <a:lnTo>
                    <a:pt x="100583" y="0"/>
                  </a:lnTo>
                  <a:lnTo>
                    <a:pt x="100583" y="50291"/>
                  </a:lnTo>
                  <a:lnTo>
                    <a:pt x="737615" y="50291"/>
                  </a:lnTo>
                  <a:lnTo>
                    <a:pt x="737615" y="150875"/>
                  </a:lnTo>
                  <a:lnTo>
                    <a:pt x="100583" y="150875"/>
                  </a:lnTo>
                  <a:lnTo>
                    <a:pt x="100583" y="201167"/>
                  </a:lnTo>
                  <a:lnTo>
                    <a:pt x="0" y="100583"/>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3670"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9678" y="3996034"/>
            <a:ext cx="392206"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3825" y="3996034"/>
            <a:ext cx="392206"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9433" y="3996034"/>
            <a:ext cx="392206"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80749" y="3996034"/>
            <a:ext cx="717737"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 </a:t>
            </a:r>
            <a:r>
              <a:rPr sz="1412" spc="-4" dirty="0">
                <a:latin typeface="Cambria Math"/>
                <a:cs typeface="Cambria Math"/>
              </a:rPr>
              <a:t>−</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76" name="object 76"/>
          <p:cNvSpPr txBox="1"/>
          <p:nvPr/>
        </p:nvSpPr>
        <p:spPr>
          <a:xfrm>
            <a:off x="7753664" y="3996034"/>
            <a:ext cx="717737"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spc="-4" dirty="0">
                <a:latin typeface="Cambria Math"/>
                <a:cs typeface="Cambria Math"/>
              </a:rPr>
              <a:t> −</a:t>
            </a:r>
            <a:r>
              <a:rPr sz="1412" spc="-18"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77" name="object 77"/>
          <p:cNvSpPr txBox="1"/>
          <p:nvPr/>
        </p:nvSpPr>
        <p:spPr>
          <a:xfrm>
            <a:off x="8730156" y="3996034"/>
            <a:ext cx="401170" cy="228054"/>
          </a:xfrm>
          <a:prstGeom prst="rect">
            <a:avLst/>
          </a:prstGeom>
        </p:spPr>
        <p:txBody>
          <a:bodyPr vert="horz" wrap="square" lIns="0" tIns="10646" rIns="0" bIns="0" rtlCol="0">
            <a:spAutoFit/>
          </a:bodyPr>
          <a:lstStyle/>
          <a:p>
            <a:pPr marL="11206">
              <a:spcBef>
                <a:spcPts val="84"/>
              </a:spcBef>
            </a:pPr>
            <a:r>
              <a:rPr sz="1412" spc="26" dirty="0">
                <a:latin typeface="Cambria Math"/>
                <a:cs typeface="Cambria Math"/>
              </a:rPr>
              <a:t>𝑋</a:t>
            </a:r>
            <a:r>
              <a:rPr sz="1412" dirty="0">
                <a:latin typeface="Cambria Math"/>
                <a:cs typeface="Cambria Math"/>
              </a:rPr>
              <a:t>(</a:t>
            </a:r>
            <a:r>
              <a:rPr sz="1412" spc="13"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3695" y="2284172"/>
            <a:ext cx="383241" cy="228054"/>
          </a:xfrm>
          <a:prstGeom prst="rect">
            <a:avLst/>
          </a:prstGeom>
        </p:spPr>
        <p:txBody>
          <a:bodyPr vert="horz" wrap="square" lIns="0" tIns="10646" rIns="0" bIns="0" rtlCol="0">
            <a:spAutoFit/>
          </a:bodyPr>
          <a:lstStyle/>
          <a:p>
            <a:pPr marL="11206">
              <a:spcBef>
                <a:spcPts val="84"/>
              </a:spcBef>
            </a:pPr>
            <a:r>
              <a:rPr sz="1412" spc="31" dirty="0">
                <a:latin typeface="Cambria Math"/>
                <a:cs typeface="Cambria Math"/>
              </a:rPr>
              <a:t>𝑌</a:t>
            </a:r>
            <a:r>
              <a:rPr sz="1412" dirty="0">
                <a:latin typeface="Cambria Math"/>
                <a:cs typeface="Cambria Math"/>
              </a:rPr>
              <a:t>(</a:t>
            </a:r>
            <a:r>
              <a:rPr sz="1412" spc="-13"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7842" y="2284172"/>
            <a:ext cx="383241" cy="228054"/>
          </a:xfrm>
          <a:prstGeom prst="rect">
            <a:avLst/>
          </a:prstGeom>
        </p:spPr>
        <p:txBody>
          <a:bodyPr vert="horz" wrap="square" lIns="0" tIns="10646" rIns="0" bIns="0" rtlCol="0">
            <a:spAutoFit/>
          </a:bodyPr>
          <a:lstStyle/>
          <a:p>
            <a:pPr marL="11206">
              <a:spcBef>
                <a:spcPts val="84"/>
              </a:spcBef>
            </a:pPr>
            <a:r>
              <a:rPr sz="1412" spc="31" dirty="0">
                <a:latin typeface="Cambria Math"/>
                <a:cs typeface="Cambria Math"/>
              </a:rPr>
              <a:t>𝑌</a:t>
            </a:r>
            <a:r>
              <a:rPr sz="1412" dirty="0">
                <a:latin typeface="Cambria Math"/>
                <a:cs typeface="Cambria Math"/>
              </a:rPr>
              <a:t>(</a:t>
            </a:r>
            <a:r>
              <a:rPr sz="1412" spc="-13"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3451" y="2284172"/>
            <a:ext cx="384922"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4766" y="2284172"/>
            <a:ext cx="708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7681" y="2284172"/>
            <a:ext cx="706531" cy="228054"/>
          </a:xfrm>
          <a:prstGeom prst="rect">
            <a:avLst/>
          </a:prstGeom>
        </p:spPr>
        <p:txBody>
          <a:bodyPr vert="horz" wrap="square" lIns="0" tIns="10646" rIns="0" bIns="0" rtlCol="0">
            <a:spAutoFit/>
          </a:bodyPr>
          <a:lstStyle/>
          <a:p>
            <a:pPr marL="11206">
              <a:spcBef>
                <a:spcPts val="84"/>
              </a:spcBef>
            </a:pPr>
            <a:r>
              <a:rPr sz="1412" spc="4" dirty="0">
                <a:latin typeface="Cambria Math"/>
                <a:cs typeface="Cambria Math"/>
              </a:rPr>
              <a:t>𝑌(𝑇</a:t>
            </a:r>
            <a:r>
              <a:rPr sz="1412" spc="9" dirty="0">
                <a:latin typeface="Cambria Math"/>
                <a:cs typeface="Cambria Math"/>
              </a:rPr>
              <a:t> </a:t>
            </a:r>
            <a:r>
              <a:rPr sz="1412" spc="-4" dirty="0">
                <a:latin typeface="Cambria Math"/>
                <a:cs typeface="Cambria Math"/>
              </a:rPr>
              <a:t>−</a:t>
            </a:r>
            <a:r>
              <a:rPr sz="1412" spc="-31"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83" name="object 83"/>
          <p:cNvSpPr txBox="1"/>
          <p:nvPr/>
        </p:nvSpPr>
        <p:spPr>
          <a:xfrm>
            <a:off x="8734173" y="2284172"/>
            <a:ext cx="393887" cy="228054"/>
          </a:xfrm>
          <a:prstGeom prst="rect">
            <a:avLst/>
          </a:prstGeom>
        </p:spPr>
        <p:txBody>
          <a:bodyPr vert="horz" wrap="square" lIns="0" tIns="10646" rIns="0" bIns="0" rtlCol="0">
            <a:spAutoFit/>
          </a:bodyPr>
          <a:lstStyle/>
          <a:p>
            <a:pPr marL="11206">
              <a:spcBef>
                <a:spcPts val="84"/>
              </a:spcBef>
            </a:pPr>
            <a:r>
              <a:rPr sz="1412" spc="31" dirty="0">
                <a:latin typeface="Cambria Math"/>
                <a:cs typeface="Cambria Math"/>
              </a:rPr>
              <a:t>𝑌</a:t>
            </a:r>
            <a:r>
              <a:rPr sz="1412" spc="-13" dirty="0">
                <a:latin typeface="Cambria Math"/>
                <a:cs typeface="Cambria Math"/>
              </a:rPr>
              <a:t>(</a:t>
            </a:r>
            <a:r>
              <a:rPr sz="1412" spc="26"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77" name="object 177"/>
          <p:cNvGrpSpPr/>
          <p:nvPr/>
        </p:nvGrpSpPr>
        <p:grpSpPr>
          <a:xfrm>
            <a:off x="3543692" y="1832778"/>
            <a:ext cx="5516096" cy="491378"/>
            <a:chOff x="2136584" y="2077148"/>
            <a:chExt cx="6251575" cy="556895"/>
          </a:xfrm>
        </p:grpSpPr>
        <p:sp>
          <p:nvSpPr>
            <p:cNvPr id="178" name="object 178"/>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79" name="object 179"/>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80" name="object 180"/>
            <p:cNvPicPr/>
            <p:nvPr/>
          </p:nvPicPr>
          <p:blipFill>
            <a:blip r:embed="rId2" cstate="print"/>
            <a:stretch>
              <a:fillRect/>
            </a:stretch>
          </p:blipFill>
          <p:spPr>
            <a:xfrm>
              <a:off x="8196072" y="2404872"/>
              <a:ext cx="76200" cy="228600"/>
            </a:xfrm>
            <a:prstGeom prst="rect">
              <a:avLst/>
            </a:prstGeom>
          </p:spPr>
        </p:pic>
      </p:grpSp>
      <p:sp>
        <p:nvSpPr>
          <p:cNvPr id="181" name="object 181"/>
          <p:cNvSpPr txBox="1"/>
          <p:nvPr/>
        </p:nvSpPr>
        <p:spPr>
          <a:xfrm>
            <a:off x="9238124" y="1855224"/>
            <a:ext cx="644338" cy="228054"/>
          </a:xfrm>
          <a:prstGeom prst="rect">
            <a:avLst/>
          </a:prstGeom>
        </p:spPr>
        <p:txBody>
          <a:bodyPr vert="horz" wrap="square" lIns="0" tIns="10646" rIns="0" bIns="0" rtlCol="0">
            <a:spAutoFit/>
          </a:bodyPr>
          <a:lstStyle/>
          <a:p>
            <a:pPr marL="11206">
              <a:spcBef>
                <a:spcPts val="84"/>
              </a:spcBef>
            </a:pPr>
            <a:r>
              <a:rPr sz="1412" spc="49"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79" dirty="0">
                <a:latin typeface="Cambria Math"/>
                <a:cs typeface="Cambria Math"/>
              </a:rPr>
              <a:t> </a:t>
            </a:r>
            <a:r>
              <a:rPr sz="1412" spc="26"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82" name="object 182"/>
          <p:cNvGrpSpPr/>
          <p:nvPr/>
        </p:nvGrpSpPr>
        <p:grpSpPr>
          <a:xfrm>
            <a:off x="3649980" y="1928309"/>
            <a:ext cx="5610225" cy="395567"/>
            <a:chOff x="2257044" y="2185416"/>
            <a:chExt cx="6358255" cy="448309"/>
          </a:xfrm>
        </p:grpSpPr>
        <p:pic>
          <p:nvPicPr>
            <p:cNvPr id="183" name="object 183"/>
            <p:cNvPicPr/>
            <p:nvPr/>
          </p:nvPicPr>
          <p:blipFill>
            <a:blip r:embed="rId5" cstate="print"/>
            <a:stretch>
              <a:fillRect/>
            </a:stretch>
          </p:blipFill>
          <p:spPr>
            <a:xfrm>
              <a:off x="8386571" y="2185416"/>
              <a:ext cx="228600" cy="76200"/>
            </a:xfrm>
            <a:prstGeom prst="rect">
              <a:avLst/>
            </a:prstGeom>
          </p:spPr>
        </p:pic>
        <p:pic>
          <p:nvPicPr>
            <p:cNvPr id="184" name="object 184"/>
            <p:cNvPicPr/>
            <p:nvPr/>
          </p:nvPicPr>
          <p:blipFill>
            <a:blip r:embed="rId2" cstate="print"/>
            <a:stretch>
              <a:fillRect/>
            </a:stretch>
          </p:blipFill>
          <p:spPr>
            <a:xfrm>
              <a:off x="7211567" y="2404872"/>
              <a:ext cx="76200" cy="228600"/>
            </a:xfrm>
            <a:prstGeom prst="rect">
              <a:avLst/>
            </a:prstGeom>
          </p:spPr>
        </p:pic>
        <p:pic>
          <p:nvPicPr>
            <p:cNvPr id="185" name="object 185"/>
            <p:cNvPicPr/>
            <p:nvPr/>
          </p:nvPicPr>
          <p:blipFill>
            <a:blip r:embed="rId3" cstate="print"/>
            <a:stretch>
              <a:fillRect/>
            </a:stretch>
          </p:blipFill>
          <p:spPr>
            <a:xfrm>
              <a:off x="6210300" y="2404872"/>
              <a:ext cx="76200" cy="228600"/>
            </a:xfrm>
            <a:prstGeom prst="rect">
              <a:avLst/>
            </a:prstGeom>
          </p:spPr>
        </p:pic>
        <p:pic>
          <p:nvPicPr>
            <p:cNvPr id="186" name="object 186"/>
            <p:cNvPicPr/>
            <p:nvPr/>
          </p:nvPicPr>
          <p:blipFill>
            <a:blip r:embed="rId6" cstate="print"/>
            <a:stretch>
              <a:fillRect/>
            </a:stretch>
          </p:blipFill>
          <p:spPr>
            <a:xfrm>
              <a:off x="4227576" y="2404872"/>
              <a:ext cx="76200" cy="228600"/>
            </a:xfrm>
            <a:prstGeom prst="rect">
              <a:avLst/>
            </a:prstGeom>
          </p:spPr>
        </p:pic>
        <p:pic>
          <p:nvPicPr>
            <p:cNvPr id="187" name="object 187"/>
            <p:cNvPicPr/>
            <p:nvPr/>
          </p:nvPicPr>
          <p:blipFill>
            <a:blip r:embed="rId3" cstate="print"/>
            <a:stretch>
              <a:fillRect/>
            </a:stretch>
          </p:blipFill>
          <p:spPr>
            <a:xfrm>
              <a:off x="3238499" y="2404872"/>
              <a:ext cx="76200" cy="228600"/>
            </a:xfrm>
            <a:prstGeom prst="rect">
              <a:avLst/>
            </a:prstGeom>
          </p:spPr>
        </p:pic>
        <p:pic>
          <p:nvPicPr>
            <p:cNvPr id="188" name="object 188"/>
            <p:cNvPicPr/>
            <p:nvPr/>
          </p:nvPicPr>
          <p:blipFill>
            <a:blip r:embed="rId2" cstate="print"/>
            <a:stretch>
              <a:fillRect/>
            </a:stretch>
          </p:blipFill>
          <p:spPr>
            <a:xfrm>
              <a:off x="2257044" y="2404872"/>
              <a:ext cx="76200" cy="228600"/>
            </a:xfrm>
            <a:prstGeom prst="rect">
              <a:avLst/>
            </a:prstGeom>
          </p:spPr>
        </p:pic>
      </p:grpSp>
      <p:sp>
        <p:nvSpPr>
          <p:cNvPr id="189" name="object 189"/>
          <p:cNvSpPr txBox="1"/>
          <p:nvPr/>
        </p:nvSpPr>
        <p:spPr>
          <a:xfrm>
            <a:off x="587902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2380909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565026" cy="1413622"/>
            <a:chOff x="6099047" y="2906267"/>
            <a:chExt cx="290703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4" cstate="print"/>
            <a:stretch>
              <a:fillRect/>
            </a:stretch>
          </p:blipFill>
          <p:spPr>
            <a:xfrm>
              <a:off x="8191499" y="3973067"/>
              <a:ext cx="85344"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8255507" y="4000500"/>
              <a:ext cx="737870" cy="201295"/>
            </a:xfrm>
            <a:custGeom>
              <a:avLst/>
              <a:gdLst/>
              <a:ahLst/>
              <a:cxnLst/>
              <a:rect l="l" t="t" r="r" b="b"/>
              <a:pathLst>
                <a:path w="737870" h="201295">
                  <a:moveTo>
                    <a:pt x="100584" y="201167"/>
                  </a:moveTo>
                  <a:lnTo>
                    <a:pt x="0" y="100583"/>
                  </a:lnTo>
                  <a:lnTo>
                    <a:pt x="100584" y="0"/>
                  </a:lnTo>
                  <a:lnTo>
                    <a:pt x="100584" y="50291"/>
                  </a:lnTo>
                  <a:lnTo>
                    <a:pt x="737616" y="50291"/>
                  </a:lnTo>
                  <a:lnTo>
                    <a:pt x="737616" y="150875"/>
                  </a:lnTo>
                  <a:lnTo>
                    <a:pt x="100584" y="150875"/>
                  </a:lnTo>
                  <a:lnTo>
                    <a:pt x="100584" y="201167"/>
                  </a:lnTo>
                  <a:close/>
                </a:path>
              </a:pathLst>
            </a:custGeom>
            <a:solidFill>
              <a:srgbClr val="00AF50"/>
            </a:solidFill>
          </p:spPr>
          <p:txBody>
            <a:bodyPr wrap="square" lIns="0" tIns="0" rIns="0" bIns="0" rtlCol="0"/>
            <a:lstStyle/>
            <a:p>
              <a:endParaRPr sz="1588"/>
            </a:p>
          </p:txBody>
        </p:sp>
        <p:sp>
          <p:nvSpPr>
            <p:cNvPr id="66" name="object 66"/>
            <p:cNvSpPr/>
            <p:nvPr/>
          </p:nvSpPr>
          <p:spPr>
            <a:xfrm>
              <a:off x="8255507" y="4000500"/>
              <a:ext cx="737870" cy="201295"/>
            </a:xfrm>
            <a:custGeom>
              <a:avLst/>
              <a:gdLst/>
              <a:ahLst/>
              <a:cxnLst/>
              <a:rect l="l" t="t" r="r" b="b"/>
              <a:pathLst>
                <a:path w="737870" h="201295">
                  <a:moveTo>
                    <a:pt x="0" y="100583"/>
                  </a:moveTo>
                  <a:lnTo>
                    <a:pt x="100584" y="0"/>
                  </a:lnTo>
                  <a:lnTo>
                    <a:pt x="100584" y="50291"/>
                  </a:lnTo>
                  <a:lnTo>
                    <a:pt x="737616" y="50291"/>
                  </a:lnTo>
                  <a:lnTo>
                    <a:pt x="737616" y="150875"/>
                  </a:lnTo>
                  <a:lnTo>
                    <a:pt x="100584" y="150875"/>
                  </a:lnTo>
                  <a:lnTo>
                    <a:pt x="100584" y="201167"/>
                  </a:lnTo>
                  <a:lnTo>
                    <a:pt x="0" y="100583"/>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06" name="object 106"/>
          <p:cNvGrpSpPr/>
          <p:nvPr/>
        </p:nvGrpSpPr>
        <p:grpSpPr>
          <a:xfrm>
            <a:off x="3543692" y="1832778"/>
            <a:ext cx="5516096" cy="491378"/>
            <a:chOff x="2136584" y="2077148"/>
            <a:chExt cx="6251575" cy="556895"/>
          </a:xfrm>
        </p:grpSpPr>
        <p:sp>
          <p:nvSpPr>
            <p:cNvPr id="107" name="object 107"/>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08" name="object 108"/>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09" name="object 109"/>
            <p:cNvPicPr/>
            <p:nvPr/>
          </p:nvPicPr>
          <p:blipFill>
            <a:blip r:embed="rId2" cstate="print"/>
            <a:stretch>
              <a:fillRect/>
            </a:stretch>
          </p:blipFill>
          <p:spPr>
            <a:xfrm>
              <a:off x="8196072" y="2404872"/>
              <a:ext cx="76200" cy="228600"/>
            </a:xfrm>
            <a:prstGeom prst="rect">
              <a:avLst/>
            </a:prstGeom>
          </p:spPr>
        </p:pic>
      </p:grpSp>
      <p:sp>
        <p:nvSpPr>
          <p:cNvPr id="110" name="object 110"/>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11" name="object 111"/>
          <p:cNvGrpSpPr/>
          <p:nvPr/>
        </p:nvGrpSpPr>
        <p:grpSpPr>
          <a:xfrm>
            <a:off x="3649980" y="1928309"/>
            <a:ext cx="5610225" cy="395567"/>
            <a:chOff x="2257044" y="2185416"/>
            <a:chExt cx="6358255" cy="448309"/>
          </a:xfrm>
        </p:grpSpPr>
        <p:pic>
          <p:nvPicPr>
            <p:cNvPr id="112" name="object 112"/>
            <p:cNvPicPr/>
            <p:nvPr/>
          </p:nvPicPr>
          <p:blipFill>
            <a:blip r:embed="rId6" cstate="print"/>
            <a:stretch>
              <a:fillRect/>
            </a:stretch>
          </p:blipFill>
          <p:spPr>
            <a:xfrm>
              <a:off x="8386571" y="2185416"/>
              <a:ext cx="228600" cy="76200"/>
            </a:xfrm>
            <a:prstGeom prst="rect">
              <a:avLst/>
            </a:prstGeom>
          </p:spPr>
        </p:pic>
        <p:pic>
          <p:nvPicPr>
            <p:cNvPr id="113" name="object 113"/>
            <p:cNvPicPr/>
            <p:nvPr/>
          </p:nvPicPr>
          <p:blipFill>
            <a:blip r:embed="rId2" cstate="print"/>
            <a:stretch>
              <a:fillRect/>
            </a:stretch>
          </p:blipFill>
          <p:spPr>
            <a:xfrm>
              <a:off x="7211567" y="2404872"/>
              <a:ext cx="76200" cy="228600"/>
            </a:xfrm>
            <a:prstGeom prst="rect">
              <a:avLst/>
            </a:prstGeom>
          </p:spPr>
        </p:pic>
        <p:pic>
          <p:nvPicPr>
            <p:cNvPr id="114" name="object 114"/>
            <p:cNvPicPr/>
            <p:nvPr/>
          </p:nvPicPr>
          <p:blipFill>
            <a:blip r:embed="rId3" cstate="print"/>
            <a:stretch>
              <a:fillRect/>
            </a:stretch>
          </p:blipFill>
          <p:spPr>
            <a:xfrm>
              <a:off x="6210300" y="2404872"/>
              <a:ext cx="76200" cy="228600"/>
            </a:xfrm>
            <a:prstGeom prst="rect">
              <a:avLst/>
            </a:prstGeom>
          </p:spPr>
        </p:pic>
        <p:pic>
          <p:nvPicPr>
            <p:cNvPr id="115" name="object 115"/>
            <p:cNvPicPr/>
            <p:nvPr/>
          </p:nvPicPr>
          <p:blipFill>
            <a:blip r:embed="rId7" cstate="print"/>
            <a:stretch>
              <a:fillRect/>
            </a:stretch>
          </p:blipFill>
          <p:spPr>
            <a:xfrm>
              <a:off x="4227576" y="2404872"/>
              <a:ext cx="76200" cy="228600"/>
            </a:xfrm>
            <a:prstGeom prst="rect">
              <a:avLst/>
            </a:prstGeom>
          </p:spPr>
        </p:pic>
        <p:pic>
          <p:nvPicPr>
            <p:cNvPr id="116" name="object 116"/>
            <p:cNvPicPr/>
            <p:nvPr/>
          </p:nvPicPr>
          <p:blipFill>
            <a:blip r:embed="rId3" cstate="print"/>
            <a:stretch>
              <a:fillRect/>
            </a:stretch>
          </p:blipFill>
          <p:spPr>
            <a:xfrm>
              <a:off x="3238499" y="2404872"/>
              <a:ext cx="76200" cy="228600"/>
            </a:xfrm>
            <a:prstGeom prst="rect">
              <a:avLst/>
            </a:prstGeom>
          </p:spPr>
        </p:pic>
        <p:pic>
          <p:nvPicPr>
            <p:cNvPr id="117" name="object 117"/>
            <p:cNvPicPr/>
            <p:nvPr/>
          </p:nvPicPr>
          <p:blipFill>
            <a:blip r:embed="rId2" cstate="print"/>
            <a:stretch>
              <a:fillRect/>
            </a:stretch>
          </p:blipFill>
          <p:spPr>
            <a:xfrm>
              <a:off x="2257044" y="2404872"/>
              <a:ext cx="76200" cy="228600"/>
            </a:xfrm>
            <a:prstGeom prst="rect">
              <a:avLst/>
            </a:prstGeom>
          </p:spPr>
        </p:pic>
      </p:grpSp>
      <p:sp>
        <p:nvSpPr>
          <p:cNvPr id="118" name="object 118"/>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2633381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698376" cy="1413622"/>
            <a:chOff x="6099047" y="2906267"/>
            <a:chExt cx="305816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BF0000"/>
            </a:solidFill>
          </p:spPr>
          <p:txBody>
            <a:bodyPr wrap="square" lIns="0" tIns="0" rIns="0" bIns="0" rtlCol="0"/>
            <a:lstStyle/>
            <a:p>
              <a:endParaRPr sz="1588"/>
            </a:p>
          </p:txBody>
        </p:sp>
        <p:sp>
          <p:nvSpPr>
            <p:cNvPr id="65" name="object 65"/>
            <p:cNvSpPr/>
            <p:nvPr/>
          </p:nvSpPr>
          <p:spPr>
            <a:xfrm>
              <a:off x="7712964" y="3515867"/>
              <a:ext cx="1431290" cy="178435"/>
            </a:xfrm>
            <a:custGeom>
              <a:avLst/>
              <a:gdLst/>
              <a:ahLst/>
              <a:cxnLst/>
              <a:rect l="l" t="t" r="r" b="b"/>
              <a:pathLst>
                <a:path w="1431290" h="178435">
                  <a:moveTo>
                    <a:pt x="88391" y="178308"/>
                  </a:moveTo>
                  <a:lnTo>
                    <a:pt x="0" y="89916"/>
                  </a:lnTo>
                  <a:lnTo>
                    <a:pt x="88391" y="0"/>
                  </a:lnTo>
                  <a:lnTo>
                    <a:pt x="88391" y="45720"/>
                  </a:lnTo>
                  <a:lnTo>
                    <a:pt x="1431035" y="45720"/>
                  </a:lnTo>
                  <a:lnTo>
                    <a:pt x="1431035" y="134112"/>
                  </a:lnTo>
                  <a:lnTo>
                    <a:pt x="88391" y="134112"/>
                  </a:lnTo>
                  <a:lnTo>
                    <a:pt x="88391" y="178308"/>
                  </a:lnTo>
                  <a:close/>
                </a:path>
              </a:pathLst>
            </a:custGeom>
            <a:solidFill>
              <a:srgbClr val="00AF50"/>
            </a:solidFill>
          </p:spPr>
          <p:txBody>
            <a:bodyPr wrap="square" lIns="0" tIns="0" rIns="0" bIns="0" rtlCol="0"/>
            <a:lstStyle/>
            <a:p>
              <a:endParaRPr sz="1588"/>
            </a:p>
          </p:txBody>
        </p:sp>
        <p:sp>
          <p:nvSpPr>
            <p:cNvPr id="66" name="object 66"/>
            <p:cNvSpPr/>
            <p:nvPr/>
          </p:nvSpPr>
          <p:spPr>
            <a:xfrm>
              <a:off x="7712964" y="3515867"/>
              <a:ext cx="1431290" cy="178435"/>
            </a:xfrm>
            <a:custGeom>
              <a:avLst/>
              <a:gdLst/>
              <a:ahLst/>
              <a:cxnLst/>
              <a:rect l="l" t="t" r="r" b="b"/>
              <a:pathLst>
                <a:path w="1431290" h="178435">
                  <a:moveTo>
                    <a:pt x="0" y="89916"/>
                  </a:moveTo>
                  <a:lnTo>
                    <a:pt x="88391" y="0"/>
                  </a:lnTo>
                  <a:lnTo>
                    <a:pt x="88391" y="45720"/>
                  </a:lnTo>
                  <a:lnTo>
                    <a:pt x="1431035" y="45720"/>
                  </a:lnTo>
                  <a:lnTo>
                    <a:pt x="1431035" y="134112"/>
                  </a:lnTo>
                  <a:lnTo>
                    <a:pt x="88391" y="134112"/>
                  </a:lnTo>
                  <a:lnTo>
                    <a:pt x="88391" y="178308"/>
                  </a:lnTo>
                  <a:lnTo>
                    <a:pt x="0" y="89916"/>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32" name="object 132"/>
          <p:cNvGrpSpPr/>
          <p:nvPr/>
        </p:nvGrpSpPr>
        <p:grpSpPr>
          <a:xfrm>
            <a:off x="3543692" y="1832778"/>
            <a:ext cx="5516096" cy="491378"/>
            <a:chOff x="2136584" y="2077148"/>
            <a:chExt cx="6251575" cy="556895"/>
          </a:xfrm>
        </p:grpSpPr>
        <p:sp>
          <p:nvSpPr>
            <p:cNvPr id="133" name="object 133"/>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34" name="object 134"/>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35" name="object 135"/>
            <p:cNvPicPr/>
            <p:nvPr/>
          </p:nvPicPr>
          <p:blipFill>
            <a:blip r:embed="rId2" cstate="print"/>
            <a:stretch>
              <a:fillRect/>
            </a:stretch>
          </p:blipFill>
          <p:spPr>
            <a:xfrm>
              <a:off x="8196072" y="2404872"/>
              <a:ext cx="76200" cy="228600"/>
            </a:xfrm>
            <a:prstGeom prst="rect">
              <a:avLst/>
            </a:prstGeom>
          </p:spPr>
        </p:pic>
      </p:grpSp>
      <p:sp>
        <p:nvSpPr>
          <p:cNvPr id="136" name="object 136"/>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37" name="object 137"/>
          <p:cNvGrpSpPr/>
          <p:nvPr/>
        </p:nvGrpSpPr>
        <p:grpSpPr>
          <a:xfrm>
            <a:off x="3649980" y="1928309"/>
            <a:ext cx="5610225" cy="395567"/>
            <a:chOff x="2257044" y="2185416"/>
            <a:chExt cx="6358255" cy="448309"/>
          </a:xfrm>
        </p:grpSpPr>
        <p:pic>
          <p:nvPicPr>
            <p:cNvPr id="138" name="object 138"/>
            <p:cNvPicPr/>
            <p:nvPr/>
          </p:nvPicPr>
          <p:blipFill>
            <a:blip r:embed="rId5" cstate="print"/>
            <a:stretch>
              <a:fillRect/>
            </a:stretch>
          </p:blipFill>
          <p:spPr>
            <a:xfrm>
              <a:off x="8386571" y="2185416"/>
              <a:ext cx="228600" cy="76200"/>
            </a:xfrm>
            <a:prstGeom prst="rect">
              <a:avLst/>
            </a:prstGeom>
          </p:spPr>
        </p:pic>
        <p:pic>
          <p:nvPicPr>
            <p:cNvPr id="139" name="object 139"/>
            <p:cNvPicPr/>
            <p:nvPr/>
          </p:nvPicPr>
          <p:blipFill>
            <a:blip r:embed="rId2" cstate="print"/>
            <a:stretch>
              <a:fillRect/>
            </a:stretch>
          </p:blipFill>
          <p:spPr>
            <a:xfrm>
              <a:off x="7211567" y="2404872"/>
              <a:ext cx="76200" cy="228600"/>
            </a:xfrm>
            <a:prstGeom prst="rect">
              <a:avLst/>
            </a:prstGeom>
          </p:spPr>
        </p:pic>
        <p:pic>
          <p:nvPicPr>
            <p:cNvPr id="140" name="object 140"/>
            <p:cNvPicPr/>
            <p:nvPr/>
          </p:nvPicPr>
          <p:blipFill>
            <a:blip r:embed="rId3" cstate="print"/>
            <a:stretch>
              <a:fillRect/>
            </a:stretch>
          </p:blipFill>
          <p:spPr>
            <a:xfrm>
              <a:off x="6210300" y="2404872"/>
              <a:ext cx="76200" cy="228600"/>
            </a:xfrm>
            <a:prstGeom prst="rect">
              <a:avLst/>
            </a:prstGeom>
          </p:spPr>
        </p:pic>
        <p:pic>
          <p:nvPicPr>
            <p:cNvPr id="141" name="object 141"/>
            <p:cNvPicPr/>
            <p:nvPr/>
          </p:nvPicPr>
          <p:blipFill>
            <a:blip r:embed="rId6" cstate="print"/>
            <a:stretch>
              <a:fillRect/>
            </a:stretch>
          </p:blipFill>
          <p:spPr>
            <a:xfrm>
              <a:off x="4227576" y="2404872"/>
              <a:ext cx="76200" cy="228600"/>
            </a:xfrm>
            <a:prstGeom prst="rect">
              <a:avLst/>
            </a:prstGeom>
          </p:spPr>
        </p:pic>
        <p:pic>
          <p:nvPicPr>
            <p:cNvPr id="142" name="object 142"/>
            <p:cNvPicPr/>
            <p:nvPr/>
          </p:nvPicPr>
          <p:blipFill>
            <a:blip r:embed="rId3" cstate="print"/>
            <a:stretch>
              <a:fillRect/>
            </a:stretch>
          </p:blipFill>
          <p:spPr>
            <a:xfrm>
              <a:off x="3238499" y="2404872"/>
              <a:ext cx="76200" cy="228600"/>
            </a:xfrm>
            <a:prstGeom prst="rect">
              <a:avLst/>
            </a:prstGeom>
          </p:spPr>
        </p:pic>
        <p:pic>
          <p:nvPicPr>
            <p:cNvPr id="143" name="object 143"/>
            <p:cNvPicPr/>
            <p:nvPr/>
          </p:nvPicPr>
          <p:blipFill>
            <a:blip r:embed="rId2" cstate="print"/>
            <a:stretch>
              <a:fillRect/>
            </a:stretch>
          </p:blipFill>
          <p:spPr>
            <a:xfrm>
              <a:off x="2257044" y="2404872"/>
              <a:ext cx="76200" cy="228600"/>
            </a:xfrm>
            <a:prstGeom prst="rect">
              <a:avLst/>
            </a:prstGeom>
          </p:spPr>
        </p:pic>
      </p:grpSp>
      <p:sp>
        <p:nvSpPr>
          <p:cNvPr id="144" name="object 144"/>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69493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321859" cy="1413622"/>
            <a:chOff x="6099047" y="2906267"/>
            <a:chExt cx="263144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7286244" y="3427475"/>
              <a:ext cx="1431290" cy="178435"/>
            </a:xfrm>
            <a:custGeom>
              <a:avLst/>
              <a:gdLst/>
              <a:ahLst/>
              <a:cxnLst/>
              <a:rect l="l" t="t" r="r" b="b"/>
              <a:pathLst>
                <a:path w="1431290" h="178435">
                  <a:moveTo>
                    <a:pt x="88391" y="178308"/>
                  </a:moveTo>
                  <a:lnTo>
                    <a:pt x="0" y="89916"/>
                  </a:lnTo>
                  <a:lnTo>
                    <a:pt x="88391" y="0"/>
                  </a:lnTo>
                  <a:lnTo>
                    <a:pt x="88391" y="44196"/>
                  </a:lnTo>
                  <a:lnTo>
                    <a:pt x="1431035" y="44196"/>
                  </a:lnTo>
                  <a:lnTo>
                    <a:pt x="1431035" y="134112"/>
                  </a:lnTo>
                  <a:lnTo>
                    <a:pt x="88391" y="134112"/>
                  </a:lnTo>
                  <a:lnTo>
                    <a:pt x="88391" y="178308"/>
                  </a:lnTo>
                  <a:close/>
                </a:path>
              </a:pathLst>
            </a:custGeom>
            <a:solidFill>
              <a:srgbClr val="00AF50"/>
            </a:solidFill>
          </p:spPr>
          <p:txBody>
            <a:bodyPr wrap="square" lIns="0" tIns="0" rIns="0" bIns="0" rtlCol="0"/>
            <a:lstStyle/>
            <a:p>
              <a:endParaRPr sz="1588"/>
            </a:p>
          </p:txBody>
        </p:sp>
        <p:sp>
          <p:nvSpPr>
            <p:cNvPr id="66" name="object 66"/>
            <p:cNvSpPr/>
            <p:nvPr/>
          </p:nvSpPr>
          <p:spPr>
            <a:xfrm>
              <a:off x="7286244" y="3427475"/>
              <a:ext cx="1431290" cy="178435"/>
            </a:xfrm>
            <a:custGeom>
              <a:avLst/>
              <a:gdLst/>
              <a:ahLst/>
              <a:cxnLst/>
              <a:rect l="l" t="t" r="r" b="b"/>
              <a:pathLst>
                <a:path w="1431290" h="178435">
                  <a:moveTo>
                    <a:pt x="0" y="89916"/>
                  </a:moveTo>
                  <a:lnTo>
                    <a:pt x="88391" y="0"/>
                  </a:lnTo>
                  <a:lnTo>
                    <a:pt x="88391" y="44196"/>
                  </a:lnTo>
                  <a:lnTo>
                    <a:pt x="1431035" y="44196"/>
                  </a:lnTo>
                  <a:lnTo>
                    <a:pt x="1431035" y="134112"/>
                  </a:lnTo>
                  <a:lnTo>
                    <a:pt x="88391" y="134112"/>
                  </a:lnTo>
                  <a:lnTo>
                    <a:pt x="88391" y="178308"/>
                  </a:lnTo>
                  <a:lnTo>
                    <a:pt x="0" y="89916"/>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27" name="object 127"/>
          <p:cNvGrpSpPr/>
          <p:nvPr/>
        </p:nvGrpSpPr>
        <p:grpSpPr>
          <a:xfrm>
            <a:off x="3543692" y="1832778"/>
            <a:ext cx="5516096" cy="491378"/>
            <a:chOff x="2136584" y="2077148"/>
            <a:chExt cx="6251575" cy="556895"/>
          </a:xfrm>
        </p:grpSpPr>
        <p:sp>
          <p:nvSpPr>
            <p:cNvPr id="128" name="object 128"/>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29" name="object 129"/>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30" name="object 130"/>
            <p:cNvPicPr/>
            <p:nvPr/>
          </p:nvPicPr>
          <p:blipFill>
            <a:blip r:embed="rId2" cstate="print"/>
            <a:stretch>
              <a:fillRect/>
            </a:stretch>
          </p:blipFill>
          <p:spPr>
            <a:xfrm>
              <a:off x="8196072" y="2404872"/>
              <a:ext cx="76200" cy="228600"/>
            </a:xfrm>
            <a:prstGeom prst="rect">
              <a:avLst/>
            </a:prstGeom>
          </p:spPr>
        </p:pic>
      </p:grpSp>
      <p:sp>
        <p:nvSpPr>
          <p:cNvPr id="131" name="object 131"/>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32" name="object 132"/>
          <p:cNvGrpSpPr/>
          <p:nvPr/>
        </p:nvGrpSpPr>
        <p:grpSpPr>
          <a:xfrm>
            <a:off x="3649980" y="1928309"/>
            <a:ext cx="5610225" cy="395567"/>
            <a:chOff x="2257044" y="2185416"/>
            <a:chExt cx="6358255" cy="448309"/>
          </a:xfrm>
        </p:grpSpPr>
        <p:pic>
          <p:nvPicPr>
            <p:cNvPr id="133" name="object 133"/>
            <p:cNvPicPr/>
            <p:nvPr/>
          </p:nvPicPr>
          <p:blipFill>
            <a:blip r:embed="rId5" cstate="print"/>
            <a:stretch>
              <a:fillRect/>
            </a:stretch>
          </p:blipFill>
          <p:spPr>
            <a:xfrm>
              <a:off x="8386571" y="2185416"/>
              <a:ext cx="228600" cy="76200"/>
            </a:xfrm>
            <a:prstGeom prst="rect">
              <a:avLst/>
            </a:prstGeom>
          </p:spPr>
        </p:pic>
        <p:pic>
          <p:nvPicPr>
            <p:cNvPr id="134" name="object 134"/>
            <p:cNvPicPr/>
            <p:nvPr/>
          </p:nvPicPr>
          <p:blipFill>
            <a:blip r:embed="rId2" cstate="print"/>
            <a:stretch>
              <a:fillRect/>
            </a:stretch>
          </p:blipFill>
          <p:spPr>
            <a:xfrm>
              <a:off x="7211567" y="2404872"/>
              <a:ext cx="76200" cy="228600"/>
            </a:xfrm>
            <a:prstGeom prst="rect">
              <a:avLst/>
            </a:prstGeom>
          </p:spPr>
        </p:pic>
        <p:pic>
          <p:nvPicPr>
            <p:cNvPr id="135" name="object 135"/>
            <p:cNvPicPr/>
            <p:nvPr/>
          </p:nvPicPr>
          <p:blipFill>
            <a:blip r:embed="rId3" cstate="print"/>
            <a:stretch>
              <a:fillRect/>
            </a:stretch>
          </p:blipFill>
          <p:spPr>
            <a:xfrm>
              <a:off x="6210300" y="2404872"/>
              <a:ext cx="76200" cy="228600"/>
            </a:xfrm>
            <a:prstGeom prst="rect">
              <a:avLst/>
            </a:prstGeom>
          </p:spPr>
        </p:pic>
        <p:pic>
          <p:nvPicPr>
            <p:cNvPr id="136" name="object 136"/>
            <p:cNvPicPr/>
            <p:nvPr/>
          </p:nvPicPr>
          <p:blipFill>
            <a:blip r:embed="rId6" cstate="print"/>
            <a:stretch>
              <a:fillRect/>
            </a:stretch>
          </p:blipFill>
          <p:spPr>
            <a:xfrm>
              <a:off x="4227576" y="2404872"/>
              <a:ext cx="76200" cy="228600"/>
            </a:xfrm>
            <a:prstGeom prst="rect">
              <a:avLst/>
            </a:prstGeom>
          </p:spPr>
        </p:pic>
        <p:pic>
          <p:nvPicPr>
            <p:cNvPr id="137" name="object 137"/>
            <p:cNvPicPr/>
            <p:nvPr/>
          </p:nvPicPr>
          <p:blipFill>
            <a:blip r:embed="rId3" cstate="print"/>
            <a:stretch>
              <a:fillRect/>
            </a:stretch>
          </p:blipFill>
          <p:spPr>
            <a:xfrm>
              <a:off x="3238499" y="2404872"/>
              <a:ext cx="76200" cy="228600"/>
            </a:xfrm>
            <a:prstGeom prst="rect">
              <a:avLst/>
            </a:prstGeom>
          </p:spPr>
        </p:pic>
        <p:pic>
          <p:nvPicPr>
            <p:cNvPr id="138" name="object 138"/>
            <p:cNvPicPr/>
            <p:nvPr/>
          </p:nvPicPr>
          <p:blipFill>
            <a:blip r:embed="rId2" cstate="print"/>
            <a:stretch>
              <a:fillRect/>
            </a:stretch>
          </p:blipFill>
          <p:spPr>
            <a:xfrm>
              <a:off x="2257044" y="2404872"/>
              <a:ext cx="76200" cy="228600"/>
            </a:xfrm>
            <a:prstGeom prst="rect">
              <a:avLst/>
            </a:prstGeom>
          </p:spPr>
        </p:pic>
      </p:grpSp>
      <p:sp>
        <p:nvSpPr>
          <p:cNvPr id="139" name="object 139"/>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1020347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314015" cy="1413622"/>
            <a:chOff x="6099047" y="2906267"/>
            <a:chExt cx="262255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4"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BF0000"/>
            </a:solidFill>
          </p:spPr>
          <p:txBody>
            <a:bodyPr wrap="square" lIns="0" tIns="0" rIns="0" bIns="0" rtlCol="0"/>
            <a:lstStyle/>
            <a:p>
              <a:endParaRPr sz="1588"/>
            </a:p>
          </p:txBody>
        </p:sp>
        <p:sp>
          <p:nvSpPr>
            <p:cNvPr id="65" name="object 65"/>
            <p:cNvSpPr/>
            <p:nvPr/>
          </p:nvSpPr>
          <p:spPr>
            <a:xfrm>
              <a:off x="7275576" y="3573780"/>
              <a:ext cx="1432560" cy="178435"/>
            </a:xfrm>
            <a:custGeom>
              <a:avLst/>
              <a:gdLst/>
              <a:ahLst/>
              <a:cxnLst/>
              <a:rect l="l" t="t" r="r" b="b"/>
              <a:pathLst>
                <a:path w="1432559" h="178435">
                  <a:moveTo>
                    <a:pt x="89916" y="178308"/>
                  </a:moveTo>
                  <a:lnTo>
                    <a:pt x="0" y="89916"/>
                  </a:lnTo>
                  <a:lnTo>
                    <a:pt x="89916" y="0"/>
                  </a:lnTo>
                  <a:lnTo>
                    <a:pt x="89916" y="45719"/>
                  </a:lnTo>
                  <a:lnTo>
                    <a:pt x="1432559" y="45719"/>
                  </a:lnTo>
                  <a:lnTo>
                    <a:pt x="1432559" y="134111"/>
                  </a:lnTo>
                  <a:lnTo>
                    <a:pt x="89916" y="134111"/>
                  </a:lnTo>
                  <a:lnTo>
                    <a:pt x="89916" y="178308"/>
                  </a:lnTo>
                  <a:close/>
                </a:path>
              </a:pathLst>
            </a:custGeom>
            <a:solidFill>
              <a:srgbClr val="00AF50"/>
            </a:solidFill>
          </p:spPr>
          <p:txBody>
            <a:bodyPr wrap="square" lIns="0" tIns="0" rIns="0" bIns="0" rtlCol="0"/>
            <a:lstStyle/>
            <a:p>
              <a:endParaRPr sz="1588"/>
            </a:p>
          </p:txBody>
        </p:sp>
        <p:sp>
          <p:nvSpPr>
            <p:cNvPr id="66" name="object 66"/>
            <p:cNvSpPr/>
            <p:nvPr/>
          </p:nvSpPr>
          <p:spPr>
            <a:xfrm>
              <a:off x="7275576" y="3573780"/>
              <a:ext cx="1432560" cy="178435"/>
            </a:xfrm>
            <a:custGeom>
              <a:avLst/>
              <a:gdLst/>
              <a:ahLst/>
              <a:cxnLst/>
              <a:rect l="l" t="t" r="r" b="b"/>
              <a:pathLst>
                <a:path w="1432559" h="178435">
                  <a:moveTo>
                    <a:pt x="0" y="89916"/>
                  </a:moveTo>
                  <a:lnTo>
                    <a:pt x="89916" y="0"/>
                  </a:lnTo>
                  <a:lnTo>
                    <a:pt x="89916" y="45719"/>
                  </a:lnTo>
                  <a:lnTo>
                    <a:pt x="1432559" y="45719"/>
                  </a:lnTo>
                  <a:lnTo>
                    <a:pt x="1432559" y="134111"/>
                  </a:lnTo>
                  <a:lnTo>
                    <a:pt x="89916" y="134111"/>
                  </a:lnTo>
                  <a:lnTo>
                    <a:pt x="89916" y="178308"/>
                  </a:lnTo>
                  <a:lnTo>
                    <a:pt x="0" y="89916"/>
                  </a:lnTo>
                  <a:close/>
                </a:path>
              </a:pathLst>
            </a:custGeom>
            <a:ln w="25908">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20" name="object 120"/>
          <p:cNvGrpSpPr/>
          <p:nvPr/>
        </p:nvGrpSpPr>
        <p:grpSpPr>
          <a:xfrm>
            <a:off x="3543692" y="1832778"/>
            <a:ext cx="5516096" cy="491378"/>
            <a:chOff x="2136584" y="2077148"/>
            <a:chExt cx="6251575" cy="556895"/>
          </a:xfrm>
        </p:grpSpPr>
        <p:sp>
          <p:nvSpPr>
            <p:cNvPr id="121" name="object 121"/>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122" name="object 122"/>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123" name="object 123"/>
            <p:cNvPicPr/>
            <p:nvPr/>
          </p:nvPicPr>
          <p:blipFill>
            <a:blip r:embed="rId2" cstate="print"/>
            <a:stretch>
              <a:fillRect/>
            </a:stretch>
          </p:blipFill>
          <p:spPr>
            <a:xfrm>
              <a:off x="8196072" y="2404872"/>
              <a:ext cx="76200" cy="228600"/>
            </a:xfrm>
            <a:prstGeom prst="rect">
              <a:avLst/>
            </a:prstGeom>
          </p:spPr>
        </p:pic>
      </p:grpSp>
      <p:sp>
        <p:nvSpPr>
          <p:cNvPr id="124" name="object 124"/>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125" name="object 125"/>
          <p:cNvGrpSpPr/>
          <p:nvPr/>
        </p:nvGrpSpPr>
        <p:grpSpPr>
          <a:xfrm>
            <a:off x="3649980" y="1928309"/>
            <a:ext cx="5610225" cy="395567"/>
            <a:chOff x="2257044" y="2185416"/>
            <a:chExt cx="6358255" cy="448309"/>
          </a:xfrm>
        </p:grpSpPr>
        <p:pic>
          <p:nvPicPr>
            <p:cNvPr id="126" name="object 126"/>
            <p:cNvPicPr/>
            <p:nvPr/>
          </p:nvPicPr>
          <p:blipFill>
            <a:blip r:embed="rId6" cstate="print"/>
            <a:stretch>
              <a:fillRect/>
            </a:stretch>
          </p:blipFill>
          <p:spPr>
            <a:xfrm>
              <a:off x="8386571" y="2185416"/>
              <a:ext cx="228600" cy="76200"/>
            </a:xfrm>
            <a:prstGeom prst="rect">
              <a:avLst/>
            </a:prstGeom>
          </p:spPr>
        </p:pic>
        <p:pic>
          <p:nvPicPr>
            <p:cNvPr id="127" name="object 127"/>
            <p:cNvPicPr/>
            <p:nvPr/>
          </p:nvPicPr>
          <p:blipFill>
            <a:blip r:embed="rId2" cstate="print"/>
            <a:stretch>
              <a:fillRect/>
            </a:stretch>
          </p:blipFill>
          <p:spPr>
            <a:xfrm>
              <a:off x="7211567" y="2404872"/>
              <a:ext cx="76200" cy="228600"/>
            </a:xfrm>
            <a:prstGeom prst="rect">
              <a:avLst/>
            </a:prstGeom>
          </p:spPr>
        </p:pic>
        <p:pic>
          <p:nvPicPr>
            <p:cNvPr id="128" name="object 128"/>
            <p:cNvPicPr/>
            <p:nvPr/>
          </p:nvPicPr>
          <p:blipFill>
            <a:blip r:embed="rId3" cstate="print"/>
            <a:stretch>
              <a:fillRect/>
            </a:stretch>
          </p:blipFill>
          <p:spPr>
            <a:xfrm>
              <a:off x="6210300" y="2404872"/>
              <a:ext cx="76200" cy="228600"/>
            </a:xfrm>
            <a:prstGeom prst="rect">
              <a:avLst/>
            </a:prstGeom>
          </p:spPr>
        </p:pic>
        <p:pic>
          <p:nvPicPr>
            <p:cNvPr id="129" name="object 129"/>
            <p:cNvPicPr/>
            <p:nvPr/>
          </p:nvPicPr>
          <p:blipFill>
            <a:blip r:embed="rId7" cstate="print"/>
            <a:stretch>
              <a:fillRect/>
            </a:stretch>
          </p:blipFill>
          <p:spPr>
            <a:xfrm>
              <a:off x="4227576" y="2404872"/>
              <a:ext cx="76200" cy="228600"/>
            </a:xfrm>
            <a:prstGeom prst="rect">
              <a:avLst/>
            </a:prstGeom>
          </p:spPr>
        </p:pic>
        <p:pic>
          <p:nvPicPr>
            <p:cNvPr id="130" name="object 130"/>
            <p:cNvPicPr/>
            <p:nvPr/>
          </p:nvPicPr>
          <p:blipFill>
            <a:blip r:embed="rId3" cstate="print"/>
            <a:stretch>
              <a:fillRect/>
            </a:stretch>
          </p:blipFill>
          <p:spPr>
            <a:xfrm>
              <a:off x="3238499" y="2404872"/>
              <a:ext cx="76200" cy="228600"/>
            </a:xfrm>
            <a:prstGeom prst="rect">
              <a:avLst/>
            </a:prstGeom>
          </p:spPr>
        </p:pic>
        <p:pic>
          <p:nvPicPr>
            <p:cNvPr id="131" name="object 131"/>
            <p:cNvPicPr/>
            <p:nvPr/>
          </p:nvPicPr>
          <p:blipFill>
            <a:blip r:embed="rId2" cstate="print"/>
            <a:stretch>
              <a:fillRect/>
            </a:stretch>
          </p:blipFill>
          <p:spPr>
            <a:xfrm>
              <a:off x="2257044" y="2404872"/>
              <a:ext cx="76200" cy="228600"/>
            </a:xfrm>
            <a:prstGeom prst="rect">
              <a:avLst/>
            </a:prstGeom>
          </p:spPr>
        </p:pic>
      </p:grpSp>
      <p:sp>
        <p:nvSpPr>
          <p:cNvPr id="132" name="object 132"/>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
        <p:nvSpPr>
          <p:cNvPr id="155" name="object 155"/>
          <p:cNvSpPr txBox="1">
            <a:spLocks noGrp="1"/>
          </p:cNvSpPr>
          <p:nvPr>
            <p:ph type="sldNum" sz="quarter" idx="7"/>
          </p:nvPr>
        </p:nvSpPr>
        <p:spPr>
          <a:xfrm>
            <a:off x="1658471" y="1"/>
            <a:ext cx="0" cy="282129"/>
          </a:xfrm>
          <a:prstGeom prst="rect">
            <a:avLst/>
          </a:prstGeom>
        </p:spPr>
        <p:txBody>
          <a:bodyPr vert="horz" wrap="square" lIns="0" tIns="0" rIns="0" bIns="0" rtlCol="0">
            <a:spAutoFit/>
          </a:bodyPr>
          <a:lstStyle/>
          <a:p>
            <a:pPr marL="11206">
              <a:lnSpc>
                <a:spcPts val="1094"/>
              </a:lnSpc>
            </a:pPr>
            <a:r>
              <a:rPr dirty="0"/>
              <a:t>88</a:t>
            </a:r>
          </a:p>
        </p:txBody>
      </p:sp>
    </p:spTree>
    <p:extLst>
      <p:ext uri="{BB962C8B-B14F-4D97-AF65-F5344CB8AC3E}">
        <p14:creationId xmlns:p14="http://schemas.microsoft.com/office/powerpoint/2010/main" val="1794920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320738" cy="1413622"/>
            <a:chOff x="6099047" y="2906267"/>
            <a:chExt cx="263017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4"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7283196" y="3432048"/>
              <a:ext cx="1432560" cy="177165"/>
            </a:xfrm>
            <a:custGeom>
              <a:avLst/>
              <a:gdLst/>
              <a:ahLst/>
              <a:cxnLst/>
              <a:rect l="l" t="t" r="r" b="b"/>
              <a:pathLst>
                <a:path w="1432559" h="177164">
                  <a:moveTo>
                    <a:pt x="89916" y="176783"/>
                  </a:moveTo>
                  <a:lnTo>
                    <a:pt x="0" y="88391"/>
                  </a:lnTo>
                  <a:lnTo>
                    <a:pt x="89916" y="0"/>
                  </a:lnTo>
                  <a:lnTo>
                    <a:pt x="89916" y="44195"/>
                  </a:lnTo>
                  <a:lnTo>
                    <a:pt x="1432559" y="44195"/>
                  </a:lnTo>
                  <a:lnTo>
                    <a:pt x="1432559" y="132587"/>
                  </a:lnTo>
                  <a:lnTo>
                    <a:pt x="89916" y="132587"/>
                  </a:lnTo>
                  <a:lnTo>
                    <a:pt x="89916" y="176783"/>
                  </a:lnTo>
                  <a:close/>
                </a:path>
              </a:pathLst>
            </a:custGeom>
            <a:solidFill>
              <a:srgbClr val="00AF50"/>
            </a:solidFill>
          </p:spPr>
          <p:txBody>
            <a:bodyPr wrap="square" lIns="0" tIns="0" rIns="0" bIns="0" rtlCol="0"/>
            <a:lstStyle/>
            <a:p>
              <a:endParaRPr sz="1588"/>
            </a:p>
          </p:txBody>
        </p:sp>
        <p:sp>
          <p:nvSpPr>
            <p:cNvPr id="66" name="object 66"/>
            <p:cNvSpPr/>
            <p:nvPr/>
          </p:nvSpPr>
          <p:spPr>
            <a:xfrm>
              <a:off x="7283196" y="3432048"/>
              <a:ext cx="1432560" cy="177165"/>
            </a:xfrm>
            <a:custGeom>
              <a:avLst/>
              <a:gdLst/>
              <a:ahLst/>
              <a:cxnLst/>
              <a:rect l="l" t="t" r="r" b="b"/>
              <a:pathLst>
                <a:path w="1432559" h="177164">
                  <a:moveTo>
                    <a:pt x="0" y="88391"/>
                  </a:moveTo>
                  <a:lnTo>
                    <a:pt x="89916" y="0"/>
                  </a:lnTo>
                  <a:lnTo>
                    <a:pt x="89916" y="44195"/>
                  </a:lnTo>
                  <a:lnTo>
                    <a:pt x="1432559" y="44195"/>
                  </a:lnTo>
                  <a:lnTo>
                    <a:pt x="1432559" y="132587"/>
                  </a:lnTo>
                  <a:lnTo>
                    <a:pt x="89916" y="132587"/>
                  </a:lnTo>
                  <a:lnTo>
                    <a:pt x="89916" y="176783"/>
                  </a:lnTo>
                  <a:lnTo>
                    <a:pt x="0" y="88391"/>
                  </a:lnTo>
                  <a:close/>
                </a:path>
              </a:pathLst>
            </a:custGeom>
            <a:ln w="25907">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4" name="object 84"/>
          <p:cNvGrpSpPr/>
          <p:nvPr/>
        </p:nvGrpSpPr>
        <p:grpSpPr>
          <a:xfrm>
            <a:off x="3543692" y="1832778"/>
            <a:ext cx="5516096" cy="491378"/>
            <a:chOff x="2136584" y="2077148"/>
            <a:chExt cx="6251575" cy="556895"/>
          </a:xfrm>
        </p:grpSpPr>
        <p:sp>
          <p:nvSpPr>
            <p:cNvPr id="85" name="object 85"/>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6" name="object 86"/>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7" name="object 87"/>
            <p:cNvPicPr/>
            <p:nvPr/>
          </p:nvPicPr>
          <p:blipFill>
            <a:blip r:embed="rId2" cstate="print"/>
            <a:stretch>
              <a:fillRect/>
            </a:stretch>
          </p:blipFill>
          <p:spPr>
            <a:xfrm>
              <a:off x="8196072" y="2404872"/>
              <a:ext cx="76200" cy="228600"/>
            </a:xfrm>
            <a:prstGeom prst="rect">
              <a:avLst/>
            </a:prstGeom>
          </p:spPr>
        </p:pic>
      </p:grpSp>
      <p:sp>
        <p:nvSpPr>
          <p:cNvPr id="88" name="object 88"/>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9" name="object 89"/>
          <p:cNvGrpSpPr/>
          <p:nvPr/>
        </p:nvGrpSpPr>
        <p:grpSpPr>
          <a:xfrm>
            <a:off x="3649980" y="1928309"/>
            <a:ext cx="5610225" cy="395567"/>
            <a:chOff x="2257044" y="2185416"/>
            <a:chExt cx="6358255" cy="448309"/>
          </a:xfrm>
        </p:grpSpPr>
        <p:pic>
          <p:nvPicPr>
            <p:cNvPr id="90" name="object 90"/>
            <p:cNvPicPr/>
            <p:nvPr/>
          </p:nvPicPr>
          <p:blipFill>
            <a:blip r:embed="rId6" cstate="print"/>
            <a:stretch>
              <a:fillRect/>
            </a:stretch>
          </p:blipFill>
          <p:spPr>
            <a:xfrm>
              <a:off x="8386571" y="2185416"/>
              <a:ext cx="228600" cy="76200"/>
            </a:xfrm>
            <a:prstGeom prst="rect">
              <a:avLst/>
            </a:prstGeom>
          </p:spPr>
        </p:pic>
        <p:pic>
          <p:nvPicPr>
            <p:cNvPr id="91" name="object 91"/>
            <p:cNvPicPr/>
            <p:nvPr/>
          </p:nvPicPr>
          <p:blipFill>
            <a:blip r:embed="rId3" cstate="print"/>
            <a:stretch>
              <a:fillRect/>
            </a:stretch>
          </p:blipFill>
          <p:spPr>
            <a:xfrm>
              <a:off x="6210300" y="2404872"/>
              <a:ext cx="76200" cy="228600"/>
            </a:xfrm>
            <a:prstGeom prst="rect">
              <a:avLst/>
            </a:prstGeom>
          </p:spPr>
        </p:pic>
        <p:pic>
          <p:nvPicPr>
            <p:cNvPr id="92" name="object 92"/>
            <p:cNvPicPr/>
            <p:nvPr/>
          </p:nvPicPr>
          <p:blipFill>
            <a:blip r:embed="rId2" cstate="print"/>
            <a:stretch>
              <a:fillRect/>
            </a:stretch>
          </p:blipFill>
          <p:spPr>
            <a:xfrm>
              <a:off x="7211567" y="2404872"/>
              <a:ext cx="76200" cy="228600"/>
            </a:xfrm>
            <a:prstGeom prst="rect">
              <a:avLst/>
            </a:prstGeom>
          </p:spPr>
        </p:pic>
        <p:pic>
          <p:nvPicPr>
            <p:cNvPr id="93" name="object 93"/>
            <p:cNvPicPr/>
            <p:nvPr/>
          </p:nvPicPr>
          <p:blipFill>
            <a:blip r:embed="rId7" cstate="print"/>
            <a:stretch>
              <a:fillRect/>
            </a:stretch>
          </p:blipFill>
          <p:spPr>
            <a:xfrm>
              <a:off x="4227576" y="2404872"/>
              <a:ext cx="76200" cy="228600"/>
            </a:xfrm>
            <a:prstGeom prst="rect">
              <a:avLst/>
            </a:prstGeom>
          </p:spPr>
        </p:pic>
        <p:pic>
          <p:nvPicPr>
            <p:cNvPr id="94" name="object 94"/>
            <p:cNvPicPr/>
            <p:nvPr/>
          </p:nvPicPr>
          <p:blipFill>
            <a:blip r:embed="rId2" cstate="print"/>
            <a:stretch>
              <a:fillRect/>
            </a:stretch>
          </p:blipFill>
          <p:spPr>
            <a:xfrm>
              <a:off x="2257044" y="2404872"/>
              <a:ext cx="76200" cy="228600"/>
            </a:xfrm>
            <a:prstGeom prst="rect">
              <a:avLst/>
            </a:prstGeom>
          </p:spPr>
        </p:pic>
        <p:pic>
          <p:nvPicPr>
            <p:cNvPr id="95" name="object 95"/>
            <p:cNvPicPr/>
            <p:nvPr/>
          </p:nvPicPr>
          <p:blipFill>
            <a:blip r:embed="rId3" cstate="print"/>
            <a:stretch>
              <a:fillRect/>
            </a:stretch>
          </p:blipFill>
          <p:spPr>
            <a:xfrm>
              <a:off x="3238499" y="2404872"/>
              <a:ext cx="76200" cy="228600"/>
            </a:xfrm>
            <a:prstGeom prst="rect">
              <a:avLst/>
            </a:prstGeom>
          </p:spPr>
        </p:pic>
      </p:grpSp>
      <p:sp>
        <p:nvSpPr>
          <p:cNvPr id="96" name="object 96"/>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3753333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320738" cy="1413622"/>
            <a:chOff x="6099047" y="2906267"/>
            <a:chExt cx="263017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2" cstate="print"/>
            <a:stretch>
              <a:fillRect/>
            </a:stretch>
          </p:blipFill>
          <p:spPr>
            <a:xfrm>
              <a:off x="7219188"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3439667"/>
              <a:ext cx="76200" cy="228600"/>
            </a:xfrm>
            <a:prstGeom prst="rect">
              <a:avLst/>
            </a:prstGeom>
          </p:spPr>
        </p:pic>
        <p:pic>
          <p:nvPicPr>
            <p:cNvPr id="53" name="object 53"/>
            <p:cNvPicPr/>
            <p:nvPr/>
          </p:nvPicPr>
          <p:blipFill>
            <a:blip r:embed="rId2" cstate="print"/>
            <a:stretch>
              <a:fillRect/>
            </a:stretch>
          </p:blipFill>
          <p:spPr>
            <a:xfrm>
              <a:off x="7219188" y="2906267"/>
              <a:ext cx="76200" cy="228600"/>
            </a:xfrm>
            <a:prstGeom prst="rect">
              <a:avLst/>
            </a:prstGeom>
          </p:spPr>
        </p:pic>
        <p:sp>
          <p:nvSpPr>
            <p:cNvPr id="54" name="object 54"/>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6" name="object 56"/>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8" name="object 58"/>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9" name="object 59"/>
            <p:cNvPicPr/>
            <p:nvPr/>
          </p:nvPicPr>
          <p:blipFill>
            <a:blip r:embed="rId2" cstate="print"/>
            <a:stretch>
              <a:fillRect/>
            </a:stretch>
          </p:blipFill>
          <p:spPr>
            <a:xfrm>
              <a:off x="8196072" y="3973067"/>
              <a:ext cx="76200" cy="228600"/>
            </a:xfrm>
            <a:prstGeom prst="rect">
              <a:avLst/>
            </a:prstGeom>
          </p:spPr>
        </p:pic>
        <p:sp>
          <p:nvSpPr>
            <p:cNvPr id="60" name="object 60"/>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1" name="object 61"/>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2" name="object 62"/>
            <p:cNvPicPr/>
            <p:nvPr/>
          </p:nvPicPr>
          <p:blipFill>
            <a:blip r:embed="rId2" cstate="print"/>
            <a:stretch>
              <a:fillRect/>
            </a:stretch>
          </p:blipFill>
          <p:spPr>
            <a:xfrm>
              <a:off x="8196072" y="3439667"/>
              <a:ext cx="76200" cy="228600"/>
            </a:xfrm>
            <a:prstGeom prst="rect">
              <a:avLst/>
            </a:prstGeom>
          </p:spPr>
        </p:pic>
        <p:pic>
          <p:nvPicPr>
            <p:cNvPr id="63" name="object 63"/>
            <p:cNvPicPr/>
            <p:nvPr/>
          </p:nvPicPr>
          <p:blipFill>
            <a:blip r:embed="rId2" cstate="print"/>
            <a:stretch>
              <a:fillRect/>
            </a:stretch>
          </p:blipFill>
          <p:spPr>
            <a:xfrm>
              <a:off x="8196072" y="2906267"/>
              <a:ext cx="76200" cy="228600"/>
            </a:xfrm>
            <a:prstGeom prst="rect">
              <a:avLst/>
            </a:prstGeom>
          </p:spPr>
        </p:pic>
        <p:sp>
          <p:nvSpPr>
            <p:cNvPr id="64" name="object 64"/>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5" name="object 65"/>
            <p:cNvSpPr/>
            <p:nvPr/>
          </p:nvSpPr>
          <p:spPr>
            <a:xfrm>
              <a:off x="7283196" y="3938016"/>
              <a:ext cx="1432560" cy="177165"/>
            </a:xfrm>
            <a:custGeom>
              <a:avLst/>
              <a:gdLst/>
              <a:ahLst/>
              <a:cxnLst/>
              <a:rect l="l" t="t" r="r" b="b"/>
              <a:pathLst>
                <a:path w="1432559" h="177164">
                  <a:moveTo>
                    <a:pt x="89916" y="176783"/>
                  </a:moveTo>
                  <a:lnTo>
                    <a:pt x="0" y="88391"/>
                  </a:lnTo>
                  <a:lnTo>
                    <a:pt x="89916" y="0"/>
                  </a:lnTo>
                  <a:lnTo>
                    <a:pt x="89916" y="44195"/>
                  </a:lnTo>
                  <a:lnTo>
                    <a:pt x="1432559" y="44195"/>
                  </a:lnTo>
                  <a:lnTo>
                    <a:pt x="1432559" y="132587"/>
                  </a:lnTo>
                  <a:lnTo>
                    <a:pt x="89916" y="132587"/>
                  </a:lnTo>
                  <a:lnTo>
                    <a:pt x="89916" y="176783"/>
                  </a:lnTo>
                  <a:close/>
                </a:path>
              </a:pathLst>
            </a:custGeom>
            <a:solidFill>
              <a:srgbClr val="00AF50"/>
            </a:solidFill>
          </p:spPr>
          <p:txBody>
            <a:bodyPr wrap="square" lIns="0" tIns="0" rIns="0" bIns="0" rtlCol="0"/>
            <a:lstStyle/>
            <a:p>
              <a:endParaRPr sz="1588"/>
            </a:p>
          </p:txBody>
        </p:sp>
        <p:sp>
          <p:nvSpPr>
            <p:cNvPr id="66" name="object 66"/>
            <p:cNvSpPr/>
            <p:nvPr/>
          </p:nvSpPr>
          <p:spPr>
            <a:xfrm>
              <a:off x="7283196" y="3938016"/>
              <a:ext cx="1432560" cy="177165"/>
            </a:xfrm>
            <a:custGeom>
              <a:avLst/>
              <a:gdLst/>
              <a:ahLst/>
              <a:cxnLst/>
              <a:rect l="l" t="t" r="r" b="b"/>
              <a:pathLst>
                <a:path w="1432559" h="177164">
                  <a:moveTo>
                    <a:pt x="0" y="88391"/>
                  </a:moveTo>
                  <a:lnTo>
                    <a:pt x="89916" y="0"/>
                  </a:lnTo>
                  <a:lnTo>
                    <a:pt x="89916" y="44195"/>
                  </a:lnTo>
                  <a:lnTo>
                    <a:pt x="1432559" y="44195"/>
                  </a:lnTo>
                  <a:lnTo>
                    <a:pt x="1432559" y="132587"/>
                  </a:lnTo>
                  <a:lnTo>
                    <a:pt x="89916" y="132587"/>
                  </a:lnTo>
                  <a:lnTo>
                    <a:pt x="89916" y="176783"/>
                  </a:lnTo>
                  <a:lnTo>
                    <a:pt x="0" y="88391"/>
                  </a:lnTo>
                  <a:close/>
                </a:path>
              </a:pathLst>
            </a:custGeom>
            <a:ln w="25907">
              <a:solidFill>
                <a:srgbClr val="008000"/>
              </a:solidFill>
            </a:ln>
          </p:spPr>
          <p:txBody>
            <a:bodyPr wrap="square" lIns="0" tIns="0" rIns="0" bIns="0" rtlCol="0"/>
            <a:lstStyle/>
            <a:p>
              <a:endParaRPr sz="1588"/>
            </a:p>
          </p:txBody>
        </p:sp>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4" cstate="print"/>
          <a:stretch>
            <a:fillRect/>
          </a:stretch>
        </p:blipFill>
        <p:spPr>
          <a:xfrm>
            <a:off x="6499412" y="3334871"/>
            <a:ext cx="67235" cy="67235"/>
          </a:xfrm>
          <a:prstGeom prst="rect">
            <a:avLst/>
          </a:prstGeom>
        </p:spPr>
      </p:pic>
      <p:pic>
        <p:nvPicPr>
          <p:cNvPr id="69" name="object 69"/>
          <p:cNvPicPr/>
          <p:nvPr/>
        </p:nvPicPr>
        <p:blipFill>
          <a:blip r:embed="rId4" cstate="print"/>
          <a:stretch>
            <a:fillRect/>
          </a:stretch>
        </p:blipFill>
        <p:spPr>
          <a:xfrm>
            <a:off x="6364941" y="3334871"/>
            <a:ext cx="67235" cy="67235"/>
          </a:xfrm>
          <a:prstGeom prst="rect">
            <a:avLst/>
          </a:prstGeom>
        </p:spPr>
      </p:pic>
      <p:pic>
        <p:nvPicPr>
          <p:cNvPr id="70" name="object 70"/>
          <p:cNvPicPr/>
          <p:nvPr/>
        </p:nvPicPr>
        <p:blipFill>
          <a:blip r:embed="rId4" cstate="print"/>
          <a:stretch>
            <a:fillRect/>
          </a:stretch>
        </p:blipFill>
        <p:spPr>
          <a:xfrm>
            <a:off x="6230471" y="3334871"/>
            <a:ext cx="67235" cy="67235"/>
          </a:xfrm>
          <a:prstGeom prst="rect">
            <a:avLst/>
          </a:prstGeom>
        </p:spPr>
      </p:pic>
      <p:pic>
        <p:nvPicPr>
          <p:cNvPr id="71" name="object 71"/>
          <p:cNvPicPr/>
          <p:nvPr/>
        </p:nvPicPr>
        <p:blipFill>
          <a:blip r:embed="rId4"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4" name="object 84"/>
          <p:cNvGrpSpPr/>
          <p:nvPr/>
        </p:nvGrpSpPr>
        <p:grpSpPr>
          <a:xfrm>
            <a:off x="3543692" y="1832778"/>
            <a:ext cx="5516096" cy="491378"/>
            <a:chOff x="2136584" y="2077148"/>
            <a:chExt cx="6251575" cy="556895"/>
          </a:xfrm>
        </p:grpSpPr>
        <p:sp>
          <p:nvSpPr>
            <p:cNvPr id="85" name="object 85"/>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6" name="object 86"/>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7" name="object 87"/>
            <p:cNvPicPr/>
            <p:nvPr/>
          </p:nvPicPr>
          <p:blipFill>
            <a:blip r:embed="rId2" cstate="print"/>
            <a:stretch>
              <a:fillRect/>
            </a:stretch>
          </p:blipFill>
          <p:spPr>
            <a:xfrm>
              <a:off x="8196072" y="2404872"/>
              <a:ext cx="76200" cy="228600"/>
            </a:xfrm>
            <a:prstGeom prst="rect">
              <a:avLst/>
            </a:prstGeom>
          </p:spPr>
        </p:pic>
      </p:grpSp>
      <p:sp>
        <p:nvSpPr>
          <p:cNvPr id="88" name="object 88"/>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9" name="object 89"/>
          <p:cNvGrpSpPr/>
          <p:nvPr/>
        </p:nvGrpSpPr>
        <p:grpSpPr>
          <a:xfrm>
            <a:off x="3649980" y="1928309"/>
            <a:ext cx="5610225" cy="395567"/>
            <a:chOff x="2257044" y="2185416"/>
            <a:chExt cx="6358255" cy="448309"/>
          </a:xfrm>
        </p:grpSpPr>
        <p:pic>
          <p:nvPicPr>
            <p:cNvPr id="90" name="object 90"/>
            <p:cNvPicPr/>
            <p:nvPr/>
          </p:nvPicPr>
          <p:blipFill>
            <a:blip r:embed="rId5" cstate="print"/>
            <a:stretch>
              <a:fillRect/>
            </a:stretch>
          </p:blipFill>
          <p:spPr>
            <a:xfrm>
              <a:off x="8386571" y="2185416"/>
              <a:ext cx="228600" cy="76200"/>
            </a:xfrm>
            <a:prstGeom prst="rect">
              <a:avLst/>
            </a:prstGeom>
          </p:spPr>
        </p:pic>
        <p:pic>
          <p:nvPicPr>
            <p:cNvPr id="91" name="object 91"/>
            <p:cNvPicPr/>
            <p:nvPr/>
          </p:nvPicPr>
          <p:blipFill>
            <a:blip r:embed="rId3" cstate="print"/>
            <a:stretch>
              <a:fillRect/>
            </a:stretch>
          </p:blipFill>
          <p:spPr>
            <a:xfrm>
              <a:off x="6210300" y="2404872"/>
              <a:ext cx="76200" cy="228600"/>
            </a:xfrm>
            <a:prstGeom prst="rect">
              <a:avLst/>
            </a:prstGeom>
          </p:spPr>
        </p:pic>
        <p:pic>
          <p:nvPicPr>
            <p:cNvPr id="92" name="object 92"/>
            <p:cNvPicPr/>
            <p:nvPr/>
          </p:nvPicPr>
          <p:blipFill>
            <a:blip r:embed="rId2" cstate="print"/>
            <a:stretch>
              <a:fillRect/>
            </a:stretch>
          </p:blipFill>
          <p:spPr>
            <a:xfrm>
              <a:off x="7211567" y="2404872"/>
              <a:ext cx="76200" cy="228600"/>
            </a:xfrm>
            <a:prstGeom prst="rect">
              <a:avLst/>
            </a:prstGeom>
          </p:spPr>
        </p:pic>
        <p:pic>
          <p:nvPicPr>
            <p:cNvPr id="93" name="object 93"/>
            <p:cNvPicPr/>
            <p:nvPr/>
          </p:nvPicPr>
          <p:blipFill>
            <a:blip r:embed="rId6" cstate="print"/>
            <a:stretch>
              <a:fillRect/>
            </a:stretch>
          </p:blipFill>
          <p:spPr>
            <a:xfrm>
              <a:off x="4227576" y="2404872"/>
              <a:ext cx="76200" cy="228600"/>
            </a:xfrm>
            <a:prstGeom prst="rect">
              <a:avLst/>
            </a:prstGeom>
          </p:spPr>
        </p:pic>
        <p:pic>
          <p:nvPicPr>
            <p:cNvPr id="94" name="object 94"/>
            <p:cNvPicPr/>
            <p:nvPr/>
          </p:nvPicPr>
          <p:blipFill>
            <a:blip r:embed="rId2" cstate="print"/>
            <a:stretch>
              <a:fillRect/>
            </a:stretch>
          </p:blipFill>
          <p:spPr>
            <a:xfrm>
              <a:off x="2257044" y="2404872"/>
              <a:ext cx="76200" cy="228600"/>
            </a:xfrm>
            <a:prstGeom prst="rect">
              <a:avLst/>
            </a:prstGeom>
          </p:spPr>
        </p:pic>
        <p:pic>
          <p:nvPicPr>
            <p:cNvPr id="95" name="object 95"/>
            <p:cNvPicPr/>
            <p:nvPr/>
          </p:nvPicPr>
          <p:blipFill>
            <a:blip r:embed="rId3" cstate="print"/>
            <a:stretch>
              <a:fillRect/>
            </a:stretch>
          </p:blipFill>
          <p:spPr>
            <a:xfrm>
              <a:off x="3238499" y="2404872"/>
              <a:ext cx="76200" cy="228600"/>
            </a:xfrm>
            <a:prstGeom prst="rect">
              <a:avLst/>
            </a:prstGeom>
          </p:spPr>
        </p:pic>
      </p:grpSp>
      <p:sp>
        <p:nvSpPr>
          <p:cNvPr id="96" name="object 96"/>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dirty="0">
              <a:latin typeface="Cambria Math"/>
              <a:cs typeface="Cambria Math"/>
            </a:endParaRPr>
          </a:p>
        </p:txBody>
      </p:sp>
    </p:spTree>
    <p:extLst>
      <p:ext uri="{BB962C8B-B14F-4D97-AF65-F5344CB8AC3E}">
        <p14:creationId xmlns:p14="http://schemas.microsoft.com/office/powerpoint/2010/main" val="2865546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304490" cy="1413622"/>
            <a:chOff x="6099047" y="2906267"/>
            <a:chExt cx="2611755"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4" cstate="print"/>
            <a:stretch>
              <a:fillRect/>
            </a:stretch>
          </p:blipFill>
          <p:spPr>
            <a:xfrm>
              <a:off x="7219187"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2906267"/>
              <a:ext cx="76200" cy="228600"/>
            </a:xfrm>
            <a:prstGeom prst="rect">
              <a:avLst/>
            </a:prstGeom>
          </p:spPr>
        </p:pic>
        <p:sp>
          <p:nvSpPr>
            <p:cNvPr id="53" name="object 53"/>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000000"/>
            </a:solidFill>
          </p:spPr>
          <p:txBody>
            <a:bodyPr wrap="square" lIns="0" tIns="0" rIns="0" bIns="0" rtlCol="0"/>
            <a:lstStyle/>
            <a:p>
              <a:endParaRPr sz="1588"/>
            </a:p>
          </p:txBody>
        </p:sp>
        <p:sp>
          <p:nvSpPr>
            <p:cNvPr id="54" name="object 54"/>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6" name="object 56"/>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8" name="object 58"/>
            <p:cNvPicPr/>
            <p:nvPr/>
          </p:nvPicPr>
          <p:blipFill>
            <a:blip r:embed="rId2" cstate="print"/>
            <a:stretch>
              <a:fillRect/>
            </a:stretch>
          </p:blipFill>
          <p:spPr>
            <a:xfrm>
              <a:off x="8196072" y="3973067"/>
              <a:ext cx="76200" cy="228600"/>
            </a:xfrm>
            <a:prstGeom prst="rect">
              <a:avLst/>
            </a:prstGeom>
          </p:spPr>
        </p:pic>
        <p:sp>
          <p:nvSpPr>
            <p:cNvPr id="59" name="object 59"/>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0" name="object 60"/>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1" name="object 61"/>
            <p:cNvPicPr/>
            <p:nvPr/>
          </p:nvPicPr>
          <p:blipFill>
            <a:blip r:embed="rId2" cstate="print"/>
            <a:stretch>
              <a:fillRect/>
            </a:stretch>
          </p:blipFill>
          <p:spPr>
            <a:xfrm>
              <a:off x="8196072" y="3439667"/>
              <a:ext cx="76200" cy="228600"/>
            </a:xfrm>
            <a:prstGeom prst="rect">
              <a:avLst/>
            </a:prstGeom>
          </p:spPr>
        </p:pic>
        <p:pic>
          <p:nvPicPr>
            <p:cNvPr id="62" name="object 62"/>
            <p:cNvPicPr/>
            <p:nvPr/>
          </p:nvPicPr>
          <p:blipFill>
            <a:blip r:embed="rId2" cstate="print"/>
            <a:stretch>
              <a:fillRect/>
            </a:stretch>
          </p:blipFill>
          <p:spPr>
            <a:xfrm>
              <a:off x="8196072" y="2906267"/>
              <a:ext cx="76200" cy="228600"/>
            </a:xfrm>
            <a:prstGeom prst="rect">
              <a:avLst/>
            </a:prstGeom>
          </p:spPr>
        </p:pic>
        <p:sp>
          <p:nvSpPr>
            <p:cNvPr id="63" name="object 63"/>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4" name="object 64"/>
            <p:cNvSpPr/>
            <p:nvPr/>
          </p:nvSpPr>
          <p:spPr>
            <a:xfrm>
              <a:off x="7264907" y="4034027"/>
              <a:ext cx="1432560" cy="178435"/>
            </a:xfrm>
            <a:custGeom>
              <a:avLst/>
              <a:gdLst/>
              <a:ahLst/>
              <a:cxnLst/>
              <a:rect l="l" t="t" r="r" b="b"/>
              <a:pathLst>
                <a:path w="1432559" h="178435">
                  <a:moveTo>
                    <a:pt x="89916" y="178308"/>
                  </a:moveTo>
                  <a:lnTo>
                    <a:pt x="0" y="89916"/>
                  </a:lnTo>
                  <a:lnTo>
                    <a:pt x="89916" y="0"/>
                  </a:lnTo>
                  <a:lnTo>
                    <a:pt x="89916" y="45720"/>
                  </a:lnTo>
                  <a:lnTo>
                    <a:pt x="1432560" y="45720"/>
                  </a:lnTo>
                  <a:lnTo>
                    <a:pt x="1432560" y="134112"/>
                  </a:lnTo>
                  <a:lnTo>
                    <a:pt x="89916" y="134112"/>
                  </a:lnTo>
                  <a:lnTo>
                    <a:pt x="89916" y="178308"/>
                  </a:lnTo>
                  <a:close/>
                </a:path>
              </a:pathLst>
            </a:custGeom>
            <a:solidFill>
              <a:srgbClr val="00AF50"/>
            </a:solidFill>
          </p:spPr>
          <p:txBody>
            <a:bodyPr wrap="square" lIns="0" tIns="0" rIns="0" bIns="0" rtlCol="0"/>
            <a:lstStyle/>
            <a:p>
              <a:endParaRPr sz="1588"/>
            </a:p>
          </p:txBody>
        </p:sp>
        <p:sp>
          <p:nvSpPr>
            <p:cNvPr id="65" name="object 65"/>
            <p:cNvSpPr/>
            <p:nvPr/>
          </p:nvSpPr>
          <p:spPr>
            <a:xfrm>
              <a:off x="7264907" y="4034027"/>
              <a:ext cx="1432560" cy="178435"/>
            </a:xfrm>
            <a:custGeom>
              <a:avLst/>
              <a:gdLst/>
              <a:ahLst/>
              <a:cxnLst/>
              <a:rect l="l" t="t" r="r" b="b"/>
              <a:pathLst>
                <a:path w="1432559" h="178435">
                  <a:moveTo>
                    <a:pt x="0" y="89916"/>
                  </a:moveTo>
                  <a:lnTo>
                    <a:pt x="89916" y="0"/>
                  </a:lnTo>
                  <a:lnTo>
                    <a:pt x="89916" y="45720"/>
                  </a:lnTo>
                  <a:lnTo>
                    <a:pt x="1432560" y="45720"/>
                  </a:lnTo>
                  <a:lnTo>
                    <a:pt x="1432560" y="134112"/>
                  </a:lnTo>
                  <a:lnTo>
                    <a:pt x="89916" y="134112"/>
                  </a:lnTo>
                  <a:lnTo>
                    <a:pt x="89916" y="178308"/>
                  </a:lnTo>
                  <a:lnTo>
                    <a:pt x="0" y="89916"/>
                  </a:lnTo>
                  <a:close/>
                </a:path>
              </a:pathLst>
            </a:custGeom>
            <a:ln w="25908">
              <a:solidFill>
                <a:srgbClr val="008000"/>
              </a:solidFill>
            </a:ln>
          </p:spPr>
          <p:txBody>
            <a:bodyPr wrap="square" lIns="0" tIns="0" rIns="0" bIns="0" rtlCol="0"/>
            <a:lstStyle/>
            <a:p>
              <a:endParaRPr sz="1588"/>
            </a:p>
          </p:txBody>
        </p:sp>
        <p:pic>
          <p:nvPicPr>
            <p:cNvPr id="66" name="object 66"/>
            <p:cNvPicPr/>
            <p:nvPr/>
          </p:nvPicPr>
          <p:blipFill>
            <a:blip r:embed="rId2" cstate="print"/>
            <a:stretch>
              <a:fillRect/>
            </a:stretch>
          </p:blipFill>
          <p:spPr>
            <a:xfrm>
              <a:off x="7219188" y="3439667"/>
              <a:ext cx="76200" cy="228600"/>
            </a:xfrm>
            <a:prstGeom prst="rect">
              <a:avLst/>
            </a:prstGeom>
          </p:spPr>
        </p:pic>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4" name="object 84"/>
          <p:cNvGrpSpPr/>
          <p:nvPr/>
        </p:nvGrpSpPr>
        <p:grpSpPr>
          <a:xfrm>
            <a:off x="3543692" y="1832778"/>
            <a:ext cx="5516096" cy="491378"/>
            <a:chOff x="2136584" y="2077148"/>
            <a:chExt cx="6251575" cy="556895"/>
          </a:xfrm>
        </p:grpSpPr>
        <p:sp>
          <p:nvSpPr>
            <p:cNvPr id="85" name="object 85"/>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6" name="object 86"/>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7" name="object 87"/>
            <p:cNvPicPr/>
            <p:nvPr/>
          </p:nvPicPr>
          <p:blipFill>
            <a:blip r:embed="rId2" cstate="print"/>
            <a:stretch>
              <a:fillRect/>
            </a:stretch>
          </p:blipFill>
          <p:spPr>
            <a:xfrm>
              <a:off x="8196072" y="2404872"/>
              <a:ext cx="76200" cy="228600"/>
            </a:xfrm>
            <a:prstGeom prst="rect">
              <a:avLst/>
            </a:prstGeom>
          </p:spPr>
        </p:pic>
      </p:grpSp>
      <p:sp>
        <p:nvSpPr>
          <p:cNvPr id="88" name="object 88"/>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9" name="object 89"/>
          <p:cNvGrpSpPr/>
          <p:nvPr/>
        </p:nvGrpSpPr>
        <p:grpSpPr>
          <a:xfrm>
            <a:off x="3649980" y="1928309"/>
            <a:ext cx="5610225" cy="395567"/>
            <a:chOff x="2257044" y="2185416"/>
            <a:chExt cx="6358255" cy="448309"/>
          </a:xfrm>
        </p:grpSpPr>
        <p:pic>
          <p:nvPicPr>
            <p:cNvPr id="90" name="object 90"/>
            <p:cNvPicPr/>
            <p:nvPr/>
          </p:nvPicPr>
          <p:blipFill>
            <a:blip r:embed="rId6" cstate="print"/>
            <a:stretch>
              <a:fillRect/>
            </a:stretch>
          </p:blipFill>
          <p:spPr>
            <a:xfrm>
              <a:off x="8386571" y="2185416"/>
              <a:ext cx="228600" cy="76200"/>
            </a:xfrm>
            <a:prstGeom prst="rect">
              <a:avLst/>
            </a:prstGeom>
          </p:spPr>
        </p:pic>
        <p:pic>
          <p:nvPicPr>
            <p:cNvPr id="91" name="object 91"/>
            <p:cNvPicPr/>
            <p:nvPr/>
          </p:nvPicPr>
          <p:blipFill>
            <a:blip r:embed="rId2" cstate="print"/>
            <a:stretch>
              <a:fillRect/>
            </a:stretch>
          </p:blipFill>
          <p:spPr>
            <a:xfrm>
              <a:off x="7211567" y="2404872"/>
              <a:ext cx="76200" cy="228600"/>
            </a:xfrm>
            <a:prstGeom prst="rect">
              <a:avLst/>
            </a:prstGeom>
          </p:spPr>
        </p:pic>
        <p:pic>
          <p:nvPicPr>
            <p:cNvPr id="92" name="object 92"/>
            <p:cNvPicPr/>
            <p:nvPr/>
          </p:nvPicPr>
          <p:blipFill>
            <a:blip r:embed="rId7" cstate="print"/>
            <a:stretch>
              <a:fillRect/>
            </a:stretch>
          </p:blipFill>
          <p:spPr>
            <a:xfrm>
              <a:off x="4227576" y="2404872"/>
              <a:ext cx="76200" cy="228600"/>
            </a:xfrm>
            <a:prstGeom prst="rect">
              <a:avLst/>
            </a:prstGeom>
          </p:spPr>
        </p:pic>
        <p:pic>
          <p:nvPicPr>
            <p:cNvPr id="93" name="object 93"/>
            <p:cNvPicPr/>
            <p:nvPr/>
          </p:nvPicPr>
          <p:blipFill>
            <a:blip r:embed="rId3" cstate="print"/>
            <a:stretch>
              <a:fillRect/>
            </a:stretch>
          </p:blipFill>
          <p:spPr>
            <a:xfrm>
              <a:off x="6210300" y="2404872"/>
              <a:ext cx="76200" cy="228600"/>
            </a:xfrm>
            <a:prstGeom prst="rect">
              <a:avLst/>
            </a:prstGeom>
          </p:spPr>
        </p:pic>
        <p:pic>
          <p:nvPicPr>
            <p:cNvPr id="94" name="object 94"/>
            <p:cNvPicPr/>
            <p:nvPr/>
          </p:nvPicPr>
          <p:blipFill>
            <a:blip r:embed="rId3" cstate="print"/>
            <a:stretch>
              <a:fillRect/>
            </a:stretch>
          </p:blipFill>
          <p:spPr>
            <a:xfrm>
              <a:off x="3238499" y="2404872"/>
              <a:ext cx="76200" cy="228600"/>
            </a:xfrm>
            <a:prstGeom prst="rect">
              <a:avLst/>
            </a:prstGeom>
          </p:spPr>
        </p:pic>
        <p:pic>
          <p:nvPicPr>
            <p:cNvPr id="95" name="object 95"/>
            <p:cNvPicPr/>
            <p:nvPr/>
          </p:nvPicPr>
          <p:blipFill>
            <a:blip r:embed="rId2" cstate="print"/>
            <a:stretch>
              <a:fillRect/>
            </a:stretch>
          </p:blipFill>
          <p:spPr>
            <a:xfrm>
              <a:off x="2257044" y="2404872"/>
              <a:ext cx="76200" cy="228600"/>
            </a:xfrm>
            <a:prstGeom prst="rect">
              <a:avLst/>
            </a:prstGeom>
          </p:spPr>
        </p:pic>
      </p:grpSp>
      <p:sp>
        <p:nvSpPr>
          <p:cNvPr id="96" name="object 96"/>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
        <p:nvSpPr>
          <p:cNvPr id="188" name="TextBox 187">
            <a:extLst>
              <a:ext uri="{FF2B5EF4-FFF2-40B4-BE49-F238E27FC236}">
                <a16:creationId xmlns:a16="http://schemas.microsoft.com/office/drawing/2014/main" id="{EEAFA728-7599-450B-BA6F-DB732403C758}"/>
              </a:ext>
            </a:extLst>
          </p:cNvPr>
          <p:cNvSpPr txBox="1"/>
          <p:nvPr/>
        </p:nvSpPr>
        <p:spPr>
          <a:xfrm>
            <a:off x="3048786" y="6200183"/>
            <a:ext cx="6094428"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100"/>
              <a:buFont typeface="Arial"/>
              <a:buNone/>
            </a:pPr>
            <a:r>
              <a:rPr lang="en-US" sz="1400" dirty="0">
                <a:solidFill>
                  <a:schemeClr val="tx1">
                    <a:lumMod val="50000"/>
                    <a:lumOff val="50000"/>
                  </a:schemeClr>
                </a:solidFill>
                <a:latin typeface="Arial" panose="020B0604020202020204" pitchFamily="34" charset="0"/>
                <a:cs typeface="Arial" panose="020B0604020202020204" pitchFamily="34" charset="0"/>
              </a:rPr>
              <a:t>The Transformer Epiphany Speech - Vision - Text</a:t>
            </a:r>
            <a:r>
              <a:rPr lang="en-US" sz="1400" dirty="0">
                <a:solidFill>
                  <a:schemeClr val="tx1">
                    <a:lumMod val="50000"/>
                    <a:lumOff val="50000"/>
                  </a:schemeClr>
                </a:solidFill>
                <a:latin typeface="Arial" panose="020B0604020202020204" pitchFamily="34" charset="0"/>
                <a:cs typeface="Arial" panose="020B0604020202020204" pitchFamily="34" charset="0"/>
                <a:sym typeface="Arial"/>
              </a:rPr>
              <a:t> </a:t>
            </a:r>
            <a:r>
              <a:rPr lang="en-US" sz="1400" b="0" i="0" u="none" strike="noStrike" cap="none" dirty="0">
                <a:solidFill>
                  <a:schemeClr val="tx1">
                    <a:lumMod val="50000"/>
                    <a:lumOff val="50000"/>
                  </a:schemeClr>
                </a:solidFill>
                <a:latin typeface="Arial" panose="020B0604020202020204" pitchFamily="34" charset="0"/>
                <a:ea typeface="Arial"/>
                <a:cs typeface="Arial" panose="020B0604020202020204" pitchFamily="34" charset="0"/>
                <a:sym typeface="Arial"/>
              </a:rPr>
              <a:t>Workshop</a:t>
            </a:r>
          </a:p>
        </p:txBody>
      </p:sp>
    </p:spTree>
    <p:extLst>
      <p:ext uri="{BB962C8B-B14F-4D97-AF65-F5344CB8AC3E}">
        <p14:creationId xmlns:p14="http://schemas.microsoft.com/office/powerpoint/2010/main" val="1312551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429435" cy="1413622"/>
            <a:chOff x="6099047" y="2906267"/>
            <a:chExt cx="275336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4" cstate="print"/>
            <a:stretch>
              <a:fillRect/>
            </a:stretch>
          </p:blipFill>
          <p:spPr>
            <a:xfrm>
              <a:off x="7219187"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2906267"/>
              <a:ext cx="76200" cy="228600"/>
            </a:xfrm>
            <a:prstGeom prst="rect">
              <a:avLst/>
            </a:prstGeom>
          </p:spPr>
        </p:pic>
        <p:sp>
          <p:nvSpPr>
            <p:cNvPr id="53" name="object 53"/>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BF0000"/>
            </a:solidFill>
          </p:spPr>
          <p:txBody>
            <a:bodyPr wrap="square" lIns="0" tIns="0" rIns="0" bIns="0" rtlCol="0"/>
            <a:lstStyle/>
            <a:p>
              <a:endParaRPr sz="1588"/>
            </a:p>
          </p:txBody>
        </p:sp>
        <p:sp>
          <p:nvSpPr>
            <p:cNvPr id="54" name="object 54"/>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6" name="object 56"/>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8" name="object 58"/>
            <p:cNvPicPr/>
            <p:nvPr/>
          </p:nvPicPr>
          <p:blipFill>
            <a:blip r:embed="rId2" cstate="print"/>
            <a:stretch>
              <a:fillRect/>
            </a:stretch>
          </p:blipFill>
          <p:spPr>
            <a:xfrm>
              <a:off x="8196072" y="3973067"/>
              <a:ext cx="76200" cy="228600"/>
            </a:xfrm>
            <a:prstGeom prst="rect">
              <a:avLst/>
            </a:prstGeom>
          </p:spPr>
        </p:pic>
        <p:sp>
          <p:nvSpPr>
            <p:cNvPr id="59" name="object 59"/>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0" name="object 60"/>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1" name="object 61"/>
            <p:cNvPicPr/>
            <p:nvPr/>
          </p:nvPicPr>
          <p:blipFill>
            <a:blip r:embed="rId2" cstate="print"/>
            <a:stretch>
              <a:fillRect/>
            </a:stretch>
          </p:blipFill>
          <p:spPr>
            <a:xfrm>
              <a:off x="8196072" y="3439667"/>
              <a:ext cx="76200" cy="228600"/>
            </a:xfrm>
            <a:prstGeom prst="rect">
              <a:avLst/>
            </a:prstGeom>
          </p:spPr>
        </p:pic>
        <p:pic>
          <p:nvPicPr>
            <p:cNvPr id="62" name="object 62"/>
            <p:cNvPicPr/>
            <p:nvPr/>
          </p:nvPicPr>
          <p:blipFill>
            <a:blip r:embed="rId2" cstate="print"/>
            <a:stretch>
              <a:fillRect/>
            </a:stretch>
          </p:blipFill>
          <p:spPr>
            <a:xfrm>
              <a:off x="8196072" y="2906267"/>
              <a:ext cx="76200" cy="228600"/>
            </a:xfrm>
            <a:prstGeom prst="rect">
              <a:avLst/>
            </a:prstGeom>
          </p:spPr>
        </p:pic>
        <p:sp>
          <p:nvSpPr>
            <p:cNvPr id="63" name="object 63"/>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4" name="object 64"/>
            <p:cNvSpPr/>
            <p:nvPr/>
          </p:nvSpPr>
          <p:spPr>
            <a:xfrm>
              <a:off x="6771132" y="3694175"/>
              <a:ext cx="2068195" cy="203200"/>
            </a:xfrm>
            <a:custGeom>
              <a:avLst/>
              <a:gdLst/>
              <a:ahLst/>
              <a:cxnLst/>
              <a:rect l="l" t="t" r="r" b="b"/>
              <a:pathLst>
                <a:path w="2068195" h="203200">
                  <a:moveTo>
                    <a:pt x="102107" y="202691"/>
                  </a:moveTo>
                  <a:lnTo>
                    <a:pt x="0" y="102108"/>
                  </a:lnTo>
                  <a:lnTo>
                    <a:pt x="102107" y="0"/>
                  </a:lnTo>
                  <a:lnTo>
                    <a:pt x="102107" y="57912"/>
                  </a:lnTo>
                  <a:lnTo>
                    <a:pt x="2068067" y="57912"/>
                  </a:lnTo>
                  <a:lnTo>
                    <a:pt x="2068067" y="144780"/>
                  </a:lnTo>
                  <a:lnTo>
                    <a:pt x="102107" y="144780"/>
                  </a:lnTo>
                  <a:lnTo>
                    <a:pt x="102107" y="202691"/>
                  </a:lnTo>
                  <a:close/>
                </a:path>
              </a:pathLst>
            </a:custGeom>
            <a:solidFill>
              <a:srgbClr val="00AF50"/>
            </a:solidFill>
          </p:spPr>
          <p:txBody>
            <a:bodyPr wrap="square" lIns="0" tIns="0" rIns="0" bIns="0" rtlCol="0"/>
            <a:lstStyle/>
            <a:p>
              <a:endParaRPr sz="1588"/>
            </a:p>
          </p:txBody>
        </p:sp>
        <p:sp>
          <p:nvSpPr>
            <p:cNvPr id="65" name="object 65"/>
            <p:cNvSpPr/>
            <p:nvPr/>
          </p:nvSpPr>
          <p:spPr>
            <a:xfrm>
              <a:off x="6771132" y="3694175"/>
              <a:ext cx="2068195" cy="203200"/>
            </a:xfrm>
            <a:custGeom>
              <a:avLst/>
              <a:gdLst/>
              <a:ahLst/>
              <a:cxnLst/>
              <a:rect l="l" t="t" r="r" b="b"/>
              <a:pathLst>
                <a:path w="2068195" h="203200">
                  <a:moveTo>
                    <a:pt x="0" y="102108"/>
                  </a:moveTo>
                  <a:lnTo>
                    <a:pt x="102107" y="0"/>
                  </a:lnTo>
                  <a:lnTo>
                    <a:pt x="102107" y="57912"/>
                  </a:lnTo>
                  <a:lnTo>
                    <a:pt x="2068067" y="57912"/>
                  </a:lnTo>
                  <a:lnTo>
                    <a:pt x="2068067" y="144780"/>
                  </a:lnTo>
                  <a:lnTo>
                    <a:pt x="102107" y="144780"/>
                  </a:lnTo>
                  <a:lnTo>
                    <a:pt x="102107" y="202691"/>
                  </a:lnTo>
                  <a:lnTo>
                    <a:pt x="0" y="102108"/>
                  </a:lnTo>
                  <a:close/>
                </a:path>
              </a:pathLst>
            </a:custGeom>
            <a:ln w="25908">
              <a:solidFill>
                <a:srgbClr val="008000"/>
              </a:solidFill>
            </a:ln>
          </p:spPr>
          <p:txBody>
            <a:bodyPr wrap="square" lIns="0" tIns="0" rIns="0" bIns="0" rtlCol="0"/>
            <a:lstStyle/>
            <a:p>
              <a:endParaRPr sz="1588"/>
            </a:p>
          </p:txBody>
        </p:sp>
        <p:pic>
          <p:nvPicPr>
            <p:cNvPr id="66" name="object 66"/>
            <p:cNvPicPr/>
            <p:nvPr/>
          </p:nvPicPr>
          <p:blipFill>
            <a:blip r:embed="rId2" cstate="print"/>
            <a:stretch>
              <a:fillRect/>
            </a:stretch>
          </p:blipFill>
          <p:spPr>
            <a:xfrm>
              <a:off x="7219188" y="3439667"/>
              <a:ext cx="76200" cy="228600"/>
            </a:xfrm>
            <a:prstGeom prst="rect">
              <a:avLst/>
            </a:prstGeom>
          </p:spPr>
        </p:pic>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5" name="object 75"/>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6" name="object 76"/>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7" name="object 77"/>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1" name="object 81"/>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2" name="object 82"/>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3" name="object 83"/>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4" name="object 84"/>
          <p:cNvGrpSpPr/>
          <p:nvPr/>
        </p:nvGrpSpPr>
        <p:grpSpPr>
          <a:xfrm>
            <a:off x="3543692" y="1832778"/>
            <a:ext cx="5516096" cy="491378"/>
            <a:chOff x="2136584" y="2077148"/>
            <a:chExt cx="6251575" cy="556895"/>
          </a:xfrm>
        </p:grpSpPr>
        <p:sp>
          <p:nvSpPr>
            <p:cNvPr id="85" name="object 85"/>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6" name="object 86"/>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7" name="object 87"/>
            <p:cNvPicPr/>
            <p:nvPr/>
          </p:nvPicPr>
          <p:blipFill>
            <a:blip r:embed="rId2" cstate="print"/>
            <a:stretch>
              <a:fillRect/>
            </a:stretch>
          </p:blipFill>
          <p:spPr>
            <a:xfrm>
              <a:off x="8196072" y="2404872"/>
              <a:ext cx="76200" cy="228600"/>
            </a:xfrm>
            <a:prstGeom prst="rect">
              <a:avLst/>
            </a:prstGeom>
          </p:spPr>
        </p:pic>
      </p:grpSp>
      <p:sp>
        <p:nvSpPr>
          <p:cNvPr id="88" name="object 88"/>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9" name="object 89"/>
          <p:cNvGrpSpPr/>
          <p:nvPr/>
        </p:nvGrpSpPr>
        <p:grpSpPr>
          <a:xfrm>
            <a:off x="3649980" y="1928309"/>
            <a:ext cx="5610225" cy="395567"/>
            <a:chOff x="2257044" y="2185416"/>
            <a:chExt cx="6358255" cy="448309"/>
          </a:xfrm>
        </p:grpSpPr>
        <p:pic>
          <p:nvPicPr>
            <p:cNvPr id="90" name="object 90"/>
            <p:cNvPicPr/>
            <p:nvPr/>
          </p:nvPicPr>
          <p:blipFill>
            <a:blip r:embed="rId6" cstate="print"/>
            <a:stretch>
              <a:fillRect/>
            </a:stretch>
          </p:blipFill>
          <p:spPr>
            <a:xfrm>
              <a:off x="8386571" y="2185416"/>
              <a:ext cx="228600" cy="76200"/>
            </a:xfrm>
            <a:prstGeom prst="rect">
              <a:avLst/>
            </a:prstGeom>
          </p:spPr>
        </p:pic>
        <p:pic>
          <p:nvPicPr>
            <p:cNvPr id="91" name="object 91"/>
            <p:cNvPicPr/>
            <p:nvPr/>
          </p:nvPicPr>
          <p:blipFill>
            <a:blip r:embed="rId2" cstate="print"/>
            <a:stretch>
              <a:fillRect/>
            </a:stretch>
          </p:blipFill>
          <p:spPr>
            <a:xfrm>
              <a:off x="7211567" y="2404872"/>
              <a:ext cx="76200" cy="228600"/>
            </a:xfrm>
            <a:prstGeom prst="rect">
              <a:avLst/>
            </a:prstGeom>
          </p:spPr>
        </p:pic>
        <p:pic>
          <p:nvPicPr>
            <p:cNvPr id="92" name="object 92"/>
            <p:cNvPicPr/>
            <p:nvPr/>
          </p:nvPicPr>
          <p:blipFill>
            <a:blip r:embed="rId7" cstate="print"/>
            <a:stretch>
              <a:fillRect/>
            </a:stretch>
          </p:blipFill>
          <p:spPr>
            <a:xfrm>
              <a:off x="4227576" y="2404872"/>
              <a:ext cx="76200" cy="228600"/>
            </a:xfrm>
            <a:prstGeom prst="rect">
              <a:avLst/>
            </a:prstGeom>
          </p:spPr>
        </p:pic>
        <p:pic>
          <p:nvPicPr>
            <p:cNvPr id="93" name="object 93"/>
            <p:cNvPicPr/>
            <p:nvPr/>
          </p:nvPicPr>
          <p:blipFill>
            <a:blip r:embed="rId3" cstate="print"/>
            <a:stretch>
              <a:fillRect/>
            </a:stretch>
          </p:blipFill>
          <p:spPr>
            <a:xfrm>
              <a:off x="6210300" y="2404872"/>
              <a:ext cx="76200" cy="228600"/>
            </a:xfrm>
            <a:prstGeom prst="rect">
              <a:avLst/>
            </a:prstGeom>
          </p:spPr>
        </p:pic>
        <p:pic>
          <p:nvPicPr>
            <p:cNvPr id="94" name="object 94"/>
            <p:cNvPicPr/>
            <p:nvPr/>
          </p:nvPicPr>
          <p:blipFill>
            <a:blip r:embed="rId3" cstate="print"/>
            <a:stretch>
              <a:fillRect/>
            </a:stretch>
          </p:blipFill>
          <p:spPr>
            <a:xfrm>
              <a:off x="3238499" y="2404872"/>
              <a:ext cx="76200" cy="228600"/>
            </a:xfrm>
            <a:prstGeom prst="rect">
              <a:avLst/>
            </a:prstGeom>
          </p:spPr>
        </p:pic>
        <p:pic>
          <p:nvPicPr>
            <p:cNvPr id="95" name="object 95"/>
            <p:cNvPicPr/>
            <p:nvPr/>
          </p:nvPicPr>
          <p:blipFill>
            <a:blip r:embed="rId2" cstate="print"/>
            <a:stretch>
              <a:fillRect/>
            </a:stretch>
          </p:blipFill>
          <p:spPr>
            <a:xfrm>
              <a:off x="2257044" y="2404872"/>
              <a:ext cx="76200" cy="228600"/>
            </a:xfrm>
            <a:prstGeom prst="rect">
              <a:avLst/>
            </a:prstGeom>
          </p:spPr>
        </p:pic>
      </p:grpSp>
      <p:sp>
        <p:nvSpPr>
          <p:cNvPr id="96" name="object 96"/>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2665581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019860" cy="1413622"/>
            <a:chOff x="6099047" y="2906267"/>
            <a:chExt cx="2289175"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4" cstate="print"/>
            <a:stretch>
              <a:fillRect/>
            </a:stretch>
          </p:blipFill>
          <p:spPr>
            <a:xfrm>
              <a:off x="7219187"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2906267"/>
              <a:ext cx="76200" cy="228600"/>
            </a:xfrm>
            <a:prstGeom prst="rect">
              <a:avLst/>
            </a:prstGeom>
          </p:spPr>
        </p:pic>
        <p:sp>
          <p:nvSpPr>
            <p:cNvPr id="53" name="object 53"/>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BF0000"/>
            </a:solidFill>
          </p:spPr>
          <p:txBody>
            <a:bodyPr wrap="square" lIns="0" tIns="0" rIns="0" bIns="0" rtlCol="0"/>
            <a:lstStyle/>
            <a:p>
              <a:endParaRPr sz="1588"/>
            </a:p>
          </p:txBody>
        </p:sp>
        <p:sp>
          <p:nvSpPr>
            <p:cNvPr id="54" name="object 54"/>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6" name="object 56"/>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8" name="object 58"/>
            <p:cNvPicPr/>
            <p:nvPr/>
          </p:nvPicPr>
          <p:blipFill>
            <a:blip r:embed="rId2" cstate="print"/>
            <a:stretch>
              <a:fillRect/>
            </a:stretch>
          </p:blipFill>
          <p:spPr>
            <a:xfrm>
              <a:off x="8196072" y="3973067"/>
              <a:ext cx="76200" cy="228600"/>
            </a:xfrm>
            <a:prstGeom prst="rect">
              <a:avLst/>
            </a:prstGeom>
          </p:spPr>
        </p:pic>
        <p:sp>
          <p:nvSpPr>
            <p:cNvPr id="59" name="object 59"/>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0" name="object 60"/>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1" name="object 61"/>
            <p:cNvPicPr/>
            <p:nvPr/>
          </p:nvPicPr>
          <p:blipFill>
            <a:blip r:embed="rId2" cstate="print"/>
            <a:stretch>
              <a:fillRect/>
            </a:stretch>
          </p:blipFill>
          <p:spPr>
            <a:xfrm>
              <a:off x="8196072" y="3439667"/>
              <a:ext cx="76200" cy="228600"/>
            </a:xfrm>
            <a:prstGeom prst="rect">
              <a:avLst/>
            </a:prstGeom>
          </p:spPr>
        </p:pic>
        <p:pic>
          <p:nvPicPr>
            <p:cNvPr id="62" name="object 62"/>
            <p:cNvPicPr/>
            <p:nvPr/>
          </p:nvPicPr>
          <p:blipFill>
            <a:blip r:embed="rId2" cstate="print"/>
            <a:stretch>
              <a:fillRect/>
            </a:stretch>
          </p:blipFill>
          <p:spPr>
            <a:xfrm>
              <a:off x="8196072" y="2906267"/>
              <a:ext cx="76200" cy="228600"/>
            </a:xfrm>
            <a:prstGeom prst="rect">
              <a:avLst/>
            </a:prstGeom>
          </p:spPr>
        </p:pic>
        <p:sp>
          <p:nvSpPr>
            <p:cNvPr id="63" name="object 63"/>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pic>
          <p:nvPicPr>
            <p:cNvPr id="64" name="object 64"/>
            <p:cNvPicPr/>
            <p:nvPr/>
          </p:nvPicPr>
          <p:blipFill>
            <a:blip r:embed="rId2" cstate="print"/>
            <a:stretch>
              <a:fillRect/>
            </a:stretch>
          </p:blipFill>
          <p:spPr>
            <a:xfrm>
              <a:off x="7219188" y="3439667"/>
              <a:ext cx="76200" cy="228600"/>
            </a:xfrm>
            <a:prstGeom prst="rect">
              <a:avLst/>
            </a:prstGeom>
          </p:spPr>
        </p:pic>
      </p:grpSp>
      <p:sp>
        <p:nvSpPr>
          <p:cNvPr id="65" name="object 65"/>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6" name="object 66"/>
          <p:cNvPicPr/>
          <p:nvPr/>
        </p:nvPicPr>
        <p:blipFill>
          <a:blip r:embed="rId5" cstate="print"/>
          <a:stretch>
            <a:fillRect/>
          </a:stretch>
        </p:blipFill>
        <p:spPr>
          <a:xfrm>
            <a:off x="6499412" y="3334871"/>
            <a:ext cx="67235" cy="67235"/>
          </a:xfrm>
          <a:prstGeom prst="rect">
            <a:avLst/>
          </a:prstGeom>
        </p:spPr>
      </p:pic>
      <p:pic>
        <p:nvPicPr>
          <p:cNvPr id="67" name="object 67"/>
          <p:cNvPicPr/>
          <p:nvPr/>
        </p:nvPicPr>
        <p:blipFill>
          <a:blip r:embed="rId5" cstate="print"/>
          <a:stretch>
            <a:fillRect/>
          </a:stretch>
        </p:blipFill>
        <p:spPr>
          <a:xfrm>
            <a:off x="6364941" y="3334871"/>
            <a:ext cx="67235" cy="67235"/>
          </a:xfrm>
          <a:prstGeom prst="rect">
            <a:avLst/>
          </a:prstGeom>
        </p:spPr>
      </p:pic>
      <p:pic>
        <p:nvPicPr>
          <p:cNvPr id="68" name="object 68"/>
          <p:cNvPicPr/>
          <p:nvPr/>
        </p:nvPicPr>
        <p:blipFill>
          <a:blip r:embed="rId5" cstate="print"/>
          <a:stretch>
            <a:fillRect/>
          </a:stretch>
        </p:blipFill>
        <p:spPr>
          <a:xfrm>
            <a:off x="6230471" y="3334871"/>
            <a:ext cx="67235" cy="67235"/>
          </a:xfrm>
          <a:prstGeom prst="rect">
            <a:avLst/>
          </a:prstGeom>
        </p:spPr>
      </p:pic>
      <p:pic>
        <p:nvPicPr>
          <p:cNvPr id="69" name="object 69"/>
          <p:cNvPicPr/>
          <p:nvPr/>
        </p:nvPicPr>
        <p:blipFill>
          <a:blip r:embed="rId5" cstate="print"/>
          <a:stretch>
            <a:fillRect/>
          </a:stretch>
        </p:blipFill>
        <p:spPr>
          <a:xfrm>
            <a:off x="6096000" y="3334871"/>
            <a:ext cx="67235" cy="67235"/>
          </a:xfrm>
          <a:prstGeom prst="rect">
            <a:avLst/>
          </a:prstGeom>
        </p:spPr>
      </p:pic>
      <p:sp>
        <p:nvSpPr>
          <p:cNvPr id="70" name="object 70"/>
          <p:cNvSpPr txBox="1"/>
          <p:nvPr/>
        </p:nvSpPr>
        <p:spPr>
          <a:xfrm>
            <a:off x="3508368" y="3996034"/>
            <a:ext cx="391085"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1" name="object 71"/>
          <p:cNvSpPr txBox="1"/>
          <p:nvPr/>
        </p:nvSpPr>
        <p:spPr>
          <a:xfrm>
            <a:off x="435281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2" name="object 72"/>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4" name="object 74"/>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5" name="object 75"/>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6" name="object 76"/>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7" name="object 77"/>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0" name="object 80"/>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1" name="object 81"/>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2" name="object 82"/>
          <p:cNvGrpSpPr/>
          <p:nvPr/>
        </p:nvGrpSpPr>
        <p:grpSpPr>
          <a:xfrm>
            <a:off x="3462393" y="4305075"/>
            <a:ext cx="5775512" cy="201706"/>
            <a:chOff x="2044445" y="4879085"/>
            <a:chExt cx="6545580" cy="228600"/>
          </a:xfrm>
        </p:grpSpPr>
        <p:sp>
          <p:nvSpPr>
            <p:cNvPr id="83" name="object 83"/>
            <p:cNvSpPr/>
            <p:nvPr/>
          </p:nvSpPr>
          <p:spPr>
            <a:xfrm>
              <a:off x="2057399" y="4892039"/>
              <a:ext cx="6520180" cy="203200"/>
            </a:xfrm>
            <a:custGeom>
              <a:avLst/>
              <a:gdLst/>
              <a:ahLst/>
              <a:cxnLst/>
              <a:rect l="l" t="t" r="r" b="b"/>
              <a:pathLst>
                <a:path w="6520180" h="203200">
                  <a:moveTo>
                    <a:pt x="102108" y="202692"/>
                  </a:moveTo>
                  <a:lnTo>
                    <a:pt x="0" y="100583"/>
                  </a:lnTo>
                  <a:lnTo>
                    <a:pt x="102108" y="0"/>
                  </a:lnTo>
                  <a:lnTo>
                    <a:pt x="102108" y="57912"/>
                  </a:lnTo>
                  <a:lnTo>
                    <a:pt x="6519671" y="57912"/>
                  </a:lnTo>
                  <a:lnTo>
                    <a:pt x="6519671" y="144780"/>
                  </a:lnTo>
                  <a:lnTo>
                    <a:pt x="102108" y="144780"/>
                  </a:lnTo>
                  <a:lnTo>
                    <a:pt x="102108" y="202692"/>
                  </a:lnTo>
                  <a:close/>
                </a:path>
              </a:pathLst>
            </a:custGeom>
            <a:solidFill>
              <a:srgbClr val="00AF50"/>
            </a:solidFill>
          </p:spPr>
          <p:txBody>
            <a:bodyPr wrap="square" lIns="0" tIns="0" rIns="0" bIns="0" rtlCol="0"/>
            <a:lstStyle/>
            <a:p>
              <a:endParaRPr sz="1588"/>
            </a:p>
          </p:txBody>
        </p:sp>
        <p:sp>
          <p:nvSpPr>
            <p:cNvPr id="84" name="object 84"/>
            <p:cNvSpPr/>
            <p:nvPr/>
          </p:nvSpPr>
          <p:spPr>
            <a:xfrm>
              <a:off x="2057399" y="4892039"/>
              <a:ext cx="6520180" cy="203200"/>
            </a:xfrm>
            <a:custGeom>
              <a:avLst/>
              <a:gdLst/>
              <a:ahLst/>
              <a:cxnLst/>
              <a:rect l="l" t="t" r="r" b="b"/>
              <a:pathLst>
                <a:path w="6520180" h="203200">
                  <a:moveTo>
                    <a:pt x="0" y="100583"/>
                  </a:moveTo>
                  <a:lnTo>
                    <a:pt x="102108" y="0"/>
                  </a:lnTo>
                  <a:lnTo>
                    <a:pt x="102108" y="57912"/>
                  </a:lnTo>
                  <a:lnTo>
                    <a:pt x="6519671" y="57912"/>
                  </a:lnTo>
                  <a:lnTo>
                    <a:pt x="6519671" y="144780"/>
                  </a:lnTo>
                  <a:lnTo>
                    <a:pt x="102108" y="144780"/>
                  </a:lnTo>
                  <a:lnTo>
                    <a:pt x="102108" y="202692"/>
                  </a:lnTo>
                  <a:lnTo>
                    <a:pt x="0" y="100583"/>
                  </a:lnTo>
                  <a:close/>
                </a:path>
              </a:pathLst>
            </a:custGeom>
            <a:ln w="25908">
              <a:solidFill>
                <a:srgbClr val="008000"/>
              </a:solidFill>
            </a:ln>
          </p:spPr>
          <p:txBody>
            <a:bodyPr wrap="square" lIns="0" tIns="0" rIns="0" bIns="0" rtlCol="0"/>
            <a:lstStyle/>
            <a:p>
              <a:endParaRPr sz="1588"/>
            </a:p>
          </p:txBody>
        </p:sp>
      </p:grpSp>
      <p:grpSp>
        <p:nvGrpSpPr>
          <p:cNvPr id="85" name="object 85"/>
          <p:cNvGrpSpPr/>
          <p:nvPr/>
        </p:nvGrpSpPr>
        <p:grpSpPr>
          <a:xfrm>
            <a:off x="3543692" y="1832778"/>
            <a:ext cx="5516096" cy="491378"/>
            <a:chOff x="2136584" y="2077148"/>
            <a:chExt cx="6251575" cy="556895"/>
          </a:xfrm>
        </p:grpSpPr>
        <p:sp>
          <p:nvSpPr>
            <p:cNvPr id="86" name="object 86"/>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7" name="object 87"/>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8" name="object 88"/>
            <p:cNvPicPr/>
            <p:nvPr/>
          </p:nvPicPr>
          <p:blipFill>
            <a:blip r:embed="rId2" cstate="print"/>
            <a:stretch>
              <a:fillRect/>
            </a:stretch>
          </p:blipFill>
          <p:spPr>
            <a:xfrm>
              <a:off x="8196072" y="2404872"/>
              <a:ext cx="76200" cy="228600"/>
            </a:xfrm>
            <a:prstGeom prst="rect">
              <a:avLst/>
            </a:prstGeom>
          </p:spPr>
        </p:pic>
      </p:grpSp>
      <p:sp>
        <p:nvSpPr>
          <p:cNvPr id="89" name="object 89"/>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90" name="object 90"/>
          <p:cNvGrpSpPr/>
          <p:nvPr/>
        </p:nvGrpSpPr>
        <p:grpSpPr>
          <a:xfrm>
            <a:off x="3649980" y="1928309"/>
            <a:ext cx="5610225" cy="395567"/>
            <a:chOff x="2257044" y="2185416"/>
            <a:chExt cx="6358255" cy="448309"/>
          </a:xfrm>
        </p:grpSpPr>
        <p:pic>
          <p:nvPicPr>
            <p:cNvPr id="91" name="object 91"/>
            <p:cNvPicPr/>
            <p:nvPr/>
          </p:nvPicPr>
          <p:blipFill>
            <a:blip r:embed="rId6" cstate="print"/>
            <a:stretch>
              <a:fillRect/>
            </a:stretch>
          </p:blipFill>
          <p:spPr>
            <a:xfrm>
              <a:off x="8386571" y="2185416"/>
              <a:ext cx="228600" cy="76200"/>
            </a:xfrm>
            <a:prstGeom prst="rect">
              <a:avLst/>
            </a:prstGeom>
          </p:spPr>
        </p:pic>
        <p:pic>
          <p:nvPicPr>
            <p:cNvPr id="92" name="object 92"/>
            <p:cNvPicPr/>
            <p:nvPr/>
          </p:nvPicPr>
          <p:blipFill>
            <a:blip r:embed="rId2" cstate="print"/>
            <a:stretch>
              <a:fillRect/>
            </a:stretch>
          </p:blipFill>
          <p:spPr>
            <a:xfrm>
              <a:off x="7211567" y="2404872"/>
              <a:ext cx="76200" cy="228600"/>
            </a:xfrm>
            <a:prstGeom prst="rect">
              <a:avLst/>
            </a:prstGeom>
          </p:spPr>
        </p:pic>
        <p:pic>
          <p:nvPicPr>
            <p:cNvPr id="93" name="object 93"/>
            <p:cNvPicPr/>
            <p:nvPr/>
          </p:nvPicPr>
          <p:blipFill>
            <a:blip r:embed="rId7" cstate="print"/>
            <a:stretch>
              <a:fillRect/>
            </a:stretch>
          </p:blipFill>
          <p:spPr>
            <a:xfrm>
              <a:off x="4227576" y="2404872"/>
              <a:ext cx="76200" cy="228600"/>
            </a:xfrm>
            <a:prstGeom prst="rect">
              <a:avLst/>
            </a:prstGeom>
          </p:spPr>
        </p:pic>
        <p:pic>
          <p:nvPicPr>
            <p:cNvPr id="94" name="object 94"/>
            <p:cNvPicPr/>
            <p:nvPr/>
          </p:nvPicPr>
          <p:blipFill>
            <a:blip r:embed="rId3" cstate="print"/>
            <a:stretch>
              <a:fillRect/>
            </a:stretch>
          </p:blipFill>
          <p:spPr>
            <a:xfrm>
              <a:off x="6210300" y="2404872"/>
              <a:ext cx="76200" cy="228600"/>
            </a:xfrm>
            <a:prstGeom prst="rect">
              <a:avLst/>
            </a:prstGeom>
          </p:spPr>
        </p:pic>
        <p:pic>
          <p:nvPicPr>
            <p:cNvPr id="95" name="object 95"/>
            <p:cNvPicPr/>
            <p:nvPr/>
          </p:nvPicPr>
          <p:blipFill>
            <a:blip r:embed="rId3" cstate="print"/>
            <a:stretch>
              <a:fillRect/>
            </a:stretch>
          </p:blipFill>
          <p:spPr>
            <a:xfrm>
              <a:off x="3238499" y="2404872"/>
              <a:ext cx="76200" cy="228600"/>
            </a:xfrm>
            <a:prstGeom prst="rect">
              <a:avLst/>
            </a:prstGeom>
          </p:spPr>
        </p:pic>
        <p:pic>
          <p:nvPicPr>
            <p:cNvPr id="96" name="object 96"/>
            <p:cNvPicPr/>
            <p:nvPr/>
          </p:nvPicPr>
          <p:blipFill>
            <a:blip r:embed="rId2" cstate="print"/>
            <a:stretch>
              <a:fillRect/>
            </a:stretch>
          </p:blipFill>
          <p:spPr>
            <a:xfrm>
              <a:off x="2257044" y="2404872"/>
              <a:ext cx="76200" cy="228600"/>
            </a:xfrm>
            <a:prstGeom prst="rect">
              <a:avLst/>
            </a:prstGeom>
          </p:spPr>
        </p:pic>
      </p:grpSp>
      <p:sp>
        <p:nvSpPr>
          <p:cNvPr id="97" name="object 97"/>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910450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8017" y="635557"/>
            <a:ext cx="6533589" cy="498244"/>
          </a:xfrm>
          <a:prstGeom prst="rect">
            <a:avLst/>
          </a:prstGeom>
        </p:spPr>
        <p:txBody>
          <a:bodyPr vert="horz" wrap="square" lIns="0" tIns="11206" rIns="0" bIns="0" rtlCol="0">
            <a:spAutoFit/>
          </a:bodyPr>
          <a:lstStyle/>
          <a:p>
            <a:pPr marL="11206">
              <a:lnSpc>
                <a:spcPct val="100000"/>
              </a:lnSpc>
              <a:spcBef>
                <a:spcPts val="88"/>
              </a:spcBef>
            </a:pPr>
            <a:r>
              <a:rPr spc="-4" dirty="0"/>
              <a:t>Back </a:t>
            </a:r>
            <a:r>
              <a:rPr spc="-18" dirty="0"/>
              <a:t>Propagation</a:t>
            </a:r>
            <a:r>
              <a:rPr spc="-26" dirty="0"/>
              <a:t> </a:t>
            </a:r>
            <a:r>
              <a:rPr spc="-9" dirty="0"/>
              <a:t>Through</a:t>
            </a:r>
            <a:r>
              <a:rPr spc="-31" dirty="0"/>
              <a:t> </a:t>
            </a:r>
            <a:r>
              <a:rPr spc="4" dirty="0"/>
              <a:t>Time</a:t>
            </a:r>
          </a:p>
        </p:txBody>
      </p:sp>
      <p:grpSp>
        <p:nvGrpSpPr>
          <p:cNvPr id="3" name="object 3"/>
          <p:cNvGrpSpPr/>
          <p:nvPr/>
        </p:nvGrpSpPr>
        <p:grpSpPr>
          <a:xfrm>
            <a:off x="2665654" y="2564354"/>
            <a:ext cx="2904565" cy="1413622"/>
            <a:chOff x="1141475" y="2906267"/>
            <a:chExt cx="3291840" cy="1602105"/>
          </a:xfrm>
        </p:grpSpPr>
        <p:sp>
          <p:nvSpPr>
            <p:cNvPr id="4" name="object 4"/>
            <p:cNvSpPr/>
            <p:nvPr/>
          </p:nvSpPr>
          <p:spPr>
            <a:xfrm>
              <a:off x="2138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 name="object 5"/>
            <p:cNvSpPr/>
            <p:nvPr/>
          </p:nvSpPr>
          <p:spPr>
            <a:xfrm>
              <a:off x="2138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6" name="object 6"/>
            <p:cNvSpPr/>
            <p:nvPr/>
          </p:nvSpPr>
          <p:spPr>
            <a:xfrm>
              <a:off x="2142744" y="36682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7" name="object 7"/>
            <p:cNvSpPr/>
            <p:nvPr/>
          </p:nvSpPr>
          <p:spPr>
            <a:xfrm>
              <a:off x="2142744" y="36682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8" name="object 8"/>
            <p:cNvPicPr/>
            <p:nvPr/>
          </p:nvPicPr>
          <p:blipFill>
            <a:blip r:embed="rId2" cstate="print"/>
            <a:stretch>
              <a:fillRect/>
            </a:stretch>
          </p:blipFill>
          <p:spPr>
            <a:xfrm>
              <a:off x="2257044" y="3973067"/>
              <a:ext cx="76200" cy="228600"/>
            </a:xfrm>
            <a:prstGeom prst="rect">
              <a:avLst/>
            </a:prstGeom>
          </p:spPr>
        </p:pic>
        <p:sp>
          <p:nvSpPr>
            <p:cNvPr id="9" name="object 9"/>
            <p:cNvSpPr/>
            <p:nvPr/>
          </p:nvSpPr>
          <p:spPr>
            <a:xfrm>
              <a:off x="2142744" y="313486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E46B0A"/>
            </a:solidFill>
          </p:spPr>
          <p:txBody>
            <a:bodyPr wrap="square" lIns="0" tIns="0" rIns="0" bIns="0" rtlCol="0"/>
            <a:lstStyle/>
            <a:p>
              <a:endParaRPr sz="1588"/>
            </a:p>
          </p:txBody>
        </p:sp>
        <p:sp>
          <p:nvSpPr>
            <p:cNvPr id="10" name="object 10"/>
            <p:cNvSpPr/>
            <p:nvPr/>
          </p:nvSpPr>
          <p:spPr>
            <a:xfrm>
              <a:off x="2142744" y="313486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1" name="object 11"/>
            <p:cNvPicPr/>
            <p:nvPr/>
          </p:nvPicPr>
          <p:blipFill>
            <a:blip r:embed="rId2" cstate="print"/>
            <a:stretch>
              <a:fillRect/>
            </a:stretch>
          </p:blipFill>
          <p:spPr>
            <a:xfrm>
              <a:off x="2257044" y="3439667"/>
              <a:ext cx="76200" cy="228600"/>
            </a:xfrm>
            <a:prstGeom prst="rect">
              <a:avLst/>
            </a:prstGeom>
          </p:spPr>
        </p:pic>
        <p:pic>
          <p:nvPicPr>
            <p:cNvPr id="12" name="object 12"/>
            <p:cNvPicPr/>
            <p:nvPr/>
          </p:nvPicPr>
          <p:blipFill>
            <a:blip r:embed="rId2" cstate="print"/>
            <a:stretch>
              <a:fillRect/>
            </a:stretch>
          </p:blipFill>
          <p:spPr>
            <a:xfrm>
              <a:off x="2257044" y="2906267"/>
              <a:ext cx="76200" cy="228600"/>
            </a:xfrm>
            <a:prstGeom prst="rect">
              <a:avLst/>
            </a:prstGeom>
          </p:spPr>
        </p:pic>
        <p:sp>
          <p:nvSpPr>
            <p:cNvPr id="13" name="object 13"/>
            <p:cNvSpPr/>
            <p:nvPr/>
          </p:nvSpPr>
          <p:spPr>
            <a:xfrm>
              <a:off x="3124199"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124199"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1241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16" name="object 16"/>
            <p:cNvSpPr/>
            <p:nvPr/>
          </p:nvSpPr>
          <p:spPr>
            <a:xfrm>
              <a:off x="31241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17" name="object 17"/>
            <p:cNvPicPr/>
            <p:nvPr/>
          </p:nvPicPr>
          <p:blipFill>
            <a:blip r:embed="rId3" cstate="print"/>
            <a:stretch>
              <a:fillRect/>
            </a:stretch>
          </p:blipFill>
          <p:spPr>
            <a:xfrm>
              <a:off x="3238499" y="3973067"/>
              <a:ext cx="76200" cy="228600"/>
            </a:xfrm>
            <a:prstGeom prst="rect">
              <a:avLst/>
            </a:prstGeom>
          </p:spPr>
        </p:pic>
        <p:sp>
          <p:nvSpPr>
            <p:cNvPr id="18" name="object 18"/>
            <p:cNvSpPr/>
            <p:nvPr/>
          </p:nvSpPr>
          <p:spPr>
            <a:xfrm>
              <a:off x="3124199"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19" name="object 19"/>
            <p:cNvSpPr/>
            <p:nvPr/>
          </p:nvSpPr>
          <p:spPr>
            <a:xfrm>
              <a:off x="3124199"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0" name="object 20"/>
            <p:cNvPicPr/>
            <p:nvPr/>
          </p:nvPicPr>
          <p:blipFill>
            <a:blip r:embed="rId3" cstate="print"/>
            <a:stretch>
              <a:fillRect/>
            </a:stretch>
          </p:blipFill>
          <p:spPr>
            <a:xfrm>
              <a:off x="3238499" y="3439667"/>
              <a:ext cx="76200" cy="228600"/>
            </a:xfrm>
            <a:prstGeom prst="rect">
              <a:avLst/>
            </a:prstGeom>
          </p:spPr>
        </p:pic>
        <p:pic>
          <p:nvPicPr>
            <p:cNvPr id="21" name="object 21"/>
            <p:cNvPicPr/>
            <p:nvPr/>
          </p:nvPicPr>
          <p:blipFill>
            <a:blip r:embed="rId3" cstate="print"/>
            <a:stretch>
              <a:fillRect/>
            </a:stretch>
          </p:blipFill>
          <p:spPr>
            <a:xfrm>
              <a:off x="3238499" y="2906267"/>
              <a:ext cx="76200" cy="228600"/>
            </a:xfrm>
            <a:prstGeom prst="rect">
              <a:avLst/>
            </a:prstGeom>
          </p:spPr>
        </p:pic>
        <p:sp>
          <p:nvSpPr>
            <p:cNvPr id="22" name="object 22"/>
            <p:cNvSpPr/>
            <p:nvPr/>
          </p:nvSpPr>
          <p:spPr>
            <a:xfrm>
              <a:off x="411175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23" name="object 23"/>
            <p:cNvSpPr/>
            <p:nvPr/>
          </p:nvSpPr>
          <p:spPr>
            <a:xfrm>
              <a:off x="411175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4" name="object 24"/>
            <p:cNvSpPr/>
            <p:nvPr/>
          </p:nvSpPr>
          <p:spPr>
            <a:xfrm>
              <a:off x="412699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5" name="object 25"/>
            <p:cNvSpPr/>
            <p:nvPr/>
          </p:nvSpPr>
          <p:spPr>
            <a:xfrm>
              <a:off x="412699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6" name="object 26"/>
            <p:cNvPicPr/>
            <p:nvPr/>
          </p:nvPicPr>
          <p:blipFill>
            <a:blip r:embed="rId2" cstate="print"/>
            <a:stretch>
              <a:fillRect/>
            </a:stretch>
          </p:blipFill>
          <p:spPr>
            <a:xfrm>
              <a:off x="4241292" y="3973067"/>
              <a:ext cx="76200" cy="228600"/>
            </a:xfrm>
            <a:prstGeom prst="rect">
              <a:avLst/>
            </a:prstGeom>
          </p:spPr>
        </p:pic>
        <p:sp>
          <p:nvSpPr>
            <p:cNvPr id="27" name="object 27"/>
            <p:cNvSpPr/>
            <p:nvPr/>
          </p:nvSpPr>
          <p:spPr>
            <a:xfrm>
              <a:off x="412699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28" name="object 28"/>
            <p:cNvSpPr/>
            <p:nvPr/>
          </p:nvSpPr>
          <p:spPr>
            <a:xfrm>
              <a:off x="412699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29" name="object 29"/>
            <p:cNvPicPr/>
            <p:nvPr/>
          </p:nvPicPr>
          <p:blipFill>
            <a:blip r:embed="rId2" cstate="print"/>
            <a:stretch>
              <a:fillRect/>
            </a:stretch>
          </p:blipFill>
          <p:spPr>
            <a:xfrm>
              <a:off x="4241292" y="3439667"/>
              <a:ext cx="76200" cy="228600"/>
            </a:xfrm>
            <a:prstGeom prst="rect">
              <a:avLst/>
            </a:prstGeom>
          </p:spPr>
        </p:pic>
        <p:pic>
          <p:nvPicPr>
            <p:cNvPr id="30" name="object 30"/>
            <p:cNvPicPr/>
            <p:nvPr/>
          </p:nvPicPr>
          <p:blipFill>
            <a:blip r:embed="rId2" cstate="print"/>
            <a:stretch>
              <a:fillRect/>
            </a:stretch>
          </p:blipFill>
          <p:spPr>
            <a:xfrm>
              <a:off x="4241292" y="2906267"/>
              <a:ext cx="76200" cy="228600"/>
            </a:xfrm>
            <a:prstGeom prst="rect">
              <a:avLst/>
            </a:prstGeom>
          </p:spPr>
        </p:pic>
        <p:sp>
          <p:nvSpPr>
            <p:cNvPr id="31" name="object 31"/>
            <p:cNvSpPr/>
            <p:nvPr/>
          </p:nvSpPr>
          <p:spPr>
            <a:xfrm>
              <a:off x="2290559" y="3433571"/>
              <a:ext cx="2004695" cy="775970"/>
            </a:xfrm>
            <a:custGeom>
              <a:avLst/>
              <a:gdLst/>
              <a:ahLst/>
              <a:cxnLst/>
              <a:rect l="l" t="t" r="r" b="b"/>
              <a:pathLst>
                <a:path w="2004695" h="775970">
                  <a:moveTo>
                    <a:pt x="1007376" y="623316"/>
                  </a:moveTo>
                  <a:lnTo>
                    <a:pt x="1001966" y="600456"/>
                  </a:lnTo>
                  <a:lnTo>
                    <a:pt x="987564" y="539496"/>
                  </a:lnTo>
                  <a:lnTo>
                    <a:pt x="934224" y="606552"/>
                  </a:lnTo>
                  <a:lnTo>
                    <a:pt x="963193" y="613194"/>
                  </a:lnTo>
                  <a:lnTo>
                    <a:pt x="960120" y="621792"/>
                  </a:lnTo>
                  <a:lnTo>
                    <a:pt x="960120" y="620268"/>
                  </a:lnTo>
                  <a:lnTo>
                    <a:pt x="949452" y="640080"/>
                  </a:lnTo>
                  <a:lnTo>
                    <a:pt x="922020" y="676656"/>
                  </a:lnTo>
                  <a:lnTo>
                    <a:pt x="888492" y="707136"/>
                  </a:lnTo>
                  <a:lnTo>
                    <a:pt x="850392" y="733044"/>
                  </a:lnTo>
                  <a:lnTo>
                    <a:pt x="807720" y="751332"/>
                  </a:lnTo>
                  <a:lnTo>
                    <a:pt x="765048" y="760476"/>
                  </a:lnTo>
                  <a:lnTo>
                    <a:pt x="752856" y="762000"/>
                  </a:lnTo>
                  <a:lnTo>
                    <a:pt x="731520" y="762000"/>
                  </a:lnTo>
                  <a:lnTo>
                    <a:pt x="720852" y="760476"/>
                  </a:lnTo>
                  <a:lnTo>
                    <a:pt x="710184" y="757428"/>
                  </a:lnTo>
                  <a:lnTo>
                    <a:pt x="697992" y="754380"/>
                  </a:lnTo>
                  <a:lnTo>
                    <a:pt x="687324" y="749808"/>
                  </a:lnTo>
                  <a:lnTo>
                    <a:pt x="655320" y="731520"/>
                  </a:lnTo>
                  <a:lnTo>
                    <a:pt x="644652" y="722376"/>
                  </a:lnTo>
                  <a:lnTo>
                    <a:pt x="635508" y="714756"/>
                  </a:lnTo>
                  <a:lnTo>
                    <a:pt x="624840" y="704088"/>
                  </a:lnTo>
                  <a:lnTo>
                    <a:pt x="615696" y="693420"/>
                  </a:lnTo>
                  <a:lnTo>
                    <a:pt x="605028" y="682752"/>
                  </a:lnTo>
                  <a:lnTo>
                    <a:pt x="595884" y="672084"/>
                  </a:lnTo>
                  <a:lnTo>
                    <a:pt x="586740" y="659892"/>
                  </a:lnTo>
                  <a:lnTo>
                    <a:pt x="579120" y="646176"/>
                  </a:lnTo>
                  <a:lnTo>
                    <a:pt x="562356" y="618744"/>
                  </a:lnTo>
                  <a:lnTo>
                    <a:pt x="534924" y="557784"/>
                  </a:lnTo>
                  <a:lnTo>
                    <a:pt x="515112" y="492252"/>
                  </a:lnTo>
                  <a:lnTo>
                    <a:pt x="509016" y="457200"/>
                  </a:lnTo>
                  <a:lnTo>
                    <a:pt x="505968" y="440436"/>
                  </a:lnTo>
                  <a:lnTo>
                    <a:pt x="504444" y="423672"/>
                  </a:lnTo>
                  <a:lnTo>
                    <a:pt x="502920" y="405384"/>
                  </a:lnTo>
                  <a:lnTo>
                    <a:pt x="502920" y="368808"/>
                  </a:lnTo>
                  <a:lnTo>
                    <a:pt x="501396" y="352044"/>
                  </a:lnTo>
                  <a:lnTo>
                    <a:pt x="493776" y="297180"/>
                  </a:lnTo>
                  <a:lnTo>
                    <a:pt x="481584" y="245364"/>
                  </a:lnTo>
                  <a:lnTo>
                    <a:pt x="457200" y="179832"/>
                  </a:lnTo>
                  <a:lnTo>
                    <a:pt x="425196" y="121920"/>
                  </a:lnTo>
                  <a:lnTo>
                    <a:pt x="397764" y="83820"/>
                  </a:lnTo>
                  <a:lnTo>
                    <a:pt x="376428" y="62484"/>
                  </a:lnTo>
                  <a:lnTo>
                    <a:pt x="367284" y="51816"/>
                  </a:lnTo>
                  <a:lnTo>
                    <a:pt x="355092" y="42672"/>
                  </a:lnTo>
                  <a:lnTo>
                    <a:pt x="344424" y="33528"/>
                  </a:lnTo>
                  <a:lnTo>
                    <a:pt x="333756" y="25908"/>
                  </a:lnTo>
                  <a:lnTo>
                    <a:pt x="321564" y="19812"/>
                  </a:lnTo>
                  <a:lnTo>
                    <a:pt x="310896" y="13716"/>
                  </a:lnTo>
                  <a:lnTo>
                    <a:pt x="286512" y="4572"/>
                  </a:lnTo>
                  <a:lnTo>
                    <a:pt x="274320" y="3048"/>
                  </a:lnTo>
                  <a:lnTo>
                    <a:pt x="263652" y="1524"/>
                  </a:lnTo>
                  <a:lnTo>
                    <a:pt x="251460" y="0"/>
                  </a:lnTo>
                  <a:lnTo>
                    <a:pt x="239268" y="0"/>
                  </a:lnTo>
                  <a:lnTo>
                    <a:pt x="214884" y="3048"/>
                  </a:lnTo>
                  <a:lnTo>
                    <a:pt x="204216" y="6096"/>
                  </a:lnTo>
                  <a:lnTo>
                    <a:pt x="192024" y="9144"/>
                  </a:lnTo>
                  <a:lnTo>
                    <a:pt x="137160" y="30480"/>
                  </a:lnTo>
                  <a:lnTo>
                    <a:pt x="96012" y="57912"/>
                  </a:lnTo>
                  <a:lnTo>
                    <a:pt x="60960" y="89916"/>
                  </a:lnTo>
                  <a:lnTo>
                    <a:pt x="32004" y="128016"/>
                  </a:lnTo>
                  <a:lnTo>
                    <a:pt x="7620" y="179832"/>
                  </a:lnTo>
                  <a:lnTo>
                    <a:pt x="3048" y="202692"/>
                  </a:lnTo>
                  <a:lnTo>
                    <a:pt x="0" y="224028"/>
                  </a:lnTo>
                  <a:lnTo>
                    <a:pt x="0" y="234696"/>
                  </a:lnTo>
                  <a:lnTo>
                    <a:pt x="12192" y="234696"/>
                  </a:lnTo>
                  <a:lnTo>
                    <a:pt x="12192" y="224028"/>
                  </a:lnTo>
                  <a:lnTo>
                    <a:pt x="13716" y="214884"/>
                  </a:lnTo>
                  <a:lnTo>
                    <a:pt x="16764" y="193548"/>
                  </a:lnTo>
                  <a:lnTo>
                    <a:pt x="19812" y="184404"/>
                  </a:lnTo>
                  <a:lnTo>
                    <a:pt x="24384" y="173736"/>
                  </a:lnTo>
                  <a:lnTo>
                    <a:pt x="27432" y="164592"/>
                  </a:lnTo>
                  <a:lnTo>
                    <a:pt x="56388" y="115824"/>
                  </a:lnTo>
                  <a:lnTo>
                    <a:pt x="86868" y="82296"/>
                  </a:lnTo>
                  <a:lnTo>
                    <a:pt x="123444" y="53340"/>
                  </a:lnTo>
                  <a:lnTo>
                    <a:pt x="163068" y="32004"/>
                  </a:lnTo>
                  <a:lnTo>
                    <a:pt x="217932" y="15240"/>
                  </a:lnTo>
                  <a:lnTo>
                    <a:pt x="228600" y="13716"/>
                  </a:lnTo>
                  <a:lnTo>
                    <a:pt x="262128" y="13716"/>
                  </a:lnTo>
                  <a:lnTo>
                    <a:pt x="272796" y="15240"/>
                  </a:lnTo>
                  <a:lnTo>
                    <a:pt x="283464" y="18288"/>
                  </a:lnTo>
                  <a:lnTo>
                    <a:pt x="295656" y="21336"/>
                  </a:lnTo>
                  <a:lnTo>
                    <a:pt x="316992" y="30480"/>
                  </a:lnTo>
                  <a:lnTo>
                    <a:pt x="327660" y="38100"/>
                  </a:lnTo>
                  <a:lnTo>
                    <a:pt x="338328" y="44196"/>
                  </a:lnTo>
                  <a:lnTo>
                    <a:pt x="347472" y="53340"/>
                  </a:lnTo>
                  <a:lnTo>
                    <a:pt x="358140" y="60960"/>
                  </a:lnTo>
                  <a:lnTo>
                    <a:pt x="377952" y="80772"/>
                  </a:lnTo>
                  <a:lnTo>
                    <a:pt x="387096" y="92964"/>
                  </a:lnTo>
                  <a:lnTo>
                    <a:pt x="396240" y="103632"/>
                  </a:lnTo>
                  <a:lnTo>
                    <a:pt x="405384" y="115824"/>
                  </a:lnTo>
                  <a:lnTo>
                    <a:pt x="431292" y="156972"/>
                  </a:lnTo>
                  <a:lnTo>
                    <a:pt x="458724" y="217932"/>
                  </a:lnTo>
                  <a:lnTo>
                    <a:pt x="478536" y="283464"/>
                  </a:lnTo>
                  <a:lnTo>
                    <a:pt x="487680" y="335280"/>
                  </a:lnTo>
                  <a:lnTo>
                    <a:pt x="489204" y="352044"/>
                  </a:lnTo>
                  <a:lnTo>
                    <a:pt x="489204" y="370332"/>
                  </a:lnTo>
                  <a:lnTo>
                    <a:pt x="490728" y="387096"/>
                  </a:lnTo>
                  <a:lnTo>
                    <a:pt x="490728" y="405384"/>
                  </a:lnTo>
                  <a:lnTo>
                    <a:pt x="495300" y="460248"/>
                  </a:lnTo>
                  <a:lnTo>
                    <a:pt x="498348" y="477012"/>
                  </a:lnTo>
                  <a:lnTo>
                    <a:pt x="502920" y="495300"/>
                  </a:lnTo>
                  <a:lnTo>
                    <a:pt x="505968" y="512064"/>
                  </a:lnTo>
                  <a:lnTo>
                    <a:pt x="512064" y="528828"/>
                  </a:lnTo>
                  <a:lnTo>
                    <a:pt x="522732" y="562356"/>
                  </a:lnTo>
                  <a:lnTo>
                    <a:pt x="536448" y="594360"/>
                  </a:lnTo>
                  <a:lnTo>
                    <a:pt x="568452" y="652272"/>
                  </a:lnTo>
                  <a:lnTo>
                    <a:pt x="605028" y="702564"/>
                  </a:lnTo>
                  <a:lnTo>
                    <a:pt x="637032" y="733044"/>
                  </a:lnTo>
                  <a:lnTo>
                    <a:pt x="659892" y="748284"/>
                  </a:lnTo>
                  <a:lnTo>
                    <a:pt x="670572" y="755904"/>
                  </a:lnTo>
                  <a:lnTo>
                    <a:pt x="682752" y="760476"/>
                  </a:lnTo>
                  <a:lnTo>
                    <a:pt x="693420" y="766572"/>
                  </a:lnTo>
                  <a:lnTo>
                    <a:pt x="717804" y="772668"/>
                  </a:lnTo>
                  <a:lnTo>
                    <a:pt x="742188" y="775716"/>
                  </a:lnTo>
                  <a:lnTo>
                    <a:pt x="754380" y="774192"/>
                  </a:lnTo>
                  <a:lnTo>
                    <a:pt x="765048" y="774192"/>
                  </a:lnTo>
                  <a:lnTo>
                    <a:pt x="777240" y="772668"/>
                  </a:lnTo>
                  <a:lnTo>
                    <a:pt x="789432" y="769620"/>
                  </a:lnTo>
                  <a:lnTo>
                    <a:pt x="800100" y="766572"/>
                  </a:lnTo>
                  <a:lnTo>
                    <a:pt x="812292" y="763524"/>
                  </a:lnTo>
                  <a:lnTo>
                    <a:pt x="816102" y="762000"/>
                  </a:lnTo>
                  <a:lnTo>
                    <a:pt x="835152" y="754380"/>
                  </a:lnTo>
                  <a:lnTo>
                    <a:pt x="856488" y="743712"/>
                  </a:lnTo>
                  <a:lnTo>
                    <a:pt x="896124" y="717804"/>
                  </a:lnTo>
                  <a:lnTo>
                    <a:pt x="931176" y="684276"/>
                  </a:lnTo>
                  <a:lnTo>
                    <a:pt x="960120" y="647700"/>
                  </a:lnTo>
                  <a:lnTo>
                    <a:pt x="973848" y="621792"/>
                  </a:lnTo>
                  <a:lnTo>
                    <a:pt x="975753" y="616077"/>
                  </a:lnTo>
                  <a:lnTo>
                    <a:pt x="1007376" y="623316"/>
                  </a:lnTo>
                  <a:close/>
                </a:path>
                <a:path w="2004695" h="775970">
                  <a:moveTo>
                    <a:pt x="2004072" y="623316"/>
                  </a:moveTo>
                  <a:lnTo>
                    <a:pt x="1998662" y="600456"/>
                  </a:lnTo>
                  <a:lnTo>
                    <a:pt x="1984248" y="539496"/>
                  </a:lnTo>
                  <a:lnTo>
                    <a:pt x="1929384" y="606552"/>
                  </a:lnTo>
                  <a:lnTo>
                    <a:pt x="1959825" y="613384"/>
                  </a:lnTo>
                  <a:lnTo>
                    <a:pt x="1956816" y="621792"/>
                  </a:lnTo>
                  <a:lnTo>
                    <a:pt x="1956816" y="620268"/>
                  </a:lnTo>
                  <a:lnTo>
                    <a:pt x="1946148" y="640080"/>
                  </a:lnTo>
                  <a:lnTo>
                    <a:pt x="1918716" y="676656"/>
                  </a:lnTo>
                  <a:lnTo>
                    <a:pt x="1885188" y="707136"/>
                  </a:lnTo>
                  <a:lnTo>
                    <a:pt x="1847088" y="733044"/>
                  </a:lnTo>
                  <a:lnTo>
                    <a:pt x="1804416" y="751332"/>
                  </a:lnTo>
                  <a:lnTo>
                    <a:pt x="1760220" y="760476"/>
                  </a:lnTo>
                  <a:lnTo>
                    <a:pt x="1749552" y="762000"/>
                  </a:lnTo>
                  <a:lnTo>
                    <a:pt x="1728216" y="762000"/>
                  </a:lnTo>
                  <a:lnTo>
                    <a:pt x="1716024" y="760476"/>
                  </a:lnTo>
                  <a:lnTo>
                    <a:pt x="1694688" y="754380"/>
                  </a:lnTo>
                  <a:lnTo>
                    <a:pt x="1684020" y="749808"/>
                  </a:lnTo>
                  <a:lnTo>
                    <a:pt x="1652016" y="731520"/>
                  </a:lnTo>
                  <a:lnTo>
                    <a:pt x="1641348" y="722376"/>
                  </a:lnTo>
                  <a:lnTo>
                    <a:pt x="1630680" y="714756"/>
                  </a:lnTo>
                  <a:lnTo>
                    <a:pt x="1621536" y="704088"/>
                  </a:lnTo>
                  <a:lnTo>
                    <a:pt x="1610868" y="693420"/>
                  </a:lnTo>
                  <a:lnTo>
                    <a:pt x="1592580" y="672084"/>
                  </a:lnTo>
                  <a:lnTo>
                    <a:pt x="1559052" y="618744"/>
                  </a:lnTo>
                  <a:lnTo>
                    <a:pt x="1519428" y="525780"/>
                  </a:lnTo>
                  <a:lnTo>
                    <a:pt x="1507236" y="475488"/>
                  </a:lnTo>
                  <a:lnTo>
                    <a:pt x="1501140" y="423672"/>
                  </a:lnTo>
                  <a:lnTo>
                    <a:pt x="1499616" y="405384"/>
                  </a:lnTo>
                  <a:lnTo>
                    <a:pt x="1499616" y="387096"/>
                  </a:lnTo>
                  <a:lnTo>
                    <a:pt x="1498219" y="370332"/>
                  </a:lnTo>
                  <a:lnTo>
                    <a:pt x="1490472" y="297180"/>
                  </a:lnTo>
                  <a:lnTo>
                    <a:pt x="1478280" y="245364"/>
                  </a:lnTo>
                  <a:lnTo>
                    <a:pt x="1452372" y="179832"/>
                  </a:lnTo>
                  <a:lnTo>
                    <a:pt x="1421892" y="121920"/>
                  </a:lnTo>
                  <a:lnTo>
                    <a:pt x="1392936" y="83820"/>
                  </a:lnTo>
                  <a:lnTo>
                    <a:pt x="1383792" y="73152"/>
                  </a:lnTo>
                  <a:lnTo>
                    <a:pt x="1341120" y="33528"/>
                  </a:lnTo>
                  <a:lnTo>
                    <a:pt x="1306068" y="13716"/>
                  </a:lnTo>
                  <a:lnTo>
                    <a:pt x="1246632" y="0"/>
                  </a:lnTo>
                  <a:lnTo>
                    <a:pt x="1234440" y="0"/>
                  </a:lnTo>
                  <a:lnTo>
                    <a:pt x="1223772" y="1524"/>
                  </a:lnTo>
                  <a:lnTo>
                    <a:pt x="1211580" y="3048"/>
                  </a:lnTo>
                  <a:lnTo>
                    <a:pt x="1199388" y="6096"/>
                  </a:lnTo>
                  <a:lnTo>
                    <a:pt x="1188720" y="9144"/>
                  </a:lnTo>
                  <a:lnTo>
                    <a:pt x="1176528" y="12192"/>
                  </a:lnTo>
                  <a:lnTo>
                    <a:pt x="1132332" y="30480"/>
                  </a:lnTo>
                  <a:lnTo>
                    <a:pt x="1092708" y="57912"/>
                  </a:lnTo>
                  <a:lnTo>
                    <a:pt x="1057656" y="89916"/>
                  </a:lnTo>
                  <a:lnTo>
                    <a:pt x="1028700" y="128016"/>
                  </a:lnTo>
                  <a:lnTo>
                    <a:pt x="1007364" y="169164"/>
                  </a:lnTo>
                  <a:lnTo>
                    <a:pt x="995172" y="224028"/>
                  </a:lnTo>
                  <a:lnTo>
                    <a:pt x="995172" y="234696"/>
                  </a:lnTo>
                  <a:lnTo>
                    <a:pt x="1008888" y="234696"/>
                  </a:lnTo>
                  <a:lnTo>
                    <a:pt x="1008888" y="214884"/>
                  </a:lnTo>
                  <a:lnTo>
                    <a:pt x="1011936" y="204216"/>
                  </a:lnTo>
                  <a:lnTo>
                    <a:pt x="1013460" y="193548"/>
                  </a:lnTo>
                  <a:lnTo>
                    <a:pt x="1016508" y="184404"/>
                  </a:lnTo>
                  <a:lnTo>
                    <a:pt x="1019556" y="173736"/>
                  </a:lnTo>
                  <a:lnTo>
                    <a:pt x="1039368" y="134112"/>
                  </a:lnTo>
                  <a:lnTo>
                    <a:pt x="1066800" y="99060"/>
                  </a:lnTo>
                  <a:lnTo>
                    <a:pt x="1100328" y="67056"/>
                  </a:lnTo>
                  <a:lnTo>
                    <a:pt x="1159764" y="32004"/>
                  </a:lnTo>
                  <a:lnTo>
                    <a:pt x="1202436" y="18288"/>
                  </a:lnTo>
                  <a:lnTo>
                    <a:pt x="1225296" y="13716"/>
                  </a:lnTo>
                  <a:lnTo>
                    <a:pt x="1258824" y="13716"/>
                  </a:lnTo>
                  <a:lnTo>
                    <a:pt x="1269492" y="15240"/>
                  </a:lnTo>
                  <a:lnTo>
                    <a:pt x="1290828" y="21336"/>
                  </a:lnTo>
                  <a:lnTo>
                    <a:pt x="1312164" y="30480"/>
                  </a:lnTo>
                  <a:lnTo>
                    <a:pt x="1322832" y="38100"/>
                  </a:lnTo>
                  <a:lnTo>
                    <a:pt x="1333500" y="44196"/>
                  </a:lnTo>
                  <a:lnTo>
                    <a:pt x="1344168" y="53340"/>
                  </a:lnTo>
                  <a:lnTo>
                    <a:pt x="1354836" y="60960"/>
                  </a:lnTo>
                  <a:lnTo>
                    <a:pt x="1363980" y="71628"/>
                  </a:lnTo>
                  <a:lnTo>
                    <a:pt x="1374648" y="80772"/>
                  </a:lnTo>
                  <a:lnTo>
                    <a:pt x="1383792" y="92964"/>
                  </a:lnTo>
                  <a:lnTo>
                    <a:pt x="1392936" y="103632"/>
                  </a:lnTo>
                  <a:lnTo>
                    <a:pt x="1426464" y="156972"/>
                  </a:lnTo>
                  <a:lnTo>
                    <a:pt x="1466088" y="249936"/>
                  </a:lnTo>
                  <a:lnTo>
                    <a:pt x="1473708" y="283464"/>
                  </a:lnTo>
                  <a:lnTo>
                    <a:pt x="1478280" y="300228"/>
                  </a:lnTo>
                  <a:lnTo>
                    <a:pt x="1481328" y="316992"/>
                  </a:lnTo>
                  <a:lnTo>
                    <a:pt x="1482725" y="333756"/>
                  </a:lnTo>
                  <a:lnTo>
                    <a:pt x="1484376" y="352044"/>
                  </a:lnTo>
                  <a:lnTo>
                    <a:pt x="1485900" y="370332"/>
                  </a:lnTo>
                  <a:lnTo>
                    <a:pt x="1485900" y="387096"/>
                  </a:lnTo>
                  <a:lnTo>
                    <a:pt x="1487424" y="405384"/>
                  </a:lnTo>
                  <a:lnTo>
                    <a:pt x="1487424" y="423672"/>
                  </a:lnTo>
                  <a:lnTo>
                    <a:pt x="1488948" y="441960"/>
                  </a:lnTo>
                  <a:lnTo>
                    <a:pt x="1491996" y="460248"/>
                  </a:lnTo>
                  <a:lnTo>
                    <a:pt x="1495044" y="477012"/>
                  </a:lnTo>
                  <a:lnTo>
                    <a:pt x="1498092" y="495300"/>
                  </a:lnTo>
                  <a:lnTo>
                    <a:pt x="1519428" y="562356"/>
                  </a:lnTo>
                  <a:lnTo>
                    <a:pt x="1546860" y="624840"/>
                  </a:lnTo>
                  <a:lnTo>
                    <a:pt x="1572768" y="665988"/>
                  </a:lnTo>
                  <a:lnTo>
                    <a:pt x="1592580" y="690372"/>
                  </a:lnTo>
                  <a:lnTo>
                    <a:pt x="1601724" y="702564"/>
                  </a:lnTo>
                  <a:lnTo>
                    <a:pt x="1633728" y="733044"/>
                  </a:lnTo>
                  <a:lnTo>
                    <a:pt x="1667256" y="755904"/>
                  </a:lnTo>
                  <a:lnTo>
                    <a:pt x="1677924" y="760476"/>
                  </a:lnTo>
                  <a:lnTo>
                    <a:pt x="1690116" y="766572"/>
                  </a:lnTo>
                  <a:lnTo>
                    <a:pt x="1702308" y="769620"/>
                  </a:lnTo>
                  <a:lnTo>
                    <a:pt x="1712976" y="772668"/>
                  </a:lnTo>
                  <a:lnTo>
                    <a:pt x="1737360" y="775716"/>
                  </a:lnTo>
                  <a:lnTo>
                    <a:pt x="1749552" y="774192"/>
                  </a:lnTo>
                  <a:lnTo>
                    <a:pt x="1761744" y="774192"/>
                  </a:lnTo>
                  <a:lnTo>
                    <a:pt x="1773936" y="772668"/>
                  </a:lnTo>
                  <a:lnTo>
                    <a:pt x="1784604" y="769620"/>
                  </a:lnTo>
                  <a:lnTo>
                    <a:pt x="1808988" y="763524"/>
                  </a:lnTo>
                  <a:lnTo>
                    <a:pt x="1812544" y="762000"/>
                  </a:lnTo>
                  <a:lnTo>
                    <a:pt x="1851660" y="743712"/>
                  </a:lnTo>
                  <a:lnTo>
                    <a:pt x="1892808" y="717804"/>
                  </a:lnTo>
                  <a:lnTo>
                    <a:pt x="1927860" y="684276"/>
                  </a:lnTo>
                  <a:lnTo>
                    <a:pt x="1956816" y="647700"/>
                  </a:lnTo>
                  <a:lnTo>
                    <a:pt x="1967484" y="626364"/>
                  </a:lnTo>
                  <a:lnTo>
                    <a:pt x="1969020" y="626364"/>
                  </a:lnTo>
                  <a:lnTo>
                    <a:pt x="1970227" y="621792"/>
                  </a:lnTo>
                  <a:lnTo>
                    <a:pt x="1971763" y="616064"/>
                  </a:lnTo>
                  <a:lnTo>
                    <a:pt x="2004072" y="623316"/>
                  </a:lnTo>
                  <a:close/>
                </a:path>
              </a:pathLst>
            </a:custGeom>
            <a:solidFill>
              <a:srgbClr val="000000"/>
            </a:solidFill>
          </p:spPr>
          <p:txBody>
            <a:bodyPr wrap="square" lIns="0" tIns="0" rIns="0" bIns="0" rtlCol="0"/>
            <a:lstStyle/>
            <a:p>
              <a:endParaRPr sz="1588"/>
            </a:p>
          </p:txBody>
        </p:sp>
        <p:sp>
          <p:nvSpPr>
            <p:cNvPr id="32" name="object 32"/>
            <p:cNvSpPr/>
            <p:nvPr/>
          </p:nvSpPr>
          <p:spPr>
            <a:xfrm>
              <a:off x="1142999"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2999"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315211" y="3433571"/>
              <a:ext cx="1009015" cy="775970"/>
            </a:xfrm>
            <a:custGeom>
              <a:avLst/>
              <a:gdLst/>
              <a:ahLst/>
              <a:cxnLst/>
              <a:rect l="l" t="t" r="r" b="b"/>
              <a:pathLst>
                <a:path w="1009014" h="775970">
                  <a:moveTo>
                    <a:pt x="12192" y="234695"/>
                  </a:moveTo>
                  <a:lnTo>
                    <a:pt x="0" y="234695"/>
                  </a:lnTo>
                  <a:lnTo>
                    <a:pt x="0" y="224027"/>
                  </a:lnTo>
                  <a:lnTo>
                    <a:pt x="3048" y="202691"/>
                  </a:lnTo>
                  <a:lnTo>
                    <a:pt x="4572" y="190499"/>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2004" y="153923"/>
                  </a:lnTo>
                  <a:lnTo>
                    <a:pt x="24384" y="173735"/>
                  </a:lnTo>
                  <a:lnTo>
                    <a:pt x="19812" y="184403"/>
                  </a:lnTo>
                  <a:lnTo>
                    <a:pt x="18288" y="193547"/>
                  </a:lnTo>
                  <a:lnTo>
                    <a:pt x="15240" y="204215"/>
                  </a:lnTo>
                  <a:lnTo>
                    <a:pt x="13716" y="214883"/>
                  </a:lnTo>
                  <a:lnTo>
                    <a:pt x="12192" y="224027"/>
                  </a:lnTo>
                  <a:lnTo>
                    <a:pt x="12192" y="234695"/>
                  </a:lnTo>
                  <a:close/>
                </a:path>
                <a:path w="1009014"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0728" y="405384"/>
                  </a:lnTo>
                  <a:lnTo>
                    <a:pt x="490601" y="368808"/>
                  </a:lnTo>
                  <a:lnTo>
                    <a:pt x="489204" y="352044"/>
                  </a:lnTo>
                  <a:lnTo>
                    <a:pt x="478536" y="283463"/>
                  </a:lnTo>
                  <a:lnTo>
                    <a:pt x="458724" y="217931"/>
                  </a:lnTo>
                  <a:lnTo>
                    <a:pt x="431292" y="156971"/>
                  </a:lnTo>
                  <a:lnTo>
                    <a:pt x="405384" y="115823"/>
                  </a:lnTo>
                  <a:lnTo>
                    <a:pt x="397764" y="103631"/>
                  </a:lnTo>
                  <a:lnTo>
                    <a:pt x="388620" y="92963"/>
                  </a:lnTo>
                  <a:lnTo>
                    <a:pt x="377952" y="80771"/>
                  </a:lnTo>
                  <a:lnTo>
                    <a:pt x="358140" y="60959"/>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87323" y="749808"/>
                  </a:lnTo>
                  <a:lnTo>
                    <a:pt x="699516" y="754380"/>
                  </a:lnTo>
                  <a:lnTo>
                    <a:pt x="720852" y="760476"/>
                  </a:lnTo>
                  <a:lnTo>
                    <a:pt x="731519" y="762000"/>
                  </a:lnTo>
                  <a:lnTo>
                    <a:pt x="816102" y="762000"/>
                  </a:lnTo>
                  <a:lnTo>
                    <a:pt x="812292" y="763524"/>
                  </a:lnTo>
                  <a:lnTo>
                    <a:pt x="800100" y="766572"/>
                  </a:lnTo>
                  <a:lnTo>
                    <a:pt x="789432" y="769620"/>
                  </a:lnTo>
                  <a:lnTo>
                    <a:pt x="777240" y="772668"/>
                  </a:lnTo>
                  <a:lnTo>
                    <a:pt x="765048" y="774192"/>
                  </a:lnTo>
                  <a:lnTo>
                    <a:pt x="754380" y="774192"/>
                  </a:lnTo>
                  <a:lnTo>
                    <a:pt x="742188" y="775716"/>
                  </a:lnTo>
                  <a:close/>
                </a:path>
                <a:path w="1009014" h="775970">
                  <a:moveTo>
                    <a:pt x="963235" y="613067"/>
                  </a:moveTo>
                  <a:lnTo>
                    <a:pt x="934212" y="606552"/>
                  </a:lnTo>
                  <a:lnTo>
                    <a:pt x="987552" y="539496"/>
                  </a:lnTo>
                  <a:lnTo>
                    <a:pt x="1003069" y="600456"/>
                  </a:lnTo>
                  <a:lnTo>
                    <a:pt x="967740" y="600456"/>
                  </a:lnTo>
                  <a:lnTo>
                    <a:pt x="963235" y="613067"/>
                  </a:lnTo>
                  <a:close/>
                </a:path>
                <a:path w="1009014" h="775970">
                  <a:moveTo>
                    <a:pt x="975803" y="615888"/>
                  </a:moveTo>
                  <a:lnTo>
                    <a:pt x="963235" y="613067"/>
                  </a:lnTo>
                  <a:lnTo>
                    <a:pt x="967740" y="600456"/>
                  </a:lnTo>
                  <a:lnTo>
                    <a:pt x="979932" y="603504"/>
                  </a:lnTo>
                  <a:lnTo>
                    <a:pt x="975803" y="615888"/>
                  </a:lnTo>
                  <a:close/>
                </a:path>
                <a:path w="1009014" h="775970">
                  <a:moveTo>
                    <a:pt x="1008888" y="623315"/>
                  </a:moveTo>
                  <a:lnTo>
                    <a:pt x="975803" y="615888"/>
                  </a:lnTo>
                  <a:lnTo>
                    <a:pt x="979932" y="603504"/>
                  </a:lnTo>
                  <a:lnTo>
                    <a:pt x="967740" y="600456"/>
                  </a:lnTo>
                  <a:lnTo>
                    <a:pt x="1003069" y="600456"/>
                  </a:lnTo>
                  <a:lnTo>
                    <a:pt x="1008888" y="623315"/>
                  </a:lnTo>
                  <a:close/>
                </a:path>
                <a:path w="1009014" h="775970">
                  <a:moveTo>
                    <a:pt x="960120" y="621791"/>
                  </a:moveTo>
                  <a:lnTo>
                    <a:pt x="963235" y="613067"/>
                  </a:lnTo>
                  <a:lnTo>
                    <a:pt x="975803" y="615888"/>
                  </a:lnTo>
                  <a:lnTo>
                    <a:pt x="974344" y="620268"/>
                  </a:lnTo>
                  <a:lnTo>
                    <a:pt x="961644" y="620268"/>
                  </a:lnTo>
                  <a:lnTo>
                    <a:pt x="960120" y="621791"/>
                  </a:lnTo>
                  <a:close/>
                </a:path>
                <a:path w="1009014" h="775970">
                  <a:moveTo>
                    <a:pt x="816102" y="762000"/>
                  </a:moveTo>
                  <a:lnTo>
                    <a:pt x="752856" y="762000"/>
                  </a:lnTo>
                  <a:lnTo>
                    <a:pt x="765048" y="760476"/>
                  </a:lnTo>
                  <a:lnTo>
                    <a:pt x="786384" y="757428"/>
                  </a:lnTo>
                  <a:lnTo>
                    <a:pt x="797052" y="754380"/>
                  </a:lnTo>
                  <a:lnTo>
                    <a:pt x="809244" y="751332"/>
                  </a:lnTo>
                  <a:lnTo>
                    <a:pt x="830580" y="743712"/>
                  </a:lnTo>
                  <a:lnTo>
                    <a:pt x="870204" y="720852"/>
                  </a:lnTo>
                  <a:lnTo>
                    <a:pt x="923544" y="676656"/>
                  </a:lnTo>
                  <a:lnTo>
                    <a:pt x="950976" y="640080"/>
                  </a:lnTo>
                  <a:lnTo>
                    <a:pt x="961644" y="620268"/>
                  </a:lnTo>
                  <a:lnTo>
                    <a:pt x="974344" y="620268"/>
                  </a:lnTo>
                  <a:lnTo>
                    <a:pt x="947928" y="665988"/>
                  </a:lnTo>
                  <a:lnTo>
                    <a:pt x="914400" y="702564"/>
                  </a:lnTo>
                  <a:lnTo>
                    <a:pt x="876300" y="731520"/>
                  </a:lnTo>
                  <a:lnTo>
                    <a:pt x="835152" y="754380"/>
                  </a:lnTo>
                  <a:lnTo>
                    <a:pt x="816102" y="762000"/>
                  </a:lnTo>
                  <a:close/>
                </a:path>
              </a:pathLst>
            </a:custGeom>
            <a:solidFill>
              <a:srgbClr val="000000"/>
            </a:solidFill>
          </p:spPr>
          <p:txBody>
            <a:bodyPr wrap="square" lIns="0" tIns="0" rIns="0" bIns="0" rtlCol="0"/>
            <a:lstStyle/>
            <a:p>
              <a:endParaRPr sz="1588"/>
            </a:p>
          </p:txBody>
        </p:sp>
      </p:grpSp>
      <p:grpSp>
        <p:nvGrpSpPr>
          <p:cNvPr id="35" name="object 35"/>
          <p:cNvGrpSpPr/>
          <p:nvPr/>
        </p:nvGrpSpPr>
        <p:grpSpPr>
          <a:xfrm>
            <a:off x="7039983" y="2564354"/>
            <a:ext cx="2429435" cy="1413622"/>
            <a:chOff x="6099047" y="2906267"/>
            <a:chExt cx="2753360" cy="1602105"/>
          </a:xfrm>
        </p:grpSpPr>
        <p:sp>
          <p:nvSpPr>
            <p:cNvPr id="36" name="object 36"/>
            <p:cNvSpPr/>
            <p:nvPr/>
          </p:nvSpPr>
          <p:spPr>
            <a:xfrm>
              <a:off x="61005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37" name="object 37"/>
            <p:cNvSpPr/>
            <p:nvPr/>
          </p:nvSpPr>
          <p:spPr>
            <a:xfrm>
              <a:off x="61005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8" name="object 38"/>
            <p:cNvSpPr/>
            <p:nvPr/>
          </p:nvSpPr>
          <p:spPr>
            <a:xfrm>
              <a:off x="61142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39" name="object 39"/>
            <p:cNvSpPr/>
            <p:nvPr/>
          </p:nvSpPr>
          <p:spPr>
            <a:xfrm>
              <a:off x="61142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0" name="object 40"/>
            <p:cNvPicPr/>
            <p:nvPr/>
          </p:nvPicPr>
          <p:blipFill>
            <a:blip r:embed="rId2" cstate="print"/>
            <a:stretch>
              <a:fillRect/>
            </a:stretch>
          </p:blipFill>
          <p:spPr>
            <a:xfrm>
              <a:off x="6228588" y="3973067"/>
              <a:ext cx="76200" cy="228600"/>
            </a:xfrm>
            <a:prstGeom prst="rect">
              <a:avLst/>
            </a:prstGeom>
          </p:spPr>
        </p:pic>
        <p:sp>
          <p:nvSpPr>
            <p:cNvPr id="41" name="object 41"/>
            <p:cNvSpPr/>
            <p:nvPr/>
          </p:nvSpPr>
          <p:spPr>
            <a:xfrm>
              <a:off x="61142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42" name="object 42"/>
            <p:cNvSpPr/>
            <p:nvPr/>
          </p:nvSpPr>
          <p:spPr>
            <a:xfrm>
              <a:off x="61142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3" name="object 43"/>
            <p:cNvPicPr/>
            <p:nvPr/>
          </p:nvPicPr>
          <p:blipFill>
            <a:blip r:embed="rId2" cstate="print"/>
            <a:stretch>
              <a:fillRect/>
            </a:stretch>
          </p:blipFill>
          <p:spPr>
            <a:xfrm>
              <a:off x="6228588" y="3439667"/>
              <a:ext cx="76200" cy="228600"/>
            </a:xfrm>
            <a:prstGeom prst="rect">
              <a:avLst/>
            </a:prstGeom>
          </p:spPr>
        </p:pic>
        <p:pic>
          <p:nvPicPr>
            <p:cNvPr id="44" name="object 44"/>
            <p:cNvPicPr/>
            <p:nvPr/>
          </p:nvPicPr>
          <p:blipFill>
            <a:blip r:embed="rId2" cstate="print"/>
            <a:stretch>
              <a:fillRect/>
            </a:stretch>
          </p:blipFill>
          <p:spPr>
            <a:xfrm>
              <a:off x="6228588" y="2906267"/>
              <a:ext cx="76200" cy="228600"/>
            </a:xfrm>
            <a:prstGeom prst="rect">
              <a:avLst/>
            </a:prstGeom>
          </p:spPr>
        </p:pic>
        <p:sp>
          <p:nvSpPr>
            <p:cNvPr id="45" name="object 45"/>
            <p:cNvSpPr/>
            <p:nvPr/>
          </p:nvSpPr>
          <p:spPr>
            <a:xfrm>
              <a:off x="70911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46" name="object 46"/>
            <p:cNvSpPr/>
            <p:nvPr/>
          </p:nvSpPr>
          <p:spPr>
            <a:xfrm>
              <a:off x="70911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47" name="object 47"/>
            <p:cNvSpPr/>
            <p:nvPr/>
          </p:nvSpPr>
          <p:spPr>
            <a:xfrm>
              <a:off x="7104887"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48" name="object 48"/>
            <p:cNvSpPr/>
            <p:nvPr/>
          </p:nvSpPr>
          <p:spPr>
            <a:xfrm>
              <a:off x="7104887"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49" name="object 49"/>
            <p:cNvPicPr/>
            <p:nvPr/>
          </p:nvPicPr>
          <p:blipFill>
            <a:blip r:embed="rId4" cstate="print"/>
            <a:stretch>
              <a:fillRect/>
            </a:stretch>
          </p:blipFill>
          <p:spPr>
            <a:xfrm>
              <a:off x="7219187" y="3973067"/>
              <a:ext cx="76200" cy="228600"/>
            </a:xfrm>
            <a:prstGeom prst="rect">
              <a:avLst/>
            </a:prstGeom>
          </p:spPr>
        </p:pic>
        <p:sp>
          <p:nvSpPr>
            <p:cNvPr id="50" name="object 50"/>
            <p:cNvSpPr/>
            <p:nvPr/>
          </p:nvSpPr>
          <p:spPr>
            <a:xfrm>
              <a:off x="7104887"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51" name="object 51"/>
            <p:cNvSpPr/>
            <p:nvPr/>
          </p:nvSpPr>
          <p:spPr>
            <a:xfrm>
              <a:off x="7104887"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2" name="object 52"/>
            <p:cNvPicPr/>
            <p:nvPr/>
          </p:nvPicPr>
          <p:blipFill>
            <a:blip r:embed="rId2" cstate="print"/>
            <a:stretch>
              <a:fillRect/>
            </a:stretch>
          </p:blipFill>
          <p:spPr>
            <a:xfrm>
              <a:off x="7219188" y="2906267"/>
              <a:ext cx="76200" cy="228600"/>
            </a:xfrm>
            <a:prstGeom prst="rect">
              <a:avLst/>
            </a:prstGeom>
          </p:spPr>
        </p:pic>
        <p:sp>
          <p:nvSpPr>
            <p:cNvPr id="53" name="object 53"/>
            <p:cNvSpPr/>
            <p:nvPr/>
          </p:nvSpPr>
          <p:spPr>
            <a:xfrm>
              <a:off x="6262115" y="3433571"/>
              <a:ext cx="1009015" cy="775970"/>
            </a:xfrm>
            <a:custGeom>
              <a:avLst/>
              <a:gdLst/>
              <a:ahLst/>
              <a:cxnLst/>
              <a:rect l="l" t="t" r="r" b="b"/>
              <a:pathLst>
                <a:path w="1009015" h="775970">
                  <a:moveTo>
                    <a:pt x="12192" y="234695"/>
                  </a:moveTo>
                  <a:lnTo>
                    <a:pt x="0" y="234695"/>
                  </a:lnTo>
                  <a:lnTo>
                    <a:pt x="0" y="224027"/>
                  </a:lnTo>
                  <a:lnTo>
                    <a:pt x="12192" y="169163"/>
                  </a:lnTo>
                  <a:lnTo>
                    <a:pt x="32004" y="128015"/>
                  </a:lnTo>
                  <a:lnTo>
                    <a:pt x="60960" y="89915"/>
                  </a:lnTo>
                  <a:lnTo>
                    <a:pt x="96012" y="57912"/>
                  </a:lnTo>
                  <a:lnTo>
                    <a:pt x="137160" y="30479"/>
                  </a:lnTo>
                  <a:lnTo>
                    <a:pt x="181356" y="12191"/>
                  </a:lnTo>
                  <a:lnTo>
                    <a:pt x="227075" y="1523"/>
                  </a:lnTo>
                  <a:lnTo>
                    <a:pt x="239268" y="0"/>
                  </a:lnTo>
                  <a:lnTo>
                    <a:pt x="251460" y="0"/>
                  </a:lnTo>
                  <a:lnTo>
                    <a:pt x="275844" y="3047"/>
                  </a:lnTo>
                  <a:lnTo>
                    <a:pt x="286511" y="4571"/>
                  </a:lnTo>
                  <a:lnTo>
                    <a:pt x="310896" y="13715"/>
                  </a:lnTo>
                  <a:lnTo>
                    <a:pt x="228599" y="13715"/>
                  </a:lnTo>
                  <a:lnTo>
                    <a:pt x="217932" y="15239"/>
                  </a:lnTo>
                  <a:lnTo>
                    <a:pt x="164592" y="32003"/>
                  </a:lnTo>
                  <a:lnTo>
                    <a:pt x="123444" y="53339"/>
                  </a:lnTo>
                  <a:lnTo>
                    <a:pt x="86868" y="82295"/>
                  </a:lnTo>
                  <a:lnTo>
                    <a:pt x="56388" y="115823"/>
                  </a:lnTo>
                  <a:lnTo>
                    <a:pt x="33528" y="153923"/>
                  </a:lnTo>
                  <a:lnTo>
                    <a:pt x="21336" y="184403"/>
                  </a:lnTo>
                  <a:lnTo>
                    <a:pt x="18288" y="193547"/>
                  </a:lnTo>
                  <a:lnTo>
                    <a:pt x="15240" y="204215"/>
                  </a:lnTo>
                  <a:lnTo>
                    <a:pt x="13716" y="214883"/>
                  </a:lnTo>
                  <a:lnTo>
                    <a:pt x="12192" y="224027"/>
                  </a:lnTo>
                  <a:lnTo>
                    <a:pt x="12192" y="234695"/>
                  </a:lnTo>
                  <a:close/>
                </a:path>
                <a:path w="1009015" h="775970">
                  <a:moveTo>
                    <a:pt x="742188" y="775716"/>
                  </a:moveTo>
                  <a:lnTo>
                    <a:pt x="717804" y="772668"/>
                  </a:lnTo>
                  <a:lnTo>
                    <a:pt x="693419" y="766572"/>
                  </a:lnTo>
                  <a:lnTo>
                    <a:pt x="682752" y="760476"/>
                  </a:lnTo>
                  <a:lnTo>
                    <a:pt x="670560" y="755904"/>
                  </a:lnTo>
                  <a:lnTo>
                    <a:pt x="659892" y="748283"/>
                  </a:lnTo>
                  <a:lnTo>
                    <a:pt x="647700" y="740664"/>
                  </a:lnTo>
                  <a:lnTo>
                    <a:pt x="637031" y="733044"/>
                  </a:lnTo>
                  <a:lnTo>
                    <a:pt x="626364" y="723900"/>
                  </a:lnTo>
                  <a:lnTo>
                    <a:pt x="615696" y="713232"/>
                  </a:lnTo>
                  <a:lnTo>
                    <a:pt x="606552" y="702564"/>
                  </a:lnTo>
                  <a:lnTo>
                    <a:pt x="595884" y="690372"/>
                  </a:lnTo>
                  <a:lnTo>
                    <a:pt x="568452" y="652272"/>
                  </a:lnTo>
                  <a:lnTo>
                    <a:pt x="536448" y="594359"/>
                  </a:lnTo>
                  <a:lnTo>
                    <a:pt x="512064" y="528827"/>
                  </a:lnTo>
                  <a:lnTo>
                    <a:pt x="498348" y="477012"/>
                  </a:lnTo>
                  <a:lnTo>
                    <a:pt x="496824" y="460248"/>
                  </a:lnTo>
                  <a:lnTo>
                    <a:pt x="493776" y="441960"/>
                  </a:lnTo>
                  <a:lnTo>
                    <a:pt x="490728" y="405384"/>
                  </a:lnTo>
                  <a:lnTo>
                    <a:pt x="490601" y="368808"/>
                  </a:lnTo>
                  <a:lnTo>
                    <a:pt x="489204" y="352044"/>
                  </a:lnTo>
                  <a:lnTo>
                    <a:pt x="478536" y="283463"/>
                  </a:lnTo>
                  <a:lnTo>
                    <a:pt x="458724" y="217931"/>
                  </a:lnTo>
                  <a:lnTo>
                    <a:pt x="431292" y="156971"/>
                  </a:lnTo>
                  <a:lnTo>
                    <a:pt x="414528" y="129539"/>
                  </a:lnTo>
                  <a:lnTo>
                    <a:pt x="406908" y="115823"/>
                  </a:lnTo>
                  <a:lnTo>
                    <a:pt x="377952" y="80771"/>
                  </a:lnTo>
                  <a:lnTo>
                    <a:pt x="348996" y="53339"/>
                  </a:lnTo>
                  <a:lnTo>
                    <a:pt x="338328" y="44195"/>
                  </a:lnTo>
                  <a:lnTo>
                    <a:pt x="327660" y="38100"/>
                  </a:lnTo>
                  <a:lnTo>
                    <a:pt x="316992" y="30479"/>
                  </a:lnTo>
                  <a:lnTo>
                    <a:pt x="295656" y="21335"/>
                  </a:lnTo>
                  <a:lnTo>
                    <a:pt x="284987" y="18288"/>
                  </a:lnTo>
                  <a:lnTo>
                    <a:pt x="272796" y="15239"/>
                  </a:lnTo>
                  <a:lnTo>
                    <a:pt x="262128" y="13715"/>
                  </a:lnTo>
                  <a:lnTo>
                    <a:pt x="310896" y="13715"/>
                  </a:lnTo>
                  <a:lnTo>
                    <a:pt x="344424" y="33527"/>
                  </a:lnTo>
                  <a:lnTo>
                    <a:pt x="377952" y="62483"/>
                  </a:lnTo>
                  <a:lnTo>
                    <a:pt x="387096" y="73152"/>
                  </a:lnTo>
                  <a:lnTo>
                    <a:pt x="397764" y="83819"/>
                  </a:lnTo>
                  <a:lnTo>
                    <a:pt x="425196" y="121919"/>
                  </a:lnTo>
                  <a:lnTo>
                    <a:pt x="457200" y="179831"/>
                  </a:lnTo>
                  <a:lnTo>
                    <a:pt x="481584" y="245363"/>
                  </a:lnTo>
                  <a:lnTo>
                    <a:pt x="493776" y="297179"/>
                  </a:lnTo>
                  <a:lnTo>
                    <a:pt x="498348" y="315467"/>
                  </a:lnTo>
                  <a:lnTo>
                    <a:pt x="501396" y="352044"/>
                  </a:lnTo>
                  <a:lnTo>
                    <a:pt x="502920" y="368808"/>
                  </a:lnTo>
                  <a:lnTo>
                    <a:pt x="502920" y="405384"/>
                  </a:lnTo>
                  <a:lnTo>
                    <a:pt x="504444" y="423672"/>
                  </a:lnTo>
                  <a:lnTo>
                    <a:pt x="505968" y="440436"/>
                  </a:lnTo>
                  <a:lnTo>
                    <a:pt x="509016" y="457200"/>
                  </a:lnTo>
                  <a:lnTo>
                    <a:pt x="512064" y="475488"/>
                  </a:lnTo>
                  <a:lnTo>
                    <a:pt x="524255" y="525779"/>
                  </a:lnTo>
                  <a:lnTo>
                    <a:pt x="548640" y="589787"/>
                  </a:lnTo>
                  <a:lnTo>
                    <a:pt x="579120" y="646176"/>
                  </a:lnTo>
                  <a:lnTo>
                    <a:pt x="588264" y="659892"/>
                  </a:lnTo>
                  <a:lnTo>
                    <a:pt x="595884" y="672083"/>
                  </a:lnTo>
                  <a:lnTo>
                    <a:pt x="606552" y="682752"/>
                  </a:lnTo>
                  <a:lnTo>
                    <a:pt x="624840" y="704088"/>
                  </a:lnTo>
                  <a:lnTo>
                    <a:pt x="635508" y="714756"/>
                  </a:lnTo>
                  <a:lnTo>
                    <a:pt x="646176" y="722376"/>
                  </a:lnTo>
                  <a:lnTo>
                    <a:pt x="655319" y="731520"/>
                  </a:lnTo>
                  <a:lnTo>
                    <a:pt x="676656" y="743712"/>
                  </a:lnTo>
                  <a:lnTo>
                    <a:pt x="688848" y="749808"/>
                  </a:lnTo>
                  <a:lnTo>
                    <a:pt x="699516" y="754380"/>
                  </a:lnTo>
                  <a:lnTo>
                    <a:pt x="720852" y="760476"/>
                  </a:lnTo>
                  <a:lnTo>
                    <a:pt x="731519" y="762000"/>
                  </a:lnTo>
                  <a:lnTo>
                    <a:pt x="816102" y="762000"/>
                  </a:lnTo>
                  <a:lnTo>
                    <a:pt x="812292" y="763524"/>
                  </a:lnTo>
                  <a:lnTo>
                    <a:pt x="801623" y="766572"/>
                  </a:lnTo>
                  <a:lnTo>
                    <a:pt x="777240" y="772668"/>
                  </a:lnTo>
                  <a:lnTo>
                    <a:pt x="766571" y="774192"/>
                  </a:lnTo>
                  <a:lnTo>
                    <a:pt x="754380" y="774192"/>
                  </a:lnTo>
                  <a:lnTo>
                    <a:pt x="742188" y="775716"/>
                  </a:lnTo>
                  <a:close/>
                </a:path>
                <a:path w="1009015" h="775970">
                  <a:moveTo>
                    <a:pt x="963235" y="613067"/>
                  </a:moveTo>
                  <a:lnTo>
                    <a:pt x="934212" y="606552"/>
                  </a:lnTo>
                  <a:lnTo>
                    <a:pt x="987552" y="539496"/>
                  </a:lnTo>
                  <a:lnTo>
                    <a:pt x="1003069" y="600456"/>
                  </a:lnTo>
                  <a:lnTo>
                    <a:pt x="967740" y="600456"/>
                  </a:lnTo>
                  <a:lnTo>
                    <a:pt x="963235" y="613067"/>
                  </a:lnTo>
                  <a:close/>
                </a:path>
                <a:path w="1009015" h="775970">
                  <a:moveTo>
                    <a:pt x="975803" y="615888"/>
                  </a:moveTo>
                  <a:lnTo>
                    <a:pt x="963235" y="613067"/>
                  </a:lnTo>
                  <a:lnTo>
                    <a:pt x="967740" y="600456"/>
                  </a:lnTo>
                  <a:lnTo>
                    <a:pt x="979932" y="603504"/>
                  </a:lnTo>
                  <a:lnTo>
                    <a:pt x="975803" y="615888"/>
                  </a:lnTo>
                  <a:close/>
                </a:path>
                <a:path w="1009015" h="775970">
                  <a:moveTo>
                    <a:pt x="1008888" y="623315"/>
                  </a:moveTo>
                  <a:lnTo>
                    <a:pt x="975803" y="615888"/>
                  </a:lnTo>
                  <a:lnTo>
                    <a:pt x="979932" y="603504"/>
                  </a:lnTo>
                  <a:lnTo>
                    <a:pt x="967740" y="600456"/>
                  </a:lnTo>
                  <a:lnTo>
                    <a:pt x="1003069" y="600456"/>
                  </a:lnTo>
                  <a:lnTo>
                    <a:pt x="1008888" y="623315"/>
                  </a:lnTo>
                  <a:close/>
                </a:path>
                <a:path w="1009015" h="775970">
                  <a:moveTo>
                    <a:pt x="960120" y="621791"/>
                  </a:moveTo>
                  <a:lnTo>
                    <a:pt x="963235" y="613067"/>
                  </a:lnTo>
                  <a:lnTo>
                    <a:pt x="975803" y="615888"/>
                  </a:lnTo>
                  <a:lnTo>
                    <a:pt x="974344" y="620268"/>
                  </a:lnTo>
                  <a:lnTo>
                    <a:pt x="961644" y="620268"/>
                  </a:lnTo>
                  <a:lnTo>
                    <a:pt x="960120" y="621791"/>
                  </a:lnTo>
                  <a:close/>
                </a:path>
                <a:path w="1009015" h="775970">
                  <a:moveTo>
                    <a:pt x="816102" y="762000"/>
                  </a:moveTo>
                  <a:lnTo>
                    <a:pt x="754380" y="762000"/>
                  </a:lnTo>
                  <a:lnTo>
                    <a:pt x="786384" y="757428"/>
                  </a:lnTo>
                  <a:lnTo>
                    <a:pt x="798576" y="754380"/>
                  </a:lnTo>
                  <a:lnTo>
                    <a:pt x="850392" y="733044"/>
                  </a:lnTo>
                  <a:lnTo>
                    <a:pt x="890016" y="707135"/>
                  </a:lnTo>
                  <a:lnTo>
                    <a:pt x="923544" y="676656"/>
                  </a:lnTo>
                  <a:lnTo>
                    <a:pt x="950976" y="640080"/>
                  </a:lnTo>
                  <a:lnTo>
                    <a:pt x="961644" y="620268"/>
                  </a:lnTo>
                  <a:lnTo>
                    <a:pt x="974344" y="620268"/>
                  </a:lnTo>
                  <a:lnTo>
                    <a:pt x="947928" y="665988"/>
                  </a:lnTo>
                  <a:lnTo>
                    <a:pt x="914400" y="702564"/>
                  </a:lnTo>
                  <a:lnTo>
                    <a:pt x="877823" y="731520"/>
                  </a:lnTo>
                  <a:lnTo>
                    <a:pt x="835152" y="754380"/>
                  </a:lnTo>
                  <a:lnTo>
                    <a:pt x="816102" y="762000"/>
                  </a:lnTo>
                  <a:close/>
                </a:path>
              </a:pathLst>
            </a:custGeom>
            <a:solidFill>
              <a:srgbClr val="BF0000"/>
            </a:solidFill>
          </p:spPr>
          <p:txBody>
            <a:bodyPr wrap="square" lIns="0" tIns="0" rIns="0" bIns="0" rtlCol="0"/>
            <a:lstStyle/>
            <a:p>
              <a:endParaRPr sz="1588"/>
            </a:p>
          </p:txBody>
        </p:sp>
        <p:sp>
          <p:nvSpPr>
            <p:cNvPr id="54" name="object 54"/>
            <p:cNvSpPr/>
            <p:nvPr/>
          </p:nvSpPr>
          <p:spPr>
            <a:xfrm>
              <a:off x="8081771" y="42016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55" name="object 55"/>
            <p:cNvSpPr/>
            <p:nvPr/>
          </p:nvSpPr>
          <p:spPr>
            <a:xfrm>
              <a:off x="8081771" y="42016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56" name="object 56"/>
            <p:cNvSpPr/>
            <p:nvPr/>
          </p:nvSpPr>
          <p:spPr>
            <a:xfrm>
              <a:off x="8081771" y="36682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57" name="object 57"/>
            <p:cNvSpPr/>
            <p:nvPr/>
          </p:nvSpPr>
          <p:spPr>
            <a:xfrm>
              <a:off x="8081771" y="36682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58" name="object 58"/>
            <p:cNvPicPr/>
            <p:nvPr/>
          </p:nvPicPr>
          <p:blipFill>
            <a:blip r:embed="rId2" cstate="print"/>
            <a:stretch>
              <a:fillRect/>
            </a:stretch>
          </p:blipFill>
          <p:spPr>
            <a:xfrm>
              <a:off x="8196072" y="3973067"/>
              <a:ext cx="76200" cy="228600"/>
            </a:xfrm>
            <a:prstGeom prst="rect">
              <a:avLst/>
            </a:prstGeom>
          </p:spPr>
        </p:pic>
        <p:sp>
          <p:nvSpPr>
            <p:cNvPr id="59" name="object 59"/>
            <p:cNvSpPr/>
            <p:nvPr/>
          </p:nvSpPr>
          <p:spPr>
            <a:xfrm>
              <a:off x="8081771" y="313486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E46B0A"/>
            </a:solidFill>
          </p:spPr>
          <p:txBody>
            <a:bodyPr wrap="square" lIns="0" tIns="0" rIns="0" bIns="0" rtlCol="0"/>
            <a:lstStyle/>
            <a:p>
              <a:endParaRPr sz="1588"/>
            </a:p>
          </p:txBody>
        </p:sp>
        <p:sp>
          <p:nvSpPr>
            <p:cNvPr id="60" name="object 60"/>
            <p:cNvSpPr/>
            <p:nvPr/>
          </p:nvSpPr>
          <p:spPr>
            <a:xfrm>
              <a:off x="8081771" y="313486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pic>
          <p:nvPicPr>
            <p:cNvPr id="61" name="object 61"/>
            <p:cNvPicPr/>
            <p:nvPr/>
          </p:nvPicPr>
          <p:blipFill>
            <a:blip r:embed="rId2" cstate="print"/>
            <a:stretch>
              <a:fillRect/>
            </a:stretch>
          </p:blipFill>
          <p:spPr>
            <a:xfrm>
              <a:off x="8196072" y="3439667"/>
              <a:ext cx="76200" cy="228600"/>
            </a:xfrm>
            <a:prstGeom prst="rect">
              <a:avLst/>
            </a:prstGeom>
          </p:spPr>
        </p:pic>
        <p:pic>
          <p:nvPicPr>
            <p:cNvPr id="62" name="object 62"/>
            <p:cNvPicPr/>
            <p:nvPr/>
          </p:nvPicPr>
          <p:blipFill>
            <a:blip r:embed="rId2" cstate="print"/>
            <a:stretch>
              <a:fillRect/>
            </a:stretch>
          </p:blipFill>
          <p:spPr>
            <a:xfrm>
              <a:off x="8196072" y="2906267"/>
              <a:ext cx="76200" cy="228600"/>
            </a:xfrm>
            <a:prstGeom prst="rect">
              <a:avLst/>
            </a:prstGeom>
          </p:spPr>
        </p:pic>
        <p:sp>
          <p:nvSpPr>
            <p:cNvPr id="63" name="object 63"/>
            <p:cNvSpPr/>
            <p:nvPr/>
          </p:nvSpPr>
          <p:spPr>
            <a:xfrm>
              <a:off x="7248144" y="3433571"/>
              <a:ext cx="1009015" cy="775970"/>
            </a:xfrm>
            <a:custGeom>
              <a:avLst/>
              <a:gdLst/>
              <a:ahLst/>
              <a:cxnLst/>
              <a:rect l="l" t="t" r="r" b="b"/>
              <a:pathLst>
                <a:path w="1009015" h="775970">
                  <a:moveTo>
                    <a:pt x="13716" y="234695"/>
                  </a:moveTo>
                  <a:lnTo>
                    <a:pt x="0" y="234695"/>
                  </a:lnTo>
                  <a:lnTo>
                    <a:pt x="1524" y="224027"/>
                  </a:lnTo>
                  <a:lnTo>
                    <a:pt x="1524" y="213359"/>
                  </a:lnTo>
                  <a:lnTo>
                    <a:pt x="3048" y="202691"/>
                  </a:lnTo>
                  <a:lnTo>
                    <a:pt x="6096" y="190499"/>
                  </a:lnTo>
                  <a:lnTo>
                    <a:pt x="9144" y="179831"/>
                  </a:lnTo>
                  <a:lnTo>
                    <a:pt x="13716" y="169163"/>
                  </a:lnTo>
                  <a:lnTo>
                    <a:pt x="16764" y="158495"/>
                  </a:lnTo>
                  <a:lnTo>
                    <a:pt x="22860" y="149351"/>
                  </a:lnTo>
                  <a:lnTo>
                    <a:pt x="33528" y="128015"/>
                  </a:lnTo>
                  <a:lnTo>
                    <a:pt x="47244" y="109727"/>
                  </a:lnTo>
                  <a:lnTo>
                    <a:pt x="79248" y="73152"/>
                  </a:lnTo>
                  <a:lnTo>
                    <a:pt x="137160" y="30479"/>
                  </a:lnTo>
                  <a:lnTo>
                    <a:pt x="181356" y="12191"/>
                  </a:lnTo>
                  <a:lnTo>
                    <a:pt x="205740" y="6095"/>
                  </a:lnTo>
                  <a:lnTo>
                    <a:pt x="216408" y="3047"/>
                  </a:lnTo>
                  <a:lnTo>
                    <a:pt x="240792" y="0"/>
                  </a:lnTo>
                  <a:lnTo>
                    <a:pt x="251459" y="0"/>
                  </a:lnTo>
                  <a:lnTo>
                    <a:pt x="288035" y="4571"/>
                  </a:lnTo>
                  <a:lnTo>
                    <a:pt x="312420" y="13715"/>
                  </a:lnTo>
                  <a:lnTo>
                    <a:pt x="230123" y="13715"/>
                  </a:lnTo>
                  <a:lnTo>
                    <a:pt x="219456" y="15239"/>
                  </a:lnTo>
                  <a:lnTo>
                    <a:pt x="208788" y="18288"/>
                  </a:lnTo>
                  <a:lnTo>
                    <a:pt x="196596" y="21335"/>
                  </a:lnTo>
                  <a:lnTo>
                    <a:pt x="185928" y="24383"/>
                  </a:lnTo>
                  <a:lnTo>
                    <a:pt x="124968" y="53339"/>
                  </a:lnTo>
                  <a:lnTo>
                    <a:pt x="88392" y="82295"/>
                  </a:lnTo>
                  <a:lnTo>
                    <a:pt x="57912" y="115823"/>
                  </a:lnTo>
                  <a:lnTo>
                    <a:pt x="33528" y="153923"/>
                  </a:lnTo>
                  <a:lnTo>
                    <a:pt x="21336" y="184403"/>
                  </a:lnTo>
                  <a:lnTo>
                    <a:pt x="18288" y="193547"/>
                  </a:lnTo>
                  <a:lnTo>
                    <a:pt x="15240" y="214883"/>
                  </a:lnTo>
                  <a:lnTo>
                    <a:pt x="13716" y="224027"/>
                  </a:lnTo>
                  <a:lnTo>
                    <a:pt x="13716" y="234695"/>
                  </a:lnTo>
                  <a:close/>
                </a:path>
                <a:path w="1009015" h="775970">
                  <a:moveTo>
                    <a:pt x="742188" y="775716"/>
                  </a:moveTo>
                  <a:lnTo>
                    <a:pt x="731520" y="774192"/>
                  </a:lnTo>
                  <a:lnTo>
                    <a:pt x="719328" y="772668"/>
                  </a:lnTo>
                  <a:lnTo>
                    <a:pt x="694943" y="766572"/>
                  </a:lnTo>
                  <a:lnTo>
                    <a:pt x="682752" y="760476"/>
                  </a:lnTo>
                  <a:lnTo>
                    <a:pt x="672084" y="755904"/>
                  </a:lnTo>
                  <a:lnTo>
                    <a:pt x="659891" y="748283"/>
                  </a:lnTo>
                  <a:lnTo>
                    <a:pt x="638555" y="733044"/>
                  </a:lnTo>
                  <a:lnTo>
                    <a:pt x="627888" y="723900"/>
                  </a:lnTo>
                  <a:lnTo>
                    <a:pt x="606552" y="702564"/>
                  </a:lnTo>
                  <a:lnTo>
                    <a:pt x="597408" y="690372"/>
                  </a:lnTo>
                  <a:lnTo>
                    <a:pt x="586740" y="678180"/>
                  </a:lnTo>
                  <a:lnTo>
                    <a:pt x="551688" y="624839"/>
                  </a:lnTo>
                  <a:lnTo>
                    <a:pt x="524255" y="562356"/>
                  </a:lnTo>
                  <a:lnTo>
                    <a:pt x="502920" y="495300"/>
                  </a:lnTo>
                  <a:lnTo>
                    <a:pt x="499872" y="477012"/>
                  </a:lnTo>
                  <a:lnTo>
                    <a:pt x="496824" y="460248"/>
                  </a:lnTo>
                  <a:lnTo>
                    <a:pt x="495300" y="441960"/>
                  </a:lnTo>
                  <a:lnTo>
                    <a:pt x="492252" y="423672"/>
                  </a:lnTo>
                  <a:lnTo>
                    <a:pt x="492252" y="405384"/>
                  </a:lnTo>
                  <a:lnTo>
                    <a:pt x="490728" y="387096"/>
                  </a:lnTo>
                  <a:lnTo>
                    <a:pt x="490728" y="352044"/>
                  </a:lnTo>
                  <a:lnTo>
                    <a:pt x="487679" y="335280"/>
                  </a:lnTo>
                  <a:lnTo>
                    <a:pt x="480060" y="283463"/>
                  </a:lnTo>
                  <a:lnTo>
                    <a:pt x="460248" y="217931"/>
                  </a:lnTo>
                  <a:lnTo>
                    <a:pt x="432816" y="156971"/>
                  </a:lnTo>
                  <a:lnTo>
                    <a:pt x="406908" y="115823"/>
                  </a:lnTo>
                  <a:lnTo>
                    <a:pt x="388620" y="92963"/>
                  </a:lnTo>
                  <a:lnTo>
                    <a:pt x="379476" y="80771"/>
                  </a:lnTo>
                  <a:lnTo>
                    <a:pt x="368808" y="71627"/>
                  </a:lnTo>
                  <a:lnTo>
                    <a:pt x="359664" y="60959"/>
                  </a:lnTo>
                  <a:lnTo>
                    <a:pt x="348996" y="53339"/>
                  </a:lnTo>
                  <a:lnTo>
                    <a:pt x="338328" y="44195"/>
                  </a:lnTo>
                  <a:lnTo>
                    <a:pt x="327660" y="38100"/>
                  </a:lnTo>
                  <a:lnTo>
                    <a:pt x="316992" y="30479"/>
                  </a:lnTo>
                  <a:lnTo>
                    <a:pt x="295656" y="21335"/>
                  </a:lnTo>
                  <a:lnTo>
                    <a:pt x="274320" y="15239"/>
                  </a:lnTo>
                  <a:lnTo>
                    <a:pt x="263652" y="13715"/>
                  </a:lnTo>
                  <a:lnTo>
                    <a:pt x="312420" y="13715"/>
                  </a:lnTo>
                  <a:lnTo>
                    <a:pt x="323088" y="19812"/>
                  </a:lnTo>
                  <a:lnTo>
                    <a:pt x="335279" y="25907"/>
                  </a:lnTo>
                  <a:lnTo>
                    <a:pt x="345948" y="33527"/>
                  </a:lnTo>
                  <a:lnTo>
                    <a:pt x="367284" y="51815"/>
                  </a:lnTo>
                  <a:lnTo>
                    <a:pt x="388620" y="73152"/>
                  </a:lnTo>
                  <a:lnTo>
                    <a:pt x="397764" y="83819"/>
                  </a:lnTo>
                  <a:lnTo>
                    <a:pt x="408432" y="96011"/>
                  </a:lnTo>
                  <a:lnTo>
                    <a:pt x="443484" y="150875"/>
                  </a:lnTo>
                  <a:lnTo>
                    <a:pt x="470916" y="211835"/>
                  </a:lnTo>
                  <a:lnTo>
                    <a:pt x="487679" y="262127"/>
                  </a:lnTo>
                  <a:lnTo>
                    <a:pt x="501396" y="333756"/>
                  </a:lnTo>
                  <a:lnTo>
                    <a:pt x="502920" y="352044"/>
                  </a:lnTo>
                  <a:lnTo>
                    <a:pt x="504444" y="368808"/>
                  </a:lnTo>
                  <a:lnTo>
                    <a:pt x="504444" y="405384"/>
                  </a:lnTo>
                  <a:lnTo>
                    <a:pt x="505968" y="423672"/>
                  </a:lnTo>
                  <a:lnTo>
                    <a:pt x="509016" y="457200"/>
                  </a:lnTo>
                  <a:lnTo>
                    <a:pt x="512064" y="475488"/>
                  </a:lnTo>
                  <a:lnTo>
                    <a:pt x="516636" y="492252"/>
                  </a:lnTo>
                  <a:lnTo>
                    <a:pt x="519684" y="509015"/>
                  </a:lnTo>
                  <a:lnTo>
                    <a:pt x="548640" y="589787"/>
                  </a:lnTo>
                  <a:lnTo>
                    <a:pt x="579120" y="646176"/>
                  </a:lnTo>
                  <a:lnTo>
                    <a:pt x="615696" y="693420"/>
                  </a:lnTo>
                  <a:lnTo>
                    <a:pt x="626364" y="704088"/>
                  </a:lnTo>
                  <a:lnTo>
                    <a:pt x="635508" y="714756"/>
                  </a:lnTo>
                  <a:lnTo>
                    <a:pt x="646176" y="722376"/>
                  </a:lnTo>
                  <a:lnTo>
                    <a:pt x="656843" y="731520"/>
                  </a:lnTo>
                  <a:lnTo>
                    <a:pt x="688847" y="749808"/>
                  </a:lnTo>
                  <a:lnTo>
                    <a:pt x="699516" y="754380"/>
                  </a:lnTo>
                  <a:lnTo>
                    <a:pt x="720852" y="760476"/>
                  </a:lnTo>
                  <a:lnTo>
                    <a:pt x="733043" y="762000"/>
                  </a:lnTo>
                  <a:lnTo>
                    <a:pt x="817372" y="762000"/>
                  </a:lnTo>
                  <a:lnTo>
                    <a:pt x="813816" y="763524"/>
                  </a:lnTo>
                  <a:lnTo>
                    <a:pt x="801624" y="766572"/>
                  </a:lnTo>
                  <a:lnTo>
                    <a:pt x="790956" y="769620"/>
                  </a:lnTo>
                  <a:lnTo>
                    <a:pt x="778764" y="772668"/>
                  </a:lnTo>
                  <a:lnTo>
                    <a:pt x="766572" y="774192"/>
                  </a:lnTo>
                  <a:lnTo>
                    <a:pt x="754380" y="774192"/>
                  </a:lnTo>
                  <a:lnTo>
                    <a:pt x="742188" y="775716"/>
                  </a:lnTo>
                  <a:close/>
                </a:path>
                <a:path w="1009015" h="775970">
                  <a:moveTo>
                    <a:pt x="964646" y="613384"/>
                  </a:moveTo>
                  <a:lnTo>
                    <a:pt x="934212" y="606552"/>
                  </a:lnTo>
                  <a:lnTo>
                    <a:pt x="989076" y="539496"/>
                  </a:lnTo>
                  <a:lnTo>
                    <a:pt x="1003484" y="600456"/>
                  </a:lnTo>
                  <a:lnTo>
                    <a:pt x="969264" y="600456"/>
                  </a:lnTo>
                  <a:lnTo>
                    <a:pt x="964646" y="613384"/>
                  </a:lnTo>
                  <a:close/>
                </a:path>
                <a:path w="1009015" h="775970">
                  <a:moveTo>
                    <a:pt x="977221" y="616207"/>
                  </a:moveTo>
                  <a:lnTo>
                    <a:pt x="964646" y="613384"/>
                  </a:lnTo>
                  <a:lnTo>
                    <a:pt x="969264" y="600456"/>
                  </a:lnTo>
                  <a:lnTo>
                    <a:pt x="981456" y="603504"/>
                  </a:lnTo>
                  <a:lnTo>
                    <a:pt x="977221" y="616207"/>
                  </a:lnTo>
                  <a:close/>
                </a:path>
                <a:path w="1009015" h="775970">
                  <a:moveTo>
                    <a:pt x="1008888" y="623315"/>
                  </a:moveTo>
                  <a:lnTo>
                    <a:pt x="977221" y="616207"/>
                  </a:lnTo>
                  <a:lnTo>
                    <a:pt x="981456" y="603504"/>
                  </a:lnTo>
                  <a:lnTo>
                    <a:pt x="969264" y="600456"/>
                  </a:lnTo>
                  <a:lnTo>
                    <a:pt x="1003484" y="600456"/>
                  </a:lnTo>
                  <a:lnTo>
                    <a:pt x="1008888" y="623315"/>
                  </a:lnTo>
                  <a:close/>
                </a:path>
                <a:path w="1009015" h="775970">
                  <a:moveTo>
                    <a:pt x="975360" y="621791"/>
                  </a:moveTo>
                  <a:lnTo>
                    <a:pt x="961644" y="621791"/>
                  </a:lnTo>
                  <a:lnTo>
                    <a:pt x="964646" y="613384"/>
                  </a:lnTo>
                  <a:lnTo>
                    <a:pt x="977221" y="616207"/>
                  </a:lnTo>
                  <a:lnTo>
                    <a:pt x="975360" y="621791"/>
                  </a:lnTo>
                  <a:close/>
                </a:path>
                <a:path w="1009015" h="775970">
                  <a:moveTo>
                    <a:pt x="817372" y="762000"/>
                  </a:moveTo>
                  <a:lnTo>
                    <a:pt x="754380" y="762000"/>
                  </a:lnTo>
                  <a:lnTo>
                    <a:pt x="765047" y="760476"/>
                  </a:lnTo>
                  <a:lnTo>
                    <a:pt x="777240" y="758952"/>
                  </a:lnTo>
                  <a:lnTo>
                    <a:pt x="787908" y="757428"/>
                  </a:lnTo>
                  <a:lnTo>
                    <a:pt x="830580" y="743712"/>
                  </a:lnTo>
                  <a:lnTo>
                    <a:pt x="871728" y="720852"/>
                  </a:lnTo>
                  <a:lnTo>
                    <a:pt x="908304" y="691896"/>
                  </a:lnTo>
                  <a:lnTo>
                    <a:pt x="938784" y="658368"/>
                  </a:lnTo>
                  <a:lnTo>
                    <a:pt x="961644" y="620268"/>
                  </a:lnTo>
                  <a:lnTo>
                    <a:pt x="961644" y="621791"/>
                  </a:lnTo>
                  <a:lnTo>
                    <a:pt x="975360" y="621791"/>
                  </a:lnTo>
                  <a:lnTo>
                    <a:pt x="973836" y="626363"/>
                  </a:lnTo>
                  <a:lnTo>
                    <a:pt x="972312" y="626363"/>
                  </a:lnTo>
                  <a:lnTo>
                    <a:pt x="961644" y="647700"/>
                  </a:lnTo>
                  <a:lnTo>
                    <a:pt x="932688" y="684276"/>
                  </a:lnTo>
                  <a:lnTo>
                    <a:pt x="897636" y="717804"/>
                  </a:lnTo>
                  <a:lnTo>
                    <a:pt x="856488" y="743712"/>
                  </a:lnTo>
                  <a:lnTo>
                    <a:pt x="835152" y="754380"/>
                  </a:lnTo>
                  <a:lnTo>
                    <a:pt x="817372" y="762000"/>
                  </a:lnTo>
                  <a:close/>
                </a:path>
              </a:pathLst>
            </a:custGeom>
            <a:solidFill>
              <a:srgbClr val="000000"/>
            </a:solidFill>
          </p:spPr>
          <p:txBody>
            <a:bodyPr wrap="square" lIns="0" tIns="0" rIns="0" bIns="0" rtlCol="0"/>
            <a:lstStyle/>
            <a:p>
              <a:endParaRPr sz="1588"/>
            </a:p>
          </p:txBody>
        </p:sp>
        <p:sp>
          <p:nvSpPr>
            <p:cNvPr id="64" name="object 64"/>
            <p:cNvSpPr/>
            <p:nvPr/>
          </p:nvSpPr>
          <p:spPr>
            <a:xfrm>
              <a:off x="6771132" y="3694175"/>
              <a:ext cx="2068195" cy="203200"/>
            </a:xfrm>
            <a:custGeom>
              <a:avLst/>
              <a:gdLst/>
              <a:ahLst/>
              <a:cxnLst/>
              <a:rect l="l" t="t" r="r" b="b"/>
              <a:pathLst>
                <a:path w="2068195" h="203200">
                  <a:moveTo>
                    <a:pt x="102107" y="202691"/>
                  </a:moveTo>
                  <a:lnTo>
                    <a:pt x="0" y="102108"/>
                  </a:lnTo>
                  <a:lnTo>
                    <a:pt x="102107" y="0"/>
                  </a:lnTo>
                  <a:lnTo>
                    <a:pt x="102107" y="57912"/>
                  </a:lnTo>
                  <a:lnTo>
                    <a:pt x="2068067" y="57912"/>
                  </a:lnTo>
                  <a:lnTo>
                    <a:pt x="2068067" y="144780"/>
                  </a:lnTo>
                  <a:lnTo>
                    <a:pt x="102107" y="144780"/>
                  </a:lnTo>
                  <a:lnTo>
                    <a:pt x="102107" y="202691"/>
                  </a:lnTo>
                  <a:close/>
                </a:path>
              </a:pathLst>
            </a:custGeom>
            <a:solidFill>
              <a:srgbClr val="00AF50"/>
            </a:solidFill>
          </p:spPr>
          <p:txBody>
            <a:bodyPr wrap="square" lIns="0" tIns="0" rIns="0" bIns="0" rtlCol="0"/>
            <a:lstStyle/>
            <a:p>
              <a:endParaRPr sz="1588"/>
            </a:p>
          </p:txBody>
        </p:sp>
        <p:sp>
          <p:nvSpPr>
            <p:cNvPr id="65" name="object 65"/>
            <p:cNvSpPr/>
            <p:nvPr/>
          </p:nvSpPr>
          <p:spPr>
            <a:xfrm>
              <a:off x="6771132" y="3694175"/>
              <a:ext cx="2068195" cy="203200"/>
            </a:xfrm>
            <a:custGeom>
              <a:avLst/>
              <a:gdLst/>
              <a:ahLst/>
              <a:cxnLst/>
              <a:rect l="l" t="t" r="r" b="b"/>
              <a:pathLst>
                <a:path w="2068195" h="203200">
                  <a:moveTo>
                    <a:pt x="0" y="102108"/>
                  </a:moveTo>
                  <a:lnTo>
                    <a:pt x="102107" y="0"/>
                  </a:lnTo>
                  <a:lnTo>
                    <a:pt x="102107" y="57912"/>
                  </a:lnTo>
                  <a:lnTo>
                    <a:pt x="2068067" y="57912"/>
                  </a:lnTo>
                  <a:lnTo>
                    <a:pt x="2068067" y="144780"/>
                  </a:lnTo>
                  <a:lnTo>
                    <a:pt x="102107" y="144780"/>
                  </a:lnTo>
                  <a:lnTo>
                    <a:pt x="102107" y="202691"/>
                  </a:lnTo>
                  <a:lnTo>
                    <a:pt x="0" y="102108"/>
                  </a:lnTo>
                  <a:close/>
                </a:path>
              </a:pathLst>
            </a:custGeom>
            <a:ln w="25908">
              <a:solidFill>
                <a:srgbClr val="008000"/>
              </a:solidFill>
            </a:ln>
          </p:spPr>
          <p:txBody>
            <a:bodyPr wrap="square" lIns="0" tIns="0" rIns="0" bIns="0" rtlCol="0"/>
            <a:lstStyle/>
            <a:p>
              <a:endParaRPr sz="1588"/>
            </a:p>
          </p:txBody>
        </p:sp>
        <p:pic>
          <p:nvPicPr>
            <p:cNvPr id="66" name="object 66"/>
            <p:cNvPicPr/>
            <p:nvPr/>
          </p:nvPicPr>
          <p:blipFill>
            <a:blip r:embed="rId2" cstate="print"/>
            <a:stretch>
              <a:fillRect/>
            </a:stretch>
          </p:blipFill>
          <p:spPr>
            <a:xfrm>
              <a:off x="7219188" y="3439667"/>
              <a:ext cx="76200" cy="228600"/>
            </a:xfrm>
            <a:prstGeom prst="rect">
              <a:avLst/>
            </a:prstGeom>
          </p:spPr>
        </p:pic>
      </p:grpSp>
      <p:sp>
        <p:nvSpPr>
          <p:cNvPr id="67" name="object 67"/>
          <p:cNvSpPr txBox="1"/>
          <p:nvPr/>
        </p:nvSpPr>
        <p:spPr>
          <a:xfrm>
            <a:off x="2352292" y="3201306"/>
            <a:ext cx="283509" cy="255678"/>
          </a:xfrm>
          <a:prstGeom prst="rect">
            <a:avLst/>
          </a:prstGeom>
        </p:spPr>
        <p:txBody>
          <a:bodyPr vert="horz" wrap="square" lIns="0" tIns="11206" rIns="0" bIns="0" rtlCol="0">
            <a:spAutoFit/>
          </a:bodyPr>
          <a:lstStyle/>
          <a:p>
            <a:pPr marL="33619">
              <a:spcBef>
                <a:spcPts val="88"/>
              </a:spcBef>
            </a:pPr>
            <a:r>
              <a:rPr sz="2382" baseline="13888" dirty="0">
                <a:latin typeface="Calibri"/>
                <a:cs typeface="Calibri"/>
              </a:rPr>
              <a:t>h</a:t>
            </a:r>
            <a:r>
              <a:rPr sz="1059" dirty="0">
                <a:latin typeface="Calibri"/>
                <a:cs typeface="Calibri"/>
              </a:rPr>
              <a:t>-1</a:t>
            </a:r>
            <a:endParaRPr sz="1059">
              <a:latin typeface="Calibri"/>
              <a:cs typeface="Calibri"/>
            </a:endParaRPr>
          </a:p>
        </p:txBody>
      </p:sp>
      <p:pic>
        <p:nvPicPr>
          <p:cNvPr id="68" name="object 68"/>
          <p:cNvPicPr/>
          <p:nvPr/>
        </p:nvPicPr>
        <p:blipFill>
          <a:blip r:embed="rId5" cstate="print"/>
          <a:stretch>
            <a:fillRect/>
          </a:stretch>
        </p:blipFill>
        <p:spPr>
          <a:xfrm>
            <a:off x="6499412" y="3334871"/>
            <a:ext cx="67235" cy="67235"/>
          </a:xfrm>
          <a:prstGeom prst="rect">
            <a:avLst/>
          </a:prstGeom>
        </p:spPr>
      </p:pic>
      <p:pic>
        <p:nvPicPr>
          <p:cNvPr id="69" name="object 69"/>
          <p:cNvPicPr/>
          <p:nvPr/>
        </p:nvPicPr>
        <p:blipFill>
          <a:blip r:embed="rId5" cstate="print"/>
          <a:stretch>
            <a:fillRect/>
          </a:stretch>
        </p:blipFill>
        <p:spPr>
          <a:xfrm>
            <a:off x="6364941" y="3334871"/>
            <a:ext cx="67235" cy="67235"/>
          </a:xfrm>
          <a:prstGeom prst="rect">
            <a:avLst/>
          </a:prstGeom>
        </p:spPr>
      </p:pic>
      <p:pic>
        <p:nvPicPr>
          <p:cNvPr id="70" name="object 70"/>
          <p:cNvPicPr/>
          <p:nvPr/>
        </p:nvPicPr>
        <p:blipFill>
          <a:blip r:embed="rId5" cstate="print"/>
          <a:stretch>
            <a:fillRect/>
          </a:stretch>
        </p:blipFill>
        <p:spPr>
          <a:xfrm>
            <a:off x="6230471" y="3334871"/>
            <a:ext cx="67235" cy="67235"/>
          </a:xfrm>
          <a:prstGeom prst="rect">
            <a:avLst/>
          </a:prstGeom>
        </p:spPr>
      </p:pic>
      <p:pic>
        <p:nvPicPr>
          <p:cNvPr id="71" name="object 71"/>
          <p:cNvPicPr/>
          <p:nvPr/>
        </p:nvPicPr>
        <p:blipFill>
          <a:blip r:embed="rId5" cstate="print"/>
          <a:stretch>
            <a:fillRect/>
          </a:stretch>
        </p:blipFill>
        <p:spPr>
          <a:xfrm>
            <a:off x="6096000" y="3334871"/>
            <a:ext cx="67235" cy="67235"/>
          </a:xfrm>
          <a:prstGeom prst="rect">
            <a:avLst/>
          </a:prstGeom>
        </p:spPr>
      </p:pic>
      <p:sp>
        <p:nvSpPr>
          <p:cNvPr id="72" name="object 72"/>
          <p:cNvSpPr txBox="1"/>
          <p:nvPr/>
        </p:nvSpPr>
        <p:spPr>
          <a:xfrm>
            <a:off x="3508368" y="3996034"/>
            <a:ext cx="1236009" cy="228054"/>
          </a:xfrm>
          <a:prstGeom prst="rect">
            <a:avLst/>
          </a:prstGeom>
        </p:spPr>
        <p:txBody>
          <a:bodyPr vert="horz" wrap="square" lIns="0" tIns="10646" rIns="0" bIns="0" rtlCol="0">
            <a:spAutoFit/>
          </a:bodyPr>
          <a:lstStyle/>
          <a:p>
            <a:pPr marL="11206">
              <a:spcBef>
                <a:spcPts val="84"/>
              </a:spcBef>
              <a:tabLst>
                <a:tab pos="855614" algn="l"/>
              </a:tabLst>
            </a:pPr>
            <a:r>
              <a:rPr sz="1412" spc="35" dirty="0">
                <a:latin typeface="Cambria Math"/>
                <a:cs typeface="Cambria Math"/>
              </a:rPr>
              <a:t>𝑋</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r>
              <a:rPr sz="1412" dirty="0">
                <a:latin typeface="Cambria Math"/>
                <a:cs typeface="Cambria Math"/>
              </a:rPr>
              <a:t>	</a:t>
            </a: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3" name="object 73"/>
          <p:cNvSpPr txBox="1"/>
          <p:nvPr/>
        </p:nvSpPr>
        <p:spPr>
          <a:xfrm>
            <a:off x="5218746" y="3996034"/>
            <a:ext cx="391646"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74" name="object 74"/>
          <p:cNvSpPr txBox="1"/>
          <p:nvPr/>
        </p:nvSpPr>
        <p:spPr>
          <a:xfrm>
            <a:off x="6779969"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2)</a:t>
            </a:r>
            <a:endParaRPr sz="1412">
              <a:latin typeface="Cambria Math"/>
              <a:cs typeface="Cambria Math"/>
            </a:endParaRPr>
          </a:p>
        </p:txBody>
      </p:sp>
      <p:sp>
        <p:nvSpPr>
          <p:cNvPr id="75" name="object 75"/>
          <p:cNvSpPr txBox="1"/>
          <p:nvPr/>
        </p:nvSpPr>
        <p:spPr>
          <a:xfrm>
            <a:off x="7752154" y="3996034"/>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76" name="object 76"/>
          <p:cNvSpPr txBox="1"/>
          <p:nvPr/>
        </p:nvSpPr>
        <p:spPr>
          <a:xfrm>
            <a:off x="8728410" y="3996034"/>
            <a:ext cx="402291" cy="228054"/>
          </a:xfrm>
          <a:prstGeom prst="rect">
            <a:avLst/>
          </a:prstGeom>
        </p:spPr>
        <p:txBody>
          <a:bodyPr vert="horz" wrap="square" lIns="0" tIns="10646" rIns="0" bIns="0" rtlCol="0">
            <a:spAutoFit/>
          </a:bodyPr>
          <a:lstStyle/>
          <a:p>
            <a:pPr marL="11206">
              <a:spcBef>
                <a:spcPts val="84"/>
              </a:spcBef>
            </a:pPr>
            <a:r>
              <a:rPr sz="1412" spc="40" dirty="0">
                <a:latin typeface="Cambria Math"/>
                <a:cs typeface="Cambria Math"/>
              </a:rPr>
              <a:t>𝑋</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77" name="object 77"/>
          <p:cNvSpPr txBox="1"/>
          <p:nvPr/>
        </p:nvSpPr>
        <p:spPr>
          <a:xfrm>
            <a:off x="3512385"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0</a:t>
            </a:r>
            <a:r>
              <a:rPr sz="1412" spc="-4" dirty="0">
                <a:latin typeface="Cambria Math"/>
                <a:cs typeface="Cambria Math"/>
              </a:rPr>
              <a:t>)</a:t>
            </a:r>
            <a:endParaRPr sz="1412">
              <a:latin typeface="Cambria Math"/>
              <a:cs typeface="Cambria Math"/>
            </a:endParaRPr>
          </a:p>
        </p:txBody>
      </p:sp>
      <p:sp>
        <p:nvSpPr>
          <p:cNvPr id="78" name="object 78"/>
          <p:cNvSpPr txBox="1"/>
          <p:nvPr/>
        </p:nvSpPr>
        <p:spPr>
          <a:xfrm>
            <a:off x="4356832"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endParaRPr sz="1412">
              <a:latin typeface="Cambria Math"/>
              <a:cs typeface="Cambria Math"/>
            </a:endParaRPr>
          </a:p>
        </p:txBody>
      </p:sp>
      <p:sp>
        <p:nvSpPr>
          <p:cNvPr id="79" name="object 79"/>
          <p:cNvSpPr txBox="1"/>
          <p:nvPr/>
        </p:nvSpPr>
        <p:spPr>
          <a:xfrm>
            <a:off x="5222850" y="2284172"/>
            <a:ext cx="383241"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13" dirty="0">
                <a:latin typeface="Cambria Math"/>
                <a:cs typeface="Cambria Math"/>
              </a:rPr>
              <a:t>(</a:t>
            </a:r>
            <a:r>
              <a:rPr sz="1412" spc="4" dirty="0">
                <a:latin typeface="Cambria Math"/>
                <a:cs typeface="Cambria Math"/>
              </a:rPr>
              <a:t>2</a:t>
            </a:r>
            <a:r>
              <a:rPr sz="1412" spc="-4" dirty="0">
                <a:latin typeface="Cambria Math"/>
                <a:cs typeface="Cambria Math"/>
              </a:rPr>
              <a:t>)</a:t>
            </a:r>
            <a:endParaRPr sz="1412">
              <a:latin typeface="Cambria Math"/>
              <a:cs typeface="Cambria Math"/>
            </a:endParaRPr>
          </a:p>
        </p:txBody>
      </p:sp>
      <p:sp>
        <p:nvSpPr>
          <p:cNvPr id="80" name="object 80"/>
          <p:cNvSpPr txBox="1"/>
          <p:nvPr/>
        </p:nvSpPr>
        <p:spPr>
          <a:xfrm>
            <a:off x="6783985"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2)</a:t>
            </a:r>
            <a:endParaRPr sz="1412">
              <a:latin typeface="Cambria Math"/>
              <a:cs typeface="Cambria Math"/>
            </a:endParaRPr>
          </a:p>
        </p:txBody>
      </p:sp>
      <p:sp>
        <p:nvSpPr>
          <p:cNvPr id="81" name="object 81"/>
          <p:cNvSpPr txBox="1"/>
          <p:nvPr/>
        </p:nvSpPr>
        <p:spPr>
          <a:xfrm>
            <a:off x="7756192" y="2284172"/>
            <a:ext cx="70821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𝑌(𝑇</a:t>
            </a:r>
            <a:r>
              <a:rPr sz="1412" spc="-4" dirty="0">
                <a:latin typeface="Cambria Math"/>
                <a:cs typeface="Cambria Math"/>
              </a:rPr>
              <a:t> −</a:t>
            </a:r>
            <a:r>
              <a:rPr sz="1412" spc="-31" dirty="0">
                <a:latin typeface="Cambria Math"/>
                <a:cs typeface="Cambria Math"/>
              </a:rPr>
              <a:t> </a:t>
            </a:r>
            <a:r>
              <a:rPr sz="1412" dirty="0">
                <a:latin typeface="Cambria Math"/>
                <a:cs typeface="Cambria Math"/>
              </a:rPr>
              <a:t>1)</a:t>
            </a:r>
            <a:endParaRPr sz="1412">
              <a:latin typeface="Cambria Math"/>
              <a:cs typeface="Cambria Math"/>
            </a:endParaRPr>
          </a:p>
        </p:txBody>
      </p:sp>
      <p:sp>
        <p:nvSpPr>
          <p:cNvPr id="82" name="object 82"/>
          <p:cNvSpPr txBox="1"/>
          <p:nvPr/>
        </p:nvSpPr>
        <p:spPr>
          <a:xfrm>
            <a:off x="8732504" y="2284172"/>
            <a:ext cx="393887" cy="228054"/>
          </a:xfrm>
          <a:prstGeom prst="rect">
            <a:avLst/>
          </a:prstGeom>
        </p:spPr>
        <p:txBody>
          <a:bodyPr vert="horz" wrap="square" lIns="0" tIns="10646" rIns="0" bIns="0" rtlCol="0">
            <a:spAutoFit/>
          </a:bodyPr>
          <a:lstStyle/>
          <a:p>
            <a:pPr marL="11206">
              <a:spcBef>
                <a:spcPts val="84"/>
              </a:spcBef>
            </a:pPr>
            <a:r>
              <a:rPr sz="1412" spc="35" dirty="0">
                <a:latin typeface="Cambria Math"/>
                <a:cs typeface="Cambria Math"/>
              </a:rPr>
              <a:t>𝑌</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3" name="object 83"/>
          <p:cNvGrpSpPr/>
          <p:nvPr/>
        </p:nvGrpSpPr>
        <p:grpSpPr>
          <a:xfrm>
            <a:off x="3543692" y="1832778"/>
            <a:ext cx="5516096" cy="491378"/>
            <a:chOff x="2136584" y="2077148"/>
            <a:chExt cx="6251575" cy="556895"/>
          </a:xfrm>
        </p:grpSpPr>
        <p:sp>
          <p:nvSpPr>
            <p:cNvPr id="84" name="object 84"/>
            <p:cNvSpPr/>
            <p:nvPr/>
          </p:nvSpPr>
          <p:spPr>
            <a:xfrm>
              <a:off x="2138172" y="2078736"/>
              <a:ext cx="6248400" cy="326390"/>
            </a:xfrm>
            <a:custGeom>
              <a:avLst/>
              <a:gdLst/>
              <a:ahLst/>
              <a:cxnLst/>
              <a:rect l="l" t="t" r="r" b="b"/>
              <a:pathLst>
                <a:path w="6248400" h="326389">
                  <a:moveTo>
                    <a:pt x="6248399" y="326135"/>
                  </a:moveTo>
                  <a:lnTo>
                    <a:pt x="0" y="326135"/>
                  </a:lnTo>
                  <a:lnTo>
                    <a:pt x="0" y="0"/>
                  </a:lnTo>
                  <a:lnTo>
                    <a:pt x="6248399" y="0"/>
                  </a:lnTo>
                  <a:lnTo>
                    <a:pt x="6248399" y="326135"/>
                  </a:lnTo>
                  <a:close/>
                </a:path>
              </a:pathLst>
            </a:custGeom>
            <a:solidFill>
              <a:srgbClr val="FF0000"/>
            </a:solidFill>
          </p:spPr>
          <p:txBody>
            <a:bodyPr wrap="square" lIns="0" tIns="0" rIns="0" bIns="0" rtlCol="0"/>
            <a:lstStyle/>
            <a:p>
              <a:endParaRPr sz="1588"/>
            </a:p>
          </p:txBody>
        </p:sp>
        <p:sp>
          <p:nvSpPr>
            <p:cNvPr id="85" name="object 85"/>
            <p:cNvSpPr/>
            <p:nvPr/>
          </p:nvSpPr>
          <p:spPr>
            <a:xfrm>
              <a:off x="2138172" y="2078736"/>
              <a:ext cx="6248400" cy="326390"/>
            </a:xfrm>
            <a:custGeom>
              <a:avLst/>
              <a:gdLst/>
              <a:ahLst/>
              <a:cxnLst/>
              <a:rect l="l" t="t" r="r" b="b"/>
              <a:pathLst>
                <a:path w="6248400" h="326389">
                  <a:moveTo>
                    <a:pt x="0" y="0"/>
                  </a:moveTo>
                  <a:lnTo>
                    <a:pt x="6248399" y="0"/>
                  </a:lnTo>
                  <a:lnTo>
                    <a:pt x="6248399" y="326135"/>
                  </a:lnTo>
                  <a:lnTo>
                    <a:pt x="0" y="326135"/>
                  </a:lnTo>
                  <a:lnTo>
                    <a:pt x="0" y="0"/>
                  </a:lnTo>
                  <a:close/>
                </a:path>
              </a:pathLst>
            </a:custGeom>
            <a:ln w="3175">
              <a:solidFill>
                <a:srgbClr val="000000"/>
              </a:solidFill>
            </a:ln>
          </p:spPr>
          <p:txBody>
            <a:bodyPr wrap="square" lIns="0" tIns="0" rIns="0" bIns="0" rtlCol="0"/>
            <a:lstStyle/>
            <a:p>
              <a:endParaRPr sz="1588"/>
            </a:p>
          </p:txBody>
        </p:sp>
        <p:pic>
          <p:nvPicPr>
            <p:cNvPr id="86" name="object 86"/>
            <p:cNvPicPr/>
            <p:nvPr/>
          </p:nvPicPr>
          <p:blipFill>
            <a:blip r:embed="rId2" cstate="print"/>
            <a:stretch>
              <a:fillRect/>
            </a:stretch>
          </p:blipFill>
          <p:spPr>
            <a:xfrm>
              <a:off x="8196072" y="2404872"/>
              <a:ext cx="76200" cy="228600"/>
            </a:xfrm>
            <a:prstGeom prst="rect">
              <a:avLst/>
            </a:prstGeom>
          </p:spPr>
        </p:pic>
      </p:grpSp>
      <p:sp>
        <p:nvSpPr>
          <p:cNvPr id="87" name="object 87"/>
          <p:cNvSpPr txBox="1"/>
          <p:nvPr/>
        </p:nvSpPr>
        <p:spPr>
          <a:xfrm>
            <a:off x="9238124" y="1856621"/>
            <a:ext cx="644338" cy="228054"/>
          </a:xfrm>
          <a:prstGeom prst="rect">
            <a:avLst/>
          </a:prstGeom>
        </p:spPr>
        <p:txBody>
          <a:bodyPr vert="horz" wrap="square" lIns="0" tIns="10646" rIns="0" bIns="0" rtlCol="0">
            <a:spAutoFit/>
          </a:bodyPr>
          <a:lstStyle/>
          <a:p>
            <a:pPr marL="11206">
              <a:spcBef>
                <a:spcPts val="84"/>
              </a:spcBef>
            </a:pPr>
            <a:r>
              <a:rPr sz="1412" spc="44" dirty="0">
                <a:latin typeface="Cambria Math"/>
                <a:cs typeface="Cambria Math"/>
              </a:rPr>
              <a:t>𝐷</a:t>
            </a:r>
            <a:r>
              <a:rPr sz="1412" spc="-13" dirty="0">
                <a:latin typeface="Cambria Math"/>
                <a:cs typeface="Cambria Math"/>
              </a:rPr>
              <a:t>(</a:t>
            </a:r>
            <a:r>
              <a:rPr sz="1412" spc="4" dirty="0">
                <a:latin typeface="Cambria Math"/>
                <a:cs typeface="Cambria Math"/>
              </a:rPr>
              <a:t>1</a:t>
            </a:r>
            <a:r>
              <a:rPr sz="1412" spc="-4" dirty="0">
                <a:latin typeface="Cambria Math"/>
                <a:cs typeface="Cambria Math"/>
              </a:rPr>
              <a:t>.</a:t>
            </a:r>
            <a:r>
              <a:rPr sz="1412" spc="-79" dirty="0">
                <a:latin typeface="Cambria Math"/>
                <a:cs typeface="Cambria Math"/>
              </a:rPr>
              <a:t> </a:t>
            </a:r>
            <a:r>
              <a:rPr sz="1412" spc="-4" dirty="0">
                <a:latin typeface="Cambria Math"/>
                <a:cs typeface="Cambria Math"/>
              </a:rPr>
              <a:t>.</a:t>
            </a:r>
            <a:r>
              <a:rPr sz="1412" spc="-84" dirty="0">
                <a:latin typeface="Cambria Math"/>
                <a:cs typeface="Cambria Math"/>
              </a:rPr>
              <a:t> </a:t>
            </a:r>
            <a:r>
              <a:rPr sz="1412" spc="35" dirty="0">
                <a:latin typeface="Cambria Math"/>
                <a:cs typeface="Cambria Math"/>
              </a:rPr>
              <a:t>𝑇</a:t>
            </a:r>
            <a:r>
              <a:rPr sz="1412" spc="-4" dirty="0">
                <a:latin typeface="Cambria Math"/>
                <a:cs typeface="Cambria Math"/>
              </a:rPr>
              <a:t>)</a:t>
            </a:r>
            <a:endParaRPr sz="1412">
              <a:latin typeface="Cambria Math"/>
              <a:cs typeface="Cambria Math"/>
            </a:endParaRPr>
          </a:p>
        </p:txBody>
      </p:sp>
      <p:grpSp>
        <p:nvGrpSpPr>
          <p:cNvPr id="88" name="object 88"/>
          <p:cNvGrpSpPr/>
          <p:nvPr/>
        </p:nvGrpSpPr>
        <p:grpSpPr>
          <a:xfrm>
            <a:off x="3649980" y="1928309"/>
            <a:ext cx="5610225" cy="395567"/>
            <a:chOff x="2257044" y="2185416"/>
            <a:chExt cx="6358255" cy="448309"/>
          </a:xfrm>
        </p:grpSpPr>
        <p:pic>
          <p:nvPicPr>
            <p:cNvPr id="89" name="object 89"/>
            <p:cNvPicPr/>
            <p:nvPr/>
          </p:nvPicPr>
          <p:blipFill>
            <a:blip r:embed="rId6" cstate="print"/>
            <a:stretch>
              <a:fillRect/>
            </a:stretch>
          </p:blipFill>
          <p:spPr>
            <a:xfrm>
              <a:off x="8386571" y="2185416"/>
              <a:ext cx="228600" cy="76200"/>
            </a:xfrm>
            <a:prstGeom prst="rect">
              <a:avLst/>
            </a:prstGeom>
          </p:spPr>
        </p:pic>
        <p:pic>
          <p:nvPicPr>
            <p:cNvPr id="90" name="object 90"/>
            <p:cNvPicPr/>
            <p:nvPr/>
          </p:nvPicPr>
          <p:blipFill>
            <a:blip r:embed="rId2" cstate="print"/>
            <a:stretch>
              <a:fillRect/>
            </a:stretch>
          </p:blipFill>
          <p:spPr>
            <a:xfrm>
              <a:off x="7211567" y="2404872"/>
              <a:ext cx="76200" cy="228600"/>
            </a:xfrm>
            <a:prstGeom prst="rect">
              <a:avLst/>
            </a:prstGeom>
          </p:spPr>
        </p:pic>
        <p:pic>
          <p:nvPicPr>
            <p:cNvPr id="91" name="object 91"/>
            <p:cNvPicPr/>
            <p:nvPr/>
          </p:nvPicPr>
          <p:blipFill>
            <a:blip r:embed="rId7" cstate="print"/>
            <a:stretch>
              <a:fillRect/>
            </a:stretch>
          </p:blipFill>
          <p:spPr>
            <a:xfrm>
              <a:off x="4227576" y="2404872"/>
              <a:ext cx="76200" cy="228600"/>
            </a:xfrm>
            <a:prstGeom prst="rect">
              <a:avLst/>
            </a:prstGeom>
          </p:spPr>
        </p:pic>
        <p:pic>
          <p:nvPicPr>
            <p:cNvPr id="92" name="object 92"/>
            <p:cNvPicPr/>
            <p:nvPr/>
          </p:nvPicPr>
          <p:blipFill>
            <a:blip r:embed="rId3" cstate="print"/>
            <a:stretch>
              <a:fillRect/>
            </a:stretch>
          </p:blipFill>
          <p:spPr>
            <a:xfrm>
              <a:off x="6210300" y="2404872"/>
              <a:ext cx="76200" cy="228600"/>
            </a:xfrm>
            <a:prstGeom prst="rect">
              <a:avLst/>
            </a:prstGeom>
          </p:spPr>
        </p:pic>
        <p:pic>
          <p:nvPicPr>
            <p:cNvPr id="93" name="object 93"/>
            <p:cNvPicPr/>
            <p:nvPr/>
          </p:nvPicPr>
          <p:blipFill>
            <a:blip r:embed="rId3" cstate="print"/>
            <a:stretch>
              <a:fillRect/>
            </a:stretch>
          </p:blipFill>
          <p:spPr>
            <a:xfrm>
              <a:off x="3238499" y="2404872"/>
              <a:ext cx="76200" cy="228600"/>
            </a:xfrm>
            <a:prstGeom prst="rect">
              <a:avLst/>
            </a:prstGeom>
          </p:spPr>
        </p:pic>
        <p:pic>
          <p:nvPicPr>
            <p:cNvPr id="94" name="object 94"/>
            <p:cNvPicPr/>
            <p:nvPr/>
          </p:nvPicPr>
          <p:blipFill>
            <a:blip r:embed="rId2" cstate="print"/>
            <a:stretch>
              <a:fillRect/>
            </a:stretch>
          </p:blipFill>
          <p:spPr>
            <a:xfrm>
              <a:off x="2257044" y="2404872"/>
              <a:ext cx="76200" cy="228600"/>
            </a:xfrm>
            <a:prstGeom prst="rect">
              <a:avLst/>
            </a:prstGeom>
          </p:spPr>
        </p:pic>
      </p:grpSp>
      <p:sp>
        <p:nvSpPr>
          <p:cNvPr id="95" name="object 95"/>
          <p:cNvSpPr txBox="1"/>
          <p:nvPr/>
        </p:nvSpPr>
        <p:spPr>
          <a:xfrm>
            <a:off x="5877712" y="1559362"/>
            <a:ext cx="327772"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𝐷</a:t>
            </a:r>
            <a:r>
              <a:rPr sz="1412" spc="9" dirty="0">
                <a:latin typeface="Cambria Math"/>
                <a:cs typeface="Cambria Math"/>
              </a:rPr>
              <a:t>𝐼</a:t>
            </a:r>
            <a:r>
              <a:rPr sz="1412" spc="-4" dirty="0">
                <a:latin typeface="Cambria Math"/>
                <a:cs typeface="Cambria Math"/>
              </a:rPr>
              <a:t>𝑉</a:t>
            </a:r>
            <a:endParaRPr sz="1412">
              <a:latin typeface="Cambria Math"/>
              <a:cs typeface="Cambria Math"/>
            </a:endParaRPr>
          </a:p>
        </p:txBody>
      </p:sp>
    </p:spTree>
    <p:extLst>
      <p:ext uri="{BB962C8B-B14F-4D97-AF65-F5344CB8AC3E}">
        <p14:creationId xmlns:p14="http://schemas.microsoft.com/office/powerpoint/2010/main" val="1997843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569842" y="948806"/>
            <a:ext cx="10601739" cy="4893110"/>
          </a:xfrm>
          <a:prstGeom prst="rect">
            <a:avLst/>
          </a:prstGeom>
        </p:spPr>
      </p:pic>
    </p:spTree>
    <p:extLst>
      <p:ext uri="{BB962C8B-B14F-4D97-AF65-F5344CB8AC3E}">
        <p14:creationId xmlns:p14="http://schemas.microsoft.com/office/powerpoint/2010/main" val="1784071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5" name="Picture 4"/>
          <p:cNvPicPr>
            <a:picLocks noChangeAspect="1"/>
          </p:cNvPicPr>
          <p:nvPr/>
        </p:nvPicPr>
        <p:blipFill>
          <a:blip r:embed="rId2"/>
          <a:stretch>
            <a:fillRect/>
          </a:stretch>
        </p:blipFill>
        <p:spPr>
          <a:xfrm>
            <a:off x="1192696" y="633955"/>
            <a:ext cx="10389704" cy="6237297"/>
          </a:xfrm>
          <a:prstGeom prst="rect">
            <a:avLst/>
          </a:prstGeom>
        </p:spPr>
      </p:pic>
    </p:spTree>
    <p:extLst>
      <p:ext uri="{BB962C8B-B14F-4D97-AF65-F5344CB8AC3E}">
        <p14:creationId xmlns:p14="http://schemas.microsoft.com/office/powerpoint/2010/main" val="410243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1378227" y="819275"/>
            <a:ext cx="9660834" cy="5938765"/>
          </a:xfrm>
          <a:prstGeom prst="rect">
            <a:avLst/>
          </a:prstGeom>
        </p:spPr>
      </p:pic>
    </p:spTree>
    <p:extLst>
      <p:ext uri="{BB962C8B-B14F-4D97-AF65-F5344CB8AC3E}">
        <p14:creationId xmlns:p14="http://schemas.microsoft.com/office/powerpoint/2010/main" val="3482188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761191" y="887896"/>
            <a:ext cx="9999574" cy="5697432"/>
          </a:xfrm>
          <a:prstGeom prst="rect">
            <a:avLst/>
          </a:prstGeom>
        </p:spPr>
      </p:pic>
    </p:spTree>
    <p:extLst>
      <p:ext uri="{BB962C8B-B14F-4D97-AF65-F5344CB8AC3E}">
        <p14:creationId xmlns:p14="http://schemas.microsoft.com/office/powerpoint/2010/main" val="3225205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954156" y="453537"/>
            <a:ext cx="9806609" cy="6071542"/>
          </a:xfrm>
          <a:prstGeom prst="rect">
            <a:avLst/>
          </a:prstGeom>
        </p:spPr>
      </p:pic>
    </p:spTree>
    <p:extLst>
      <p:ext uri="{BB962C8B-B14F-4D97-AF65-F5344CB8AC3E}">
        <p14:creationId xmlns:p14="http://schemas.microsoft.com/office/powerpoint/2010/main" val="1016862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861391" y="749233"/>
            <a:ext cx="9045817" cy="5788059"/>
          </a:xfrm>
          <a:prstGeom prst="rect">
            <a:avLst/>
          </a:prstGeom>
        </p:spPr>
      </p:pic>
    </p:spTree>
    <p:extLst>
      <p:ext uri="{BB962C8B-B14F-4D97-AF65-F5344CB8AC3E}">
        <p14:creationId xmlns:p14="http://schemas.microsoft.com/office/powerpoint/2010/main" val="4198101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5" name="Picture 4"/>
          <p:cNvPicPr>
            <a:picLocks noChangeAspect="1"/>
          </p:cNvPicPr>
          <p:nvPr/>
        </p:nvPicPr>
        <p:blipFill>
          <a:blip r:embed="rId2"/>
          <a:stretch>
            <a:fillRect/>
          </a:stretch>
        </p:blipFill>
        <p:spPr>
          <a:xfrm>
            <a:off x="1245703" y="820779"/>
            <a:ext cx="9541565" cy="5808610"/>
          </a:xfrm>
          <a:prstGeom prst="rect">
            <a:avLst/>
          </a:prstGeom>
        </p:spPr>
      </p:pic>
    </p:spTree>
    <p:extLst>
      <p:ext uri="{BB962C8B-B14F-4D97-AF65-F5344CB8AC3E}">
        <p14:creationId xmlns:p14="http://schemas.microsoft.com/office/powerpoint/2010/main" val="9398212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1550504" y="881163"/>
            <a:ext cx="9409043" cy="5626514"/>
          </a:xfrm>
          <a:prstGeom prst="rect">
            <a:avLst/>
          </a:prstGeom>
        </p:spPr>
      </p:pic>
    </p:spTree>
    <p:extLst>
      <p:ext uri="{BB962C8B-B14F-4D97-AF65-F5344CB8AC3E}">
        <p14:creationId xmlns:p14="http://schemas.microsoft.com/office/powerpoint/2010/main" val="2714009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52093" y="1143204"/>
            <a:ext cx="7319841" cy="3480548"/>
          </a:xfrm>
          <a:prstGeom prst="rect">
            <a:avLst/>
          </a:prstGeom>
        </p:spPr>
      </p:pic>
      <p:sp>
        <p:nvSpPr>
          <p:cNvPr id="3" name="object 3"/>
          <p:cNvSpPr txBox="1">
            <a:spLocks noGrp="1"/>
          </p:cNvSpPr>
          <p:nvPr>
            <p:ph type="title"/>
          </p:nvPr>
        </p:nvSpPr>
        <p:spPr>
          <a:xfrm>
            <a:off x="2308516" y="225433"/>
            <a:ext cx="7187784" cy="553976"/>
          </a:xfrm>
          <a:prstGeom prst="rect">
            <a:avLst/>
          </a:prstGeom>
        </p:spPr>
        <p:txBody>
          <a:bodyPr vert="horz" wrap="square" lIns="0" tIns="10646" rIns="0" bIns="0" rtlCol="0">
            <a:spAutoFit/>
          </a:bodyPr>
          <a:lstStyle/>
          <a:p>
            <a:pPr marL="2957389" marR="4483" indent="-2946744">
              <a:lnSpc>
                <a:spcPct val="100000"/>
              </a:lnSpc>
              <a:spcBef>
                <a:spcPts val="84"/>
              </a:spcBef>
            </a:pPr>
            <a:r>
              <a:rPr sz="3530" spc="-9" dirty="0"/>
              <a:t>Extensions</a:t>
            </a:r>
            <a:r>
              <a:rPr sz="3530" spc="9" dirty="0"/>
              <a:t> </a:t>
            </a:r>
            <a:r>
              <a:rPr sz="3530" spc="-18" dirty="0"/>
              <a:t>to</a:t>
            </a:r>
            <a:r>
              <a:rPr sz="3530" spc="-22" dirty="0"/>
              <a:t> </a:t>
            </a:r>
            <a:r>
              <a:rPr sz="3530" dirty="0"/>
              <a:t>the </a:t>
            </a:r>
            <a:r>
              <a:rPr sz="3530" spc="-13" dirty="0"/>
              <a:t>RNN</a:t>
            </a:r>
            <a:endParaRPr sz="3530" dirty="0">
              <a:latin typeface="Calibri"/>
              <a:cs typeface="Calibri"/>
            </a:endParaRPr>
          </a:p>
        </p:txBody>
      </p:sp>
      <p:sp>
        <p:nvSpPr>
          <p:cNvPr id="5" name="object 5"/>
          <p:cNvSpPr txBox="1"/>
          <p:nvPr/>
        </p:nvSpPr>
        <p:spPr>
          <a:xfrm>
            <a:off x="7453721" y="4286450"/>
            <a:ext cx="1848971" cy="337302"/>
          </a:xfrm>
          <a:prstGeom prst="rect">
            <a:avLst/>
          </a:prstGeom>
        </p:spPr>
        <p:txBody>
          <a:bodyPr vert="horz" wrap="square" lIns="0" tIns="11206" rIns="0" bIns="0" rtlCol="0">
            <a:spAutoFit/>
          </a:bodyPr>
          <a:lstStyle/>
          <a:p>
            <a:pPr marL="11206" marR="4483">
              <a:spcBef>
                <a:spcPts val="88"/>
              </a:spcBef>
            </a:pPr>
            <a:r>
              <a:rPr sz="1059" spc="-4" dirty="0">
                <a:latin typeface="Calibri"/>
                <a:cs typeface="Calibri"/>
              </a:rPr>
              <a:t>Proposed</a:t>
            </a:r>
            <a:r>
              <a:rPr sz="1059" spc="-13" dirty="0">
                <a:latin typeface="Calibri"/>
                <a:cs typeface="Calibri"/>
              </a:rPr>
              <a:t> </a:t>
            </a:r>
            <a:r>
              <a:rPr sz="1059" dirty="0">
                <a:latin typeface="Calibri"/>
                <a:cs typeface="Calibri"/>
              </a:rPr>
              <a:t>by</a:t>
            </a:r>
            <a:r>
              <a:rPr sz="1059" spc="-26" dirty="0">
                <a:latin typeface="Calibri"/>
                <a:cs typeface="Calibri"/>
              </a:rPr>
              <a:t> </a:t>
            </a:r>
            <a:r>
              <a:rPr sz="1059" spc="-4" dirty="0">
                <a:latin typeface="Calibri"/>
                <a:cs typeface="Calibri"/>
              </a:rPr>
              <a:t>Schuster</a:t>
            </a:r>
            <a:r>
              <a:rPr sz="1059" spc="-22" dirty="0">
                <a:latin typeface="Calibri"/>
                <a:cs typeface="Calibri"/>
              </a:rPr>
              <a:t> </a:t>
            </a:r>
            <a:r>
              <a:rPr sz="1059" dirty="0">
                <a:latin typeface="Calibri"/>
                <a:cs typeface="Calibri"/>
              </a:rPr>
              <a:t>and</a:t>
            </a:r>
            <a:r>
              <a:rPr sz="1059" spc="-18" dirty="0">
                <a:latin typeface="Calibri"/>
                <a:cs typeface="Calibri"/>
              </a:rPr>
              <a:t> </a:t>
            </a:r>
            <a:r>
              <a:rPr sz="1059" spc="-9" dirty="0">
                <a:latin typeface="Calibri"/>
                <a:cs typeface="Calibri"/>
              </a:rPr>
              <a:t>Paliwal </a:t>
            </a:r>
            <a:r>
              <a:rPr sz="1059" spc="-224" dirty="0">
                <a:latin typeface="Calibri"/>
                <a:cs typeface="Calibri"/>
              </a:rPr>
              <a:t> </a:t>
            </a:r>
            <a:r>
              <a:rPr sz="1059" dirty="0">
                <a:latin typeface="Calibri"/>
                <a:cs typeface="Calibri"/>
              </a:rPr>
              <a:t>1997</a:t>
            </a:r>
            <a:endParaRPr sz="1059">
              <a:latin typeface="Calibri"/>
              <a:cs typeface="Calibri"/>
            </a:endParaRPr>
          </a:p>
        </p:txBody>
      </p:sp>
      <p:sp>
        <p:nvSpPr>
          <p:cNvPr id="7" name="object 7"/>
          <p:cNvSpPr txBox="1"/>
          <p:nvPr/>
        </p:nvSpPr>
        <p:spPr>
          <a:xfrm>
            <a:off x="2052093" y="4987547"/>
            <a:ext cx="6872007" cy="830884"/>
          </a:xfrm>
          <a:prstGeom prst="rect">
            <a:avLst/>
          </a:prstGeom>
        </p:spPr>
        <p:txBody>
          <a:bodyPr vert="horz" wrap="square" lIns="0" tIns="53228" rIns="0" bIns="0" rtlCol="0">
            <a:spAutoFit/>
          </a:bodyPr>
          <a:lstStyle/>
          <a:p>
            <a:pPr marL="313781" indent="-303135">
              <a:spcBef>
                <a:spcPts val="419"/>
              </a:spcBef>
              <a:buFont typeface="Arial"/>
              <a:buChar char="•"/>
              <a:tabLst>
                <a:tab pos="313221" algn="l"/>
                <a:tab pos="314342" algn="l"/>
              </a:tabLst>
            </a:pPr>
            <a:r>
              <a:rPr sz="1600" dirty="0">
                <a:latin typeface="Calibri"/>
                <a:cs typeface="Calibri"/>
              </a:rPr>
              <a:t>RNN</a:t>
            </a:r>
            <a:r>
              <a:rPr sz="1600" spc="-18" dirty="0">
                <a:latin typeface="Calibri"/>
                <a:cs typeface="Calibri"/>
              </a:rPr>
              <a:t> </a:t>
            </a:r>
            <a:r>
              <a:rPr sz="1600" spc="-4" dirty="0">
                <a:latin typeface="Calibri"/>
                <a:cs typeface="Calibri"/>
              </a:rPr>
              <a:t>with both </a:t>
            </a:r>
            <a:r>
              <a:rPr sz="1600" spc="-13" dirty="0">
                <a:latin typeface="Calibri"/>
                <a:cs typeface="Calibri"/>
              </a:rPr>
              <a:t>forward</a:t>
            </a:r>
            <a:r>
              <a:rPr sz="1600" spc="-4" dirty="0">
                <a:latin typeface="Calibri"/>
                <a:cs typeface="Calibri"/>
              </a:rPr>
              <a:t> </a:t>
            </a:r>
            <a:r>
              <a:rPr sz="1600" dirty="0">
                <a:latin typeface="Calibri"/>
                <a:cs typeface="Calibri"/>
              </a:rPr>
              <a:t>and</a:t>
            </a:r>
            <a:r>
              <a:rPr sz="1600" spc="-18" dirty="0">
                <a:latin typeface="Calibri"/>
                <a:cs typeface="Calibri"/>
              </a:rPr>
              <a:t> </a:t>
            </a:r>
            <a:r>
              <a:rPr sz="1600" spc="-4" dirty="0">
                <a:latin typeface="Calibri"/>
                <a:cs typeface="Calibri"/>
              </a:rPr>
              <a:t>backward</a:t>
            </a:r>
            <a:r>
              <a:rPr sz="1600" spc="-18" dirty="0">
                <a:latin typeface="Calibri"/>
                <a:cs typeface="Calibri"/>
              </a:rPr>
              <a:t> </a:t>
            </a:r>
            <a:r>
              <a:rPr sz="1600" spc="-9" dirty="0">
                <a:latin typeface="Calibri"/>
                <a:cs typeface="Calibri"/>
              </a:rPr>
              <a:t>recursion</a:t>
            </a:r>
            <a:endParaRPr sz="1600" dirty="0">
              <a:latin typeface="Calibri"/>
              <a:cs typeface="Calibri"/>
            </a:endParaRPr>
          </a:p>
          <a:p>
            <a:pPr marL="667346" marR="4483" indent="-253266">
              <a:spcBef>
                <a:spcPts val="282"/>
              </a:spcBef>
              <a:tabLst>
                <a:tab pos="667346" algn="l"/>
              </a:tabLst>
            </a:pPr>
            <a:r>
              <a:rPr sz="1600" spc="-4" dirty="0">
                <a:latin typeface="Arial"/>
                <a:cs typeface="Arial"/>
              </a:rPr>
              <a:t>–	</a:t>
            </a:r>
            <a:r>
              <a:rPr sz="1600" spc="-4" dirty="0">
                <a:latin typeface="Calibri"/>
                <a:cs typeface="Calibri"/>
              </a:rPr>
              <a:t>Explicitly</a:t>
            </a:r>
            <a:r>
              <a:rPr sz="1600" spc="13" dirty="0">
                <a:latin typeface="Calibri"/>
                <a:cs typeface="Calibri"/>
              </a:rPr>
              <a:t> </a:t>
            </a:r>
            <a:r>
              <a:rPr sz="1600" spc="-4" dirty="0">
                <a:latin typeface="Calibri"/>
                <a:cs typeface="Calibri"/>
              </a:rPr>
              <a:t>models</a:t>
            </a:r>
            <a:r>
              <a:rPr sz="1600" spc="18" dirty="0">
                <a:latin typeface="Calibri"/>
                <a:cs typeface="Calibri"/>
              </a:rPr>
              <a:t> </a:t>
            </a:r>
            <a:r>
              <a:rPr sz="1600" spc="-4" dirty="0">
                <a:latin typeface="Calibri"/>
                <a:cs typeface="Calibri"/>
              </a:rPr>
              <a:t>the</a:t>
            </a:r>
            <a:r>
              <a:rPr sz="1600" spc="22" dirty="0">
                <a:latin typeface="Calibri"/>
                <a:cs typeface="Calibri"/>
              </a:rPr>
              <a:t> </a:t>
            </a:r>
            <a:r>
              <a:rPr sz="1600" spc="-9" dirty="0">
                <a:latin typeface="Calibri"/>
                <a:cs typeface="Calibri"/>
              </a:rPr>
              <a:t>fact</a:t>
            </a:r>
            <a:r>
              <a:rPr sz="1600" spc="22" dirty="0">
                <a:latin typeface="Calibri"/>
                <a:cs typeface="Calibri"/>
              </a:rPr>
              <a:t> </a:t>
            </a:r>
            <a:r>
              <a:rPr sz="1600" spc="-9" dirty="0">
                <a:latin typeface="Calibri"/>
                <a:cs typeface="Calibri"/>
              </a:rPr>
              <a:t>that</a:t>
            </a:r>
            <a:r>
              <a:rPr sz="1600" spc="18" dirty="0">
                <a:latin typeface="Calibri"/>
                <a:cs typeface="Calibri"/>
              </a:rPr>
              <a:t> </a:t>
            </a:r>
            <a:r>
              <a:rPr sz="1600" spc="-4" dirty="0">
                <a:latin typeface="Calibri"/>
                <a:cs typeface="Calibri"/>
              </a:rPr>
              <a:t>just</a:t>
            </a:r>
            <a:r>
              <a:rPr sz="1600" spc="35" dirty="0">
                <a:latin typeface="Calibri"/>
                <a:cs typeface="Calibri"/>
              </a:rPr>
              <a:t> </a:t>
            </a:r>
            <a:r>
              <a:rPr sz="1600" spc="-4" dirty="0">
                <a:latin typeface="Calibri"/>
                <a:cs typeface="Calibri"/>
              </a:rPr>
              <a:t>as</a:t>
            </a:r>
            <a:r>
              <a:rPr sz="1600" spc="4" dirty="0">
                <a:latin typeface="Calibri"/>
                <a:cs typeface="Calibri"/>
              </a:rPr>
              <a:t> </a:t>
            </a:r>
            <a:r>
              <a:rPr sz="1600" spc="-4" dirty="0">
                <a:latin typeface="Calibri"/>
                <a:cs typeface="Calibri"/>
              </a:rPr>
              <a:t>the</a:t>
            </a:r>
            <a:r>
              <a:rPr sz="1600" spc="22" dirty="0">
                <a:latin typeface="Calibri"/>
                <a:cs typeface="Calibri"/>
              </a:rPr>
              <a:t> </a:t>
            </a:r>
            <a:r>
              <a:rPr sz="1600" spc="-4" dirty="0">
                <a:latin typeface="Calibri"/>
                <a:cs typeface="Calibri"/>
              </a:rPr>
              <a:t>future</a:t>
            </a:r>
            <a:r>
              <a:rPr sz="1600" spc="22" dirty="0">
                <a:latin typeface="Calibri"/>
                <a:cs typeface="Calibri"/>
              </a:rPr>
              <a:t> </a:t>
            </a:r>
            <a:r>
              <a:rPr sz="1600" spc="-9" dirty="0">
                <a:latin typeface="Calibri"/>
                <a:cs typeface="Calibri"/>
              </a:rPr>
              <a:t>can</a:t>
            </a:r>
            <a:r>
              <a:rPr sz="1600" dirty="0">
                <a:latin typeface="Calibri"/>
                <a:cs typeface="Calibri"/>
              </a:rPr>
              <a:t> be</a:t>
            </a:r>
            <a:r>
              <a:rPr sz="1600" spc="26" dirty="0">
                <a:latin typeface="Calibri"/>
                <a:cs typeface="Calibri"/>
              </a:rPr>
              <a:t> </a:t>
            </a:r>
            <a:r>
              <a:rPr sz="1600" spc="-4" dirty="0">
                <a:latin typeface="Calibri"/>
                <a:cs typeface="Calibri"/>
              </a:rPr>
              <a:t>predicted</a:t>
            </a:r>
            <a:r>
              <a:rPr sz="1600" spc="13" dirty="0">
                <a:latin typeface="Calibri"/>
                <a:cs typeface="Calibri"/>
              </a:rPr>
              <a:t> </a:t>
            </a:r>
            <a:r>
              <a:rPr sz="1600" spc="-9" dirty="0">
                <a:latin typeface="Calibri"/>
                <a:cs typeface="Calibri"/>
              </a:rPr>
              <a:t>from</a:t>
            </a:r>
            <a:r>
              <a:rPr sz="1600" spc="18" dirty="0">
                <a:latin typeface="Calibri"/>
                <a:cs typeface="Calibri"/>
              </a:rPr>
              <a:t> </a:t>
            </a:r>
            <a:r>
              <a:rPr sz="1600" spc="-4" dirty="0">
                <a:latin typeface="Calibri"/>
                <a:cs typeface="Calibri"/>
              </a:rPr>
              <a:t>the</a:t>
            </a:r>
            <a:r>
              <a:rPr sz="1600" spc="22" dirty="0">
                <a:latin typeface="Calibri"/>
                <a:cs typeface="Calibri"/>
              </a:rPr>
              <a:t> </a:t>
            </a:r>
            <a:r>
              <a:rPr sz="1600" spc="-9" dirty="0">
                <a:latin typeface="Calibri"/>
                <a:cs typeface="Calibri"/>
              </a:rPr>
              <a:t>past,</a:t>
            </a:r>
            <a:r>
              <a:rPr sz="1600" spc="18" dirty="0">
                <a:latin typeface="Calibri"/>
                <a:cs typeface="Calibri"/>
              </a:rPr>
              <a:t> </a:t>
            </a:r>
            <a:r>
              <a:rPr sz="1600" spc="-4" dirty="0">
                <a:latin typeface="Calibri"/>
                <a:cs typeface="Calibri"/>
              </a:rPr>
              <a:t>the</a:t>
            </a:r>
            <a:r>
              <a:rPr sz="1600" spc="26" dirty="0">
                <a:latin typeface="Calibri"/>
                <a:cs typeface="Calibri"/>
              </a:rPr>
              <a:t> </a:t>
            </a:r>
            <a:r>
              <a:rPr sz="1600" spc="-4" dirty="0">
                <a:latin typeface="Calibri"/>
                <a:cs typeface="Calibri"/>
              </a:rPr>
              <a:t>past</a:t>
            </a:r>
            <a:r>
              <a:rPr sz="1600" spc="22" dirty="0">
                <a:latin typeface="Calibri"/>
                <a:cs typeface="Calibri"/>
              </a:rPr>
              <a:t> </a:t>
            </a:r>
            <a:r>
              <a:rPr sz="1600" spc="-9" dirty="0">
                <a:latin typeface="Calibri"/>
                <a:cs typeface="Calibri"/>
              </a:rPr>
              <a:t>can</a:t>
            </a:r>
            <a:r>
              <a:rPr sz="1600" spc="22" dirty="0">
                <a:latin typeface="Calibri"/>
                <a:cs typeface="Calibri"/>
              </a:rPr>
              <a:t> </a:t>
            </a:r>
            <a:r>
              <a:rPr sz="1600" dirty="0">
                <a:latin typeface="Calibri"/>
                <a:cs typeface="Calibri"/>
              </a:rPr>
              <a:t>be</a:t>
            </a:r>
            <a:r>
              <a:rPr sz="1600" spc="9" dirty="0">
                <a:latin typeface="Calibri"/>
                <a:cs typeface="Calibri"/>
              </a:rPr>
              <a:t> </a:t>
            </a:r>
            <a:r>
              <a:rPr sz="1600" spc="-4" dirty="0">
                <a:latin typeface="Calibri"/>
                <a:cs typeface="Calibri"/>
              </a:rPr>
              <a:t>deduced </a:t>
            </a:r>
            <a:r>
              <a:rPr sz="1600" spc="-243" dirty="0">
                <a:latin typeface="Calibri"/>
                <a:cs typeface="Calibri"/>
              </a:rPr>
              <a:t> </a:t>
            </a:r>
            <a:r>
              <a:rPr sz="1600" spc="-9" dirty="0">
                <a:latin typeface="Calibri"/>
                <a:cs typeface="Calibri"/>
              </a:rPr>
              <a:t>from</a:t>
            </a:r>
            <a:r>
              <a:rPr sz="1600" dirty="0">
                <a:latin typeface="Calibri"/>
                <a:cs typeface="Calibri"/>
              </a:rPr>
              <a:t> </a:t>
            </a:r>
            <a:r>
              <a:rPr sz="1600" spc="-4" dirty="0">
                <a:latin typeface="Calibri"/>
                <a:cs typeface="Calibri"/>
              </a:rPr>
              <a:t>the</a:t>
            </a:r>
            <a:r>
              <a:rPr sz="1600" spc="26" dirty="0">
                <a:latin typeface="Calibri"/>
                <a:cs typeface="Calibri"/>
              </a:rPr>
              <a:t> </a:t>
            </a:r>
            <a:r>
              <a:rPr sz="1600" spc="-9" dirty="0">
                <a:latin typeface="Calibri"/>
                <a:cs typeface="Calibri"/>
              </a:rPr>
              <a:t>future</a:t>
            </a:r>
            <a:endParaRPr sz="1600" dirty="0">
              <a:latin typeface="Calibri"/>
              <a:cs typeface="Calibri"/>
            </a:endParaRPr>
          </a:p>
        </p:txBody>
      </p:sp>
    </p:spTree>
    <p:extLst>
      <p:ext uri="{BB962C8B-B14F-4D97-AF65-F5344CB8AC3E}">
        <p14:creationId xmlns:p14="http://schemas.microsoft.com/office/powerpoint/2010/main" val="16130240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00310" y="5055651"/>
            <a:ext cx="6270251" cy="676754"/>
          </a:xfrm>
          <a:prstGeom prst="rect">
            <a:avLst/>
          </a:prstGeom>
        </p:spPr>
        <p:txBody>
          <a:bodyPr vert="horz" wrap="square" lIns="0" tIns="11206" rIns="0" bIns="0" rtlCol="0">
            <a:spAutoFit/>
          </a:bodyPr>
          <a:lstStyle/>
          <a:p>
            <a:pPr marL="414079">
              <a:spcBef>
                <a:spcPts val="88"/>
              </a:spcBef>
              <a:tabLst>
                <a:tab pos="667346" algn="l"/>
              </a:tabLst>
            </a:pPr>
            <a:r>
              <a:rPr sz="1324" dirty="0">
                <a:latin typeface="Arial"/>
                <a:cs typeface="Arial"/>
              </a:rPr>
              <a:t>–	</a:t>
            </a:r>
            <a:r>
              <a:rPr sz="1324" spc="4" dirty="0">
                <a:latin typeface="Calibri"/>
                <a:cs typeface="Calibri"/>
              </a:rPr>
              <a:t>“Input”</a:t>
            </a:r>
            <a:r>
              <a:rPr sz="1324" spc="-22" dirty="0">
                <a:latin typeface="Calibri"/>
                <a:cs typeface="Calibri"/>
              </a:rPr>
              <a:t> </a:t>
            </a:r>
            <a:r>
              <a:rPr sz="1324" spc="-4" dirty="0">
                <a:latin typeface="Calibri"/>
                <a:cs typeface="Calibri"/>
              </a:rPr>
              <a:t>could </a:t>
            </a:r>
            <a:r>
              <a:rPr sz="1324" dirty="0">
                <a:latin typeface="Calibri"/>
                <a:cs typeface="Calibri"/>
              </a:rPr>
              <a:t>be</a:t>
            </a:r>
            <a:r>
              <a:rPr sz="1324" spc="-4" dirty="0">
                <a:latin typeface="Calibri"/>
                <a:cs typeface="Calibri"/>
              </a:rPr>
              <a:t> </a:t>
            </a:r>
            <a:r>
              <a:rPr sz="1324" dirty="0">
                <a:latin typeface="Calibri"/>
                <a:cs typeface="Calibri"/>
              </a:rPr>
              <a:t>input</a:t>
            </a:r>
            <a:r>
              <a:rPr sz="1324" spc="-18" dirty="0">
                <a:latin typeface="Calibri"/>
                <a:cs typeface="Calibri"/>
              </a:rPr>
              <a:t> </a:t>
            </a:r>
            <a:r>
              <a:rPr sz="1324" spc="-4" dirty="0">
                <a:latin typeface="Calibri"/>
                <a:cs typeface="Calibri"/>
              </a:rPr>
              <a:t>series</a:t>
            </a:r>
            <a:r>
              <a:rPr sz="1324" spc="4" dirty="0">
                <a:latin typeface="Calibri"/>
                <a:cs typeface="Calibri"/>
              </a:rPr>
              <a:t> </a:t>
            </a:r>
            <a:r>
              <a:rPr sz="1324" spc="-4" dirty="0">
                <a:latin typeface="Calibri"/>
                <a:cs typeface="Calibri"/>
              </a:rPr>
              <a:t>X(0)…X(T)</a:t>
            </a:r>
            <a:r>
              <a:rPr sz="1324" spc="-26" dirty="0">
                <a:latin typeface="Calibri"/>
                <a:cs typeface="Calibri"/>
              </a:rPr>
              <a:t> </a:t>
            </a:r>
            <a:r>
              <a:rPr sz="1324" dirty="0">
                <a:latin typeface="Calibri"/>
                <a:cs typeface="Calibri"/>
              </a:rPr>
              <a:t>or</a:t>
            </a:r>
            <a:r>
              <a:rPr sz="1324" spc="-4" dirty="0">
                <a:latin typeface="Calibri"/>
                <a:cs typeface="Calibri"/>
              </a:rPr>
              <a:t> </a:t>
            </a:r>
            <a:r>
              <a:rPr sz="1324" dirty="0">
                <a:latin typeface="Calibri"/>
                <a:cs typeface="Calibri"/>
              </a:rPr>
              <a:t>the</a:t>
            </a:r>
            <a:r>
              <a:rPr sz="1324" spc="-9" dirty="0">
                <a:latin typeface="Calibri"/>
                <a:cs typeface="Calibri"/>
              </a:rPr>
              <a:t> </a:t>
            </a:r>
            <a:r>
              <a:rPr sz="1324" spc="-4" dirty="0">
                <a:latin typeface="Calibri"/>
                <a:cs typeface="Calibri"/>
              </a:rPr>
              <a:t>output</a:t>
            </a:r>
            <a:r>
              <a:rPr sz="1324" spc="-13" dirty="0">
                <a:latin typeface="Calibri"/>
                <a:cs typeface="Calibri"/>
              </a:rPr>
              <a:t> </a:t>
            </a:r>
            <a:r>
              <a:rPr sz="1324" dirty="0">
                <a:latin typeface="Calibri"/>
                <a:cs typeface="Calibri"/>
              </a:rPr>
              <a:t>of</a:t>
            </a:r>
            <a:r>
              <a:rPr sz="1324" spc="-18" dirty="0">
                <a:latin typeface="Calibri"/>
                <a:cs typeface="Calibri"/>
              </a:rPr>
              <a:t> </a:t>
            </a:r>
            <a:r>
              <a:rPr sz="1324" dirty="0">
                <a:latin typeface="Calibri"/>
                <a:cs typeface="Calibri"/>
              </a:rPr>
              <a:t>a</a:t>
            </a:r>
            <a:r>
              <a:rPr sz="1324" spc="9" dirty="0">
                <a:latin typeface="Calibri"/>
                <a:cs typeface="Calibri"/>
              </a:rPr>
              <a:t> </a:t>
            </a:r>
            <a:r>
              <a:rPr sz="1324" spc="-4" dirty="0">
                <a:latin typeface="Calibri"/>
                <a:cs typeface="Calibri"/>
              </a:rPr>
              <a:t>previous</a:t>
            </a:r>
            <a:r>
              <a:rPr sz="1324" spc="-13" dirty="0">
                <a:latin typeface="Calibri"/>
                <a:cs typeface="Calibri"/>
              </a:rPr>
              <a:t> </a:t>
            </a:r>
            <a:r>
              <a:rPr sz="1324" spc="-9" dirty="0">
                <a:latin typeface="Calibri"/>
                <a:cs typeface="Calibri"/>
              </a:rPr>
              <a:t>layer</a:t>
            </a:r>
            <a:r>
              <a:rPr sz="1324" spc="-4" dirty="0">
                <a:latin typeface="Calibri"/>
                <a:cs typeface="Calibri"/>
              </a:rPr>
              <a:t> (or</a:t>
            </a:r>
            <a:r>
              <a:rPr sz="1324" spc="-9" dirty="0">
                <a:latin typeface="Calibri"/>
                <a:cs typeface="Calibri"/>
              </a:rPr>
              <a:t> </a:t>
            </a:r>
            <a:r>
              <a:rPr sz="1324" dirty="0">
                <a:latin typeface="Calibri"/>
                <a:cs typeface="Calibri"/>
              </a:rPr>
              <a:t>block)</a:t>
            </a:r>
          </a:p>
          <a:p>
            <a:pPr>
              <a:spcBef>
                <a:spcPts val="31"/>
              </a:spcBef>
            </a:pPr>
            <a:endParaRPr sz="1412" dirty="0">
              <a:latin typeface="Calibri"/>
              <a:cs typeface="Calibri"/>
            </a:endParaRPr>
          </a:p>
          <a:p>
            <a:pPr marL="313781" indent="-302575">
              <a:buFont typeface="Arial"/>
              <a:buChar char="•"/>
              <a:tabLst>
                <a:tab pos="313221" algn="l"/>
                <a:tab pos="313781" algn="l"/>
              </a:tabLst>
            </a:pPr>
            <a:r>
              <a:rPr sz="1588" spc="-4" dirty="0">
                <a:latin typeface="Calibri"/>
                <a:cs typeface="Calibri"/>
              </a:rPr>
              <a:t>The Block</a:t>
            </a:r>
            <a:r>
              <a:rPr sz="1588" dirty="0">
                <a:latin typeface="Calibri"/>
                <a:cs typeface="Calibri"/>
              </a:rPr>
              <a:t> </a:t>
            </a:r>
            <a:r>
              <a:rPr sz="1588" spc="-4" dirty="0">
                <a:latin typeface="Calibri"/>
                <a:cs typeface="Calibri"/>
              </a:rPr>
              <a:t>has</a:t>
            </a:r>
            <a:r>
              <a:rPr sz="1588" spc="-9" dirty="0">
                <a:latin typeface="Calibri"/>
                <a:cs typeface="Calibri"/>
              </a:rPr>
              <a:t> two</a:t>
            </a:r>
            <a:r>
              <a:rPr sz="1588" spc="-4" dirty="0">
                <a:latin typeface="Calibri"/>
                <a:cs typeface="Calibri"/>
              </a:rPr>
              <a:t> components</a:t>
            </a:r>
            <a:endParaRPr sz="1588" dirty="0">
              <a:latin typeface="Calibri"/>
              <a:cs typeface="Calibri"/>
            </a:endParaRPr>
          </a:p>
        </p:txBody>
      </p:sp>
      <p:sp>
        <p:nvSpPr>
          <p:cNvPr id="3" name="object 3"/>
          <p:cNvSpPr txBox="1"/>
          <p:nvPr/>
        </p:nvSpPr>
        <p:spPr>
          <a:xfrm>
            <a:off x="2803689" y="5725282"/>
            <a:ext cx="4366372" cy="498069"/>
          </a:xfrm>
          <a:prstGeom prst="rect">
            <a:avLst/>
          </a:prstGeom>
        </p:spPr>
        <p:txBody>
          <a:bodyPr vert="horz" wrap="square" lIns="0" tIns="51546" rIns="0" bIns="0" rtlCol="0">
            <a:spAutoFit/>
          </a:bodyPr>
          <a:lstStyle/>
          <a:p>
            <a:pPr marL="263913" indent="-253266">
              <a:spcBef>
                <a:spcPts val="405"/>
              </a:spcBef>
              <a:buFont typeface="Arial"/>
              <a:buChar char="–"/>
              <a:tabLst>
                <a:tab pos="263913" algn="l"/>
                <a:tab pos="264473" algn="l"/>
              </a:tabLst>
            </a:pPr>
            <a:r>
              <a:rPr sz="1324" dirty="0">
                <a:latin typeface="Calibri"/>
                <a:cs typeface="Calibri"/>
              </a:rPr>
              <a:t>A</a:t>
            </a:r>
            <a:r>
              <a:rPr sz="1324" spc="-13" dirty="0">
                <a:latin typeface="Calibri"/>
                <a:cs typeface="Calibri"/>
              </a:rPr>
              <a:t> </a:t>
            </a:r>
            <a:r>
              <a:rPr sz="1324" spc="-9" dirty="0">
                <a:latin typeface="Calibri"/>
                <a:cs typeface="Calibri"/>
              </a:rPr>
              <a:t>forward</a:t>
            </a:r>
            <a:r>
              <a:rPr sz="1324" spc="-22" dirty="0">
                <a:latin typeface="Calibri"/>
                <a:cs typeface="Calibri"/>
              </a:rPr>
              <a:t> </a:t>
            </a:r>
            <a:r>
              <a:rPr sz="1324" spc="-4" dirty="0">
                <a:latin typeface="Calibri"/>
                <a:cs typeface="Calibri"/>
              </a:rPr>
              <a:t>net</a:t>
            </a:r>
            <a:r>
              <a:rPr sz="1324" spc="4" dirty="0">
                <a:latin typeface="Calibri"/>
                <a:cs typeface="Calibri"/>
              </a:rPr>
              <a:t> </a:t>
            </a:r>
            <a:r>
              <a:rPr sz="1324" spc="-4" dirty="0">
                <a:latin typeface="Calibri"/>
                <a:cs typeface="Calibri"/>
              </a:rPr>
              <a:t>process</a:t>
            </a:r>
            <a:r>
              <a:rPr sz="1324" spc="-18" dirty="0">
                <a:latin typeface="Calibri"/>
                <a:cs typeface="Calibri"/>
              </a:rPr>
              <a:t> </a:t>
            </a:r>
            <a:r>
              <a:rPr sz="1324" spc="-4" dirty="0">
                <a:latin typeface="Calibri"/>
                <a:cs typeface="Calibri"/>
              </a:rPr>
              <a:t>the</a:t>
            </a:r>
            <a:r>
              <a:rPr sz="1324" spc="-13" dirty="0">
                <a:latin typeface="Calibri"/>
                <a:cs typeface="Calibri"/>
              </a:rPr>
              <a:t> </a:t>
            </a:r>
            <a:r>
              <a:rPr sz="1324" spc="-9" dirty="0">
                <a:latin typeface="Calibri"/>
                <a:cs typeface="Calibri"/>
              </a:rPr>
              <a:t>data</a:t>
            </a:r>
            <a:r>
              <a:rPr sz="1324" spc="-13" dirty="0">
                <a:latin typeface="Calibri"/>
                <a:cs typeface="Calibri"/>
              </a:rPr>
              <a:t> </a:t>
            </a:r>
            <a:r>
              <a:rPr sz="1324" spc="-9" dirty="0">
                <a:latin typeface="Calibri"/>
                <a:cs typeface="Calibri"/>
              </a:rPr>
              <a:t>from</a:t>
            </a:r>
            <a:r>
              <a:rPr sz="1324" spc="-13" dirty="0">
                <a:latin typeface="Calibri"/>
                <a:cs typeface="Calibri"/>
              </a:rPr>
              <a:t> </a:t>
            </a:r>
            <a:r>
              <a:rPr sz="1324" spc="-4" dirty="0">
                <a:latin typeface="Calibri"/>
                <a:cs typeface="Calibri"/>
              </a:rPr>
              <a:t>t=0</a:t>
            </a:r>
            <a:r>
              <a:rPr sz="1324" spc="-9" dirty="0">
                <a:latin typeface="Calibri"/>
                <a:cs typeface="Calibri"/>
              </a:rPr>
              <a:t> </a:t>
            </a:r>
            <a:r>
              <a:rPr sz="1324" spc="-4" dirty="0">
                <a:latin typeface="Calibri"/>
                <a:cs typeface="Calibri"/>
              </a:rPr>
              <a:t>to</a:t>
            </a:r>
            <a:r>
              <a:rPr sz="1324" spc="-13" dirty="0">
                <a:latin typeface="Calibri"/>
                <a:cs typeface="Calibri"/>
              </a:rPr>
              <a:t> </a:t>
            </a:r>
            <a:r>
              <a:rPr sz="1324" spc="-4" dirty="0">
                <a:latin typeface="Calibri"/>
                <a:cs typeface="Calibri"/>
              </a:rPr>
              <a:t>t=T</a:t>
            </a:r>
            <a:endParaRPr sz="1324">
              <a:latin typeface="Calibri"/>
              <a:cs typeface="Calibri"/>
            </a:endParaRPr>
          </a:p>
          <a:p>
            <a:pPr marL="263913" indent="-253266">
              <a:spcBef>
                <a:spcPts val="318"/>
              </a:spcBef>
              <a:buFont typeface="Arial"/>
              <a:buChar char="–"/>
              <a:tabLst>
                <a:tab pos="263913" algn="l"/>
                <a:tab pos="264473" algn="l"/>
              </a:tabLst>
            </a:pPr>
            <a:r>
              <a:rPr sz="1324" dirty="0">
                <a:latin typeface="Calibri"/>
                <a:cs typeface="Calibri"/>
              </a:rPr>
              <a:t>A</a:t>
            </a:r>
            <a:r>
              <a:rPr sz="1324" spc="-18" dirty="0">
                <a:latin typeface="Calibri"/>
                <a:cs typeface="Calibri"/>
              </a:rPr>
              <a:t> </a:t>
            </a:r>
            <a:r>
              <a:rPr sz="1324" spc="-4" dirty="0">
                <a:latin typeface="Calibri"/>
                <a:cs typeface="Calibri"/>
              </a:rPr>
              <a:t>backward</a:t>
            </a:r>
            <a:r>
              <a:rPr sz="1324" spc="-22" dirty="0">
                <a:latin typeface="Calibri"/>
                <a:cs typeface="Calibri"/>
              </a:rPr>
              <a:t> </a:t>
            </a:r>
            <a:r>
              <a:rPr sz="1324" spc="-4" dirty="0">
                <a:latin typeface="Calibri"/>
                <a:cs typeface="Calibri"/>
              </a:rPr>
              <a:t>net</a:t>
            </a:r>
            <a:r>
              <a:rPr sz="1324" spc="-9" dirty="0">
                <a:latin typeface="Calibri"/>
                <a:cs typeface="Calibri"/>
              </a:rPr>
              <a:t> </a:t>
            </a:r>
            <a:r>
              <a:rPr sz="1324" spc="-4" dirty="0">
                <a:latin typeface="Calibri"/>
                <a:cs typeface="Calibri"/>
              </a:rPr>
              <a:t>processes </a:t>
            </a:r>
            <a:r>
              <a:rPr sz="1324" dirty="0">
                <a:latin typeface="Calibri"/>
                <a:cs typeface="Calibri"/>
              </a:rPr>
              <a:t>it</a:t>
            </a:r>
            <a:r>
              <a:rPr sz="1324" spc="-9" dirty="0">
                <a:latin typeface="Calibri"/>
                <a:cs typeface="Calibri"/>
              </a:rPr>
              <a:t> </a:t>
            </a:r>
            <a:r>
              <a:rPr sz="1324" spc="-4" dirty="0">
                <a:latin typeface="Calibri"/>
                <a:cs typeface="Calibri"/>
              </a:rPr>
              <a:t>backward</a:t>
            </a:r>
            <a:r>
              <a:rPr sz="1324" spc="-22" dirty="0">
                <a:latin typeface="Calibri"/>
                <a:cs typeface="Calibri"/>
              </a:rPr>
              <a:t> </a:t>
            </a:r>
            <a:r>
              <a:rPr sz="1324" spc="-9" dirty="0">
                <a:latin typeface="Calibri"/>
                <a:cs typeface="Calibri"/>
              </a:rPr>
              <a:t>from</a:t>
            </a:r>
            <a:r>
              <a:rPr sz="1324" spc="-13" dirty="0">
                <a:latin typeface="Calibri"/>
                <a:cs typeface="Calibri"/>
              </a:rPr>
              <a:t> </a:t>
            </a:r>
            <a:r>
              <a:rPr sz="1324" spc="-4" dirty="0">
                <a:latin typeface="Calibri"/>
                <a:cs typeface="Calibri"/>
              </a:rPr>
              <a:t>t=T</a:t>
            </a:r>
            <a:r>
              <a:rPr sz="1324" dirty="0">
                <a:latin typeface="Calibri"/>
                <a:cs typeface="Calibri"/>
              </a:rPr>
              <a:t> </a:t>
            </a:r>
            <a:r>
              <a:rPr sz="1324" spc="-4" dirty="0">
                <a:latin typeface="Calibri"/>
                <a:cs typeface="Calibri"/>
              </a:rPr>
              <a:t>down</a:t>
            </a:r>
            <a:r>
              <a:rPr sz="1324" spc="-9" dirty="0">
                <a:latin typeface="Calibri"/>
                <a:cs typeface="Calibri"/>
              </a:rPr>
              <a:t> </a:t>
            </a:r>
            <a:r>
              <a:rPr sz="1324" spc="-4" dirty="0">
                <a:latin typeface="Calibri"/>
                <a:cs typeface="Calibri"/>
              </a:rPr>
              <a:t>to</a:t>
            </a:r>
            <a:r>
              <a:rPr sz="1324" spc="-26" dirty="0">
                <a:latin typeface="Calibri"/>
                <a:cs typeface="Calibri"/>
              </a:rPr>
              <a:t> </a:t>
            </a:r>
            <a:r>
              <a:rPr sz="1324" spc="-4" dirty="0">
                <a:latin typeface="Calibri"/>
                <a:cs typeface="Calibri"/>
              </a:rPr>
              <a:t>t=0</a:t>
            </a:r>
            <a:endParaRPr sz="1324">
              <a:latin typeface="Calibri"/>
              <a:cs typeface="Calibri"/>
            </a:endParaRPr>
          </a:p>
        </p:txBody>
      </p:sp>
      <p:grpSp>
        <p:nvGrpSpPr>
          <p:cNvPr id="5" name="object 5"/>
          <p:cNvGrpSpPr/>
          <p:nvPr/>
        </p:nvGrpSpPr>
        <p:grpSpPr>
          <a:xfrm>
            <a:off x="2974937" y="3209813"/>
            <a:ext cx="7021045" cy="1114985"/>
            <a:chOff x="1491995" y="3637788"/>
            <a:chExt cx="7957184" cy="1263650"/>
          </a:xfrm>
        </p:grpSpPr>
        <p:sp>
          <p:nvSpPr>
            <p:cNvPr id="6" name="object 6"/>
            <p:cNvSpPr/>
            <p:nvPr/>
          </p:nvSpPr>
          <p:spPr>
            <a:xfrm>
              <a:off x="1491995" y="3637788"/>
              <a:ext cx="7957184" cy="753110"/>
            </a:xfrm>
            <a:custGeom>
              <a:avLst/>
              <a:gdLst/>
              <a:ahLst/>
              <a:cxnLst/>
              <a:rect l="l" t="t" r="r" b="b"/>
              <a:pathLst>
                <a:path w="7957184" h="753110">
                  <a:moveTo>
                    <a:pt x="7956804" y="752855"/>
                  </a:moveTo>
                  <a:lnTo>
                    <a:pt x="0" y="752855"/>
                  </a:lnTo>
                  <a:lnTo>
                    <a:pt x="0" y="0"/>
                  </a:lnTo>
                  <a:lnTo>
                    <a:pt x="7956804" y="0"/>
                  </a:lnTo>
                  <a:lnTo>
                    <a:pt x="7956804" y="752855"/>
                  </a:lnTo>
                  <a:close/>
                </a:path>
              </a:pathLst>
            </a:custGeom>
            <a:solidFill>
              <a:srgbClr val="C6D8F0"/>
            </a:solidFill>
          </p:spPr>
          <p:txBody>
            <a:bodyPr wrap="square" lIns="0" tIns="0" rIns="0" bIns="0" rtlCol="0"/>
            <a:lstStyle/>
            <a:p>
              <a:endParaRPr sz="1588"/>
            </a:p>
          </p:txBody>
        </p:sp>
        <p:sp>
          <p:nvSpPr>
            <p:cNvPr id="7" name="object 7"/>
            <p:cNvSpPr/>
            <p:nvPr/>
          </p:nvSpPr>
          <p:spPr>
            <a:xfrm>
              <a:off x="8081772" y="4594859"/>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8" name="object 8"/>
            <p:cNvSpPr/>
            <p:nvPr/>
          </p:nvSpPr>
          <p:spPr>
            <a:xfrm>
              <a:off x="8081772" y="459485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9" name="object 9"/>
            <p:cNvSpPr/>
            <p:nvPr/>
          </p:nvSpPr>
          <p:spPr>
            <a:xfrm>
              <a:off x="8196072" y="4027931"/>
              <a:ext cx="76200" cy="567055"/>
            </a:xfrm>
            <a:custGeom>
              <a:avLst/>
              <a:gdLst/>
              <a:ahLst/>
              <a:cxnLst/>
              <a:rect l="l" t="t" r="r" b="b"/>
              <a:pathLst>
                <a:path w="76200" h="567054">
                  <a:moveTo>
                    <a:pt x="32004" y="76200"/>
                  </a:moveTo>
                  <a:lnTo>
                    <a:pt x="0" y="76200"/>
                  </a:lnTo>
                  <a:lnTo>
                    <a:pt x="38100" y="0"/>
                  </a:lnTo>
                  <a:lnTo>
                    <a:pt x="70104" y="64008"/>
                  </a:lnTo>
                  <a:lnTo>
                    <a:pt x="32004" y="64008"/>
                  </a:lnTo>
                  <a:lnTo>
                    <a:pt x="32004" y="76200"/>
                  </a:lnTo>
                  <a:close/>
                </a:path>
                <a:path w="76200" h="567054">
                  <a:moveTo>
                    <a:pt x="44196" y="566928"/>
                  </a:moveTo>
                  <a:lnTo>
                    <a:pt x="32004" y="566928"/>
                  </a:lnTo>
                  <a:lnTo>
                    <a:pt x="32004" y="64008"/>
                  </a:lnTo>
                  <a:lnTo>
                    <a:pt x="44196" y="64008"/>
                  </a:lnTo>
                  <a:lnTo>
                    <a:pt x="44196" y="566928"/>
                  </a:lnTo>
                  <a:close/>
                </a:path>
                <a:path w="76200" h="567054">
                  <a:moveTo>
                    <a:pt x="76200" y="76200"/>
                  </a:moveTo>
                  <a:lnTo>
                    <a:pt x="44196" y="76200"/>
                  </a:lnTo>
                  <a:lnTo>
                    <a:pt x="44196" y="64008"/>
                  </a:lnTo>
                  <a:lnTo>
                    <a:pt x="70104" y="64008"/>
                  </a:lnTo>
                  <a:lnTo>
                    <a:pt x="76200" y="76200"/>
                  </a:lnTo>
                  <a:close/>
                </a:path>
              </a:pathLst>
            </a:custGeom>
            <a:solidFill>
              <a:srgbClr val="000000"/>
            </a:solidFill>
          </p:spPr>
          <p:txBody>
            <a:bodyPr wrap="square" lIns="0" tIns="0" rIns="0" bIns="0" rtlCol="0"/>
            <a:lstStyle/>
            <a:p>
              <a:endParaRPr sz="1588"/>
            </a:p>
          </p:txBody>
        </p:sp>
        <p:sp>
          <p:nvSpPr>
            <p:cNvPr id="10" name="object 10"/>
            <p:cNvSpPr/>
            <p:nvPr/>
          </p:nvSpPr>
          <p:spPr>
            <a:xfrm>
              <a:off x="6848855" y="4594859"/>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1" name="object 11"/>
            <p:cNvSpPr/>
            <p:nvPr/>
          </p:nvSpPr>
          <p:spPr>
            <a:xfrm>
              <a:off x="6848855" y="459485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2" name="object 12"/>
            <p:cNvSpPr/>
            <p:nvPr/>
          </p:nvSpPr>
          <p:spPr>
            <a:xfrm>
              <a:off x="6963155" y="4027931"/>
              <a:ext cx="76200" cy="567055"/>
            </a:xfrm>
            <a:custGeom>
              <a:avLst/>
              <a:gdLst/>
              <a:ahLst/>
              <a:cxnLst/>
              <a:rect l="l" t="t" r="r" b="b"/>
              <a:pathLst>
                <a:path w="76200" h="567054">
                  <a:moveTo>
                    <a:pt x="32004" y="76200"/>
                  </a:moveTo>
                  <a:lnTo>
                    <a:pt x="0" y="76200"/>
                  </a:lnTo>
                  <a:lnTo>
                    <a:pt x="38100" y="0"/>
                  </a:lnTo>
                  <a:lnTo>
                    <a:pt x="70104" y="64008"/>
                  </a:lnTo>
                  <a:lnTo>
                    <a:pt x="32004" y="64008"/>
                  </a:lnTo>
                  <a:lnTo>
                    <a:pt x="32004" y="76200"/>
                  </a:lnTo>
                  <a:close/>
                </a:path>
                <a:path w="76200" h="567054">
                  <a:moveTo>
                    <a:pt x="44196" y="566928"/>
                  </a:moveTo>
                  <a:lnTo>
                    <a:pt x="32004" y="566928"/>
                  </a:lnTo>
                  <a:lnTo>
                    <a:pt x="32004" y="64008"/>
                  </a:lnTo>
                  <a:lnTo>
                    <a:pt x="44196" y="64008"/>
                  </a:lnTo>
                  <a:lnTo>
                    <a:pt x="44196" y="566928"/>
                  </a:lnTo>
                  <a:close/>
                </a:path>
                <a:path w="76200" h="567054">
                  <a:moveTo>
                    <a:pt x="76200" y="76200"/>
                  </a:moveTo>
                  <a:lnTo>
                    <a:pt x="44196" y="76200"/>
                  </a:lnTo>
                  <a:lnTo>
                    <a:pt x="44196" y="64008"/>
                  </a:lnTo>
                  <a:lnTo>
                    <a:pt x="70104" y="64008"/>
                  </a:lnTo>
                  <a:lnTo>
                    <a:pt x="76200" y="76200"/>
                  </a:lnTo>
                  <a:close/>
                </a:path>
              </a:pathLst>
            </a:custGeom>
            <a:solidFill>
              <a:srgbClr val="000000"/>
            </a:solidFill>
          </p:spPr>
          <p:txBody>
            <a:bodyPr wrap="square" lIns="0" tIns="0" rIns="0" bIns="0" rtlCol="0"/>
            <a:lstStyle/>
            <a:p>
              <a:endParaRPr sz="1588"/>
            </a:p>
          </p:txBody>
        </p:sp>
        <p:sp>
          <p:nvSpPr>
            <p:cNvPr id="13" name="object 13"/>
            <p:cNvSpPr/>
            <p:nvPr/>
          </p:nvSpPr>
          <p:spPr>
            <a:xfrm>
              <a:off x="3357372" y="4594859"/>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CCC1DA"/>
            </a:solidFill>
          </p:spPr>
          <p:txBody>
            <a:bodyPr wrap="square" lIns="0" tIns="0" rIns="0" bIns="0" rtlCol="0"/>
            <a:lstStyle/>
            <a:p>
              <a:endParaRPr sz="1588"/>
            </a:p>
          </p:txBody>
        </p:sp>
        <p:sp>
          <p:nvSpPr>
            <p:cNvPr id="14" name="object 14"/>
            <p:cNvSpPr/>
            <p:nvPr/>
          </p:nvSpPr>
          <p:spPr>
            <a:xfrm>
              <a:off x="3357372" y="459485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5" name="object 15"/>
            <p:cNvSpPr/>
            <p:nvPr/>
          </p:nvSpPr>
          <p:spPr>
            <a:xfrm>
              <a:off x="3471671" y="4027931"/>
              <a:ext cx="76200" cy="567055"/>
            </a:xfrm>
            <a:custGeom>
              <a:avLst/>
              <a:gdLst/>
              <a:ahLst/>
              <a:cxnLst/>
              <a:rect l="l" t="t" r="r" b="b"/>
              <a:pathLst>
                <a:path w="76200" h="567054">
                  <a:moveTo>
                    <a:pt x="32004" y="76200"/>
                  </a:moveTo>
                  <a:lnTo>
                    <a:pt x="0" y="76200"/>
                  </a:lnTo>
                  <a:lnTo>
                    <a:pt x="38100" y="0"/>
                  </a:lnTo>
                  <a:lnTo>
                    <a:pt x="70104" y="64008"/>
                  </a:lnTo>
                  <a:lnTo>
                    <a:pt x="32004" y="64008"/>
                  </a:lnTo>
                  <a:lnTo>
                    <a:pt x="32004" y="76200"/>
                  </a:lnTo>
                  <a:close/>
                </a:path>
                <a:path w="76200" h="567054">
                  <a:moveTo>
                    <a:pt x="44196" y="566928"/>
                  </a:moveTo>
                  <a:lnTo>
                    <a:pt x="32004" y="566928"/>
                  </a:lnTo>
                  <a:lnTo>
                    <a:pt x="32004" y="64008"/>
                  </a:lnTo>
                  <a:lnTo>
                    <a:pt x="44196" y="64008"/>
                  </a:lnTo>
                  <a:lnTo>
                    <a:pt x="44196" y="566928"/>
                  </a:lnTo>
                  <a:close/>
                </a:path>
                <a:path w="76200" h="567054">
                  <a:moveTo>
                    <a:pt x="76200" y="76200"/>
                  </a:moveTo>
                  <a:lnTo>
                    <a:pt x="44196" y="76200"/>
                  </a:lnTo>
                  <a:lnTo>
                    <a:pt x="44196" y="64008"/>
                  </a:lnTo>
                  <a:lnTo>
                    <a:pt x="70104" y="64008"/>
                  </a:lnTo>
                  <a:lnTo>
                    <a:pt x="76200" y="76200"/>
                  </a:lnTo>
                  <a:close/>
                </a:path>
              </a:pathLst>
            </a:custGeom>
            <a:solidFill>
              <a:srgbClr val="000000"/>
            </a:solidFill>
          </p:spPr>
          <p:txBody>
            <a:bodyPr wrap="square" lIns="0" tIns="0" rIns="0" bIns="0" rtlCol="0"/>
            <a:lstStyle/>
            <a:p>
              <a:endParaRPr sz="1588"/>
            </a:p>
          </p:txBody>
        </p:sp>
        <p:sp>
          <p:nvSpPr>
            <p:cNvPr id="16" name="object 16"/>
            <p:cNvSpPr/>
            <p:nvPr/>
          </p:nvSpPr>
          <p:spPr>
            <a:xfrm>
              <a:off x="2141219" y="4594859"/>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CCC1DA"/>
            </a:solidFill>
          </p:spPr>
          <p:txBody>
            <a:bodyPr wrap="square" lIns="0" tIns="0" rIns="0" bIns="0" rtlCol="0"/>
            <a:lstStyle/>
            <a:p>
              <a:endParaRPr sz="1588"/>
            </a:p>
          </p:txBody>
        </p:sp>
        <p:sp>
          <p:nvSpPr>
            <p:cNvPr id="17" name="object 17"/>
            <p:cNvSpPr/>
            <p:nvPr/>
          </p:nvSpPr>
          <p:spPr>
            <a:xfrm>
              <a:off x="2141219" y="4594859"/>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18" name="object 18"/>
            <p:cNvSpPr/>
            <p:nvPr/>
          </p:nvSpPr>
          <p:spPr>
            <a:xfrm>
              <a:off x="2255519" y="4027931"/>
              <a:ext cx="76200" cy="567055"/>
            </a:xfrm>
            <a:custGeom>
              <a:avLst/>
              <a:gdLst/>
              <a:ahLst/>
              <a:cxnLst/>
              <a:rect l="l" t="t" r="r" b="b"/>
              <a:pathLst>
                <a:path w="76200" h="567054">
                  <a:moveTo>
                    <a:pt x="30480" y="76200"/>
                  </a:moveTo>
                  <a:lnTo>
                    <a:pt x="0" y="76200"/>
                  </a:lnTo>
                  <a:lnTo>
                    <a:pt x="38100" y="0"/>
                  </a:lnTo>
                  <a:lnTo>
                    <a:pt x="70104" y="64008"/>
                  </a:lnTo>
                  <a:lnTo>
                    <a:pt x="30480" y="64008"/>
                  </a:lnTo>
                  <a:lnTo>
                    <a:pt x="30480" y="76200"/>
                  </a:lnTo>
                  <a:close/>
                </a:path>
                <a:path w="76200" h="567054">
                  <a:moveTo>
                    <a:pt x="44196" y="566928"/>
                  </a:moveTo>
                  <a:lnTo>
                    <a:pt x="30480" y="566928"/>
                  </a:lnTo>
                  <a:lnTo>
                    <a:pt x="30480" y="64008"/>
                  </a:lnTo>
                  <a:lnTo>
                    <a:pt x="44196" y="64008"/>
                  </a:lnTo>
                  <a:lnTo>
                    <a:pt x="44196" y="566928"/>
                  </a:lnTo>
                  <a:close/>
                </a:path>
                <a:path w="76200" h="567054">
                  <a:moveTo>
                    <a:pt x="76200" y="76200"/>
                  </a:moveTo>
                  <a:lnTo>
                    <a:pt x="44196" y="76200"/>
                  </a:lnTo>
                  <a:lnTo>
                    <a:pt x="44196" y="64008"/>
                  </a:lnTo>
                  <a:lnTo>
                    <a:pt x="70104" y="64008"/>
                  </a:lnTo>
                  <a:lnTo>
                    <a:pt x="76200" y="76200"/>
                  </a:lnTo>
                  <a:close/>
                </a:path>
              </a:pathLst>
            </a:custGeom>
            <a:solidFill>
              <a:srgbClr val="000000"/>
            </a:solidFill>
          </p:spPr>
          <p:txBody>
            <a:bodyPr wrap="square" lIns="0" tIns="0" rIns="0" bIns="0" rtlCol="0"/>
            <a:lstStyle/>
            <a:p>
              <a:endParaRPr sz="1588"/>
            </a:p>
          </p:txBody>
        </p:sp>
        <p:sp>
          <p:nvSpPr>
            <p:cNvPr id="19" name="object 19"/>
            <p:cNvSpPr/>
            <p:nvPr/>
          </p:nvSpPr>
          <p:spPr>
            <a:xfrm>
              <a:off x="8802623" y="3723131"/>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20" name="object 20"/>
            <p:cNvSpPr/>
            <p:nvPr/>
          </p:nvSpPr>
          <p:spPr>
            <a:xfrm>
              <a:off x="8802623" y="3723131"/>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grpSp>
      <p:grpSp>
        <p:nvGrpSpPr>
          <p:cNvPr id="21" name="object 21"/>
          <p:cNvGrpSpPr/>
          <p:nvPr/>
        </p:nvGrpSpPr>
        <p:grpSpPr>
          <a:xfrm>
            <a:off x="2330824" y="1602888"/>
            <a:ext cx="7022166" cy="1277471"/>
            <a:chOff x="762000" y="1816607"/>
            <a:chExt cx="7958455" cy="1447800"/>
          </a:xfrm>
        </p:grpSpPr>
        <p:sp>
          <p:nvSpPr>
            <p:cNvPr id="22" name="object 22"/>
            <p:cNvSpPr/>
            <p:nvPr/>
          </p:nvSpPr>
          <p:spPr>
            <a:xfrm>
              <a:off x="762000" y="2497835"/>
              <a:ext cx="7958455" cy="767080"/>
            </a:xfrm>
            <a:custGeom>
              <a:avLst/>
              <a:gdLst/>
              <a:ahLst/>
              <a:cxnLst/>
              <a:rect l="l" t="t" r="r" b="b"/>
              <a:pathLst>
                <a:path w="7958455" h="767079">
                  <a:moveTo>
                    <a:pt x="7958328" y="766572"/>
                  </a:moveTo>
                  <a:lnTo>
                    <a:pt x="0" y="766572"/>
                  </a:lnTo>
                  <a:lnTo>
                    <a:pt x="0" y="0"/>
                  </a:lnTo>
                  <a:lnTo>
                    <a:pt x="7958328" y="0"/>
                  </a:lnTo>
                  <a:lnTo>
                    <a:pt x="7958328" y="766572"/>
                  </a:lnTo>
                  <a:close/>
                </a:path>
              </a:pathLst>
            </a:custGeom>
            <a:solidFill>
              <a:srgbClr val="F2DBDB"/>
            </a:solidFill>
          </p:spPr>
          <p:txBody>
            <a:bodyPr wrap="square" lIns="0" tIns="0" rIns="0" bIns="0" rtlCol="0"/>
            <a:lstStyle/>
            <a:p>
              <a:endParaRPr sz="1588"/>
            </a:p>
          </p:txBody>
        </p:sp>
        <p:sp>
          <p:nvSpPr>
            <p:cNvPr id="23" name="object 23"/>
            <p:cNvSpPr/>
            <p:nvPr/>
          </p:nvSpPr>
          <p:spPr>
            <a:xfrm>
              <a:off x="8081771" y="25405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4" name="object 24"/>
            <p:cNvSpPr/>
            <p:nvPr/>
          </p:nvSpPr>
          <p:spPr>
            <a:xfrm>
              <a:off x="8081771" y="25405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5" name="object 25"/>
            <p:cNvSpPr/>
            <p:nvPr/>
          </p:nvSpPr>
          <p:spPr>
            <a:xfrm>
              <a:off x="6839711" y="25405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6" name="object 26"/>
            <p:cNvSpPr/>
            <p:nvPr/>
          </p:nvSpPr>
          <p:spPr>
            <a:xfrm>
              <a:off x="6839711" y="25405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7" name="object 27"/>
            <p:cNvSpPr/>
            <p:nvPr/>
          </p:nvSpPr>
          <p:spPr>
            <a:xfrm>
              <a:off x="3357372" y="25405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28" name="object 28"/>
            <p:cNvSpPr/>
            <p:nvPr/>
          </p:nvSpPr>
          <p:spPr>
            <a:xfrm>
              <a:off x="3357372" y="25405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29" name="object 29"/>
            <p:cNvSpPr/>
            <p:nvPr/>
          </p:nvSpPr>
          <p:spPr>
            <a:xfrm>
              <a:off x="2142744" y="2540507"/>
              <a:ext cx="304800" cy="304800"/>
            </a:xfrm>
            <a:custGeom>
              <a:avLst/>
              <a:gdLst/>
              <a:ahLst/>
              <a:cxnLst/>
              <a:rect l="l" t="t" r="r" b="b"/>
              <a:pathLst>
                <a:path w="304800" h="304800">
                  <a:moveTo>
                    <a:pt x="304799" y="304800"/>
                  </a:moveTo>
                  <a:lnTo>
                    <a:pt x="0" y="304800"/>
                  </a:lnTo>
                  <a:lnTo>
                    <a:pt x="0" y="0"/>
                  </a:lnTo>
                  <a:lnTo>
                    <a:pt x="304799" y="0"/>
                  </a:lnTo>
                  <a:lnTo>
                    <a:pt x="304799" y="304800"/>
                  </a:lnTo>
                  <a:close/>
                </a:path>
              </a:pathLst>
            </a:custGeom>
            <a:solidFill>
              <a:srgbClr val="91CF50"/>
            </a:solidFill>
          </p:spPr>
          <p:txBody>
            <a:bodyPr wrap="square" lIns="0" tIns="0" rIns="0" bIns="0" rtlCol="0"/>
            <a:lstStyle/>
            <a:p>
              <a:endParaRPr sz="1588"/>
            </a:p>
          </p:txBody>
        </p:sp>
        <p:sp>
          <p:nvSpPr>
            <p:cNvPr id="30" name="object 30"/>
            <p:cNvSpPr/>
            <p:nvPr/>
          </p:nvSpPr>
          <p:spPr>
            <a:xfrm>
              <a:off x="2142744" y="2540507"/>
              <a:ext cx="304800" cy="304800"/>
            </a:xfrm>
            <a:custGeom>
              <a:avLst/>
              <a:gdLst/>
              <a:ahLst/>
              <a:cxnLst/>
              <a:rect l="l" t="t" r="r" b="b"/>
              <a:pathLst>
                <a:path w="304800" h="304800">
                  <a:moveTo>
                    <a:pt x="0" y="0"/>
                  </a:moveTo>
                  <a:lnTo>
                    <a:pt x="304799" y="0"/>
                  </a:lnTo>
                  <a:lnTo>
                    <a:pt x="304799"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1" name="object 31"/>
            <p:cNvSpPr/>
            <p:nvPr/>
          </p:nvSpPr>
          <p:spPr>
            <a:xfrm>
              <a:off x="2257044" y="2133599"/>
              <a:ext cx="76200" cy="407034"/>
            </a:xfrm>
            <a:custGeom>
              <a:avLst/>
              <a:gdLst/>
              <a:ahLst/>
              <a:cxnLst/>
              <a:rect l="l" t="t" r="r" b="b"/>
              <a:pathLst>
                <a:path w="76200" h="407035">
                  <a:moveTo>
                    <a:pt x="32004" y="76200"/>
                  </a:moveTo>
                  <a:lnTo>
                    <a:pt x="0" y="76200"/>
                  </a:lnTo>
                  <a:lnTo>
                    <a:pt x="38100" y="0"/>
                  </a:lnTo>
                  <a:lnTo>
                    <a:pt x="70104" y="64008"/>
                  </a:lnTo>
                  <a:lnTo>
                    <a:pt x="32004" y="64008"/>
                  </a:lnTo>
                  <a:lnTo>
                    <a:pt x="32004" y="76200"/>
                  </a:lnTo>
                  <a:close/>
                </a:path>
                <a:path w="76200" h="407035">
                  <a:moveTo>
                    <a:pt x="44196" y="406908"/>
                  </a:moveTo>
                  <a:lnTo>
                    <a:pt x="32004" y="406908"/>
                  </a:lnTo>
                  <a:lnTo>
                    <a:pt x="32004" y="64008"/>
                  </a:lnTo>
                  <a:lnTo>
                    <a:pt x="44196" y="64008"/>
                  </a:lnTo>
                  <a:lnTo>
                    <a:pt x="44196" y="406908"/>
                  </a:lnTo>
                  <a:close/>
                </a:path>
                <a:path w="76200" h="407035">
                  <a:moveTo>
                    <a:pt x="76200" y="76200"/>
                  </a:moveTo>
                  <a:lnTo>
                    <a:pt x="44196" y="76200"/>
                  </a:lnTo>
                  <a:lnTo>
                    <a:pt x="44196" y="64008"/>
                  </a:lnTo>
                  <a:lnTo>
                    <a:pt x="70104" y="64008"/>
                  </a:lnTo>
                  <a:lnTo>
                    <a:pt x="76200" y="76200"/>
                  </a:lnTo>
                  <a:close/>
                </a:path>
              </a:pathLst>
            </a:custGeom>
            <a:solidFill>
              <a:srgbClr val="000000"/>
            </a:solidFill>
          </p:spPr>
          <p:txBody>
            <a:bodyPr wrap="square" lIns="0" tIns="0" rIns="0" bIns="0" rtlCol="0"/>
            <a:lstStyle/>
            <a:p>
              <a:endParaRPr sz="1588"/>
            </a:p>
          </p:txBody>
        </p:sp>
        <p:sp>
          <p:nvSpPr>
            <p:cNvPr id="32" name="object 32"/>
            <p:cNvSpPr/>
            <p:nvPr/>
          </p:nvSpPr>
          <p:spPr>
            <a:xfrm>
              <a:off x="1143000" y="2540507"/>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3333CC"/>
            </a:solidFill>
          </p:spPr>
          <p:txBody>
            <a:bodyPr wrap="square" lIns="0" tIns="0" rIns="0" bIns="0" rtlCol="0"/>
            <a:lstStyle/>
            <a:p>
              <a:endParaRPr sz="1588"/>
            </a:p>
          </p:txBody>
        </p:sp>
        <p:sp>
          <p:nvSpPr>
            <p:cNvPr id="33" name="object 33"/>
            <p:cNvSpPr/>
            <p:nvPr/>
          </p:nvSpPr>
          <p:spPr>
            <a:xfrm>
              <a:off x="1143000" y="2540507"/>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34" name="object 34"/>
            <p:cNvSpPr/>
            <p:nvPr/>
          </p:nvSpPr>
          <p:spPr>
            <a:xfrm>
              <a:off x="1447800" y="2654807"/>
              <a:ext cx="6646545" cy="76200"/>
            </a:xfrm>
            <a:custGeom>
              <a:avLst/>
              <a:gdLst/>
              <a:ahLst/>
              <a:cxnLst/>
              <a:rect l="l" t="t" r="r" b="b"/>
              <a:pathLst>
                <a:path w="6646545" h="76200">
                  <a:moveTo>
                    <a:pt x="691896" y="38100"/>
                  </a:moveTo>
                  <a:lnTo>
                    <a:pt x="679704" y="32004"/>
                  </a:lnTo>
                  <a:lnTo>
                    <a:pt x="615696" y="0"/>
                  </a:lnTo>
                  <a:lnTo>
                    <a:pt x="615696" y="32004"/>
                  </a:lnTo>
                  <a:lnTo>
                    <a:pt x="0" y="32004"/>
                  </a:lnTo>
                  <a:lnTo>
                    <a:pt x="0" y="44196"/>
                  </a:lnTo>
                  <a:lnTo>
                    <a:pt x="615696" y="44196"/>
                  </a:lnTo>
                  <a:lnTo>
                    <a:pt x="615696" y="76200"/>
                  </a:lnTo>
                  <a:lnTo>
                    <a:pt x="679704" y="44196"/>
                  </a:lnTo>
                  <a:lnTo>
                    <a:pt x="691896" y="38100"/>
                  </a:lnTo>
                  <a:close/>
                </a:path>
                <a:path w="6646545" h="76200">
                  <a:moveTo>
                    <a:pt x="1909559" y="38100"/>
                  </a:moveTo>
                  <a:lnTo>
                    <a:pt x="1897367" y="32004"/>
                  </a:lnTo>
                  <a:lnTo>
                    <a:pt x="1833359" y="0"/>
                  </a:lnTo>
                  <a:lnTo>
                    <a:pt x="1833359" y="32004"/>
                  </a:lnTo>
                  <a:lnTo>
                    <a:pt x="999731" y="32004"/>
                  </a:lnTo>
                  <a:lnTo>
                    <a:pt x="999731" y="44196"/>
                  </a:lnTo>
                  <a:lnTo>
                    <a:pt x="1833359" y="44196"/>
                  </a:lnTo>
                  <a:lnTo>
                    <a:pt x="1833359" y="76200"/>
                  </a:lnTo>
                  <a:lnTo>
                    <a:pt x="1897367" y="44196"/>
                  </a:lnTo>
                  <a:lnTo>
                    <a:pt x="1909559" y="38100"/>
                  </a:lnTo>
                  <a:close/>
                </a:path>
                <a:path w="6646545" h="76200">
                  <a:moveTo>
                    <a:pt x="2910840" y="38100"/>
                  </a:moveTo>
                  <a:lnTo>
                    <a:pt x="2898648" y="32004"/>
                  </a:lnTo>
                  <a:lnTo>
                    <a:pt x="2834627" y="0"/>
                  </a:lnTo>
                  <a:lnTo>
                    <a:pt x="2834627" y="32004"/>
                  </a:lnTo>
                  <a:lnTo>
                    <a:pt x="2220455" y="32004"/>
                  </a:lnTo>
                  <a:lnTo>
                    <a:pt x="2220455" y="44196"/>
                  </a:lnTo>
                  <a:lnTo>
                    <a:pt x="2834627" y="44196"/>
                  </a:lnTo>
                  <a:lnTo>
                    <a:pt x="2834627" y="76200"/>
                  </a:lnTo>
                  <a:lnTo>
                    <a:pt x="2898648" y="44196"/>
                  </a:lnTo>
                  <a:lnTo>
                    <a:pt x="2910840" y="38100"/>
                  </a:lnTo>
                  <a:close/>
                </a:path>
                <a:path w="6646545" h="76200">
                  <a:moveTo>
                    <a:pt x="5391912" y="38100"/>
                  </a:moveTo>
                  <a:lnTo>
                    <a:pt x="5379720" y="32004"/>
                  </a:lnTo>
                  <a:lnTo>
                    <a:pt x="5315712" y="0"/>
                  </a:lnTo>
                  <a:lnTo>
                    <a:pt x="5315712" y="32004"/>
                  </a:lnTo>
                  <a:lnTo>
                    <a:pt x="4700016" y="32004"/>
                  </a:lnTo>
                  <a:lnTo>
                    <a:pt x="4700016" y="44196"/>
                  </a:lnTo>
                  <a:lnTo>
                    <a:pt x="5315712" y="44196"/>
                  </a:lnTo>
                  <a:lnTo>
                    <a:pt x="5315712" y="76200"/>
                  </a:lnTo>
                  <a:lnTo>
                    <a:pt x="5379720" y="44196"/>
                  </a:lnTo>
                  <a:lnTo>
                    <a:pt x="5391912" y="38100"/>
                  </a:lnTo>
                  <a:close/>
                </a:path>
                <a:path w="6646545" h="76200">
                  <a:moveTo>
                    <a:pt x="6646164" y="38100"/>
                  </a:moveTo>
                  <a:lnTo>
                    <a:pt x="6633972" y="32004"/>
                  </a:lnTo>
                  <a:lnTo>
                    <a:pt x="6569964" y="0"/>
                  </a:lnTo>
                  <a:lnTo>
                    <a:pt x="6569964" y="32004"/>
                  </a:lnTo>
                  <a:lnTo>
                    <a:pt x="5696712" y="32004"/>
                  </a:lnTo>
                  <a:lnTo>
                    <a:pt x="5696712" y="44196"/>
                  </a:lnTo>
                  <a:lnTo>
                    <a:pt x="6569964" y="44196"/>
                  </a:lnTo>
                  <a:lnTo>
                    <a:pt x="6569964" y="76200"/>
                  </a:lnTo>
                  <a:lnTo>
                    <a:pt x="6633972" y="44196"/>
                  </a:lnTo>
                  <a:lnTo>
                    <a:pt x="6646164" y="38100"/>
                  </a:lnTo>
                  <a:close/>
                </a:path>
              </a:pathLst>
            </a:custGeom>
            <a:solidFill>
              <a:srgbClr val="000000"/>
            </a:solidFill>
          </p:spPr>
          <p:txBody>
            <a:bodyPr wrap="square" lIns="0" tIns="0" rIns="0" bIns="0" rtlCol="0"/>
            <a:lstStyle/>
            <a:p>
              <a:endParaRPr sz="1588"/>
            </a:p>
          </p:txBody>
        </p:sp>
        <p:pic>
          <p:nvPicPr>
            <p:cNvPr id="35" name="object 35"/>
            <p:cNvPicPr/>
            <p:nvPr/>
          </p:nvPicPr>
          <p:blipFill>
            <a:blip r:embed="rId2" cstate="print"/>
            <a:stretch>
              <a:fillRect/>
            </a:stretch>
          </p:blipFill>
          <p:spPr>
            <a:xfrm>
              <a:off x="2257044" y="1816607"/>
              <a:ext cx="76200" cy="228600"/>
            </a:xfrm>
            <a:prstGeom prst="rect">
              <a:avLst/>
            </a:prstGeom>
          </p:spPr>
        </p:pic>
        <p:pic>
          <p:nvPicPr>
            <p:cNvPr id="36" name="object 36"/>
            <p:cNvPicPr/>
            <p:nvPr/>
          </p:nvPicPr>
          <p:blipFill>
            <a:blip r:embed="rId3" cstate="print"/>
            <a:stretch>
              <a:fillRect/>
            </a:stretch>
          </p:blipFill>
          <p:spPr>
            <a:xfrm>
              <a:off x="3471672" y="1816607"/>
              <a:ext cx="76200" cy="228600"/>
            </a:xfrm>
            <a:prstGeom prst="rect">
              <a:avLst/>
            </a:prstGeom>
          </p:spPr>
        </p:pic>
        <p:pic>
          <p:nvPicPr>
            <p:cNvPr id="37" name="object 37"/>
            <p:cNvPicPr/>
            <p:nvPr/>
          </p:nvPicPr>
          <p:blipFill>
            <a:blip r:embed="rId2" cstate="print"/>
            <a:stretch>
              <a:fillRect/>
            </a:stretch>
          </p:blipFill>
          <p:spPr>
            <a:xfrm>
              <a:off x="6954011" y="1816607"/>
              <a:ext cx="76200" cy="228600"/>
            </a:xfrm>
            <a:prstGeom prst="rect">
              <a:avLst/>
            </a:prstGeom>
          </p:spPr>
        </p:pic>
        <p:pic>
          <p:nvPicPr>
            <p:cNvPr id="38" name="object 38"/>
            <p:cNvPicPr/>
            <p:nvPr/>
          </p:nvPicPr>
          <p:blipFill>
            <a:blip r:embed="rId2" cstate="print"/>
            <a:stretch>
              <a:fillRect/>
            </a:stretch>
          </p:blipFill>
          <p:spPr>
            <a:xfrm>
              <a:off x="8196071" y="1816607"/>
              <a:ext cx="76200" cy="228600"/>
            </a:xfrm>
            <a:prstGeom prst="rect">
              <a:avLst/>
            </a:prstGeom>
          </p:spPr>
        </p:pic>
      </p:grpSp>
      <p:sp>
        <p:nvSpPr>
          <p:cNvPr id="39" name="object 39"/>
          <p:cNvSpPr/>
          <p:nvPr/>
        </p:nvSpPr>
        <p:spPr>
          <a:xfrm>
            <a:off x="3477858" y="4605617"/>
            <a:ext cx="5446059" cy="67235"/>
          </a:xfrm>
          <a:custGeom>
            <a:avLst/>
            <a:gdLst/>
            <a:ahLst/>
            <a:cxnLst/>
            <a:rect l="l" t="t" r="r" b="b"/>
            <a:pathLst>
              <a:path w="6172200" h="76200">
                <a:moveTo>
                  <a:pt x="6096000" y="76200"/>
                </a:moveTo>
                <a:lnTo>
                  <a:pt x="6096000" y="0"/>
                </a:lnTo>
                <a:lnTo>
                  <a:pt x="6153912" y="28956"/>
                </a:lnTo>
                <a:lnTo>
                  <a:pt x="6108192" y="28956"/>
                </a:lnTo>
                <a:lnTo>
                  <a:pt x="6108192" y="48768"/>
                </a:lnTo>
                <a:lnTo>
                  <a:pt x="6150864" y="48768"/>
                </a:lnTo>
                <a:lnTo>
                  <a:pt x="6096000" y="76200"/>
                </a:lnTo>
                <a:close/>
              </a:path>
              <a:path w="6172200" h="76200">
                <a:moveTo>
                  <a:pt x="6096000" y="48768"/>
                </a:moveTo>
                <a:lnTo>
                  <a:pt x="0" y="48768"/>
                </a:lnTo>
                <a:lnTo>
                  <a:pt x="0" y="28956"/>
                </a:lnTo>
                <a:lnTo>
                  <a:pt x="6096000" y="28956"/>
                </a:lnTo>
                <a:lnTo>
                  <a:pt x="6096000" y="48768"/>
                </a:lnTo>
                <a:close/>
              </a:path>
              <a:path w="6172200" h="76200">
                <a:moveTo>
                  <a:pt x="6150864" y="48768"/>
                </a:moveTo>
                <a:lnTo>
                  <a:pt x="6108192" y="48768"/>
                </a:lnTo>
                <a:lnTo>
                  <a:pt x="6108192" y="28956"/>
                </a:lnTo>
                <a:lnTo>
                  <a:pt x="6153912" y="28956"/>
                </a:lnTo>
                <a:lnTo>
                  <a:pt x="6172200" y="38100"/>
                </a:lnTo>
                <a:lnTo>
                  <a:pt x="6150864" y="48768"/>
                </a:lnTo>
                <a:close/>
              </a:path>
            </a:pathLst>
          </a:custGeom>
          <a:solidFill>
            <a:srgbClr val="3333FF"/>
          </a:solidFill>
        </p:spPr>
        <p:txBody>
          <a:bodyPr wrap="square" lIns="0" tIns="0" rIns="0" bIns="0" rtlCol="0"/>
          <a:lstStyle/>
          <a:p>
            <a:endParaRPr sz="1588"/>
          </a:p>
        </p:txBody>
      </p:sp>
      <p:grpSp>
        <p:nvGrpSpPr>
          <p:cNvPr id="40" name="object 40"/>
          <p:cNvGrpSpPr/>
          <p:nvPr/>
        </p:nvGrpSpPr>
        <p:grpSpPr>
          <a:xfrm>
            <a:off x="3579635" y="1364877"/>
            <a:ext cx="369234" cy="187138"/>
            <a:chOff x="2177319" y="1546860"/>
            <a:chExt cx="418465" cy="212090"/>
          </a:xfrm>
        </p:grpSpPr>
        <p:pic>
          <p:nvPicPr>
            <p:cNvPr id="41" name="object 41"/>
            <p:cNvPicPr/>
            <p:nvPr/>
          </p:nvPicPr>
          <p:blipFill>
            <a:blip r:embed="rId4" cstate="print"/>
            <a:stretch>
              <a:fillRect/>
            </a:stretch>
          </p:blipFill>
          <p:spPr>
            <a:xfrm>
              <a:off x="2177319" y="1548383"/>
              <a:ext cx="113918" cy="161543"/>
            </a:xfrm>
            <a:prstGeom prst="rect">
              <a:avLst/>
            </a:prstGeom>
          </p:spPr>
        </p:pic>
        <p:pic>
          <p:nvPicPr>
            <p:cNvPr id="42" name="object 42"/>
            <p:cNvPicPr/>
            <p:nvPr/>
          </p:nvPicPr>
          <p:blipFill>
            <a:blip r:embed="rId5" cstate="print"/>
            <a:stretch>
              <a:fillRect/>
            </a:stretch>
          </p:blipFill>
          <p:spPr>
            <a:xfrm>
              <a:off x="2318004" y="1546860"/>
              <a:ext cx="185923" cy="211836"/>
            </a:xfrm>
            <a:prstGeom prst="rect">
              <a:avLst/>
            </a:prstGeom>
          </p:spPr>
        </p:pic>
        <p:pic>
          <p:nvPicPr>
            <p:cNvPr id="43" name="object 43"/>
            <p:cNvPicPr/>
            <p:nvPr/>
          </p:nvPicPr>
          <p:blipFill>
            <a:blip r:embed="rId6" cstate="print"/>
            <a:stretch>
              <a:fillRect/>
            </a:stretch>
          </p:blipFill>
          <p:spPr>
            <a:xfrm>
              <a:off x="2524315" y="1546860"/>
              <a:ext cx="71056" cy="211836"/>
            </a:xfrm>
            <a:prstGeom prst="rect">
              <a:avLst/>
            </a:prstGeom>
          </p:spPr>
        </p:pic>
      </p:grpSp>
      <p:sp>
        <p:nvSpPr>
          <p:cNvPr id="44" name="object 44"/>
          <p:cNvSpPr txBox="1"/>
          <p:nvPr/>
        </p:nvSpPr>
        <p:spPr>
          <a:xfrm>
            <a:off x="2541951" y="2514154"/>
            <a:ext cx="551329" cy="201933"/>
          </a:xfrm>
          <a:prstGeom prst="rect">
            <a:avLst/>
          </a:prstGeom>
        </p:spPr>
        <p:txBody>
          <a:bodyPr vert="horz" wrap="square" lIns="0" tIns="11766" rIns="0" bIns="0" rtlCol="0">
            <a:spAutoFit/>
          </a:bodyPr>
          <a:lstStyle/>
          <a:p>
            <a:pPr marL="33619">
              <a:spcBef>
                <a:spcPts val="93"/>
              </a:spcBef>
            </a:pPr>
            <a:r>
              <a:rPr sz="1235" spc="4" dirty="0">
                <a:latin typeface="Cambria Math"/>
                <a:cs typeface="Cambria Math"/>
              </a:rPr>
              <a:t>ℎ</a:t>
            </a:r>
            <a:r>
              <a:rPr sz="1191" spc="6" baseline="-21604" dirty="0">
                <a:latin typeface="Cambria Math"/>
                <a:cs typeface="Cambria Math"/>
              </a:rPr>
              <a:t>𝑓</a:t>
            </a:r>
            <a:r>
              <a:rPr sz="1235" spc="4" dirty="0">
                <a:latin typeface="Cambria Math"/>
                <a:cs typeface="Cambria Math"/>
              </a:rPr>
              <a:t>(−1)</a:t>
            </a:r>
            <a:endParaRPr sz="1235">
              <a:latin typeface="Cambria Math"/>
              <a:cs typeface="Cambria Math"/>
            </a:endParaRPr>
          </a:p>
        </p:txBody>
      </p:sp>
      <p:grpSp>
        <p:nvGrpSpPr>
          <p:cNvPr id="45" name="object 45"/>
          <p:cNvGrpSpPr/>
          <p:nvPr/>
        </p:nvGrpSpPr>
        <p:grpSpPr>
          <a:xfrm>
            <a:off x="3640567" y="1807284"/>
            <a:ext cx="5329518" cy="600075"/>
            <a:chOff x="2246376" y="2048255"/>
            <a:chExt cx="6040120" cy="680085"/>
          </a:xfrm>
        </p:grpSpPr>
        <p:pic>
          <p:nvPicPr>
            <p:cNvPr id="46" name="object 46"/>
            <p:cNvPicPr/>
            <p:nvPr/>
          </p:nvPicPr>
          <p:blipFill>
            <a:blip r:embed="rId7" cstate="print"/>
            <a:stretch>
              <a:fillRect/>
            </a:stretch>
          </p:blipFill>
          <p:spPr>
            <a:xfrm>
              <a:off x="5486400" y="2651759"/>
              <a:ext cx="76200" cy="76200"/>
            </a:xfrm>
            <a:prstGeom prst="rect">
              <a:avLst/>
            </a:prstGeom>
          </p:spPr>
        </p:pic>
        <p:pic>
          <p:nvPicPr>
            <p:cNvPr id="47" name="object 47"/>
            <p:cNvPicPr/>
            <p:nvPr/>
          </p:nvPicPr>
          <p:blipFill>
            <a:blip r:embed="rId7" cstate="print"/>
            <a:stretch>
              <a:fillRect/>
            </a:stretch>
          </p:blipFill>
          <p:spPr>
            <a:xfrm>
              <a:off x="5334000" y="2651759"/>
              <a:ext cx="76200" cy="76200"/>
            </a:xfrm>
            <a:prstGeom prst="rect">
              <a:avLst/>
            </a:prstGeom>
          </p:spPr>
        </p:pic>
        <p:pic>
          <p:nvPicPr>
            <p:cNvPr id="48" name="object 48"/>
            <p:cNvPicPr/>
            <p:nvPr/>
          </p:nvPicPr>
          <p:blipFill>
            <a:blip r:embed="rId7" cstate="print"/>
            <a:stretch>
              <a:fillRect/>
            </a:stretch>
          </p:blipFill>
          <p:spPr>
            <a:xfrm>
              <a:off x="5181600" y="2651759"/>
              <a:ext cx="76200" cy="76200"/>
            </a:xfrm>
            <a:prstGeom prst="rect">
              <a:avLst/>
            </a:prstGeom>
          </p:spPr>
        </p:pic>
        <p:pic>
          <p:nvPicPr>
            <p:cNvPr id="49" name="object 49"/>
            <p:cNvPicPr/>
            <p:nvPr/>
          </p:nvPicPr>
          <p:blipFill>
            <a:blip r:embed="rId7" cstate="print"/>
            <a:stretch>
              <a:fillRect/>
            </a:stretch>
          </p:blipFill>
          <p:spPr>
            <a:xfrm>
              <a:off x="5029200" y="2651759"/>
              <a:ext cx="76200" cy="76200"/>
            </a:xfrm>
            <a:prstGeom prst="rect">
              <a:avLst/>
            </a:prstGeom>
          </p:spPr>
        </p:pic>
        <p:pic>
          <p:nvPicPr>
            <p:cNvPr id="50" name="object 50"/>
            <p:cNvPicPr/>
            <p:nvPr/>
          </p:nvPicPr>
          <p:blipFill>
            <a:blip r:embed="rId8" cstate="print"/>
            <a:stretch>
              <a:fillRect/>
            </a:stretch>
          </p:blipFill>
          <p:spPr>
            <a:xfrm>
              <a:off x="2246376" y="2048255"/>
              <a:ext cx="106680" cy="106679"/>
            </a:xfrm>
            <a:prstGeom prst="rect">
              <a:avLst/>
            </a:prstGeom>
          </p:spPr>
        </p:pic>
        <p:pic>
          <p:nvPicPr>
            <p:cNvPr id="51" name="object 51"/>
            <p:cNvPicPr/>
            <p:nvPr/>
          </p:nvPicPr>
          <p:blipFill>
            <a:blip r:embed="rId9" cstate="print"/>
            <a:stretch>
              <a:fillRect/>
            </a:stretch>
          </p:blipFill>
          <p:spPr>
            <a:xfrm>
              <a:off x="3454908" y="2048255"/>
              <a:ext cx="106680" cy="106679"/>
            </a:xfrm>
            <a:prstGeom prst="rect">
              <a:avLst/>
            </a:prstGeom>
          </p:spPr>
        </p:pic>
        <p:pic>
          <p:nvPicPr>
            <p:cNvPr id="52" name="object 52"/>
            <p:cNvPicPr/>
            <p:nvPr/>
          </p:nvPicPr>
          <p:blipFill>
            <a:blip r:embed="rId8" cstate="print"/>
            <a:stretch>
              <a:fillRect/>
            </a:stretch>
          </p:blipFill>
          <p:spPr>
            <a:xfrm>
              <a:off x="6932676" y="2048255"/>
              <a:ext cx="106679" cy="106679"/>
            </a:xfrm>
            <a:prstGeom prst="rect">
              <a:avLst/>
            </a:prstGeom>
          </p:spPr>
        </p:pic>
        <p:pic>
          <p:nvPicPr>
            <p:cNvPr id="53" name="object 53"/>
            <p:cNvPicPr/>
            <p:nvPr/>
          </p:nvPicPr>
          <p:blipFill>
            <a:blip r:embed="rId9" cstate="print"/>
            <a:stretch>
              <a:fillRect/>
            </a:stretch>
          </p:blipFill>
          <p:spPr>
            <a:xfrm>
              <a:off x="8179308" y="2048255"/>
              <a:ext cx="106679" cy="106679"/>
            </a:xfrm>
            <a:prstGeom prst="rect">
              <a:avLst/>
            </a:prstGeom>
          </p:spPr>
        </p:pic>
      </p:grpSp>
      <p:sp>
        <p:nvSpPr>
          <p:cNvPr id="54" name="object 54"/>
          <p:cNvSpPr txBox="1"/>
          <p:nvPr/>
        </p:nvSpPr>
        <p:spPr>
          <a:xfrm>
            <a:off x="2400311" y="4285086"/>
            <a:ext cx="4356287" cy="750824"/>
          </a:xfrm>
          <a:prstGeom prst="rect">
            <a:avLst/>
          </a:prstGeom>
        </p:spPr>
        <p:txBody>
          <a:bodyPr vert="horz" wrap="square" lIns="0" tIns="10646" rIns="0" bIns="0" rtlCol="0">
            <a:spAutoFit/>
          </a:bodyPr>
          <a:lstStyle/>
          <a:p>
            <a:pPr marL="1101597">
              <a:spcBef>
                <a:spcPts val="84"/>
              </a:spcBef>
              <a:tabLst>
                <a:tab pos="2185264" algn="l"/>
              </a:tabLst>
            </a:pPr>
            <a:r>
              <a:rPr sz="2118" spc="13" baseline="3472" dirty="0">
                <a:latin typeface="Cambria Math"/>
                <a:cs typeface="Cambria Math"/>
              </a:rPr>
              <a:t>𝑋(0)	</a:t>
            </a:r>
            <a:r>
              <a:rPr sz="1412" spc="4" dirty="0">
                <a:latin typeface="Cambria Math"/>
                <a:cs typeface="Cambria Math"/>
              </a:rPr>
              <a:t>𝑋(1)</a:t>
            </a:r>
            <a:endParaRPr sz="1412">
              <a:latin typeface="Cambria Math"/>
              <a:cs typeface="Cambria Math"/>
            </a:endParaRPr>
          </a:p>
          <a:p>
            <a:pPr>
              <a:spcBef>
                <a:spcPts val="9"/>
              </a:spcBef>
            </a:pPr>
            <a:endParaRPr sz="1809">
              <a:latin typeface="Cambria Math"/>
              <a:cs typeface="Cambria Math"/>
            </a:endParaRPr>
          </a:p>
          <a:p>
            <a:pPr marL="313781" indent="-302575">
              <a:buFont typeface="Arial"/>
              <a:buChar char="•"/>
              <a:tabLst>
                <a:tab pos="313221" algn="l"/>
                <a:tab pos="313781" algn="l"/>
              </a:tabLst>
            </a:pPr>
            <a:r>
              <a:rPr sz="1588" spc="-4" dirty="0">
                <a:latin typeface="Calibri"/>
                <a:cs typeface="Calibri"/>
              </a:rPr>
              <a:t>“Block” </a:t>
            </a:r>
            <a:r>
              <a:rPr sz="1588" spc="-9" dirty="0">
                <a:latin typeface="Calibri"/>
                <a:cs typeface="Calibri"/>
              </a:rPr>
              <a:t>performs</a:t>
            </a:r>
            <a:r>
              <a:rPr sz="1588" spc="9" dirty="0">
                <a:latin typeface="Calibri"/>
                <a:cs typeface="Calibri"/>
              </a:rPr>
              <a:t> </a:t>
            </a:r>
            <a:r>
              <a:rPr sz="1588" spc="-9" dirty="0">
                <a:latin typeface="Calibri"/>
                <a:cs typeface="Calibri"/>
              </a:rPr>
              <a:t>bidirectional</a:t>
            </a:r>
            <a:r>
              <a:rPr sz="1588" spc="26" dirty="0">
                <a:latin typeface="Calibri"/>
                <a:cs typeface="Calibri"/>
              </a:rPr>
              <a:t> </a:t>
            </a:r>
            <a:r>
              <a:rPr sz="1588" spc="-13" dirty="0">
                <a:latin typeface="Calibri"/>
                <a:cs typeface="Calibri"/>
              </a:rPr>
              <a:t>inference</a:t>
            </a:r>
            <a:r>
              <a:rPr sz="1588" spc="31" dirty="0">
                <a:latin typeface="Calibri"/>
                <a:cs typeface="Calibri"/>
              </a:rPr>
              <a:t> </a:t>
            </a:r>
            <a:r>
              <a:rPr sz="1588" dirty="0">
                <a:latin typeface="Calibri"/>
                <a:cs typeface="Calibri"/>
              </a:rPr>
              <a:t>on</a:t>
            </a:r>
            <a:r>
              <a:rPr sz="1588" spc="18" dirty="0">
                <a:latin typeface="Calibri"/>
                <a:cs typeface="Calibri"/>
              </a:rPr>
              <a:t> </a:t>
            </a:r>
            <a:r>
              <a:rPr sz="1588" spc="-4" dirty="0">
                <a:latin typeface="Calibri"/>
                <a:cs typeface="Calibri"/>
              </a:rPr>
              <a:t>input</a:t>
            </a:r>
            <a:endParaRPr sz="1588">
              <a:latin typeface="Calibri"/>
              <a:cs typeface="Calibri"/>
            </a:endParaRPr>
          </a:p>
        </p:txBody>
      </p:sp>
      <p:grpSp>
        <p:nvGrpSpPr>
          <p:cNvPr id="55" name="object 55"/>
          <p:cNvGrpSpPr/>
          <p:nvPr/>
        </p:nvGrpSpPr>
        <p:grpSpPr>
          <a:xfrm>
            <a:off x="4632539" y="1364877"/>
            <a:ext cx="369234" cy="187138"/>
            <a:chOff x="3370611" y="1546860"/>
            <a:chExt cx="418465" cy="212090"/>
          </a:xfrm>
        </p:grpSpPr>
        <p:pic>
          <p:nvPicPr>
            <p:cNvPr id="56" name="object 56"/>
            <p:cNvPicPr/>
            <p:nvPr/>
          </p:nvPicPr>
          <p:blipFill>
            <a:blip r:embed="rId4" cstate="print"/>
            <a:stretch>
              <a:fillRect/>
            </a:stretch>
          </p:blipFill>
          <p:spPr>
            <a:xfrm>
              <a:off x="3370611" y="1548383"/>
              <a:ext cx="113918" cy="161543"/>
            </a:xfrm>
            <a:prstGeom prst="rect">
              <a:avLst/>
            </a:prstGeom>
          </p:spPr>
        </p:pic>
        <p:pic>
          <p:nvPicPr>
            <p:cNvPr id="57" name="object 57"/>
            <p:cNvPicPr/>
            <p:nvPr/>
          </p:nvPicPr>
          <p:blipFill>
            <a:blip r:embed="rId10" cstate="print"/>
            <a:stretch>
              <a:fillRect/>
            </a:stretch>
          </p:blipFill>
          <p:spPr>
            <a:xfrm>
              <a:off x="3511295" y="1546860"/>
              <a:ext cx="70961" cy="211836"/>
            </a:xfrm>
            <a:prstGeom prst="rect">
              <a:avLst/>
            </a:prstGeom>
          </p:spPr>
        </p:pic>
        <p:pic>
          <p:nvPicPr>
            <p:cNvPr id="58" name="object 58"/>
            <p:cNvPicPr/>
            <p:nvPr/>
          </p:nvPicPr>
          <p:blipFill>
            <a:blip r:embed="rId11" cstate="print"/>
            <a:stretch>
              <a:fillRect/>
            </a:stretch>
          </p:blipFill>
          <p:spPr>
            <a:xfrm>
              <a:off x="3607307" y="1554480"/>
              <a:ext cx="86867" cy="153924"/>
            </a:xfrm>
            <a:prstGeom prst="rect">
              <a:avLst/>
            </a:prstGeom>
          </p:spPr>
        </p:pic>
        <p:pic>
          <p:nvPicPr>
            <p:cNvPr id="59" name="object 59"/>
            <p:cNvPicPr/>
            <p:nvPr/>
          </p:nvPicPr>
          <p:blipFill>
            <a:blip r:embed="rId6" cstate="print"/>
            <a:stretch>
              <a:fillRect/>
            </a:stretch>
          </p:blipFill>
          <p:spPr>
            <a:xfrm>
              <a:off x="3717607" y="1546860"/>
              <a:ext cx="71056" cy="211836"/>
            </a:xfrm>
            <a:prstGeom prst="rect">
              <a:avLst/>
            </a:prstGeom>
          </p:spPr>
        </p:pic>
      </p:grpSp>
      <p:sp>
        <p:nvSpPr>
          <p:cNvPr id="60" name="object 60"/>
          <p:cNvSpPr txBox="1">
            <a:spLocks noGrp="1"/>
          </p:cNvSpPr>
          <p:nvPr>
            <p:ph type="title"/>
          </p:nvPr>
        </p:nvSpPr>
        <p:spPr>
          <a:xfrm>
            <a:off x="4268053" y="369718"/>
            <a:ext cx="4049806" cy="1086878"/>
          </a:xfrm>
          <a:prstGeom prst="rect">
            <a:avLst/>
          </a:prstGeom>
        </p:spPr>
        <p:txBody>
          <a:bodyPr vert="horz" wrap="square" lIns="0" tIns="277346" rIns="0" bIns="0" rtlCol="0">
            <a:spAutoFit/>
          </a:bodyPr>
          <a:lstStyle/>
          <a:p>
            <a:pPr marL="11206">
              <a:lnSpc>
                <a:spcPct val="100000"/>
              </a:lnSpc>
              <a:spcBef>
                <a:spcPts val="2184"/>
              </a:spcBef>
            </a:pPr>
            <a:r>
              <a:rPr spc="-9" dirty="0"/>
              <a:t>Bidirectional</a:t>
            </a:r>
            <a:r>
              <a:rPr spc="-66" dirty="0"/>
              <a:t> </a:t>
            </a:r>
            <a:r>
              <a:rPr spc="9" dirty="0"/>
              <a:t>RNN</a:t>
            </a:r>
          </a:p>
          <a:p>
            <a:pPr marR="4483" algn="r">
              <a:lnSpc>
                <a:spcPct val="100000"/>
              </a:lnSpc>
              <a:spcBef>
                <a:spcPts val="754"/>
              </a:spcBef>
            </a:pPr>
            <a:r>
              <a:rPr sz="1412" b="0" dirty="0">
                <a:solidFill>
                  <a:srgbClr val="000000"/>
                </a:solidFill>
                <a:latin typeface="Cambria Math"/>
                <a:cs typeface="Cambria Math"/>
              </a:rPr>
              <a:t>ℎ(𝑇</a:t>
            </a:r>
            <a:r>
              <a:rPr sz="1412" b="0" spc="9" dirty="0">
                <a:solidFill>
                  <a:srgbClr val="000000"/>
                </a:solidFill>
                <a:latin typeface="Cambria Math"/>
                <a:cs typeface="Cambria Math"/>
              </a:rPr>
              <a:t> </a:t>
            </a:r>
            <a:r>
              <a:rPr sz="1412" b="0" spc="-4" dirty="0">
                <a:solidFill>
                  <a:srgbClr val="000000"/>
                </a:solidFill>
                <a:latin typeface="Cambria Math"/>
                <a:cs typeface="Cambria Math"/>
              </a:rPr>
              <a:t>− </a:t>
            </a:r>
            <a:r>
              <a:rPr sz="1412" b="0" spc="-9" dirty="0">
                <a:solidFill>
                  <a:srgbClr val="000000"/>
                </a:solidFill>
                <a:latin typeface="Cambria Math"/>
                <a:cs typeface="Cambria Math"/>
              </a:rPr>
              <a:t>1)</a:t>
            </a:r>
            <a:endParaRPr sz="1412">
              <a:latin typeface="Cambria Math"/>
              <a:cs typeface="Cambria Math"/>
            </a:endParaRPr>
          </a:p>
        </p:txBody>
      </p:sp>
      <p:sp>
        <p:nvSpPr>
          <p:cNvPr id="61" name="object 61"/>
          <p:cNvSpPr txBox="1"/>
          <p:nvPr/>
        </p:nvSpPr>
        <p:spPr>
          <a:xfrm>
            <a:off x="8810985" y="1324104"/>
            <a:ext cx="382681" cy="228054"/>
          </a:xfrm>
          <a:prstGeom prst="rect">
            <a:avLst/>
          </a:prstGeom>
        </p:spPr>
        <p:txBody>
          <a:bodyPr vert="horz" wrap="square" lIns="0" tIns="10646" rIns="0" bIns="0" rtlCol="0">
            <a:spAutoFit/>
          </a:bodyPr>
          <a:lstStyle/>
          <a:p>
            <a:pPr marL="11206">
              <a:spcBef>
                <a:spcPts val="84"/>
              </a:spcBef>
            </a:pPr>
            <a:r>
              <a:rPr sz="1412" spc="13" dirty="0">
                <a:latin typeface="Cambria Math"/>
                <a:cs typeface="Cambria Math"/>
              </a:rPr>
              <a:t>ℎ</a:t>
            </a:r>
            <a:r>
              <a:rPr sz="1412" spc="-9"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p:txBody>
      </p:sp>
      <p:sp>
        <p:nvSpPr>
          <p:cNvPr id="62" name="object 62"/>
          <p:cNvSpPr txBox="1"/>
          <p:nvPr/>
        </p:nvSpPr>
        <p:spPr>
          <a:xfrm>
            <a:off x="7507475" y="4291809"/>
            <a:ext cx="716056" cy="228054"/>
          </a:xfrm>
          <a:prstGeom prst="rect">
            <a:avLst/>
          </a:prstGeom>
        </p:spPr>
        <p:txBody>
          <a:bodyPr vert="horz" wrap="square" lIns="0" tIns="10646" rIns="0" bIns="0" rtlCol="0">
            <a:spAutoFit/>
          </a:bodyPr>
          <a:lstStyle/>
          <a:p>
            <a:pPr marL="11206">
              <a:spcBef>
                <a:spcPts val="84"/>
              </a:spcBef>
            </a:pPr>
            <a:r>
              <a:rPr sz="1412" spc="9" dirty="0">
                <a:latin typeface="Cambria Math"/>
                <a:cs typeface="Cambria Math"/>
              </a:rPr>
              <a:t>𝑋(𝑇</a:t>
            </a:r>
            <a:r>
              <a:rPr sz="1412" dirty="0">
                <a:latin typeface="Cambria Math"/>
                <a:cs typeface="Cambria Math"/>
              </a:rPr>
              <a:t> </a:t>
            </a:r>
            <a:r>
              <a:rPr sz="1412" spc="-4" dirty="0">
                <a:latin typeface="Cambria Math"/>
                <a:cs typeface="Cambria Math"/>
              </a:rPr>
              <a:t>−</a:t>
            </a:r>
            <a:r>
              <a:rPr sz="1412" spc="-18" dirty="0">
                <a:latin typeface="Cambria Math"/>
                <a:cs typeface="Cambria Math"/>
              </a:rPr>
              <a:t> </a:t>
            </a:r>
            <a:r>
              <a:rPr sz="1412" spc="-9" dirty="0">
                <a:latin typeface="Cambria Math"/>
                <a:cs typeface="Cambria Math"/>
              </a:rPr>
              <a:t>1)</a:t>
            </a:r>
            <a:endParaRPr sz="1412">
              <a:latin typeface="Cambria Math"/>
              <a:cs typeface="Cambria Math"/>
            </a:endParaRPr>
          </a:p>
        </p:txBody>
      </p:sp>
      <p:sp>
        <p:nvSpPr>
          <p:cNvPr id="63" name="object 63"/>
          <p:cNvSpPr txBox="1"/>
          <p:nvPr/>
        </p:nvSpPr>
        <p:spPr>
          <a:xfrm>
            <a:off x="8735124" y="4291809"/>
            <a:ext cx="402291" cy="421119"/>
          </a:xfrm>
          <a:prstGeom prst="rect">
            <a:avLst/>
          </a:prstGeom>
        </p:spPr>
        <p:txBody>
          <a:bodyPr vert="horz" wrap="square" lIns="0" tIns="10646" rIns="0" bIns="0" rtlCol="0">
            <a:spAutoFit/>
          </a:bodyPr>
          <a:lstStyle/>
          <a:p>
            <a:pPr marL="11206">
              <a:lnSpc>
                <a:spcPts val="1527"/>
              </a:lnSpc>
              <a:spcBef>
                <a:spcPts val="84"/>
              </a:spcBef>
            </a:pPr>
            <a:r>
              <a:rPr sz="1412" spc="26" dirty="0">
                <a:latin typeface="Cambria Math"/>
                <a:cs typeface="Cambria Math"/>
              </a:rPr>
              <a:t>𝑋</a:t>
            </a:r>
            <a:r>
              <a:rPr sz="1412" dirty="0">
                <a:latin typeface="Cambria Math"/>
                <a:cs typeface="Cambria Math"/>
              </a:rPr>
              <a:t>(</a:t>
            </a:r>
            <a:r>
              <a:rPr sz="1412" spc="22" dirty="0">
                <a:latin typeface="Cambria Math"/>
                <a:cs typeface="Cambria Math"/>
              </a:rPr>
              <a:t>𝑇</a:t>
            </a:r>
            <a:r>
              <a:rPr sz="1412" spc="-4" dirty="0">
                <a:latin typeface="Cambria Math"/>
                <a:cs typeface="Cambria Math"/>
              </a:rPr>
              <a:t>)</a:t>
            </a:r>
            <a:endParaRPr sz="1412">
              <a:latin typeface="Cambria Math"/>
              <a:cs typeface="Cambria Math"/>
            </a:endParaRPr>
          </a:p>
          <a:p>
            <a:pPr marR="59394" algn="r">
              <a:lnSpc>
                <a:spcPts val="1738"/>
              </a:lnSpc>
            </a:pPr>
            <a:r>
              <a:rPr sz="1588" dirty="0">
                <a:solidFill>
                  <a:srgbClr val="0000CC"/>
                </a:solidFill>
                <a:latin typeface="Calibri"/>
                <a:cs typeface="Calibri"/>
              </a:rPr>
              <a:t>t</a:t>
            </a:r>
            <a:endParaRPr sz="1588">
              <a:latin typeface="Calibri"/>
              <a:cs typeface="Calibri"/>
            </a:endParaRPr>
          </a:p>
        </p:txBody>
      </p:sp>
      <p:pic>
        <p:nvPicPr>
          <p:cNvPr id="64" name="object 64"/>
          <p:cNvPicPr/>
          <p:nvPr/>
        </p:nvPicPr>
        <p:blipFill>
          <a:blip r:embed="rId4" cstate="print"/>
          <a:stretch>
            <a:fillRect/>
          </a:stretch>
        </p:blipFill>
        <p:spPr>
          <a:xfrm>
            <a:off x="9357836" y="3665668"/>
            <a:ext cx="100517" cy="142538"/>
          </a:xfrm>
          <a:prstGeom prst="rect">
            <a:avLst/>
          </a:prstGeom>
        </p:spPr>
      </p:pic>
      <p:sp>
        <p:nvSpPr>
          <p:cNvPr id="65" name="object 65"/>
          <p:cNvSpPr txBox="1"/>
          <p:nvPr/>
        </p:nvSpPr>
        <p:spPr>
          <a:xfrm>
            <a:off x="9449288" y="3689412"/>
            <a:ext cx="111498" cy="190102"/>
          </a:xfrm>
          <a:prstGeom prst="rect">
            <a:avLst/>
          </a:prstGeom>
        </p:spPr>
        <p:txBody>
          <a:bodyPr vert="horz" wrap="square" lIns="0" tIns="13447" rIns="0" bIns="0" rtlCol="0">
            <a:spAutoFit/>
          </a:bodyPr>
          <a:lstStyle/>
          <a:p>
            <a:pPr marL="11206">
              <a:spcBef>
                <a:spcPts val="106"/>
              </a:spcBef>
            </a:pPr>
            <a:r>
              <a:rPr sz="1147" spc="66" dirty="0">
                <a:latin typeface="Cambria Math"/>
                <a:cs typeface="Cambria Math"/>
              </a:rPr>
              <a:t>b</a:t>
            </a:r>
            <a:endParaRPr sz="1147">
              <a:latin typeface="Cambria Math"/>
              <a:cs typeface="Cambria Math"/>
            </a:endParaRPr>
          </a:p>
        </p:txBody>
      </p:sp>
      <p:grpSp>
        <p:nvGrpSpPr>
          <p:cNvPr id="66" name="object 66"/>
          <p:cNvGrpSpPr/>
          <p:nvPr/>
        </p:nvGrpSpPr>
        <p:grpSpPr>
          <a:xfrm>
            <a:off x="3549127" y="3264946"/>
            <a:ext cx="6335246" cy="578224"/>
            <a:chOff x="2142744" y="3700272"/>
            <a:chExt cx="7179945" cy="655320"/>
          </a:xfrm>
        </p:grpSpPr>
        <p:sp>
          <p:nvSpPr>
            <p:cNvPr id="67" name="object 67"/>
            <p:cNvSpPr/>
            <p:nvPr/>
          </p:nvSpPr>
          <p:spPr>
            <a:xfrm>
              <a:off x="8977884" y="4143756"/>
              <a:ext cx="344805" cy="212090"/>
            </a:xfrm>
            <a:custGeom>
              <a:avLst/>
              <a:gdLst/>
              <a:ahLst/>
              <a:cxnLst/>
              <a:rect l="l" t="t" r="r" b="b"/>
              <a:pathLst>
                <a:path w="344804" h="212089">
                  <a:moveTo>
                    <a:pt x="275843" y="211836"/>
                  </a:moveTo>
                  <a:lnTo>
                    <a:pt x="274319" y="204216"/>
                  </a:lnTo>
                  <a:lnTo>
                    <a:pt x="286059" y="198524"/>
                  </a:lnTo>
                  <a:lnTo>
                    <a:pt x="296227" y="190690"/>
                  </a:lnTo>
                  <a:lnTo>
                    <a:pt x="317539" y="155733"/>
                  </a:lnTo>
                  <a:lnTo>
                    <a:pt x="324612" y="105156"/>
                  </a:lnTo>
                  <a:lnTo>
                    <a:pt x="323778" y="87463"/>
                  </a:lnTo>
                  <a:lnTo>
                    <a:pt x="312419" y="42672"/>
                  </a:lnTo>
                  <a:lnTo>
                    <a:pt x="285416" y="14597"/>
                  </a:lnTo>
                  <a:lnTo>
                    <a:pt x="272795" y="9144"/>
                  </a:lnTo>
                  <a:lnTo>
                    <a:pt x="275843" y="0"/>
                  </a:lnTo>
                  <a:lnTo>
                    <a:pt x="316991" y="24645"/>
                  </a:lnTo>
                  <a:lnTo>
                    <a:pt x="339852" y="68961"/>
                  </a:lnTo>
                  <a:lnTo>
                    <a:pt x="344424" y="106680"/>
                  </a:lnTo>
                  <a:lnTo>
                    <a:pt x="343281" y="125753"/>
                  </a:lnTo>
                  <a:lnTo>
                    <a:pt x="326136" y="175260"/>
                  </a:lnTo>
                  <a:lnTo>
                    <a:pt x="291845" y="206121"/>
                  </a:lnTo>
                  <a:lnTo>
                    <a:pt x="275843" y="211836"/>
                  </a:lnTo>
                  <a:close/>
                </a:path>
                <a:path w="344804" h="212089">
                  <a:moveTo>
                    <a:pt x="67055" y="211836"/>
                  </a:moveTo>
                  <a:lnTo>
                    <a:pt x="26765" y="187833"/>
                  </a:lnTo>
                  <a:lnTo>
                    <a:pt x="4381" y="143827"/>
                  </a:lnTo>
                  <a:lnTo>
                    <a:pt x="0" y="106680"/>
                  </a:lnTo>
                  <a:lnTo>
                    <a:pt x="1119" y="86963"/>
                  </a:lnTo>
                  <a:lnTo>
                    <a:pt x="16763" y="38100"/>
                  </a:lnTo>
                  <a:lnTo>
                    <a:pt x="51911" y="5738"/>
                  </a:lnTo>
                  <a:lnTo>
                    <a:pt x="67055" y="0"/>
                  </a:lnTo>
                  <a:lnTo>
                    <a:pt x="70103" y="9144"/>
                  </a:lnTo>
                  <a:lnTo>
                    <a:pt x="58150" y="14597"/>
                  </a:lnTo>
                  <a:lnTo>
                    <a:pt x="47624" y="21907"/>
                  </a:lnTo>
                  <a:lnTo>
                    <a:pt x="26003" y="56078"/>
                  </a:lnTo>
                  <a:lnTo>
                    <a:pt x="18287" y="105156"/>
                  </a:lnTo>
                  <a:lnTo>
                    <a:pt x="19145" y="123729"/>
                  </a:lnTo>
                  <a:lnTo>
                    <a:pt x="32003" y="169164"/>
                  </a:lnTo>
                  <a:lnTo>
                    <a:pt x="58150" y="198524"/>
                  </a:lnTo>
                  <a:lnTo>
                    <a:pt x="70103" y="204216"/>
                  </a:lnTo>
                  <a:lnTo>
                    <a:pt x="67055" y="211836"/>
                  </a:lnTo>
                  <a:close/>
                </a:path>
              </a:pathLst>
            </a:custGeom>
            <a:solidFill>
              <a:srgbClr val="000000"/>
            </a:solidFill>
          </p:spPr>
          <p:txBody>
            <a:bodyPr wrap="square" lIns="0" tIns="0" rIns="0" bIns="0" rtlCol="0"/>
            <a:lstStyle/>
            <a:p>
              <a:endParaRPr sz="1588"/>
            </a:p>
          </p:txBody>
        </p:sp>
        <p:pic>
          <p:nvPicPr>
            <p:cNvPr id="68" name="object 68"/>
            <p:cNvPicPr/>
            <p:nvPr/>
          </p:nvPicPr>
          <p:blipFill>
            <a:blip r:embed="rId12" cstate="print"/>
            <a:stretch>
              <a:fillRect/>
            </a:stretch>
          </p:blipFill>
          <p:spPr>
            <a:xfrm>
              <a:off x="9063370" y="4204716"/>
              <a:ext cx="168640" cy="90297"/>
            </a:xfrm>
            <a:prstGeom prst="rect">
              <a:avLst/>
            </a:prstGeom>
          </p:spPr>
        </p:pic>
        <p:sp>
          <p:nvSpPr>
            <p:cNvPr id="69" name="object 69"/>
            <p:cNvSpPr/>
            <p:nvPr/>
          </p:nvSpPr>
          <p:spPr>
            <a:xfrm>
              <a:off x="8386571" y="3837431"/>
              <a:ext cx="416559" cy="76200"/>
            </a:xfrm>
            <a:custGeom>
              <a:avLst/>
              <a:gdLst/>
              <a:ahLst/>
              <a:cxnLst/>
              <a:rect l="l" t="t" r="r" b="b"/>
              <a:pathLst>
                <a:path w="416559" h="76200">
                  <a:moveTo>
                    <a:pt x="76200" y="76200"/>
                  </a:moveTo>
                  <a:lnTo>
                    <a:pt x="0" y="38100"/>
                  </a:lnTo>
                  <a:lnTo>
                    <a:pt x="76200" y="0"/>
                  </a:lnTo>
                  <a:lnTo>
                    <a:pt x="76200" y="33528"/>
                  </a:lnTo>
                  <a:lnTo>
                    <a:pt x="64008" y="33528"/>
                  </a:lnTo>
                  <a:lnTo>
                    <a:pt x="64008" y="42672"/>
                  </a:lnTo>
                  <a:lnTo>
                    <a:pt x="76200" y="42672"/>
                  </a:lnTo>
                  <a:lnTo>
                    <a:pt x="76200" y="76200"/>
                  </a:lnTo>
                  <a:close/>
                </a:path>
                <a:path w="416559" h="76200">
                  <a:moveTo>
                    <a:pt x="76200" y="42672"/>
                  </a:moveTo>
                  <a:lnTo>
                    <a:pt x="64008" y="42672"/>
                  </a:lnTo>
                  <a:lnTo>
                    <a:pt x="64008" y="33528"/>
                  </a:lnTo>
                  <a:lnTo>
                    <a:pt x="76200" y="33528"/>
                  </a:lnTo>
                  <a:lnTo>
                    <a:pt x="76200" y="42672"/>
                  </a:lnTo>
                  <a:close/>
                </a:path>
                <a:path w="416559" h="76200">
                  <a:moveTo>
                    <a:pt x="416052" y="42672"/>
                  </a:moveTo>
                  <a:lnTo>
                    <a:pt x="76200" y="42672"/>
                  </a:lnTo>
                  <a:lnTo>
                    <a:pt x="76200" y="33528"/>
                  </a:lnTo>
                  <a:lnTo>
                    <a:pt x="416052" y="33528"/>
                  </a:lnTo>
                  <a:lnTo>
                    <a:pt x="416052" y="42672"/>
                  </a:lnTo>
                  <a:close/>
                </a:path>
              </a:pathLst>
            </a:custGeom>
            <a:solidFill>
              <a:srgbClr val="000000"/>
            </a:solidFill>
          </p:spPr>
          <p:txBody>
            <a:bodyPr wrap="square" lIns="0" tIns="0" rIns="0" bIns="0" rtlCol="0"/>
            <a:lstStyle/>
            <a:p>
              <a:endParaRPr sz="1588"/>
            </a:p>
          </p:txBody>
        </p:sp>
        <p:sp>
          <p:nvSpPr>
            <p:cNvPr id="70" name="object 70"/>
            <p:cNvSpPr/>
            <p:nvPr/>
          </p:nvSpPr>
          <p:spPr>
            <a:xfrm>
              <a:off x="8083296" y="3701796"/>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1" name="object 71"/>
            <p:cNvSpPr/>
            <p:nvPr/>
          </p:nvSpPr>
          <p:spPr>
            <a:xfrm>
              <a:off x="8083296" y="370179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2" name="object 72"/>
            <p:cNvSpPr/>
            <p:nvPr/>
          </p:nvSpPr>
          <p:spPr>
            <a:xfrm>
              <a:off x="6841235" y="3701796"/>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3" name="object 73"/>
            <p:cNvSpPr/>
            <p:nvPr/>
          </p:nvSpPr>
          <p:spPr>
            <a:xfrm>
              <a:off x="6841235" y="370179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4" name="object 74"/>
            <p:cNvSpPr/>
            <p:nvPr/>
          </p:nvSpPr>
          <p:spPr>
            <a:xfrm>
              <a:off x="3358896" y="3701796"/>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5" name="object 75"/>
            <p:cNvSpPr/>
            <p:nvPr/>
          </p:nvSpPr>
          <p:spPr>
            <a:xfrm>
              <a:off x="3358896" y="370179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6" name="object 76"/>
            <p:cNvSpPr/>
            <p:nvPr/>
          </p:nvSpPr>
          <p:spPr>
            <a:xfrm>
              <a:off x="2144268" y="3701796"/>
              <a:ext cx="304800" cy="304800"/>
            </a:xfrm>
            <a:custGeom>
              <a:avLst/>
              <a:gdLst/>
              <a:ahLst/>
              <a:cxnLst/>
              <a:rect l="l" t="t" r="r" b="b"/>
              <a:pathLst>
                <a:path w="304800" h="304800">
                  <a:moveTo>
                    <a:pt x="304800" y="304800"/>
                  </a:moveTo>
                  <a:lnTo>
                    <a:pt x="0" y="304800"/>
                  </a:lnTo>
                  <a:lnTo>
                    <a:pt x="0" y="0"/>
                  </a:lnTo>
                  <a:lnTo>
                    <a:pt x="304800" y="0"/>
                  </a:lnTo>
                  <a:lnTo>
                    <a:pt x="304800" y="304800"/>
                  </a:lnTo>
                  <a:close/>
                </a:path>
              </a:pathLst>
            </a:custGeom>
            <a:solidFill>
              <a:srgbClr val="91CF50"/>
            </a:solidFill>
          </p:spPr>
          <p:txBody>
            <a:bodyPr wrap="square" lIns="0" tIns="0" rIns="0" bIns="0" rtlCol="0"/>
            <a:lstStyle/>
            <a:p>
              <a:endParaRPr sz="1588"/>
            </a:p>
          </p:txBody>
        </p:sp>
        <p:sp>
          <p:nvSpPr>
            <p:cNvPr id="77" name="object 77"/>
            <p:cNvSpPr/>
            <p:nvPr/>
          </p:nvSpPr>
          <p:spPr>
            <a:xfrm>
              <a:off x="2144268" y="370179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3175">
              <a:solidFill>
                <a:srgbClr val="000000"/>
              </a:solidFill>
            </a:ln>
          </p:spPr>
          <p:txBody>
            <a:bodyPr wrap="square" lIns="0" tIns="0" rIns="0" bIns="0" rtlCol="0"/>
            <a:lstStyle/>
            <a:p>
              <a:endParaRPr sz="1588"/>
            </a:p>
          </p:txBody>
        </p:sp>
        <p:sp>
          <p:nvSpPr>
            <p:cNvPr id="78" name="object 78"/>
            <p:cNvSpPr/>
            <p:nvPr/>
          </p:nvSpPr>
          <p:spPr>
            <a:xfrm>
              <a:off x="2446007" y="3816095"/>
              <a:ext cx="5649595" cy="76200"/>
            </a:xfrm>
            <a:custGeom>
              <a:avLst/>
              <a:gdLst/>
              <a:ahLst/>
              <a:cxnLst/>
              <a:rect l="l" t="t" r="r" b="b"/>
              <a:pathLst>
                <a:path w="5649595" h="76200">
                  <a:moveTo>
                    <a:pt x="912876" y="30480"/>
                  </a:moveTo>
                  <a:lnTo>
                    <a:pt x="76200" y="30480"/>
                  </a:lnTo>
                  <a:lnTo>
                    <a:pt x="76200" y="0"/>
                  </a:lnTo>
                  <a:lnTo>
                    <a:pt x="0" y="38100"/>
                  </a:lnTo>
                  <a:lnTo>
                    <a:pt x="76200" y="76200"/>
                  </a:lnTo>
                  <a:lnTo>
                    <a:pt x="76200" y="44196"/>
                  </a:lnTo>
                  <a:lnTo>
                    <a:pt x="912876" y="44196"/>
                  </a:lnTo>
                  <a:lnTo>
                    <a:pt x="912876" y="30480"/>
                  </a:lnTo>
                  <a:close/>
                </a:path>
                <a:path w="5649595" h="76200">
                  <a:moveTo>
                    <a:pt x="1914156" y="30480"/>
                  </a:moveTo>
                  <a:lnTo>
                    <a:pt x="1299984" y="30480"/>
                  </a:lnTo>
                  <a:lnTo>
                    <a:pt x="1299984" y="0"/>
                  </a:lnTo>
                  <a:lnTo>
                    <a:pt x="1223772" y="38100"/>
                  </a:lnTo>
                  <a:lnTo>
                    <a:pt x="1299984" y="76200"/>
                  </a:lnTo>
                  <a:lnTo>
                    <a:pt x="1299984" y="44196"/>
                  </a:lnTo>
                  <a:lnTo>
                    <a:pt x="1914156" y="44196"/>
                  </a:lnTo>
                  <a:lnTo>
                    <a:pt x="1914156" y="30480"/>
                  </a:lnTo>
                  <a:close/>
                </a:path>
                <a:path w="5649595" h="76200">
                  <a:moveTo>
                    <a:pt x="4395228" y="30480"/>
                  </a:moveTo>
                  <a:lnTo>
                    <a:pt x="3781056" y="30480"/>
                  </a:lnTo>
                  <a:lnTo>
                    <a:pt x="3781056" y="0"/>
                  </a:lnTo>
                  <a:lnTo>
                    <a:pt x="3704856" y="38100"/>
                  </a:lnTo>
                  <a:lnTo>
                    <a:pt x="3781056" y="76200"/>
                  </a:lnTo>
                  <a:lnTo>
                    <a:pt x="3781056" y="44196"/>
                  </a:lnTo>
                  <a:lnTo>
                    <a:pt x="4395228" y="44196"/>
                  </a:lnTo>
                  <a:lnTo>
                    <a:pt x="4395228" y="30480"/>
                  </a:lnTo>
                  <a:close/>
                </a:path>
                <a:path w="5649595" h="76200">
                  <a:moveTo>
                    <a:pt x="5649480" y="30480"/>
                  </a:moveTo>
                  <a:lnTo>
                    <a:pt x="4776228" y="30480"/>
                  </a:lnTo>
                  <a:lnTo>
                    <a:pt x="4776228" y="0"/>
                  </a:lnTo>
                  <a:lnTo>
                    <a:pt x="4700028" y="38100"/>
                  </a:lnTo>
                  <a:lnTo>
                    <a:pt x="4776228" y="76200"/>
                  </a:lnTo>
                  <a:lnTo>
                    <a:pt x="4776228" y="44196"/>
                  </a:lnTo>
                  <a:lnTo>
                    <a:pt x="5649480" y="44196"/>
                  </a:lnTo>
                  <a:lnTo>
                    <a:pt x="5649480" y="30480"/>
                  </a:lnTo>
                  <a:close/>
                </a:path>
              </a:pathLst>
            </a:custGeom>
            <a:solidFill>
              <a:srgbClr val="000000"/>
            </a:solidFill>
          </p:spPr>
          <p:txBody>
            <a:bodyPr wrap="square" lIns="0" tIns="0" rIns="0" bIns="0" rtlCol="0"/>
            <a:lstStyle/>
            <a:p>
              <a:endParaRPr sz="1588"/>
            </a:p>
          </p:txBody>
        </p:sp>
        <p:pic>
          <p:nvPicPr>
            <p:cNvPr id="79" name="object 79"/>
            <p:cNvPicPr/>
            <p:nvPr/>
          </p:nvPicPr>
          <p:blipFill>
            <a:blip r:embed="rId13" cstate="print"/>
            <a:stretch>
              <a:fillRect/>
            </a:stretch>
          </p:blipFill>
          <p:spPr>
            <a:xfrm>
              <a:off x="5489448" y="3813048"/>
              <a:ext cx="76200" cy="76200"/>
            </a:xfrm>
            <a:prstGeom prst="rect">
              <a:avLst/>
            </a:prstGeom>
          </p:spPr>
        </p:pic>
        <p:pic>
          <p:nvPicPr>
            <p:cNvPr id="80" name="object 80"/>
            <p:cNvPicPr/>
            <p:nvPr/>
          </p:nvPicPr>
          <p:blipFill>
            <a:blip r:embed="rId13" cstate="print"/>
            <a:stretch>
              <a:fillRect/>
            </a:stretch>
          </p:blipFill>
          <p:spPr>
            <a:xfrm>
              <a:off x="5337048" y="3813048"/>
              <a:ext cx="76200" cy="76200"/>
            </a:xfrm>
            <a:prstGeom prst="rect">
              <a:avLst/>
            </a:prstGeom>
          </p:spPr>
        </p:pic>
        <p:pic>
          <p:nvPicPr>
            <p:cNvPr id="81" name="object 81"/>
            <p:cNvPicPr/>
            <p:nvPr/>
          </p:nvPicPr>
          <p:blipFill>
            <a:blip r:embed="rId13" cstate="print"/>
            <a:stretch>
              <a:fillRect/>
            </a:stretch>
          </p:blipFill>
          <p:spPr>
            <a:xfrm>
              <a:off x="5184648" y="3813048"/>
              <a:ext cx="76200" cy="76200"/>
            </a:xfrm>
            <a:prstGeom prst="rect">
              <a:avLst/>
            </a:prstGeom>
          </p:spPr>
        </p:pic>
        <p:pic>
          <p:nvPicPr>
            <p:cNvPr id="82" name="object 82"/>
            <p:cNvPicPr/>
            <p:nvPr/>
          </p:nvPicPr>
          <p:blipFill>
            <a:blip r:embed="rId13" cstate="print"/>
            <a:stretch>
              <a:fillRect/>
            </a:stretch>
          </p:blipFill>
          <p:spPr>
            <a:xfrm>
              <a:off x="5032248" y="3813048"/>
              <a:ext cx="76200" cy="76200"/>
            </a:xfrm>
            <a:prstGeom prst="rect">
              <a:avLst/>
            </a:prstGeom>
          </p:spPr>
        </p:pic>
      </p:grpSp>
      <p:sp>
        <p:nvSpPr>
          <p:cNvPr id="83" name="object 83"/>
          <p:cNvSpPr txBox="1"/>
          <p:nvPr/>
        </p:nvSpPr>
        <p:spPr>
          <a:xfrm>
            <a:off x="3675532" y="1958810"/>
            <a:ext cx="434787" cy="201933"/>
          </a:xfrm>
          <a:prstGeom prst="rect">
            <a:avLst/>
          </a:prstGeom>
        </p:spPr>
        <p:txBody>
          <a:bodyPr vert="horz" wrap="square" lIns="0" tIns="11766" rIns="0" bIns="0" rtlCol="0">
            <a:spAutoFit/>
          </a:bodyPr>
          <a:lstStyle/>
          <a:p>
            <a:pPr marL="33619">
              <a:spcBef>
                <a:spcPts val="93"/>
              </a:spcBef>
            </a:pPr>
            <a:r>
              <a:rPr sz="1235" spc="9" dirty="0">
                <a:latin typeface="Cambria Math"/>
                <a:cs typeface="Cambria Math"/>
              </a:rPr>
              <a:t>ℎ</a:t>
            </a:r>
            <a:r>
              <a:rPr sz="1191" spc="13" baseline="-21604" dirty="0">
                <a:latin typeface="Cambria Math"/>
                <a:cs typeface="Cambria Math"/>
              </a:rPr>
              <a:t>𝑓</a:t>
            </a:r>
            <a:r>
              <a:rPr sz="1235" spc="9" dirty="0">
                <a:latin typeface="Cambria Math"/>
                <a:cs typeface="Cambria Math"/>
              </a:rPr>
              <a:t>(0)</a:t>
            </a:r>
            <a:endParaRPr sz="1235">
              <a:latin typeface="Cambria Math"/>
              <a:cs typeface="Cambria Math"/>
            </a:endParaRPr>
          </a:p>
        </p:txBody>
      </p:sp>
      <p:sp>
        <p:nvSpPr>
          <p:cNvPr id="84" name="object 84"/>
          <p:cNvSpPr txBox="1"/>
          <p:nvPr/>
        </p:nvSpPr>
        <p:spPr>
          <a:xfrm>
            <a:off x="4745181" y="1958810"/>
            <a:ext cx="435349" cy="201933"/>
          </a:xfrm>
          <a:prstGeom prst="rect">
            <a:avLst/>
          </a:prstGeom>
        </p:spPr>
        <p:txBody>
          <a:bodyPr vert="horz" wrap="square" lIns="0" tIns="11766" rIns="0" bIns="0" rtlCol="0">
            <a:spAutoFit/>
          </a:bodyPr>
          <a:lstStyle/>
          <a:p>
            <a:pPr marL="33619">
              <a:spcBef>
                <a:spcPts val="93"/>
              </a:spcBef>
            </a:pPr>
            <a:r>
              <a:rPr sz="1235" spc="9" dirty="0">
                <a:latin typeface="Cambria Math"/>
                <a:cs typeface="Cambria Math"/>
              </a:rPr>
              <a:t>ℎ</a:t>
            </a:r>
            <a:r>
              <a:rPr sz="1191" spc="13" baseline="-21604" dirty="0">
                <a:latin typeface="Cambria Math"/>
                <a:cs typeface="Cambria Math"/>
              </a:rPr>
              <a:t>𝑓</a:t>
            </a:r>
            <a:r>
              <a:rPr sz="1235" spc="9" dirty="0">
                <a:latin typeface="Cambria Math"/>
                <a:cs typeface="Cambria Math"/>
              </a:rPr>
              <a:t>(1)</a:t>
            </a:r>
            <a:endParaRPr sz="1235">
              <a:latin typeface="Cambria Math"/>
              <a:cs typeface="Cambria Math"/>
            </a:endParaRPr>
          </a:p>
        </p:txBody>
      </p:sp>
      <p:sp>
        <p:nvSpPr>
          <p:cNvPr id="85" name="object 85"/>
          <p:cNvSpPr txBox="1"/>
          <p:nvPr/>
        </p:nvSpPr>
        <p:spPr>
          <a:xfrm>
            <a:off x="7797908" y="1958810"/>
            <a:ext cx="718296" cy="201933"/>
          </a:xfrm>
          <a:prstGeom prst="rect">
            <a:avLst/>
          </a:prstGeom>
        </p:spPr>
        <p:txBody>
          <a:bodyPr vert="horz" wrap="square" lIns="0" tIns="11766" rIns="0" bIns="0" rtlCol="0">
            <a:spAutoFit/>
          </a:bodyPr>
          <a:lstStyle/>
          <a:p>
            <a:pPr marL="33619">
              <a:spcBef>
                <a:spcPts val="93"/>
              </a:spcBef>
            </a:pPr>
            <a:r>
              <a:rPr sz="1235" spc="9" dirty="0">
                <a:latin typeface="Cambria Math"/>
                <a:cs typeface="Cambria Math"/>
              </a:rPr>
              <a:t>ℎ</a:t>
            </a:r>
            <a:r>
              <a:rPr sz="1191" spc="13" baseline="-21604" dirty="0">
                <a:latin typeface="Cambria Math"/>
                <a:cs typeface="Cambria Math"/>
              </a:rPr>
              <a:t>𝑓</a:t>
            </a:r>
            <a:r>
              <a:rPr sz="1235" spc="9" dirty="0">
                <a:latin typeface="Cambria Math"/>
                <a:cs typeface="Cambria Math"/>
              </a:rPr>
              <a:t>(𝑇</a:t>
            </a:r>
            <a:r>
              <a:rPr sz="1235" dirty="0">
                <a:latin typeface="Cambria Math"/>
                <a:cs typeface="Cambria Math"/>
              </a:rPr>
              <a:t> −</a:t>
            </a:r>
            <a:r>
              <a:rPr sz="1235" spc="-22" dirty="0">
                <a:latin typeface="Cambria Math"/>
                <a:cs typeface="Cambria Math"/>
              </a:rPr>
              <a:t> </a:t>
            </a:r>
            <a:r>
              <a:rPr sz="1235" spc="-4" dirty="0">
                <a:latin typeface="Cambria Math"/>
                <a:cs typeface="Cambria Math"/>
              </a:rPr>
              <a:t>1)</a:t>
            </a:r>
            <a:endParaRPr sz="1235">
              <a:latin typeface="Cambria Math"/>
              <a:cs typeface="Cambria Math"/>
            </a:endParaRPr>
          </a:p>
        </p:txBody>
      </p:sp>
      <p:sp>
        <p:nvSpPr>
          <p:cNvPr id="86" name="object 86"/>
          <p:cNvSpPr txBox="1"/>
          <p:nvPr/>
        </p:nvSpPr>
        <p:spPr>
          <a:xfrm>
            <a:off x="8905519" y="1958810"/>
            <a:ext cx="443192" cy="201933"/>
          </a:xfrm>
          <a:prstGeom prst="rect">
            <a:avLst/>
          </a:prstGeom>
        </p:spPr>
        <p:txBody>
          <a:bodyPr vert="horz" wrap="square" lIns="0" tIns="11766" rIns="0" bIns="0" rtlCol="0">
            <a:spAutoFit/>
          </a:bodyPr>
          <a:lstStyle/>
          <a:p>
            <a:pPr marL="33619">
              <a:spcBef>
                <a:spcPts val="93"/>
              </a:spcBef>
            </a:pPr>
            <a:r>
              <a:rPr sz="1235" spc="13" dirty="0">
                <a:latin typeface="Cambria Math"/>
                <a:cs typeface="Cambria Math"/>
              </a:rPr>
              <a:t>ℎ</a:t>
            </a:r>
            <a:r>
              <a:rPr sz="1191" spc="19" baseline="-21604" dirty="0">
                <a:latin typeface="Cambria Math"/>
                <a:cs typeface="Cambria Math"/>
              </a:rPr>
              <a:t>𝑓</a:t>
            </a:r>
            <a:r>
              <a:rPr sz="1235" spc="13" dirty="0">
                <a:latin typeface="Cambria Math"/>
                <a:cs typeface="Cambria Math"/>
              </a:rPr>
              <a:t>(𝑇)</a:t>
            </a:r>
            <a:endParaRPr sz="1235">
              <a:latin typeface="Cambria Math"/>
              <a:cs typeface="Cambria Math"/>
            </a:endParaRPr>
          </a:p>
        </p:txBody>
      </p:sp>
      <p:sp>
        <p:nvSpPr>
          <p:cNvPr id="87" name="object 87"/>
          <p:cNvSpPr txBox="1"/>
          <p:nvPr/>
        </p:nvSpPr>
        <p:spPr>
          <a:xfrm>
            <a:off x="3693047" y="2982152"/>
            <a:ext cx="431986" cy="201933"/>
          </a:xfrm>
          <a:prstGeom prst="rect">
            <a:avLst/>
          </a:prstGeom>
        </p:spPr>
        <p:txBody>
          <a:bodyPr vert="horz" wrap="square" lIns="0" tIns="11766" rIns="0" bIns="0" rtlCol="0">
            <a:spAutoFit/>
          </a:bodyPr>
          <a:lstStyle/>
          <a:p>
            <a:pPr marL="33619">
              <a:spcBef>
                <a:spcPts val="93"/>
              </a:spcBef>
            </a:pPr>
            <a:r>
              <a:rPr sz="1235" spc="4" dirty="0">
                <a:latin typeface="Cambria Math"/>
                <a:cs typeface="Cambria Math"/>
              </a:rPr>
              <a:t>ℎ</a:t>
            </a:r>
            <a:r>
              <a:rPr sz="1191" spc="6" baseline="-21604" dirty="0">
                <a:latin typeface="Cambria Math"/>
                <a:cs typeface="Cambria Math"/>
              </a:rPr>
              <a:t>𝑏</a:t>
            </a:r>
            <a:r>
              <a:rPr sz="1235" spc="4" dirty="0">
                <a:latin typeface="Cambria Math"/>
                <a:cs typeface="Cambria Math"/>
              </a:rPr>
              <a:t>(0)</a:t>
            </a:r>
            <a:endParaRPr sz="1235">
              <a:latin typeface="Cambria Math"/>
              <a:cs typeface="Cambria Math"/>
            </a:endParaRPr>
          </a:p>
        </p:txBody>
      </p:sp>
      <p:sp>
        <p:nvSpPr>
          <p:cNvPr id="88" name="object 88"/>
          <p:cNvSpPr txBox="1"/>
          <p:nvPr/>
        </p:nvSpPr>
        <p:spPr>
          <a:xfrm>
            <a:off x="4800913" y="2982152"/>
            <a:ext cx="431986" cy="201933"/>
          </a:xfrm>
          <a:prstGeom prst="rect">
            <a:avLst/>
          </a:prstGeom>
        </p:spPr>
        <p:txBody>
          <a:bodyPr vert="horz" wrap="square" lIns="0" tIns="11766" rIns="0" bIns="0" rtlCol="0">
            <a:spAutoFit/>
          </a:bodyPr>
          <a:lstStyle/>
          <a:p>
            <a:pPr marL="33619">
              <a:spcBef>
                <a:spcPts val="93"/>
              </a:spcBef>
            </a:pPr>
            <a:r>
              <a:rPr sz="1235" spc="4" dirty="0">
                <a:latin typeface="Cambria Math"/>
                <a:cs typeface="Cambria Math"/>
              </a:rPr>
              <a:t>ℎ</a:t>
            </a:r>
            <a:r>
              <a:rPr sz="1191" spc="6" baseline="-21604" dirty="0">
                <a:latin typeface="Cambria Math"/>
                <a:cs typeface="Cambria Math"/>
              </a:rPr>
              <a:t>𝑏</a:t>
            </a:r>
            <a:r>
              <a:rPr sz="1235" spc="4" dirty="0">
                <a:latin typeface="Cambria Math"/>
                <a:cs typeface="Cambria Math"/>
              </a:rPr>
              <a:t>(1)</a:t>
            </a:r>
            <a:endParaRPr sz="1235">
              <a:latin typeface="Cambria Math"/>
              <a:cs typeface="Cambria Math"/>
            </a:endParaRPr>
          </a:p>
        </p:txBody>
      </p:sp>
      <p:sp>
        <p:nvSpPr>
          <p:cNvPr id="89" name="object 89"/>
          <p:cNvSpPr txBox="1"/>
          <p:nvPr/>
        </p:nvSpPr>
        <p:spPr>
          <a:xfrm>
            <a:off x="7875548" y="2982152"/>
            <a:ext cx="714375" cy="201933"/>
          </a:xfrm>
          <a:prstGeom prst="rect">
            <a:avLst/>
          </a:prstGeom>
        </p:spPr>
        <p:txBody>
          <a:bodyPr vert="horz" wrap="square" lIns="0" tIns="11766" rIns="0" bIns="0" rtlCol="0">
            <a:spAutoFit/>
          </a:bodyPr>
          <a:lstStyle/>
          <a:p>
            <a:pPr marL="33619">
              <a:spcBef>
                <a:spcPts val="93"/>
              </a:spcBef>
            </a:pPr>
            <a:r>
              <a:rPr sz="1235" spc="4" dirty="0">
                <a:latin typeface="Cambria Math"/>
                <a:cs typeface="Cambria Math"/>
              </a:rPr>
              <a:t>ℎ</a:t>
            </a:r>
            <a:r>
              <a:rPr sz="1191" spc="6" baseline="-21604" dirty="0">
                <a:latin typeface="Cambria Math"/>
                <a:cs typeface="Cambria Math"/>
              </a:rPr>
              <a:t>𝑏</a:t>
            </a:r>
            <a:r>
              <a:rPr sz="1235" spc="4" dirty="0">
                <a:latin typeface="Cambria Math"/>
                <a:cs typeface="Cambria Math"/>
              </a:rPr>
              <a:t>(𝑇</a:t>
            </a:r>
            <a:r>
              <a:rPr sz="1235" dirty="0">
                <a:latin typeface="Cambria Math"/>
                <a:cs typeface="Cambria Math"/>
              </a:rPr>
              <a:t> −</a:t>
            </a:r>
            <a:r>
              <a:rPr sz="1235" spc="-22" dirty="0">
                <a:latin typeface="Cambria Math"/>
                <a:cs typeface="Cambria Math"/>
              </a:rPr>
              <a:t> </a:t>
            </a:r>
            <a:r>
              <a:rPr sz="1235" spc="-4" dirty="0">
                <a:latin typeface="Cambria Math"/>
                <a:cs typeface="Cambria Math"/>
              </a:rPr>
              <a:t>1)</a:t>
            </a:r>
            <a:endParaRPr sz="1235">
              <a:latin typeface="Cambria Math"/>
              <a:cs typeface="Cambria Math"/>
            </a:endParaRPr>
          </a:p>
        </p:txBody>
      </p:sp>
      <p:sp>
        <p:nvSpPr>
          <p:cNvPr id="90" name="object 90"/>
          <p:cNvSpPr txBox="1"/>
          <p:nvPr/>
        </p:nvSpPr>
        <p:spPr>
          <a:xfrm>
            <a:off x="8980985" y="2982152"/>
            <a:ext cx="441512" cy="201933"/>
          </a:xfrm>
          <a:prstGeom prst="rect">
            <a:avLst/>
          </a:prstGeom>
        </p:spPr>
        <p:txBody>
          <a:bodyPr vert="horz" wrap="square" lIns="0" tIns="11766" rIns="0" bIns="0" rtlCol="0">
            <a:spAutoFit/>
          </a:bodyPr>
          <a:lstStyle/>
          <a:p>
            <a:pPr marL="33619">
              <a:spcBef>
                <a:spcPts val="93"/>
              </a:spcBef>
            </a:pPr>
            <a:r>
              <a:rPr sz="1235" spc="9" dirty="0">
                <a:latin typeface="Cambria Math"/>
                <a:cs typeface="Cambria Math"/>
              </a:rPr>
              <a:t>ℎ</a:t>
            </a:r>
            <a:r>
              <a:rPr sz="1191" spc="13" baseline="-21604" dirty="0">
                <a:latin typeface="Cambria Math"/>
                <a:cs typeface="Cambria Math"/>
              </a:rPr>
              <a:t>𝑏</a:t>
            </a:r>
            <a:r>
              <a:rPr sz="1235" spc="9" dirty="0">
                <a:latin typeface="Cambria Math"/>
                <a:cs typeface="Cambria Math"/>
              </a:rPr>
              <a:t>(𝑇)</a:t>
            </a:r>
            <a:endParaRPr sz="1235">
              <a:latin typeface="Cambria Math"/>
              <a:cs typeface="Cambria Math"/>
            </a:endParaRPr>
          </a:p>
        </p:txBody>
      </p:sp>
      <p:grpSp>
        <p:nvGrpSpPr>
          <p:cNvPr id="91" name="object 91"/>
          <p:cNvGrpSpPr/>
          <p:nvPr/>
        </p:nvGrpSpPr>
        <p:grpSpPr>
          <a:xfrm>
            <a:off x="2118360" y="1729292"/>
            <a:ext cx="7956737" cy="2238935"/>
            <a:chOff x="521208" y="1959864"/>
            <a:chExt cx="9017635" cy="2537460"/>
          </a:xfrm>
        </p:grpSpPr>
        <p:sp>
          <p:nvSpPr>
            <p:cNvPr id="92" name="object 92"/>
            <p:cNvSpPr/>
            <p:nvPr/>
          </p:nvSpPr>
          <p:spPr>
            <a:xfrm>
              <a:off x="1816595" y="2133599"/>
              <a:ext cx="7001509" cy="2188845"/>
            </a:xfrm>
            <a:custGeom>
              <a:avLst/>
              <a:gdLst/>
              <a:ahLst/>
              <a:cxnLst/>
              <a:rect l="l" t="t" r="r" b="b"/>
              <a:pathLst>
                <a:path w="7001509" h="2188845">
                  <a:moveTo>
                    <a:pt x="467868" y="1571256"/>
                  </a:moveTo>
                  <a:lnTo>
                    <a:pt x="425196" y="1528584"/>
                  </a:lnTo>
                  <a:lnTo>
                    <a:pt x="382524" y="1487436"/>
                  </a:lnTo>
                  <a:lnTo>
                    <a:pt x="341376" y="1444764"/>
                  </a:lnTo>
                  <a:lnTo>
                    <a:pt x="300228" y="1403616"/>
                  </a:lnTo>
                  <a:lnTo>
                    <a:pt x="260604" y="1360944"/>
                  </a:lnTo>
                  <a:lnTo>
                    <a:pt x="222504" y="1318272"/>
                  </a:lnTo>
                  <a:lnTo>
                    <a:pt x="187452" y="1275600"/>
                  </a:lnTo>
                  <a:lnTo>
                    <a:pt x="169164" y="1254264"/>
                  </a:lnTo>
                  <a:lnTo>
                    <a:pt x="153924" y="1231404"/>
                  </a:lnTo>
                  <a:lnTo>
                    <a:pt x="137160" y="1210068"/>
                  </a:lnTo>
                  <a:lnTo>
                    <a:pt x="121920" y="1188732"/>
                  </a:lnTo>
                  <a:lnTo>
                    <a:pt x="108204" y="1165872"/>
                  </a:lnTo>
                  <a:lnTo>
                    <a:pt x="94488" y="1144536"/>
                  </a:lnTo>
                  <a:lnTo>
                    <a:pt x="82296" y="1121676"/>
                  </a:lnTo>
                  <a:lnTo>
                    <a:pt x="59436" y="1077480"/>
                  </a:lnTo>
                  <a:lnTo>
                    <a:pt x="41148" y="1031760"/>
                  </a:lnTo>
                  <a:lnTo>
                    <a:pt x="25908" y="986040"/>
                  </a:lnTo>
                  <a:lnTo>
                    <a:pt x="15240" y="938796"/>
                  </a:lnTo>
                  <a:lnTo>
                    <a:pt x="10668" y="891552"/>
                  </a:lnTo>
                  <a:lnTo>
                    <a:pt x="9144" y="867168"/>
                  </a:lnTo>
                  <a:lnTo>
                    <a:pt x="12192" y="818400"/>
                  </a:lnTo>
                  <a:lnTo>
                    <a:pt x="15240" y="792492"/>
                  </a:lnTo>
                  <a:lnTo>
                    <a:pt x="19812" y="768108"/>
                  </a:lnTo>
                  <a:lnTo>
                    <a:pt x="24384" y="742200"/>
                  </a:lnTo>
                  <a:lnTo>
                    <a:pt x="38100" y="691908"/>
                  </a:lnTo>
                  <a:lnTo>
                    <a:pt x="56388" y="640092"/>
                  </a:lnTo>
                  <a:lnTo>
                    <a:pt x="79248" y="586752"/>
                  </a:lnTo>
                  <a:lnTo>
                    <a:pt x="103632" y="534936"/>
                  </a:lnTo>
                  <a:lnTo>
                    <a:pt x="118872" y="507504"/>
                  </a:lnTo>
                  <a:lnTo>
                    <a:pt x="132588" y="480072"/>
                  </a:lnTo>
                  <a:lnTo>
                    <a:pt x="147828" y="454164"/>
                  </a:lnTo>
                  <a:lnTo>
                    <a:pt x="198120" y="371868"/>
                  </a:lnTo>
                  <a:lnTo>
                    <a:pt x="216408" y="344436"/>
                  </a:lnTo>
                  <a:lnTo>
                    <a:pt x="252984" y="288048"/>
                  </a:lnTo>
                  <a:lnTo>
                    <a:pt x="292608" y="233184"/>
                  </a:lnTo>
                  <a:lnTo>
                    <a:pt x="332232" y="176796"/>
                  </a:lnTo>
                  <a:lnTo>
                    <a:pt x="373380" y="121920"/>
                  </a:lnTo>
                  <a:lnTo>
                    <a:pt x="411721" y="69532"/>
                  </a:lnTo>
                  <a:lnTo>
                    <a:pt x="438912" y="89916"/>
                  </a:lnTo>
                  <a:lnTo>
                    <a:pt x="445287" y="54876"/>
                  </a:lnTo>
                  <a:lnTo>
                    <a:pt x="454152" y="6096"/>
                  </a:lnTo>
                  <a:lnTo>
                    <a:pt x="377952" y="44196"/>
                  </a:lnTo>
                  <a:lnTo>
                    <a:pt x="404533" y="64135"/>
                  </a:lnTo>
                  <a:lnTo>
                    <a:pt x="365760" y="115824"/>
                  </a:lnTo>
                  <a:lnTo>
                    <a:pt x="324612" y="172212"/>
                  </a:lnTo>
                  <a:lnTo>
                    <a:pt x="284988" y="227088"/>
                  </a:lnTo>
                  <a:lnTo>
                    <a:pt x="245364" y="283476"/>
                  </a:lnTo>
                  <a:lnTo>
                    <a:pt x="190500" y="365772"/>
                  </a:lnTo>
                  <a:lnTo>
                    <a:pt x="140208" y="448068"/>
                  </a:lnTo>
                  <a:lnTo>
                    <a:pt x="109728" y="502920"/>
                  </a:lnTo>
                  <a:lnTo>
                    <a:pt x="96012" y="530364"/>
                  </a:lnTo>
                  <a:lnTo>
                    <a:pt x="82296" y="556272"/>
                  </a:lnTo>
                  <a:lnTo>
                    <a:pt x="70104" y="583704"/>
                  </a:lnTo>
                  <a:lnTo>
                    <a:pt x="57912" y="609612"/>
                  </a:lnTo>
                  <a:lnTo>
                    <a:pt x="47244" y="637044"/>
                  </a:lnTo>
                  <a:lnTo>
                    <a:pt x="28956" y="688860"/>
                  </a:lnTo>
                  <a:lnTo>
                    <a:pt x="21336" y="714768"/>
                  </a:lnTo>
                  <a:lnTo>
                    <a:pt x="9144" y="766584"/>
                  </a:lnTo>
                  <a:lnTo>
                    <a:pt x="6096" y="792492"/>
                  </a:lnTo>
                  <a:lnTo>
                    <a:pt x="3048" y="816876"/>
                  </a:lnTo>
                  <a:lnTo>
                    <a:pt x="0" y="842784"/>
                  </a:lnTo>
                  <a:lnTo>
                    <a:pt x="0" y="867168"/>
                  </a:lnTo>
                  <a:lnTo>
                    <a:pt x="3048" y="915936"/>
                  </a:lnTo>
                  <a:lnTo>
                    <a:pt x="10668" y="964704"/>
                  </a:lnTo>
                  <a:lnTo>
                    <a:pt x="24384" y="1011948"/>
                  </a:lnTo>
                  <a:lnTo>
                    <a:pt x="41148" y="1057668"/>
                  </a:lnTo>
                  <a:lnTo>
                    <a:pt x="50292" y="1082052"/>
                  </a:lnTo>
                  <a:lnTo>
                    <a:pt x="62484" y="1103388"/>
                  </a:lnTo>
                  <a:lnTo>
                    <a:pt x="86868" y="1149108"/>
                  </a:lnTo>
                  <a:lnTo>
                    <a:pt x="100584" y="1171968"/>
                  </a:lnTo>
                  <a:lnTo>
                    <a:pt x="114300" y="1193304"/>
                  </a:lnTo>
                  <a:lnTo>
                    <a:pt x="129540" y="1216164"/>
                  </a:lnTo>
                  <a:lnTo>
                    <a:pt x="146304" y="1237500"/>
                  </a:lnTo>
                  <a:lnTo>
                    <a:pt x="163068" y="1260360"/>
                  </a:lnTo>
                  <a:lnTo>
                    <a:pt x="196596" y="1303032"/>
                  </a:lnTo>
                  <a:lnTo>
                    <a:pt x="252984" y="1367040"/>
                  </a:lnTo>
                  <a:lnTo>
                    <a:pt x="292608" y="1409712"/>
                  </a:lnTo>
                  <a:lnTo>
                    <a:pt x="333756" y="1452384"/>
                  </a:lnTo>
                  <a:lnTo>
                    <a:pt x="376428" y="1493532"/>
                  </a:lnTo>
                  <a:lnTo>
                    <a:pt x="419100" y="1536204"/>
                  </a:lnTo>
                  <a:lnTo>
                    <a:pt x="461772" y="1577352"/>
                  </a:lnTo>
                  <a:lnTo>
                    <a:pt x="467868" y="1571256"/>
                  </a:lnTo>
                  <a:close/>
                </a:path>
                <a:path w="7001509" h="2188845">
                  <a:moveTo>
                    <a:pt x="1053084" y="1299972"/>
                  </a:moveTo>
                  <a:lnTo>
                    <a:pt x="1050036" y="1254252"/>
                  </a:lnTo>
                  <a:lnTo>
                    <a:pt x="1045464" y="1232916"/>
                  </a:lnTo>
                  <a:lnTo>
                    <a:pt x="1040892" y="1210056"/>
                  </a:lnTo>
                  <a:lnTo>
                    <a:pt x="1024128" y="1167384"/>
                  </a:lnTo>
                  <a:lnTo>
                    <a:pt x="1004316" y="1126236"/>
                  </a:lnTo>
                  <a:lnTo>
                    <a:pt x="978408" y="1086612"/>
                  </a:lnTo>
                  <a:lnTo>
                    <a:pt x="963168" y="1068324"/>
                  </a:lnTo>
                  <a:lnTo>
                    <a:pt x="947928" y="1048512"/>
                  </a:lnTo>
                  <a:lnTo>
                    <a:pt x="931164" y="1030224"/>
                  </a:lnTo>
                  <a:lnTo>
                    <a:pt x="894588" y="993648"/>
                  </a:lnTo>
                  <a:lnTo>
                    <a:pt x="854964" y="957072"/>
                  </a:lnTo>
                  <a:lnTo>
                    <a:pt x="833628" y="940308"/>
                  </a:lnTo>
                  <a:lnTo>
                    <a:pt x="810768" y="922020"/>
                  </a:lnTo>
                  <a:lnTo>
                    <a:pt x="765048" y="888492"/>
                  </a:lnTo>
                  <a:lnTo>
                    <a:pt x="691896" y="838200"/>
                  </a:lnTo>
                  <a:lnTo>
                    <a:pt x="641604" y="806196"/>
                  </a:lnTo>
                  <a:lnTo>
                    <a:pt x="547890" y="748309"/>
                  </a:lnTo>
                  <a:lnTo>
                    <a:pt x="551586" y="742188"/>
                  </a:lnTo>
                  <a:lnTo>
                    <a:pt x="565404" y="719328"/>
                  </a:lnTo>
                  <a:lnTo>
                    <a:pt x="481584" y="713232"/>
                  </a:lnTo>
                  <a:lnTo>
                    <a:pt x="525780" y="784860"/>
                  </a:lnTo>
                  <a:lnTo>
                    <a:pt x="543204" y="756056"/>
                  </a:lnTo>
                  <a:lnTo>
                    <a:pt x="583692" y="781812"/>
                  </a:lnTo>
                  <a:lnTo>
                    <a:pt x="637032" y="813816"/>
                  </a:lnTo>
                  <a:lnTo>
                    <a:pt x="687324" y="845820"/>
                  </a:lnTo>
                  <a:lnTo>
                    <a:pt x="736092" y="879348"/>
                  </a:lnTo>
                  <a:lnTo>
                    <a:pt x="758952" y="896112"/>
                  </a:lnTo>
                  <a:lnTo>
                    <a:pt x="783336" y="912876"/>
                  </a:lnTo>
                  <a:lnTo>
                    <a:pt x="804672" y="929640"/>
                  </a:lnTo>
                  <a:lnTo>
                    <a:pt x="827532" y="947928"/>
                  </a:lnTo>
                  <a:lnTo>
                    <a:pt x="847344" y="964692"/>
                  </a:lnTo>
                  <a:lnTo>
                    <a:pt x="868680" y="982980"/>
                  </a:lnTo>
                  <a:lnTo>
                    <a:pt x="888492" y="999744"/>
                  </a:lnTo>
                  <a:lnTo>
                    <a:pt x="940308" y="1054608"/>
                  </a:lnTo>
                  <a:lnTo>
                    <a:pt x="970788" y="1092708"/>
                  </a:lnTo>
                  <a:lnTo>
                    <a:pt x="982980" y="1112520"/>
                  </a:lnTo>
                  <a:lnTo>
                    <a:pt x="995172" y="1130808"/>
                  </a:lnTo>
                  <a:lnTo>
                    <a:pt x="1016508" y="1171956"/>
                  </a:lnTo>
                  <a:lnTo>
                    <a:pt x="1036320" y="1234440"/>
                  </a:lnTo>
                  <a:lnTo>
                    <a:pt x="1042416" y="1277112"/>
                  </a:lnTo>
                  <a:lnTo>
                    <a:pt x="1042416" y="1322832"/>
                  </a:lnTo>
                  <a:lnTo>
                    <a:pt x="1039368" y="1345692"/>
                  </a:lnTo>
                  <a:lnTo>
                    <a:pt x="1030224" y="1394460"/>
                  </a:lnTo>
                  <a:lnTo>
                    <a:pt x="1022604" y="1418844"/>
                  </a:lnTo>
                  <a:lnTo>
                    <a:pt x="1013460" y="1443228"/>
                  </a:lnTo>
                  <a:lnTo>
                    <a:pt x="1004316" y="1469136"/>
                  </a:lnTo>
                  <a:lnTo>
                    <a:pt x="993648" y="1495044"/>
                  </a:lnTo>
                  <a:lnTo>
                    <a:pt x="966216" y="1546860"/>
                  </a:lnTo>
                  <a:lnTo>
                    <a:pt x="952500" y="1574292"/>
                  </a:lnTo>
                  <a:lnTo>
                    <a:pt x="918972" y="1629156"/>
                  </a:lnTo>
                  <a:lnTo>
                    <a:pt x="882396" y="1684020"/>
                  </a:lnTo>
                  <a:lnTo>
                    <a:pt x="819912" y="1769364"/>
                  </a:lnTo>
                  <a:lnTo>
                    <a:pt x="775716" y="1825752"/>
                  </a:lnTo>
                  <a:lnTo>
                    <a:pt x="751332" y="1854708"/>
                  </a:lnTo>
                  <a:lnTo>
                    <a:pt x="726948" y="1885188"/>
                  </a:lnTo>
                  <a:lnTo>
                    <a:pt x="678180" y="1943100"/>
                  </a:lnTo>
                  <a:lnTo>
                    <a:pt x="521208" y="2122932"/>
                  </a:lnTo>
                  <a:lnTo>
                    <a:pt x="466344" y="2182368"/>
                  </a:lnTo>
                  <a:lnTo>
                    <a:pt x="473964" y="2188464"/>
                  </a:lnTo>
                  <a:lnTo>
                    <a:pt x="527304" y="2129028"/>
                  </a:lnTo>
                  <a:lnTo>
                    <a:pt x="580644" y="2068068"/>
                  </a:lnTo>
                  <a:lnTo>
                    <a:pt x="633984" y="2008632"/>
                  </a:lnTo>
                  <a:lnTo>
                    <a:pt x="685800" y="1949196"/>
                  </a:lnTo>
                  <a:lnTo>
                    <a:pt x="734568" y="1891284"/>
                  </a:lnTo>
                  <a:lnTo>
                    <a:pt x="758952" y="1860804"/>
                  </a:lnTo>
                  <a:lnTo>
                    <a:pt x="783336" y="1831848"/>
                  </a:lnTo>
                  <a:lnTo>
                    <a:pt x="806196" y="1802892"/>
                  </a:lnTo>
                  <a:lnTo>
                    <a:pt x="827532" y="1773936"/>
                  </a:lnTo>
                  <a:lnTo>
                    <a:pt x="848868" y="1746504"/>
                  </a:lnTo>
                  <a:lnTo>
                    <a:pt x="870204" y="1717548"/>
                  </a:lnTo>
                  <a:lnTo>
                    <a:pt x="890016" y="1690116"/>
                  </a:lnTo>
                  <a:lnTo>
                    <a:pt x="908304" y="1661160"/>
                  </a:lnTo>
                  <a:lnTo>
                    <a:pt x="926592" y="1633728"/>
                  </a:lnTo>
                  <a:lnTo>
                    <a:pt x="960120" y="1578864"/>
                  </a:lnTo>
                  <a:lnTo>
                    <a:pt x="989076" y="1525524"/>
                  </a:lnTo>
                  <a:lnTo>
                    <a:pt x="1013460" y="1473708"/>
                  </a:lnTo>
                  <a:lnTo>
                    <a:pt x="1031748" y="1421892"/>
                  </a:lnTo>
                  <a:lnTo>
                    <a:pt x="1043940" y="1371600"/>
                  </a:lnTo>
                  <a:lnTo>
                    <a:pt x="1048512" y="1348740"/>
                  </a:lnTo>
                  <a:lnTo>
                    <a:pt x="1051560" y="1324356"/>
                  </a:lnTo>
                  <a:lnTo>
                    <a:pt x="1053084" y="1299972"/>
                  </a:lnTo>
                  <a:close/>
                </a:path>
                <a:path w="7001509" h="2188845">
                  <a:moveTo>
                    <a:pt x="1726692" y="76200"/>
                  </a:moveTo>
                  <a:lnTo>
                    <a:pt x="1720596" y="64008"/>
                  </a:lnTo>
                  <a:lnTo>
                    <a:pt x="1688592" y="0"/>
                  </a:lnTo>
                  <a:lnTo>
                    <a:pt x="1673567" y="30048"/>
                  </a:lnTo>
                  <a:lnTo>
                    <a:pt x="1677924" y="6096"/>
                  </a:lnTo>
                  <a:lnTo>
                    <a:pt x="1601724" y="44196"/>
                  </a:lnTo>
                  <a:lnTo>
                    <a:pt x="1629283" y="64871"/>
                  </a:lnTo>
                  <a:lnTo>
                    <a:pt x="1591056" y="115824"/>
                  </a:lnTo>
                  <a:lnTo>
                    <a:pt x="1549908" y="172212"/>
                  </a:lnTo>
                  <a:lnTo>
                    <a:pt x="1508760" y="227088"/>
                  </a:lnTo>
                  <a:lnTo>
                    <a:pt x="1470660" y="283476"/>
                  </a:lnTo>
                  <a:lnTo>
                    <a:pt x="1432560" y="338340"/>
                  </a:lnTo>
                  <a:lnTo>
                    <a:pt x="1415796" y="365772"/>
                  </a:lnTo>
                  <a:lnTo>
                    <a:pt x="1397508" y="393204"/>
                  </a:lnTo>
                  <a:lnTo>
                    <a:pt x="1380744" y="420636"/>
                  </a:lnTo>
                  <a:lnTo>
                    <a:pt x="1365504" y="448068"/>
                  </a:lnTo>
                  <a:lnTo>
                    <a:pt x="1348740" y="475500"/>
                  </a:lnTo>
                  <a:lnTo>
                    <a:pt x="1335024" y="502920"/>
                  </a:lnTo>
                  <a:lnTo>
                    <a:pt x="1319784" y="530364"/>
                  </a:lnTo>
                  <a:lnTo>
                    <a:pt x="1307592" y="556272"/>
                  </a:lnTo>
                  <a:lnTo>
                    <a:pt x="1283208" y="609612"/>
                  </a:lnTo>
                  <a:lnTo>
                    <a:pt x="1254252" y="688860"/>
                  </a:lnTo>
                  <a:lnTo>
                    <a:pt x="1239012" y="740676"/>
                  </a:lnTo>
                  <a:lnTo>
                    <a:pt x="1229868" y="792492"/>
                  </a:lnTo>
                  <a:lnTo>
                    <a:pt x="1225296" y="842784"/>
                  </a:lnTo>
                  <a:lnTo>
                    <a:pt x="1225296" y="891552"/>
                  </a:lnTo>
                  <a:lnTo>
                    <a:pt x="1231392" y="940320"/>
                  </a:lnTo>
                  <a:lnTo>
                    <a:pt x="1235964" y="964704"/>
                  </a:lnTo>
                  <a:lnTo>
                    <a:pt x="1242060" y="987564"/>
                  </a:lnTo>
                  <a:lnTo>
                    <a:pt x="1248156" y="1011948"/>
                  </a:lnTo>
                  <a:lnTo>
                    <a:pt x="1264920" y="1057668"/>
                  </a:lnTo>
                  <a:lnTo>
                    <a:pt x="1286256" y="1103388"/>
                  </a:lnTo>
                  <a:lnTo>
                    <a:pt x="1310640" y="1149108"/>
                  </a:lnTo>
                  <a:lnTo>
                    <a:pt x="1339596" y="1193304"/>
                  </a:lnTo>
                  <a:lnTo>
                    <a:pt x="1354836" y="1216164"/>
                  </a:lnTo>
                  <a:lnTo>
                    <a:pt x="1386840" y="1260360"/>
                  </a:lnTo>
                  <a:lnTo>
                    <a:pt x="1440180" y="1324368"/>
                  </a:lnTo>
                  <a:lnTo>
                    <a:pt x="1478280" y="1367040"/>
                  </a:lnTo>
                  <a:lnTo>
                    <a:pt x="1517904" y="1409712"/>
                  </a:lnTo>
                  <a:lnTo>
                    <a:pt x="1559052" y="1452384"/>
                  </a:lnTo>
                  <a:lnTo>
                    <a:pt x="1642872" y="1536204"/>
                  </a:lnTo>
                  <a:lnTo>
                    <a:pt x="1685544" y="1577352"/>
                  </a:lnTo>
                  <a:lnTo>
                    <a:pt x="1693164" y="1571256"/>
                  </a:lnTo>
                  <a:lnTo>
                    <a:pt x="1650492" y="1528584"/>
                  </a:lnTo>
                  <a:lnTo>
                    <a:pt x="1607820" y="1487436"/>
                  </a:lnTo>
                  <a:lnTo>
                    <a:pt x="1524000" y="1403616"/>
                  </a:lnTo>
                  <a:lnTo>
                    <a:pt x="1484376" y="1360944"/>
                  </a:lnTo>
                  <a:lnTo>
                    <a:pt x="1411224" y="1275600"/>
                  </a:lnTo>
                  <a:lnTo>
                    <a:pt x="1377696" y="1231404"/>
                  </a:lnTo>
                  <a:lnTo>
                    <a:pt x="1347216" y="1188732"/>
                  </a:lnTo>
                  <a:lnTo>
                    <a:pt x="1333500" y="1165872"/>
                  </a:lnTo>
                  <a:lnTo>
                    <a:pt x="1319784" y="1144536"/>
                  </a:lnTo>
                  <a:lnTo>
                    <a:pt x="1295400" y="1100340"/>
                  </a:lnTo>
                  <a:lnTo>
                    <a:pt x="1274064" y="1054620"/>
                  </a:lnTo>
                  <a:lnTo>
                    <a:pt x="1257300" y="1008900"/>
                  </a:lnTo>
                  <a:lnTo>
                    <a:pt x="1245108" y="961656"/>
                  </a:lnTo>
                  <a:lnTo>
                    <a:pt x="1237488" y="914412"/>
                  </a:lnTo>
                  <a:lnTo>
                    <a:pt x="1234440" y="891552"/>
                  </a:lnTo>
                  <a:lnTo>
                    <a:pt x="1234440" y="842784"/>
                  </a:lnTo>
                  <a:lnTo>
                    <a:pt x="1235964" y="818400"/>
                  </a:lnTo>
                  <a:lnTo>
                    <a:pt x="1243584" y="768108"/>
                  </a:lnTo>
                  <a:lnTo>
                    <a:pt x="1255776" y="717816"/>
                  </a:lnTo>
                  <a:lnTo>
                    <a:pt x="1271016" y="666000"/>
                  </a:lnTo>
                  <a:lnTo>
                    <a:pt x="1292352" y="614172"/>
                  </a:lnTo>
                  <a:lnTo>
                    <a:pt x="1303020" y="586752"/>
                  </a:lnTo>
                  <a:lnTo>
                    <a:pt x="1315212" y="560844"/>
                  </a:lnTo>
                  <a:lnTo>
                    <a:pt x="1328928" y="534936"/>
                  </a:lnTo>
                  <a:lnTo>
                    <a:pt x="1342644" y="507504"/>
                  </a:lnTo>
                  <a:lnTo>
                    <a:pt x="1357884" y="480072"/>
                  </a:lnTo>
                  <a:lnTo>
                    <a:pt x="1373124" y="454164"/>
                  </a:lnTo>
                  <a:lnTo>
                    <a:pt x="1388364" y="426720"/>
                  </a:lnTo>
                  <a:lnTo>
                    <a:pt x="1405128" y="399300"/>
                  </a:lnTo>
                  <a:lnTo>
                    <a:pt x="1441704" y="344436"/>
                  </a:lnTo>
                  <a:lnTo>
                    <a:pt x="1478280" y="288048"/>
                  </a:lnTo>
                  <a:lnTo>
                    <a:pt x="1516380" y="233184"/>
                  </a:lnTo>
                  <a:lnTo>
                    <a:pt x="1557528" y="176796"/>
                  </a:lnTo>
                  <a:lnTo>
                    <a:pt x="1598676" y="121920"/>
                  </a:lnTo>
                  <a:lnTo>
                    <a:pt x="1636483" y="70269"/>
                  </a:lnTo>
                  <a:lnTo>
                    <a:pt x="1662684" y="89916"/>
                  </a:lnTo>
                  <a:lnTo>
                    <a:pt x="1665173" y="76200"/>
                  </a:lnTo>
                  <a:lnTo>
                    <a:pt x="1682496" y="76200"/>
                  </a:lnTo>
                  <a:lnTo>
                    <a:pt x="1682496" y="406920"/>
                  </a:lnTo>
                  <a:lnTo>
                    <a:pt x="1696212" y="406920"/>
                  </a:lnTo>
                  <a:lnTo>
                    <a:pt x="1696212" y="76200"/>
                  </a:lnTo>
                  <a:lnTo>
                    <a:pt x="1726692" y="76200"/>
                  </a:lnTo>
                  <a:close/>
                </a:path>
                <a:path w="7001509" h="2188845">
                  <a:moveTo>
                    <a:pt x="2281440" y="1299972"/>
                  </a:moveTo>
                  <a:lnTo>
                    <a:pt x="2278392" y="1254252"/>
                  </a:lnTo>
                  <a:lnTo>
                    <a:pt x="2273820" y="1232916"/>
                  </a:lnTo>
                  <a:lnTo>
                    <a:pt x="2269248" y="1210056"/>
                  </a:lnTo>
                  <a:lnTo>
                    <a:pt x="2254008" y="1167384"/>
                  </a:lnTo>
                  <a:lnTo>
                    <a:pt x="2243340" y="1147572"/>
                  </a:lnTo>
                  <a:lnTo>
                    <a:pt x="2232672" y="1126236"/>
                  </a:lnTo>
                  <a:lnTo>
                    <a:pt x="2220480" y="1106424"/>
                  </a:lnTo>
                  <a:lnTo>
                    <a:pt x="2206764" y="1086612"/>
                  </a:lnTo>
                  <a:lnTo>
                    <a:pt x="2191524" y="1068324"/>
                  </a:lnTo>
                  <a:lnTo>
                    <a:pt x="2176284" y="1048512"/>
                  </a:lnTo>
                  <a:lnTo>
                    <a:pt x="2159520" y="1030224"/>
                  </a:lnTo>
                  <a:lnTo>
                    <a:pt x="2122944" y="993648"/>
                  </a:lnTo>
                  <a:lnTo>
                    <a:pt x="2083320" y="957072"/>
                  </a:lnTo>
                  <a:lnTo>
                    <a:pt x="2061984" y="940308"/>
                  </a:lnTo>
                  <a:lnTo>
                    <a:pt x="2039124" y="922020"/>
                  </a:lnTo>
                  <a:lnTo>
                    <a:pt x="2017788" y="905256"/>
                  </a:lnTo>
                  <a:lnTo>
                    <a:pt x="1993404" y="888492"/>
                  </a:lnTo>
                  <a:lnTo>
                    <a:pt x="1970544" y="871728"/>
                  </a:lnTo>
                  <a:lnTo>
                    <a:pt x="1920252" y="838200"/>
                  </a:lnTo>
                  <a:lnTo>
                    <a:pt x="1869960" y="806196"/>
                  </a:lnTo>
                  <a:lnTo>
                    <a:pt x="1776730" y="748626"/>
                  </a:lnTo>
                  <a:lnTo>
                    <a:pt x="1780463" y="742188"/>
                  </a:lnTo>
                  <a:lnTo>
                    <a:pt x="1793760" y="719328"/>
                  </a:lnTo>
                  <a:lnTo>
                    <a:pt x="1709940" y="713232"/>
                  </a:lnTo>
                  <a:lnTo>
                    <a:pt x="1755660" y="784860"/>
                  </a:lnTo>
                  <a:lnTo>
                    <a:pt x="1772259" y="756310"/>
                  </a:lnTo>
                  <a:lnTo>
                    <a:pt x="1865388" y="813816"/>
                  </a:lnTo>
                  <a:lnTo>
                    <a:pt x="1915680" y="845820"/>
                  </a:lnTo>
                  <a:lnTo>
                    <a:pt x="1988832" y="896112"/>
                  </a:lnTo>
                  <a:lnTo>
                    <a:pt x="2034552" y="929640"/>
                  </a:lnTo>
                  <a:lnTo>
                    <a:pt x="2055888" y="947928"/>
                  </a:lnTo>
                  <a:lnTo>
                    <a:pt x="2077224" y="964692"/>
                  </a:lnTo>
                  <a:lnTo>
                    <a:pt x="2097036" y="982980"/>
                  </a:lnTo>
                  <a:lnTo>
                    <a:pt x="2116848" y="999744"/>
                  </a:lnTo>
                  <a:lnTo>
                    <a:pt x="2135136" y="1018032"/>
                  </a:lnTo>
                  <a:lnTo>
                    <a:pt x="2168664" y="1054608"/>
                  </a:lnTo>
                  <a:lnTo>
                    <a:pt x="2199144" y="1092708"/>
                  </a:lnTo>
                  <a:lnTo>
                    <a:pt x="2223528" y="1130808"/>
                  </a:lnTo>
                  <a:lnTo>
                    <a:pt x="2235720" y="1150620"/>
                  </a:lnTo>
                  <a:lnTo>
                    <a:pt x="2252484" y="1191768"/>
                  </a:lnTo>
                  <a:lnTo>
                    <a:pt x="2269248" y="1255776"/>
                  </a:lnTo>
                  <a:lnTo>
                    <a:pt x="2270772" y="1277112"/>
                  </a:lnTo>
                  <a:lnTo>
                    <a:pt x="2270772" y="1322832"/>
                  </a:lnTo>
                  <a:lnTo>
                    <a:pt x="2267724" y="1345692"/>
                  </a:lnTo>
                  <a:lnTo>
                    <a:pt x="2258580" y="1394460"/>
                  </a:lnTo>
                  <a:lnTo>
                    <a:pt x="2250960" y="1418844"/>
                  </a:lnTo>
                  <a:lnTo>
                    <a:pt x="2241816" y="1443228"/>
                  </a:lnTo>
                  <a:lnTo>
                    <a:pt x="2232672" y="1469136"/>
                  </a:lnTo>
                  <a:lnTo>
                    <a:pt x="2222004" y="1495044"/>
                  </a:lnTo>
                  <a:lnTo>
                    <a:pt x="2194572" y="1546860"/>
                  </a:lnTo>
                  <a:lnTo>
                    <a:pt x="2180856" y="1574292"/>
                  </a:lnTo>
                  <a:lnTo>
                    <a:pt x="2147328" y="1629156"/>
                  </a:lnTo>
                  <a:lnTo>
                    <a:pt x="2110752" y="1684020"/>
                  </a:lnTo>
                  <a:lnTo>
                    <a:pt x="2048268" y="1769364"/>
                  </a:lnTo>
                  <a:lnTo>
                    <a:pt x="2004072" y="1825752"/>
                  </a:lnTo>
                  <a:lnTo>
                    <a:pt x="1979688" y="1854708"/>
                  </a:lnTo>
                  <a:lnTo>
                    <a:pt x="1956828" y="1885188"/>
                  </a:lnTo>
                  <a:lnTo>
                    <a:pt x="1749564" y="2122932"/>
                  </a:lnTo>
                  <a:lnTo>
                    <a:pt x="1694700" y="2182368"/>
                  </a:lnTo>
                  <a:lnTo>
                    <a:pt x="1702320" y="2188464"/>
                  </a:lnTo>
                  <a:lnTo>
                    <a:pt x="1755660" y="2129028"/>
                  </a:lnTo>
                  <a:lnTo>
                    <a:pt x="1809000" y="2068068"/>
                  </a:lnTo>
                  <a:lnTo>
                    <a:pt x="1862340" y="2008632"/>
                  </a:lnTo>
                  <a:lnTo>
                    <a:pt x="1914156" y="1949196"/>
                  </a:lnTo>
                  <a:lnTo>
                    <a:pt x="1962924" y="1891284"/>
                  </a:lnTo>
                  <a:lnTo>
                    <a:pt x="1987308" y="1860804"/>
                  </a:lnTo>
                  <a:lnTo>
                    <a:pt x="2011692" y="1831848"/>
                  </a:lnTo>
                  <a:lnTo>
                    <a:pt x="2034552" y="1802892"/>
                  </a:lnTo>
                  <a:lnTo>
                    <a:pt x="2055888" y="1773936"/>
                  </a:lnTo>
                  <a:lnTo>
                    <a:pt x="2077224" y="1746504"/>
                  </a:lnTo>
                  <a:lnTo>
                    <a:pt x="2098560" y="1717548"/>
                  </a:lnTo>
                  <a:lnTo>
                    <a:pt x="2118372" y="1690116"/>
                  </a:lnTo>
                  <a:lnTo>
                    <a:pt x="2138184" y="1661160"/>
                  </a:lnTo>
                  <a:lnTo>
                    <a:pt x="2154948" y="1633728"/>
                  </a:lnTo>
                  <a:lnTo>
                    <a:pt x="2173236" y="1606296"/>
                  </a:lnTo>
                  <a:lnTo>
                    <a:pt x="2203716" y="1551432"/>
                  </a:lnTo>
                  <a:lnTo>
                    <a:pt x="2241816" y="1473708"/>
                  </a:lnTo>
                  <a:lnTo>
                    <a:pt x="2260104" y="1421892"/>
                  </a:lnTo>
                  <a:lnTo>
                    <a:pt x="2273820" y="1371600"/>
                  </a:lnTo>
                  <a:lnTo>
                    <a:pt x="2279916" y="1324356"/>
                  </a:lnTo>
                  <a:lnTo>
                    <a:pt x="2281440" y="1299972"/>
                  </a:lnTo>
                  <a:close/>
                </a:path>
                <a:path w="7001509" h="2188845">
                  <a:moveTo>
                    <a:pt x="5210568" y="76200"/>
                  </a:moveTo>
                  <a:lnTo>
                    <a:pt x="5204472" y="64008"/>
                  </a:lnTo>
                  <a:lnTo>
                    <a:pt x="5172468" y="0"/>
                  </a:lnTo>
                  <a:lnTo>
                    <a:pt x="5153291" y="38354"/>
                  </a:lnTo>
                  <a:lnTo>
                    <a:pt x="5160276" y="0"/>
                  </a:lnTo>
                  <a:lnTo>
                    <a:pt x="5084076" y="38100"/>
                  </a:lnTo>
                  <a:lnTo>
                    <a:pt x="5110645" y="58039"/>
                  </a:lnTo>
                  <a:lnTo>
                    <a:pt x="5071884" y="109728"/>
                  </a:lnTo>
                  <a:lnTo>
                    <a:pt x="4989588" y="222504"/>
                  </a:lnTo>
                  <a:lnTo>
                    <a:pt x="4951488" y="277368"/>
                  </a:lnTo>
                  <a:lnTo>
                    <a:pt x="4913388" y="333756"/>
                  </a:lnTo>
                  <a:lnTo>
                    <a:pt x="4896624" y="361188"/>
                  </a:lnTo>
                  <a:lnTo>
                    <a:pt x="4878336" y="388620"/>
                  </a:lnTo>
                  <a:lnTo>
                    <a:pt x="4861572" y="416052"/>
                  </a:lnTo>
                  <a:lnTo>
                    <a:pt x="4846332" y="443484"/>
                  </a:lnTo>
                  <a:lnTo>
                    <a:pt x="4829568" y="470916"/>
                  </a:lnTo>
                  <a:lnTo>
                    <a:pt x="4788420" y="551688"/>
                  </a:lnTo>
                  <a:lnTo>
                    <a:pt x="4764036" y="605028"/>
                  </a:lnTo>
                  <a:lnTo>
                    <a:pt x="4744224" y="656844"/>
                  </a:lnTo>
                  <a:lnTo>
                    <a:pt x="4727460" y="710184"/>
                  </a:lnTo>
                  <a:lnTo>
                    <a:pt x="4721364" y="736092"/>
                  </a:lnTo>
                  <a:lnTo>
                    <a:pt x="4715268" y="760476"/>
                  </a:lnTo>
                  <a:lnTo>
                    <a:pt x="4710696" y="786384"/>
                  </a:lnTo>
                  <a:lnTo>
                    <a:pt x="4707648" y="812292"/>
                  </a:lnTo>
                  <a:lnTo>
                    <a:pt x="4706124" y="836676"/>
                  </a:lnTo>
                  <a:lnTo>
                    <a:pt x="4706124" y="886968"/>
                  </a:lnTo>
                  <a:lnTo>
                    <a:pt x="4712220" y="934212"/>
                  </a:lnTo>
                  <a:lnTo>
                    <a:pt x="4722888" y="982980"/>
                  </a:lnTo>
                  <a:lnTo>
                    <a:pt x="4738128" y="1030224"/>
                  </a:lnTo>
                  <a:lnTo>
                    <a:pt x="4756416" y="1075944"/>
                  </a:lnTo>
                  <a:lnTo>
                    <a:pt x="4779276" y="1121664"/>
                  </a:lnTo>
                  <a:lnTo>
                    <a:pt x="4806708" y="1165860"/>
                  </a:lnTo>
                  <a:lnTo>
                    <a:pt x="4820424" y="1188720"/>
                  </a:lnTo>
                  <a:lnTo>
                    <a:pt x="4835664" y="1210056"/>
                  </a:lnTo>
                  <a:lnTo>
                    <a:pt x="4850904" y="1232916"/>
                  </a:lnTo>
                  <a:lnTo>
                    <a:pt x="4867668" y="1254252"/>
                  </a:lnTo>
                  <a:lnTo>
                    <a:pt x="4885956" y="1275588"/>
                  </a:lnTo>
                  <a:lnTo>
                    <a:pt x="4902720" y="1296924"/>
                  </a:lnTo>
                  <a:lnTo>
                    <a:pt x="4921008" y="1319784"/>
                  </a:lnTo>
                  <a:lnTo>
                    <a:pt x="4959108" y="1362456"/>
                  </a:lnTo>
                  <a:lnTo>
                    <a:pt x="5081028" y="1488948"/>
                  </a:lnTo>
                  <a:lnTo>
                    <a:pt x="5167896" y="1572768"/>
                  </a:lnTo>
                  <a:lnTo>
                    <a:pt x="5173992" y="1565148"/>
                  </a:lnTo>
                  <a:lnTo>
                    <a:pt x="5131320" y="1524000"/>
                  </a:lnTo>
                  <a:lnTo>
                    <a:pt x="5088648" y="1481328"/>
                  </a:lnTo>
                  <a:lnTo>
                    <a:pt x="5045976" y="1440180"/>
                  </a:lnTo>
                  <a:lnTo>
                    <a:pt x="4966728" y="1354836"/>
                  </a:lnTo>
                  <a:lnTo>
                    <a:pt x="4928628" y="1312164"/>
                  </a:lnTo>
                  <a:lnTo>
                    <a:pt x="4892052" y="1269492"/>
                  </a:lnTo>
                  <a:lnTo>
                    <a:pt x="4858524" y="1226820"/>
                  </a:lnTo>
                  <a:lnTo>
                    <a:pt x="4828044" y="1182624"/>
                  </a:lnTo>
                  <a:lnTo>
                    <a:pt x="4800612" y="1138428"/>
                  </a:lnTo>
                  <a:lnTo>
                    <a:pt x="4776228" y="1094232"/>
                  </a:lnTo>
                  <a:lnTo>
                    <a:pt x="4754892" y="1048512"/>
                  </a:lnTo>
                  <a:lnTo>
                    <a:pt x="4747272" y="1025652"/>
                  </a:lnTo>
                  <a:lnTo>
                    <a:pt x="4738128" y="1002792"/>
                  </a:lnTo>
                  <a:lnTo>
                    <a:pt x="4725936" y="957072"/>
                  </a:lnTo>
                  <a:lnTo>
                    <a:pt x="4721364" y="932688"/>
                  </a:lnTo>
                  <a:lnTo>
                    <a:pt x="4718316" y="909828"/>
                  </a:lnTo>
                  <a:lnTo>
                    <a:pt x="4715268" y="861060"/>
                  </a:lnTo>
                  <a:lnTo>
                    <a:pt x="4715268" y="836676"/>
                  </a:lnTo>
                  <a:lnTo>
                    <a:pt x="4721364" y="787908"/>
                  </a:lnTo>
                  <a:lnTo>
                    <a:pt x="4724412" y="762000"/>
                  </a:lnTo>
                  <a:lnTo>
                    <a:pt x="4730508" y="737616"/>
                  </a:lnTo>
                  <a:lnTo>
                    <a:pt x="4736604" y="711708"/>
                  </a:lnTo>
                  <a:lnTo>
                    <a:pt x="4744224" y="685800"/>
                  </a:lnTo>
                  <a:lnTo>
                    <a:pt x="4762512" y="633984"/>
                  </a:lnTo>
                  <a:lnTo>
                    <a:pt x="4783848" y="582168"/>
                  </a:lnTo>
                  <a:lnTo>
                    <a:pt x="4796040" y="554736"/>
                  </a:lnTo>
                  <a:lnTo>
                    <a:pt x="4809756" y="528828"/>
                  </a:lnTo>
                  <a:lnTo>
                    <a:pt x="4823472" y="501396"/>
                  </a:lnTo>
                  <a:lnTo>
                    <a:pt x="4838712" y="475488"/>
                  </a:lnTo>
                  <a:lnTo>
                    <a:pt x="4853952" y="448056"/>
                  </a:lnTo>
                  <a:lnTo>
                    <a:pt x="4904244" y="365760"/>
                  </a:lnTo>
                  <a:lnTo>
                    <a:pt x="4959108" y="283464"/>
                  </a:lnTo>
                  <a:lnTo>
                    <a:pt x="4998732" y="227076"/>
                  </a:lnTo>
                  <a:lnTo>
                    <a:pt x="5038356" y="172212"/>
                  </a:lnTo>
                  <a:lnTo>
                    <a:pt x="5079504" y="115824"/>
                  </a:lnTo>
                  <a:lnTo>
                    <a:pt x="5118455" y="63893"/>
                  </a:lnTo>
                  <a:lnTo>
                    <a:pt x="5134495" y="75933"/>
                  </a:lnTo>
                  <a:lnTo>
                    <a:pt x="5134368" y="76200"/>
                  </a:lnTo>
                  <a:lnTo>
                    <a:pt x="5134864" y="76200"/>
                  </a:lnTo>
                  <a:lnTo>
                    <a:pt x="5145036" y="83820"/>
                  </a:lnTo>
                  <a:lnTo>
                    <a:pt x="5146408" y="76200"/>
                  </a:lnTo>
                  <a:lnTo>
                    <a:pt x="5164848" y="76200"/>
                  </a:lnTo>
                  <a:lnTo>
                    <a:pt x="5164848" y="406920"/>
                  </a:lnTo>
                  <a:lnTo>
                    <a:pt x="5178564" y="406920"/>
                  </a:lnTo>
                  <a:lnTo>
                    <a:pt x="5178564" y="76200"/>
                  </a:lnTo>
                  <a:lnTo>
                    <a:pt x="5210568" y="76200"/>
                  </a:lnTo>
                  <a:close/>
                </a:path>
                <a:path w="7001509" h="2188845">
                  <a:moveTo>
                    <a:pt x="5769864" y="1277112"/>
                  </a:moveTo>
                  <a:lnTo>
                    <a:pt x="5763768" y="1232916"/>
                  </a:lnTo>
                  <a:lnTo>
                    <a:pt x="5751576" y="1188720"/>
                  </a:lnTo>
                  <a:lnTo>
                    <a:pt x="5733288" y="1147572"/>
                  </a:lnTo>
                  <a:lnTo>
                    <a:pt x="5708904" y="1106424"/>
                  </a:lnTo>
                  <a:lnTo>
                    <a:pt x="5681472" y="1068324"/>
                  </a:lnTo>
                  <a:lnTo>
                    <a:pt x="5631180" y="1011936"/>
                  </a:lnTo>
                  <a:lnTo>
                    <a:pt x="5611368" y="993648"/>
                  </a:lnTo>
                  <a:lnTo>
                    <a:pt x="5593080" y="975360"/>
                  </a:lnTo>
                  <a:lnTo>
                    <a:pt x="5571744" y="957072"/>
                  </a:lnTo>
                  <a:lnTo>
                    <a:pt x="5550408" y="940308"/>
                  </a:lnTo>
                  <a:lnTo>
                    <a:pt x="5529072" y="922020"/>
                  </a:lnTo>
                  <a:lnTo>
                    <a:pt x="5483352" y="888492"/>
                  </a:lnTo>
                  <a:lnTo>
                    <a:pt x="5410200" y="838200"/>
                  </a:lnTo>
                  <a:lnTo>
                    <a:pt x="5265775" y="748995"/>
                  </a:lnTo>
                  <a:lnTo>
                    <a:pt x="5269890" y="742188"/>
                  </a:lnTo>
                  <a:lnTo>
                    <a:pt x="5283708" y="719328"/>
                  </a:lnTo>
                  <a:lnTo>
                    <a:pt x="5198364" y="713232"/>
                  </a:lnTo>
                  <a:lnTo>
                    <a:pt x="5244084" y="784860"/>
                  </a:lnTo>
                  <a:lnTo>
                    <a:pt x="5261178" y="756602"/>
                  </a:lnTo>
                  <a:lnTo>
                    <a:pt x="5353812" y="813816"/>
                  </a:lnTo>
                  <a:lnTo>
                    <a:pt x="5404104" y="845820"/>
                  </a:lnTo>
                  <a:lnTo>
                    <a:pt x="5477256" y="896112"/>
                  </a:lnTo>
                  <a:lnTo>
                    <a:pt x="5522976" y="929640"/>
                  </a:lnTo>
                  <a:lnTo>
                    <a:pt x="5544312" y="947928"/>
                  </a:lnTo>
                  <a:lnTo>
                    <a:pt x="5565648" y="964692"/>
                  </a:lnTo>
                  <a:lnTo>
                    <a:pt x="5585460" y="982980"/>
                  </a:lnTo>
                  <a:lnTo>
                    <a:pt x="5605272" y="999744"/>
                  </a:lnTo>
                  <a:lnTo>
                    <a:pt x="5641848" y="1036320"/>
                  </a:lnTo>
                  <a:lnTo>
                    <a:pt x="5673852" y="1072896"/>
                  </a:lnTo>
                  <a:lnTo>
                    <a:pt x="5701284" y="1112520"/>
                  </a:lnTo>
                  <a:lnTo>
                    <a:pt x="5724144" y="1150620"/>
                  </a:lnTo>
                  <a:lnTo>
                    <a:pt x="5733288" y="1171956"/>
                  </a:lnTo>
                  <a:lnTo>
                    <a:pt x="5742432" y="1191768"/>
                  </a:lnTo>
                  <a:lnTo>
                    <a:pt x="5754624" y="1234440"/>
                  </a:lnTo>
                  <a:lnTo>
                    <a:pt x="5757672" y="1255776"/>
                  </a:lnTo>
                  <a:lnTo>
                    <a:pt x="5759196" y="1277112"/>
                  </a:lnTo>
                  <a:lnTo>
                    <a:pt x="5760720" y="1299972"/>
                  </a:lnTo>
                  <a:lnTo>
                    <a:pt x="5757672" y="1345692"/>
                  </a:lnTo>
                  <a:lnTo>
                    <a:pt x="5740908" y="1418844"/>
                  </a:lnTo>
                  <a:lnTo>
                    <a:pt x="5710428" y="1495044"/>
                  </a:lnTo>
                  <a:lnTo>
                    <a:pt x="5684520" y="1546860"/>
                  </a:lnTo>
                  <a:lnTo>
                    <a:pt x="5654040" y="1601724"/>
                  </a:lnTo>
                  <a:lnTo>
                    <a:pt x="5618988" y="1656588"/>
                  </a:lnTo>
                  <a:lnTo>
                    <a:pt x="5579364" y="1711452"/>
                  </a:lnTo>
                  <a:lnTo>
                    <a:pt x="5559552" y="1740408"/>
                  </a:lnTo>
                  <a:lnTo>
                    <a:pt x="5538216" y="1769364"/>
                  </a:lnTo>
                  <a:lnTo>
                    <a:pt x="5515356" y="1796796"/>
                  </a:lnTo>
                  <a:lnTo>
                    <a:pt x="5469636" y="1854708"/>
                  </a:lnTo>
                  <a:lnTo>
                    <a:pt x="5445252" y="1885188"/>
                  </a:lnTo>
                  <a:lnTo>
                    <a:pt x="5394960" y="1943100"/>
                  </a:lnTo>
                  <a:lnTo>
                    <a:pt x="5344668" y="2002536"/>
                  </a:lnTo>
                  <a:lnTo>
                    <a:pt x="5291328" y="2061972"/>
                  </a:lnTo>
                  <a:lnTo>
                    <a:pt x="5237988" y="2122932"/>
                  </a:lnTo>
                  <a:lnTo>
                    <a:pt x="5184648" y="2182368"/>
                  </a:lnTo>
                  <a:lnTo>
                    <a:pt x="5245608" y="2129028"/>
                  </a:lnTo>
                  <a:lnTo>
                    <a:pt x="5452872" y="1891284"/>
                  </a:lnTo>
                  <a:lnTo>
                    <a:pt x="5477256" y="1860804"/>
                  </a:lnTo>
                  <a:lnTo>
                    <a:pt x="5545836" y="1773936"/>
                  </a:lnTo>
                  <a:lnTo>
                    <a:pt x="5586984" y="1717548"/>
                  </a:lnTo>
                  <a:lnTo>
                    <a:pt x="5608320" y="1690116"/>
                  </a:lnTo>
                  <a:lnTo>
                    <a:pt x="5626608" y="1661160"/>
                  </a:lnTo>
                  <a:lnTo>
                    <a:pt x="5644896" y="1633728"/>
                  </a:lnTo>
                  <a:lnTo>
                    <a:pt x="5678424" y="1578864"/>
                  </a:lnTo>
                  <a:lnTo>
                    <a:pt x="5692140" y="1551432"/>
                  </a:lnTo>
                  <a:lnTo>
                    <a:pt x="5719572" y="1499616"/>
                  </a:lnTo>
                  <a:lnTo>
                    <a:pt x="5740908" y="1447800"/>
                  </a:lnTo>
                  <a:lnTo>
                    <a:pt x="5748528" y="1421892"/>
                  </a:lnTo>
                  <a:lnTo>
                    <a:pt x="5756148" y="1397508"/>
                  </a:lnTo>
                  <a:lnTo>
                    <a:pt x="5762244" y="1371600"/>
                  </a:lnTo>
                  <a:lnTo>
                    <a:pt x="5766816" y="1348740"/>
                  </a:lnTo>
                  <a:lnTo>
                    <a:pt x="5769864" y="1324356"/>
                  </a:lnTo>
                  <a:lnTo>
                    <a:pt x="5769864" y="1277112"/>
                  </a:lnTo>
                  <a:close/>
                </a:path>
                <a:path w="7001509" h="2188845">
                  <a:moveTo>
                    <a:pt x="6451092" y="76200"/>
                  </a:moveTo>
                  <a:lnTo>
                    <a:pt x="6444996" y="64008"/>
                  </a:lnTo>
                  <a:lnTo>
                    <a:pt x="6412992" y="0"/>
                  </a:lnTo>
                  <a:lnTo>
                    <a:pt x="6410604" y="4762"/>
                  </a:lnTo>
                  <a:lnTo>
                    <a:pt x="6411481" y="0"/>
                  </a:lnTo>
                  <a:lnTo>
                    <a:pt x="6335281" y="38100"/>
                  </a:lnTo>
                  <a:lnTo>
                    <a:pt x="6361849" y="58039"/>
                  </a:lnTo>
                  <a:lnTo>
                    <a:pt x="6323089" y="109728"/>
                  </a:lnTo>
                  <a:lnTo>
                    <a:pt x="6281940" y="166116"/>
                  </a:lnTo>
                  <a:lnTo>
                    <a:pt x="6242316" y="222504"/>
                  </a:lnTo>
                  <a:lnTo>
                    <a:pt x="6202692" y="277368"/>
                  </a:lnTo>
                  <a:lnTo>
                    <a:pt x="6166116" y="333756"/>
                  </a:lnTo>
                  <a:lnTo>
                    <a:pt x="6129540" y="388620"/>
                  </a:lnTo>
                  <a:lnTo>
                    <a:pt x="6112776" y="416052"/>
                  </a:lnTo>
                  <a:lnTo>
                    <a:pt x="6082296" y="470916"/>
                  </a:lnTo>
                  <a:lnTo>
                    <a:pt x="6067056" y="496824"/>
                  </a:lnTo>
                  <a:lnTo>
                    <a:pt x="6039624" y="551688"/>
                  </a:lnTo>
                  <a:lnTo>
                    <a:pt x="6015240" y="605028"/>
                  </a:lnTo>
                  <a:lnTo>
                    <a:pt x="5995428" y="656844"/>
                  </a:lnTo>
                  <a:lnTo>
                    <a:pt x="5978664" y="710184"/>
                  </a:lnTo>
                  <a:lnTo>
                    <a:pt x="5972568" y="736092"/>
                  </a:lnTo>
                  <a:lnTo>
                    <a:pt x="5966472" y="760476"/>
                  </a:lnTo>
                  <a:lnTo>
                    <a:pt x="5961900" y="786384"/>
                  </a:lnTo>
                  <a:lnTo>
                    <a:pt x="5958852" y="812292"/>
                  </a:lnTo>
                  <a:lnTo>
                    <a:pt x="5957328" y="836676"/>
                  </a:lnTo>
                  <a:lnTo>
                    <a:pt x="5957328" y="886968"/>
                  </a:lnTo>
                  <a:lnTo>
                    <a:pt x="5963424" y="934212"/>
                  </a:lnTo>
                  <a:lnTo>
                    <a:pt x="5974092" y="982980"/>
                  </a:lnTo>
                  <a:lnTo>
                    <a:pt x="5989332" y="1030224"/>
                  </a:lnTo>
                  <a:lnTo>
                    <a:pt x="6007620" y="1075944"/>
                  </a:lnTo>
                  <a:lnTo>
                    <a:pt x="6030480" y="1121664"/>
                  </a:lnTo>
                  <a:lnTo>
                    <a:pt x="6057912" y="1165860"/>
                  </a:lnTo>
                  <a:lnTo>
                    <a:pt x="6071628" y="1188720"/>
                  </a:lnTo>
                  <a:lnTo>
                    <a:pt x="6086868" y="1210056"/>
                  </a:lnTo>
                  <a:lnTo>
                    <a:pt x="6102108" y="1232916"/>
                  </a:lnTo>
                  <a:lnTo>
                    <a:pt x="6118872" y="1254252"/>
                  </a:lnTo>
                  <a:lnTo>
                    <a:pt x="6137160" y="1275588"/>
                  </a:lnTo>
                  <a:lnTo>
                    <a:pt x="6153924" y="1296924"/>
                  </a:lnTo>
                  <a:lnTo>
                    <a:pt x="6172212" y="1319784"/>
                  </a:lnTo>
                  <a:lnTo>
                    <a:pt x="6210312" y="1362456"/>
                  </a:lnTo>
                  <a:lnTo>
                    <a:pt x="6291084" y="1446276"/>
                  </a:lnTo>
                  <a:lnTo>
                    <a:pt x="6374905" y="1530096"/>
                  </a:lnTo>
                  <a:lnTo>
                    <a:pt x="6419101" y="1572768"/>
                  </a:lnTo>
                  <a:lnTo>
                    <a:pt x="6425197" y="1565148"/>
                  </a:lnTo>
                  <a:lnTo>
                    <a:pt x="6382525" y="1524000"/>
                  </a:lnTo>
                  <a:lnTo>
                    <a:pt x="6339853" y="1481328"/>
                  </a:lnTo>
                  <a:lnTo>
                    <a:pt x="6297180" y="1440180"/>
                  </a:lnTo>
                  <a:lnTo>
                    <a:pt x="6217932" y="1354836"/>
                  </a:lnTo>
                  <a:lnTo>
                    <a:pt x="6179832" y="1312164"/>
                  </a:lnTo>
                  <a:lnTo>
                    <a:pt x="6143256" y="1269492"/>
                  </a:lnTo>
                  <a:lnTo>
                    <a:pt x="6109728" y="1226820"/>
                  </a:lnTo>
                  <a:lnTo>
                    <a:pt x="6079248" y="1182624"/>
                  </a:lnTo>
                  <a:lnTo>
                    <a:pt x="6051816" y="1138428"/>
                  </a:lnTo>
                  <a:lnTo>
                    <a:pt x="6027432" y="1094232"/>
                  </a:lnTo>
                  <a:lnTo>
                    <a:pt x="6006096" y="1048512"/>
                  </a:lnTo>
                  <a:lnTo>
                    <a:pt x="5998476" y="1025652"/>
                  </a:lnTo>
                  <a:lnTo>
                    <a:pt x="5989332" y="1002792"/>
                  </a:lnTo>
                  <a:lnTo>
                    <a:pt x="5977140" y="957072"/>
                  </a:lnTo>
                  <a:lnTo>
                    <a:pt x="5972568" y="932688"/>
                  </a:lnTo>
                  <a:lnTo>
                    <a:pt x="5969520" y="909828"/>
                  </a:lnTo>
                  <a:lnTo>
                    <a:pt x="5966472" y="861060"/>
                  </a:lnTo>
                  <a:lnTo>
                    <a:pt x="5966472" y="836676"/>
                  </a:lnTo>
                  <a:lnTo>
                    <a:pt x="5972568" y="787908"/>
                  </a:lnTo>
                  <a:lnTo>
                    <a:pt x="5975616" y="762000"/>
                  </a:lnTo>
                  <a:lnTo>
                    <a:pt x="5981712" y="737616"/>
                  </a:lnTo>
                  <a:lnTo>
                    <a:pt x="5987808" y="711708"/>
                  </a:lnTo>
                  <a:lnTo>
                    <a:pt x="5995428" y="685800"/>
                  </a:lnTo>
                  <a:lnTo>
                    <a:pt x="6013716" y="633984"/>
                  </a:lnTo>
                  <a:lnTo>
                    <a:pt x="6035052" y="582168"/>
                  </a:lnTo>
                  <a:lnTo>
                    <a:pt x="6048768" y="554736"/>
                  </a:lnTo>
                  <a:lnTo>
                    <a:pt x="6060960" y="528828"/>
                  </a:lnTo>
                  <a:lnTo>
                    <a:pt x="6074676" y="501396"/>
                  </a:lnTo>
                  <a:lnTo>
                    <a:pt x="6089916" y="475488"/>
                  </a:lnTo>
                  <a:lnTo>
                    <a:pt x="6105156" y="448056"/>
                  </a:lnTo>
                  <a:lnTo>
                    <a:pt x="6155448" y="365760"/>
                  </a:lnTo>
                  <a:lnTo>
                    <a:pt x="6210312" y="283464"/>
                  </a:lnTo>
                  <a:lnTo>
                    <a:pt x="6249936" y="227076"/>
                  </a:lnTo>
                  <a:lnTo>
                    <a:pt x="6289560" y="172212"/>
                  </a:lnTo>
                  <a:lnTo>
                    <a:pt x="6330709" y="115824"/>
                  </a:lnTo>
                  <a:lnTo>
                    <a:pt x="6369659" y="63893"/>
                  </a:lnTo>
                  <a:lnTo>
                    <a:pt x="6377940" y="70104"/>
                  </a:lnTo>
                  <a:lnTo>
                    <a:pt x="6374892" y="76200"/>
                  </a:lnTo>
                  <a:lnTo>
                    <a:pt x="6386068" y="76200"/>
                  </a:lnTo>
                  <a:lnTo>
                    <a:pt x="6396241" y="83820"/>
                  </a:lnTo>
                  <a:lnTo>
                    <a:pt x="6397612" y="76200"/>
                  </a:lnTo>
                  <a:lnTo>
                    <a:pt x="6406896" y="76200"/>
                  </a:lnTo>
                  <a:lnTo>
                    <a:pt x="6406896" y="406920"/>
                  </a:lnTo>
                  <a:lnTo>
                    <a:pt x="6420612" y="406920"/>
                  </a:lnTo>
                  <a:lnTo>
                    <a:pt x="6420612" y="76200"/>
                  </a:lnTo>
                  <a:lnTo>
                    <a:pt x="6451092" y="76200"/>
                  </a:lnTo>
                  <a:close/>
                </a:path>
                <a:path w="7001509" h="2188845">
                  <a:moveTo>
                    <a:pt x="7001269" y="1277112"/>
                  </a:moveTo>
                  <a:lnTo>
                    <a:pt x="6995173" y="1232916"/>
                  </a:lnTo>
                  <a:lnTo>
                    <a:pt x="6973837" y="1167384"/>
                  </a:lnTo>
                  <a:lnTo>
                    <a:pt x="6952501" y="1126236"/>
                  </a:lnTo>
                  <a:lnTo>
                    <a:pt x="6926593" y="1086612"/>
                  </a:lnTo>
                  <a:lnTo>
                    <a:pt x="6896113" y="1048512"/>
                  </a:lnTo>
                  <a:lnTo>
                    <a:pt x="6862585" y="1011936"/>
                  </a:lnTo>
                  <a:lnTo>
                    <a:pt x="6842773" y="993648"/>
                  </a:lnTo>
                  <a:lnTo>
                    <a:pt x="6824485" y="975360"/>
                  </a:lnTo>
                  <a:lnTo>
                    <a:pt x="6803149" y="957072"/>
                  </a:lnTo>
                  <a:lnTo>
                    <a:pt x="6781813" y="940308"/>
                  </a:lnTo>
                  <a:lnTo>
                    <a:pt x="6760477" y="922020"/>
                  </a:lnTo>
                  <a:lnTo>
                    <a:pt x="6714757" y="888492"/>
                  </a:lnTo>
                  <a:lnTo>
                    <a:pt x="6641605" y="838200"/>
                  </a:lnTo>
                  <a:lnTo>
                    <a:pt x="6497167" y="748995"/>
                  </a:lnTo>
                  <a:lnTo>
                    <a:pt x="6501282" y="742188"/>
                  </a:lnTo>
                  <a:lnTo>
                    <a:pt x="6515113" y="719328"/>
                  </a:lnTo>
                  <a:lnTo>
                    <a:pt x="6429769" y="713232"/>
                  </a:lnTo>
                  <a:lnTo>
                    <a:pt x="6475489" y="784860"/>
                  </a:lnTo>
                  <a:lnTo>
                    <a:pt x="6492570" y="756602"/>
                  </a:lnTo>
                  <a:lnTo>
                    <a:pt x="6585217" y="813816"/>
                  </a:lnTo>
                  <a:lnTo>
                    <a:pt x="6635509" y="845820"/>
                  </a:lnTo>
                  <a:lnTo>
                    <a:pt x="6708661" y="896112"/>
                  </a:lnTo>
                  <a:lnTo>
                    <a:pt x="6754381" y="929640"/>
                  </a:lnTo>
                  <a:lnTo>
                    <a:pt x="6775717" y="947928"/>
                  </a:lnTo>
                  <a:lnTo>
                    <a:pt x="6797053" y="964692"/>
                  </a:lnTo>
                  <a:lnTo>
                    <a:pt x="6816865" y="982980"/>
                  </a:lnTo>
                  <a:lnTo>
                    <a:pt x="6836677" y="999744"/>
                  </a:lnTo>
                  <a:lnTo>
                    <a:pt x="6873253" y="1036320"/>
                  </a:lnTo>
                  <a:lnTo>
                    <a:pt x="6905257" y="1072896"/>
                  </a:lnTo>
                  <a:lnTo>
                    <a:pt x="6932689" y="1112520"/>
                  </a:lnTo>
                  <a:lnTo>
                    <a:pt x="6955549" y="1150620"/>
                  </a:lnTo>
                  <a:lnTo>
                    <a:pt x="6972313" y="1191768"/>
                  </a:lnTo>
                  <a:lnTo>
                    <a:pt x="6989077" y="1255776"/>
                  </a:lnTo>
                  <a:lnTo>
                    <a:pt x="6992125" y="1299972"/>
                  </a:lnTo>
                  <a:lnTo>
                    <a:pt x="6989077" y="1345692"/>
                  </a:lnTo>
                  <a:lnTo>
                    <a:pt x="6978409" y="1394460"/>
                  </a:lnTo>
                  <a:lnTo>
                    <a:pt x="6963169" y="1443228"/>
                  </a:lnTo>
                  <a:lnTo>
                    <a:pt x="6941833" y="1495044"/>
                  </a:lnTo>
                  <a:lnTo>
                    <a:pt x="6915925" y="1546860"/>
                  </a:lnTo>
                  <a:lnTo>
                    <a:pt x="6885445" y="1601724"/>
                  </a:lnTo>
                  <a:lnTo>
                    <a:pt x="6850393" y="1656588"/>
                  </a:lnTo>
                  <a:lnTo>
                    <a:pt x="6810769" y="1711452"/>
                  </a:lnTo>
                  <a:lnTo>
                    <a:pt x="6790957" y="1740408"/>
                  </a:lnTo>
                  <a:lnTo>
                    <a:pt x="6769621" y="1769364"/>
                  </a:lnTo>
                  <a:lnTo>
                    <a:pt x="6746761" y="1796796"/>
                  </a:lnTo>
                  <a:lnTo>
                    <a:pt x="6701041" y="1854708"/>
                  </a:lnTo>
                  <a:lnTo>
                    <a:pt x="6676657" y="1885188"/>
                  </a:lnTo>
                  <a:lnTo>
                    <a:pt x="6626365" y="1943100"/>
                  </a:lnTo>
                  <a:lnTo>
                    <a:pt x="6576073" y="2002536"/>
                  </a:lnTo>
                  <a:lnTo>
                    <a:pt x="6522733" y="2061972"/>
                  </a:lnTo>
                  <a:lnTo>
                    <a:pt x="6469393" y="2122932"/>
                  </a:lnTo>
                  <a:lnTo>
                    <a:pt x="6416053" y="2182368"/>
                  </a:lnTo>
                  <a:lnTo>
                    <a:pt x="6477013" y="2129028"/>
                  </a:lnTo>
                  <a:lnTo>
                    <a:pt x="6684277" y="1891284"/>
                  </a:lnTo>
                  <a:lnTo>
                    <a:pt x="6708661" y="1860804"/>
                  </a:lnTo>
                  <a:lnTo>
                    <a:pt x="6777241" y="1773936"/>
                  </a:lnTo>
                  <a:lnTo>
                    <a:pt x="6818389" y="1717548"/>
                  </a:lnTo>
                  <a:lnTo>
                    <a:pt x="6838201" y="1690116"/>
                  </a:lnTo>
                  <a:lnTo>
                    <a:pt x="6858013" y="1661160"/>
                  </a:lnTo>
                  <a:lnTo>
                    <a:pt x="6876301" y="1633728"/>
                  </a:lnTo>
                  <a:lnTo>
                    <a:pt x="6909829" y="1578864"/>
                  </a:lnTo>
                  <a:lnTo>
                    <a:pt x="6923545" y="1551432"/>
                  </a:lnTo>
                  <a:lnTo>
                    <a:pt x="6950977" y="1499616"/>
                  </a:lnTo>
                  <a:lnTo>
                    <a:pt x="6972313" y="1447800"/>
                  </a:lnTo>
                  <a:lnTo>
                    <a:pt x="6979933" y="1421892"/>
                  </a:lnTo>
                  <a:lnTo>
                    <a:pt x="6987553" y="1397508"/>
                  </a:lnTo>
                  <a:lnTo>
                    <a:pt x="6993649" y="1371600"/>
                  </a:lnTo>
                  <a:lnTo>
                    <a:pt x="6998221" y="1348740"/>
                  </a:lnTo>
                  <a:lnTo>
                    <a:pt x="7001269" y="1299972"/>
                  </a:lnTo>
                  <a:lnTo>
                    <a:pt x="7001269" y="1277112"/>
                  </a:lnTo>
                  <a:close/>
                </a:path>
              </a:pathLst>
            </a:custGeom>
            <a:solidFill>
              <a:srgbClr val="000000"/>
            </a:solidFill>
          </p:spPr>
          <p:txBody>
            <a:bodyPr wrap="square" lIns="0" tIns="0" rIns="0" bIns="0" rtlCol="0"/>
            <a:lstStyle/>
            <a:p>
              <a:endParaRPr sz="1588"/>
            </a:p>
          </p:txBody>
        </p:sp>
        <p:sp>
          <p:nvSpPr>
            <p:cNvPr id="93" name="object 93"/>
            <p:cNvSpPr/>
            <p:nvPr/>
          </p:nvSpPr>
          <p:spPr>
            <a:xfrm>
              <a:off x="521208" y="1959864"/>
              <a:ext cx="9017635" cy="2537460"/>
            </a:xfrm>
            <a:custGeom>
              <a:avLst/>
              <a:gdLst/>
              <a:ahLst/>
              <a:cxnLst/>
              <a:rect l="l" t="t" r="r" b="b"/>
              <a:pathLst>
                <a:path w="9017635" h="2537460">
                  <a:moveTo>
                    <a:pt x="12191" y="2523744"/>
                  </a:moveTo>
                  <a:lnTo>
                    <a:pt x="0" y="2523744"/>
                  </a:lnTo>
                  <a:lnTo>
                    <a:pt x="0" y="2447544"/>
                  </a:lnTo>
                  <a:lnTo>
                    <a:pt x="25907" y="2447544"/>
                  </a:lnTo>
                  <a:lnTo>
                    <a:pt x="25907" y="2511552"/>
                  </a:lnTo>
                  <a:lnTo>
                    <a:pt x="12191" y="2511552"/>
                  </a:lnTo>
                  <a:lnTo>
                    <a:pt x="12191" y="2523744"/>
                  </a:lnTo>
                  <a:close/>
                </a:path>
                <a:path w="9017635" h="2537460">
                  <a:moveTo>
                    <a:pt x="57911" y="2537460"/>
                  </a:moveTo>
                  <a:lnTo>
                    <a:pt x="12191" y="2537460"/>
                  </a:lnTo>
                  <a:lnTo>
                    <a:pt x="12191" y="2511552"/>
                  </a:lnTo>
                  <a:lnTo>
                    <a:pt x="25907" y="2511552"/>
                  </a:lnTo>
                  <a:lnTo>
                    <a:pt x="25907" y="2523744"/>
                  </a:lnTo>
                  <a:lnTo>
                    <a:pt x="57911" y="2523744"/>
                  </a:lnTo>
                  <a:lnTo>
                    <a:pt x="57911" y="2537460"/>
                  </a:lnTo>
                  <a:close/>
                </a:path>
                <a:path w="9017635" h="2537460">
                  <a:moveTo>
                    <a:pt x="57911" y="2523744"/>
                  </a:moveTo>
                  <a:lnTo>
                    <a:pt x="25907" y="2523744"/>
                  </a:lnTo>
                  <a:lnTo>
                    <a:pt x="25907" y="2511552"/>
                  </a:lnTo>
                  <a:lnTo>
                    <a:pt x="57911" y="2511552"/>
                  </a:lnTo>
                  <a:lnTo>
                    <a:pt x="57911" y="2523744"/>
                  </a:lnTo>
                  <a:close/>
                </a:path>
                <a:path w="9017635" h="2537460">
                  <a:moveTo>
                    <a:pt x="25907" y="2423160"/>
                  </a:moveTo>
                  <a:lnTo>
                    <a:pt x="0" y="2423160"/>
                  </a:lnTo>
                  <a:lnTo>
                    <a:pt x="0" y="2346960"/>
                  </a:lnTo>
                  <a:lnTo>
                    <a:pt x="25907" y="2346960"/>
                  </a:lnTo>
                  <a:lnTo>
                    <a:pt x="25907" y="2423160"/>
                  </a:lnTo>
                  <a:close/>
                </a:path>
                <a:path w="9017635" h="2537460">
                  <a:moveTo>
                    <a:pt x="25907" y="2321052"/>
                  </a:moveTo>
                  <a:lnTo>
                    <a:pt x="0" y="2321052"/>
                  </a:lnTo>
                  <a:lnTo>
                    <a:pt x="0" y="2244852"/>
                  </a:lnTo>
                  <a:lnTo>
                    <a:pt x="25907" y="2244852"/>
                  </a:lnTo>
                  <a:lnTo>
                    <a:pt x="25907" y="2321052"/>
                  </a:lnTo>
                  <a:close/>
                </a:path>
                <a:path w="9017635" h="2537460">
                  <a:moveTo>
                    <a:pt x="25907" y="2218944"/>
                  </a:moveTo>
                  <a:lnTo>
                    <a:pt x="0" y="2218944"/>
                  </a:lnTo>
                  <a:lnTo>
                    <a:pt x="0" y="2142744"/>
                  </a:lnTo>
                  <a:lnTo>
                    <a:pt x="25907" y="2142744"/>
                  </a:lnTo>
                  <a:lnTo>
                    <a:pt x="25907" y="2218944"/>
                  </a:lnTo>
                  <a:close/>
                </a:path>
                <a:path w="9017635" h="2537460">
                  <a:moveTo>
                    <a:pt x="25907" y="2118360"/>
                  </a:moveTo>
                  <a:lnTo>
                    <a:pt x="0" y="2118360"/>
                  </a:lnTo>
                  <a:lnTo>
                    <a:pt x="0" y="2042160"/>
                  </a:lnTo>
                  <a:lnTo>
                    <a:pt x="25907" y="2042160"/>
                  </a:lnTo>
                  <a:lnTo>
                    <a:pt x="25907" y="2118360"/>
                  </a:lnTo>
                  <a:close/>
                </a:path>
                <a:path w="9017635" h="2537460">
                  <a:moveTo>
                    <a:pt x="25907" y="2016252"/>
                  </a:moveTo>
                  <a:lnTo>
                    <a:pt x="0" y="2016252"/>
                  </a:lnTo>
                  <a:lnTo>
                    <a:pt x="0" y="1940052"/>
                  </a:lnTo>
                  <a:lnTo>
                    <a:pt x="25907" y="1940052"/>
                  </a:lnTo>
                  <a:lnTo>
                    <a:pt x="25907" y="2016252"/>
                  </a:lnTo>
                  <a:close/>
                </a:path>
                <a:path w="9017635" h="2537460">
                  <a:moveTo>
                    <a:pt x="25907" y="1914144"/>
                  </a:moveTo>
                  <a:lnTo>
                    <a:pt x="0" y="1914144"/>
                  </a:lnTo>
                  <a:lnTo>
                    <a:pt x="0" y="1837944"/>
                  </a:lnTo>
                  <a:lnTo>
                    <a:pt x="25907" y="1837944"/>
                  </a:lnTo>
                  <a:lnTo>
                    <a:pt x="25907" y="1914144"/>
                  </a:lnTo>
                  <a:close/>
                </a:path>
                <a:path w="9017635" h="2537460">
                  <a:moveTo>
                    <a:pt x="25907" y="1813560"/>
                  </a:moveTo>
                  <a:lnTo>
                    <a:pt x="0" y="1813560"/>
                  </a:lnTo>
                  <a:lnTo>
                    <a:pt x="0" y="1737360"/>
                  </a:lnTo>
                  <a:lnTo>
                    <a:pt x="25907" y="1737360"/>
                  </a:lnTo>
                  <a:lnTo>
                    <a:pt x="25907" y="1813560"/>
                  </a:lnTo>
                  <a:close/>
                </a:path>
                <a:path w="9017635" h="2537460">
                  <a:moveTo>
                    <a:pt x="25907" y="1711452"/>
                  </a:moveTo>
                  <a:lnTo>
                    <a:pt x="0" y="1711452"/>
                  </a:lnTo>
                  <a:lnTo>
                    <a:pt x="0" y="1635252"/>
                  </a:lnTo>
                  <a:lnTo>
                    <a:pt x="25907" y="1635252"/>
                  </a:lnTo>
                  <a:lnTo>
                    <a:pt x="25907" y="1711452"/>
                  </a:lnTo>
                  <a:close/>
                </a:path>
                <a:path w="9017635" h="2537460">
                  <a:moveTo>
                    <a:pt x="25907" y="1609344"/>
                  </a:moveTo>
                  <a:lnTo>
                    <a:pt x="0" y="1609344"/>
                  </a:lnTo>
                  <a:lnTo>
                    <a:pt x="0" y="1533144"/>
                  </a:lnTo>
                  <a:lnTo>
                    <a:pt x="25907" y="1533144"/>
                  </a:lnTo>
                  <a:lnTo>
                    <a:pt x="25907" y="1609344"/>
                  </a:lnTo>
                  <a:close/>
                </a:path>
                <a:path w="9017635" h="2537460">
                  <a:moveTo>
                    <a:pt x="25907" y="1508760"/>
                  </a:moveTo>
                  <a:lnTo>
                    <a:pt x="0" y="1508760"/>
                  </a:lnTo>
                  <a:lnTo>
                    <a:pt x="0" y="1432560"/>
                  </a:lnTo>
                  <a:lnTo>
                    <a:pt x="25907" y="1432560"/>
                  </a:lnTo>
                  <a:lnTo>
                    <a:pt x="25907" y="1508760"/>
                  </a:lnTo>
                  <a:close/>
                </a:path>
                <a:path w="9017635" h="2537460">
                  <a:moveTo>
                    <a:pt x="25907" y="1406652"/>
                  </a:moveTo>
                  <a:lnTo>
                    <a:pt x="0" y="1406652"/>
                  </a:lnTo>
                  <a:lnTo>
                    <a:pt x="0" y="1330452"/>
                  </a:lnTo>
                  <a:lnTo>
                    <a:pt x="25907" y="1330452"/>
                  </a:lnTo>
                  <a:lnTo>
                    <a:pt x="25907" y="1406652"/>
                  </a:lnTo>
                  <a:close/>
                </a:path>
                <a:path w="9017635" h="2537460">
                  <a:moveTo>
                    <a:pt x="25907" y="1304544"/>
                  </a:moveTo>
                  <a:lnTo>
                    <a:pt x="0" y="1304544"/>
                  </a:lnTo>
                  <a:lnTo>
                    <a:pt x="0" y="1228344"/>
                  </a:lnTo>
                  <a:lnTo>
                    <a:pt x="25907" y="1228344"/>
                  </a:lnTo>
                  <a:lnTo>
                    <a:pt x="25907" y="1304544"/>
                  </a:lnTo>
                  <a:close/>
                </a:path>
                <a:path w="9017635" h="2537460">
                  <a:moveTo>
                    <a:pt x="25907" y="1203960"/>
                  </a:moveTo>
                  <a:lnTo>
                    <a:pt x="0" y="1203960"/>
                  </a:lnTo>
                  <a:lnTo>
                    <a:pt x="0" y="1127760"/>
                  </a:lnTo>
                  <a:lnTo>
                    <a:pt x="25907" y="1127760"/>
                  </a:lnTo>
                  <a:lnTo>
                    <a:pt x="25907" y="1203960"/>
                  </a:lnTo>
                  <a:close/>
                </a:path>
                <a:path w="9017635" h="2537460">
                  <a:moveTo>
                    <a:pt x="25907" y="1101852"/>
                  </a:moveTo>
                  <a:lnTo>
                    <a:pt x="0" y="1101852"/>
                  </a:lnTo>
                  <a:lnTo>
                    <a:pt x="0" y="1025652"/>
                  </a:lnTo>
                  <a:lnTo>
                    <a:pt x="25907" y="1025652"/>
                  </a:lnTo>
                  <a:lnTo>
                    <a:pt x="25907" y="1101852"/>
                  </a:lnTo>
                  <a:close/>
                </a:path>
                <a:path w="9017635" h="2537460">
                  <a:moveTo>
                    <a:pt x="25907" y="999744"/>
                  </a:moveTo>
                  <a:lnTo>
                    <a:pt x="0" y="999744"/>
                  </a:lnTo>
                  <a:lnTo>
                    <a:pt x="0" y="923544"/>
                  </a:lnTo>
                  <a:lnTo>
                    <a:pt x="25907" y="923544"/>
                  </a:lnTo>
                  <a:lnTo>
                    <a:pt x="25907" y="999744"/>
                  </a:lnTo>
                  <a:close/>
                </a:path>
                <a:path w="9017635" h="2537460">
                  <a:moveTo>
                    <a:pt x="25907" y="899160"/>
                  </a:moveTo>
                  <a:lnTo>
                    <a:pt x="0" y="899160"/>
                  </a:lnTo>
                  <a:lnTo>
                    <a:pt x="0" y="822960"/>
                  </a:lnTo>
                  <a:lnTo>
                    <a:pt x="25907" y="822960"/>
                  </a:lnTo>
                  <a:lnTo>
                    <a:pt x="25907" y="899160"/>
                  </a:lnTo>
                  <a:close/>
                </a:path>
                <a:path w="9017635" h="2537460">
                  <a:moveTo>
                    <a:pt x="25907" y="797052"/>
                  </a:moveTo>
                  <a:lnTo>
                    <a:pt x="0" y="797052"/>
                  </a:lnTo>
                  <a:lnTo>
                    <a:pt x="0" y="720852"/>
                  </a:lnTo>
                  <a:lnTo>
                    <a:pt x="25907" y="720852"/>
                  </a:lnTo>
                  <a:lnTo>
                    <a:pt x="25907" y="797052"/>
                  </a:lnTo>
                  <a:close/>
                </a:path>
                <a:path w="9017635" h="2537460">
                  <a:moveTo>
                    <a:pt x="25907" y="694944"/>
                  </a:moveTo>
                  <a:lnTo>
                    <a:pt x="0" y="694944"/>
                  </a:lnTo>
                  <a:lnTo>
                    <a:pt x="0" y="618744"/>
                  </a:lnTo>
                  <a:lnTo>
                    <a:pt x="25907" y="618744"/>
                  </a:lnTo>
                  <a:lnTo>
                    <a:pt x="25907" y="694944"/>
                  </a:lnTo>
                  <a:close/>
                </a:path>
                <a:path w="9017635" h="2537460">
                  <a:moveTo>
                    <a:pt x="25907" y="594360"/>
                  </a:moveTo>
                  <a:lnTo>
                    <a:pt x="0" y="594360"/>
                  </a:lnTo>
                  <a:lnTo>
                    <a:pt x="0" y="518160"/>
                  </a:lnTo>
                  <a:lnTo>
                    <a:pt x="25907" y="518160"/>
                  </a:lnTo>
                  <a:lnTo>
                    <a:pt x="25907" y="594360"/>
                  </a:lnTo>
                  <a:close/>
                </a:path>
                <a:path w="9017635" h="2537460">
                  <a:moveTo>
                    <a:pt x="25907" y="492252"/>
                  </a:moveTo>
                  <a:lnTo>
                    <a:pt x="0" y="492252"/>
                  </a:lnTo>
                  <a:lnTo>
                    <a:pt x="0" y="416052"/>
                  </a:lnTo>
                  <a:lnTo>
                    <a:pt x="25907" y="416052"/>
                  </a:lnTo>
                  <a:lnTo>
                    <a:pt x="25907" y="492252"/>
                  </a:lnTo>
                  <a:close/>
                </a:path>
                <a:path w="9017635" h="2537460">
                  <a:moveTo>
                    <a:pt x="25907" y="390144"/>
                  </a:moveTo>
                  <a:lnTo>
                    <a:pt x="0" y="390144"/>
                  </a:lnTo>
                  <a:lnTo>
                    <a:pt x="0" y="313944"/>
                  </a:lnTo>
                  <a:lnTo>
                    <a:pt x="25907" y="313944"/>
                  </a:lnTo>
                  <a:lnTo>
                    <a:pt x="25907" y="390144"/>
                  </a:lnTo>
                  <a:close/>
                </a:path>
                <a:path w="9017635" h="2537460">
                  <a:moveTo>
                    <a:pt x="25907" y="289560"/>
                  </a:moveTo>
                  <a:lnTo>
                    <a:pt x="0" y="289560"/>
                  </a:lnTo>
                  <a:lnTo>
                    <a:pt x="0" y="213360"/>
                  </a:lnTo>
                  <a:lnTo>
                    <a:pt x="25907" y="213360"/>
                  </a:lnTo>
                  <a:lnTo>
                    <a:pt x="25907" y="289560"/>
                  </a:lnTo>
                  <a:close/>
                </a:path>
                <a:path w="9017635" h="2537460">
                  <a:moveTo>
                    <a:pt x="25907" y="187452"/>
                  </a:moveTo>
                  <a:lnTo>
                    <a:pt x="0" y="187452"/>
                  </a:lnTo>
                  <a:lnTo>
                    <a:pt x="0" y="111252"/>
                  </a:lnTo>
                  <a:lnTo>
                    <a:pt x="25907" y="111252"/>
                  </a:lnTo>
                  <a:lnTo>
                    <a:pt x="25907" y="187452"/>
                  </a:lnTo>
                  <a:close/>
                </a:path>
                <a:path w="9017635" h="2537460">
                  <a:moveTo>
                    <a:pt x="25907" y="85344"/>
                  </a:moveTo>
                  <a:lnTo>
                    <a:pt x="0" y="85344"/>
                  </a:lnTo>
                  <a:lnTo>
                    <a:pt x="0" y="4572"/>
                  </a:lnTo>
                  <a:lnTo>
                    <a:pt x="6096" y="0"/>
                  </a:lnTo>
                  <a:lnTo>
                    <a:pt x="15239" y="0"/>
                  </a:lnTo>
                  <a:lnTo>
                    <a:pt x="15239" y="21674"/>
                  </a:lnTo>
                  <a:lnTo>
                    <a:pt x="12191" y="24384"/>
                  </a:lnTo>
                  <a:lnTo>
                    <a:pt x="25907" y="24384"/>
                  </a:lnTo>
                  <a:lnTo>
                    <a:pt x="25907" y="85344"/>
                  </a:lnTo>
                  <a:close/>
                </a:path>
                <a:path w="9017635" h="2537460">
                  <a:moveTo>
                    <a:pt x="25907" y="24384"/>
                  </a:moveTo>
                  <a:lnTo>
                    <a:pt x="15239" y="24384"/>
                  </a:lnTo>
                  <a:lnTo>
                    <a:pt x="15239" y="21674"/>
                  </a:lnTo>
                  <a:lnTo>
                    <a:pt x="25907" y="12191"/>
                  </a:lnTo>
                  <a:lnTo>
                    <a:pt x="25907" y="24384"/>
                  </a:lnTo>
                  <a:close/>
                </a:path>
                <a:path w="9017635" h="2537460">
                  <a:moveTo>
                    <a:pt x="15239" y="24384"/>
                  </a:moveTo>
                  <a:lnTo>
                    <a:pt x="12191" y="24384"/>
                  </a:lnTo>
                  <a:lnTo>
                    <a:pt x="15239" y="21674"/>
                  </a:lnTo>
                  <a:lnTo>
                    <a:pt x="15239" y="24384"/>
                  </a:lnTo>
                  <a:close/>
                </a:path>
                <a:path w="9017635" h="2537460">
                  <a:moveTo>
                    <a:pt x="117348" y="24384"/>
                  </a:moveTo>
                  <a:lnTo>
                    <a:pt x="41148" y="24384"/>
                  </a:lnTo>
                  <a:lnTo>
                    <a:pt x="41148" y="0"/>
                  </a:lnTo>
                  <a:lnTo>
                    <a:pt x="117348" y="0"/>
                  </a:lnTo>
                  <a:lnTo>
                    <a:pt x="117348" y="24384"/>
                  </a:lnTo>
                  <a:close/>
                </a:path>
                <a:path w="9017635" h="2537460">
                  <a:moveTo>
                    <a:pt x="217931" y="24384"/>
                  </a:moveTo>
                  <a:lnTo>
                    <a:pt x="141731" y="24384"/>
                  </a:lnTo>
                  <a:lnTo>
                    <a:pt x="141731" y="0"/>
                  </a:lnTo>
                  <a:lnTo>
                    <a:pt x="217931" y="0"/>
                  </a:lnTo>
                  <a:lnTo>
                    <a:pt x="217931" y="24384"/>
                  </a:lnTo>
                  <a:close/>
                </a:path>
                <a:path w="9017635" h="2537460">
                  <a:moveTo>
                    <a:pt x="320040" y="24384"/>
                  </a:moveTo>
                  <a:lnTo>
                    <a:pt x="243839" y="24384"/>
                  </a:lnTo>
                  <a:lnTo>
                    <a:pt x="243839" y="0"/>
                  </a:lnTo>
                  <a:lnTo>
                    <a:pt x="320040" y="0"/>
                  </a:lnTo>
                  <a:lnTo>
                    <a:pt x="320040" y="24384"/>
                  </a:lnTo>
                  <a:close/>
                </a:path>
                <a:path w="9017635" h="2537460">
                  <a:moveTo>
                    <a:pt x="422148" y="24384"/>
                  </a:moveTo>
                  <a:lnTo>
                    <a:pt x="345948" y="24384"/>
                  </a:lnTo>
                  <a:lnTo>
                    <a:pt x="345948" y="0"/>
                  </a:lnTo>
                  <a:lnTo>
                    <a:pt x="422148" y="0"/>
                  </a:lnTo>
                  <a:lnTo>
                    <a:pt x="422148" y="24384"/>
                  </a:lnTo>
                  <a:close/>
                </a:path>
                <a:path w="9017635" h="2537460">
                  <a:moveTo>
                    <a:pt x="522731" y="24384"/>
                  </a:moveTo>
                  <a:lnTo>
                    <a:pt x="446531" y="24384"/>
                  </a:lnTo>
                  <a:lnTo>
                    <a:pt x="446531" y="0"/>
                  </a:lnTo>
                  <a:lnTo>
                    <a:pt x="522731" y="0"/>
                  </a:lnTo>
                  <a:lnTo>
                    <a:pt x="522731" y="24384"/>
                  </a:lnTo>
                  <a:close/>
                </a:path>
                <a:path w="9017635" h="2537460">
                  <a:moveTo>
                    <a:pt x="624840" y="24384"/>
                  </a:moveTo>
                  <a:lnTo>
                    <a:pt x="548640" y="24384"/>
                  </a:lnTo>
                  <a:lnTo>
                    <a:pt x="548640" y="0"/>
                  </a:lnTo>
                  <a:lnTo>
                    <a:pt x="624840" y="0"/>
                  </a:lnTo>
                  <a:lnTo>
                    <a:pt x="624840" y="24384"/>
                  </a:lnTo>
                  <a:close/>
                </a:path>
                <a:path w="9017635" h="2537460">
                  <a:moveTo>
                    <a:pt x="726947" y="24384"/>
                  </a:moveTo>
                  <a:lnTo>
                    <a:pt x="650748" y="24384"/>
                  </a:lnTo>
                  <a:lnTo>
                    <a:pt x="650748" y="0"/>
                  </a:lnTo>
                  <a:lnTo>
                    <a:pt x="726947" y="0"/>
                  </a:lnTo>
                  <a:lnTo>
                    <a:pt x="726947" y="24384"/>
                  </a:lnTo>
                  <a:close/>
                </a:path>
                <a:path w="9017635" h="2537460">
                  <a:moveTo>
                    <a:pt x="827532" y="24384"/>
                  </a:moveTo>
                  <a:lnTo>
                    <a:pt x="751332" y="24384"/>
                  </a:lnTo>
                  <a:lnTo>
                    <a:pt x="751332" y="0"/>
                  </a:lnTo>
                  <a:lnTo>
                    <a:pt x="827532" y="0"/>
                  </a:lnTo>
                  <a:lnTo>
                    <a:pt x="827532" y="24384"/>
                  </a:lnTo>
                  <a:close/>
                </a:path>
                <a:path w="9017635" h="2537460">
                  <a:moveTo>
                    <a:pt x="929640" y="24384"/>
                  </a:moveTo>
                  <a:lnTo>
                    <a:pt x="853440" y="24384"/>
                  </a:lnTo>
                  <a:lnTo>
                    <a:pt x="853440" y="0"/>
                  </a:lnTo>
                  <a:lnTo>
                    <a:pt x="929640" y="0"/>
                  </a:lnTo>
                  <a:lnTo>
                    <a:pt x="929640" y="24384"/>
                  </a:lnTo>
                  <a:close/>
                </a:path>
                <a:path w="9017635" h="2537460">
                  <a:moveTo>
                    <a:pt x="1031747" y="24384"/>
                  </a:moveTo>
                  <a:lnTo>
                    <a:pt x="955547" y="24384"/>
                  </a:lnTo>
                  <a:lnTo>
                    <a:pt x="955547" y="0"/>
                  </a:lnTo>
                  <a:lnTo>
                    <a:pt x="1031747" y="0"/>
                  </a:lnTo>
                  <a:lnTo>
                    <a:pt x="1031747" y="24384"/>
                  </a:lnTo>
                  <a:close/>
                </a:path>
                <a:path w="9017635" h="2537460">
                  <a:moveTo>
                    <a:pt x="1132332" y="24384"/>
                  </a:moveTo>
                  <a:lnTo>
                    <a:pt x="1056132" y="24384"/>
                  </a:lnTo>
                  <a:lnTo>
                    <a:pt x="1056132" y="0"/>
                  </a:lnTo>
                  <a:lnTo>
                    <a:pt x="1132332" y="0"/>
                  </a:lnTo>
                  <a:lnTo>
                    <a:pt x="1132332" y="24384"/>
                  </a:lnTo>
                  <a:close/>
                </a:path>
                <a:path w="9017635" h="2537460">
                  <a:moveTo>
                    <a:pt x="1234440" y="24384"/>
                  </a:moveTo>
                  <a:lnTo>
                    <a:pt x="1158240" y="24384"/>
                  </a:lnTo>
                  <a:lnTo>
                    <a:pt x="1158240" y="0"/>
                  </a:lnTo>
                  <a:lnTo>
                    <a:pt x="1234440" y="0"/>
                  </a:lnTo>
                  <a:lnTo>
                    <a:pt x="1234440" y="24384"/>
                  </a:lnTo>
                  <a:close/>
                </a:path>
                <a:path w="9017635" h="2537460">
                  <a:moveTo>
                    <a:pt x="1336547" y="24384"/>
                  </a:moveTo>
                  <a:lnTo>
                    <a:pt x="1260347" y="24384"/>
                  </a:lnTo>
                  <a:lnTo>
                    <a:pt x="1260347" y="0"/>
                  </a:lnTo>
                  <a:lnTo>
                    <a:pt x="1336547" y="0"/>
                  </a:lnTo>
                  <a:lnTo>
                    <a:pt x="1336547" y="24384"/>
                  </a:lnTo>
                  <a:close/>
                </a:path>
                <a:path w="9017635" h="2537460">
                  <a:moveTo>
                    <a:pt x="1437132" y="24384"/>
                  </a:moveTo>
                  <a:lnTo>
                    <a:pt x="1360932" y="24384"/>
                  </a:lnTo>
                  <a:lnTo>
                    <a:pt x="1360932" y="0"/>
                  </a:lnTo>
                  <a:lnTo>
                    <a:pt x="1437132" y="0"/>
                  </a:lnTo>
                  <a:lnTo>
                    <a:pt x="1437132" y="24384"/>
                  </a:lnTo>
                  <a:close/>
                </a:path>
                <a:path w="9017635" h="2537460">
                  <a:moveTo>
                    <a:pt x="1539240" y="24384"/>
                  </a:moveTo>
                  <a:lnTo>
                    <a:pt x="1463040" y="24384"/>
                  </a:lnTo>
                  <a:lnTo>
                    <a:pt x="1463040" y="0"/>
                  </a:lnTo>
                  <a:lnTo>
                    <a:pt x="1539240" y="0"/>
                  </a:lnTo>
                  <a:lnTo>
                    <a:pt x="1539240" y="24384"/>
                  </a:lnTo>
                  <a:close/>
                </a:path>
                <a:path w="9017635" h="2537460">
                  <a:moveTo>
                    <a:pt x="1641347" y="24384"/>
                  </a:moveTo>
                  <a:lnTo>
                    <a:pt x="1565147" y="24384"/>
                  </a:lnTo>
                  <a:lnTo>
                    <a:pt x="1565147" y="0"/>
                  </a:lnTo>
                  <a:lnTo>
                    <a:pt x="1641347" y="0"/>
                  </a:lnTo>
                  <a:lnTo>
                    <a:pt x="1641347" y="24384"/>
                  </a:lnTo>
                  <a:close/>
                </a:path>
                <a:path w="9017635" h="2537460">
                  <a:moveTo>
                    <a:pt x="1741932" y="24384"/>
                  </a:moveTo>
                  <a:lnTo>
                    <a:pt x="1665732" y="24384"/>
                  </a:lnTo>
                  <a:lnTo>
                    <a:pt x="1665732" y="0"/>
                  </a:lnTo>
                  <a:lnTo>
                    <a:pt x="1741932" y="0"/>
                  </a:lnTo>
                  <a:lnTo>
                    <a:pt x="1741932" y="24384"/>
                  </a:lnTo>
                  <a:close/>
                </a:path>
                <a:path w="9017635" h="2537460">
                  <a:moveTo>
                    <a:pt x="1844040" y="24384"/>
                  </a:moveTo>
                  <a:lnTo>
                    <a:pt x="1767840" y="24384"/>
                  </a:lnTo>
                  <a:lnTo>
                    <a:pt x="1767840" y="0"/>
                  </a:lnTo>
                  <a:lnTo>
                    <a:pt x="1844040" y="0"/>
                  </a:lnTo>
                  <a:lnTo>
                    <a:pt x="1844040" y="24384"/>
                  </a:lnTo>
                  <a:close/>
                </a:path>
                <a:path w="9017635" h="2537460">
                  <a:moveTo>
                    <a:pt x="1946148" y="24384"/>
                  </a:moveTo>
                  <a:lnTo>
                    <a:pt x="1869947" y="24384"/>
                  </a:lnTo>
                  <a:lnTo>
                    <a:pt x="1869947" y="0"/>
                  </a:lnTo>
                  <a:lnTo>
                    <a:pt x="1946148" y="0"/>
                  </a:lnTo>
                  <a:lnTo>
                    <a:pt x="1946148" y="24384"/>
                  </a:lnTo>
                  <a:close/>
                </a:path>
                <a:path w="9017635" h="2537460">
                  <a:moveTo>
                    <a:pt x="2046732" y="24384"/>
                  </a:moveTo>
                  <a:lnTo>
                    <a:pt x="1970532" y="24384"/>
                  </a:lnTo>
                  <a:lnTo>
                    <a:pt x="1970532" y="0"/>
                  </a:lnTo>
                  <a:lnTo>
                    <a:pt x="2046732" y="0"/>
                  </a:lnTo>
                  <a:lnTo>
                    <a:pt x="2046732" y="24384"/>
                  </a:lnTo>
                  <a:close/>
                </a:path>
                <a:path w="9017635" h="2537460">
                  <a:moveTo>
                    <a:pt x="2148840" y="24384"/>
                  </a:moveTo>
                  <a:lnTo>
                    <a:pt x="2072640" y="24384"/>
                  </a:lnTo>
                  <a:lnTo>
                    <a:pt x="2072640" y="0"/>
                  </a:lnTo>
                  <a:lnTo>
                    <a:pt x="2148840" y="0"/>
                  </a:lnTo>
                  <a:lnTo>
                    <a:pt x="2148840" y="24384"/>
                  </a:lnTo>
                  <a:close/>
                </a:path>
                <a:path w="9017635" h="2537460">
                  <a:moveTo>
                    <a:pt x="2250948" y="24384"/>
                  </a:moveTo>
                  <a:lnTo>
                    <a:pt x="2174748" y="24384"/>
                  </a:lnTo>
                  <a:lnTo>
                    <a:pt x="2174748" y="0"/>
                  </a:lnTo>
                  <a:lnTo>
                    <a:pt x="2250948" y="0"/>
                  </a:lnTo>
                  <a:lnTo>
                    <a:pt x="2250948" y="24384"/>
                  </a:lnTo>
                  <a:close/>
                </a:path>
                <a:path w="9017635" h="2537460">
                  <a:moveTo>
                    <a:pt x="2351532" y="24384"/>
                  </a:moveTo>
                  <a:lnTo>
                    <a:pt x="2275332" y="24384"/>
                  </a:lnTo>
                  <a:lnTo>
                    <a:pt x="2275332" y="0"/>
                  </a:lnTo>
                  <a:lnTo>
                    <a:pt x="2351532" y="0"/>
                  </a:lnTo>
                  <a:lnTo>
                    <a:pt x="2351532" y="24384"/>
                  </a:lnTo>
                  <a:close/>
                </a:path>
                <a:path w="9017635" h="2537460">
                  <a:moveTo>
                    <a:pt x="2453640" y="24384"/>
                  </a:moveTo>
                  <a:lnTo>
                    <a:pt x="2377440" y="24384"/>
                  </a:lnTo>
                  <a:lnTo>
                    <a:pt x="2377440" y="0"/>
                  </a:lnTo>
                  <a:lnTo>
                    <a:pt x="2453640" y="0"/>
                  </a:lnTo>
                  <a:lnTo>
                    <a:pt x="2453640" y="24384"/>
                  </a:lnTo>
                  <a:close/>
                </a:path>
                <a:path w="9017635" h="2537460">
                  <a:moveTo>
                    <a:pt x="2555748" y="24384"/>
                  </a:moveTo>
                  <a:lnTo>
                    <a:pt x="2479548" y="24384"/>
                  </a:lnTo>
                  <a:lnTo>
                    <a:pt x="2479548" y="0"/>
                  </a:lnTo>
                  <a:lnTo>
                    <a:pt x="2555748" y="0"/>
                  </a:lnTo>
                  <a:lnTo>
                    <a:pt x="2555748" y="24384"/>
                  </a:lnTo>
                  <a:close/>
                </a:path>
                <a:path w="9017635" h="2537460">
                  <a:moveTo>
                    <a:pt x="2656332" y="24384"/>
                  </a:moveTo>
                  <a:lnTo>
                    <a:pt x="2580132" y="24384"/>
                  </a:lnTo>
                  <a:lnTo>
                    <a:pt x="2580132" y="0"/>
                  </a:lnTo>
                  <a:lnTo>
                    <a:pt x="2656332" y="0"/>
                  </a:lnTo>
                  <a:lnTo>
                    <a:pt x="2656332" y="24384"/>
                  </a:lnTo>
                  <a:close/>
                </a:path>
                <a:path w="9017635" h="2537460">
                  <a:moveTo>
                    <a:pt x="2758440" y="24384"/>
                  </a:moveTo>
                  <a:lnTo>
                    <a:pt x="2682240" y="24384"/>
                  </a:lnTo>
                  <a:lnTo>
                    <a:pt x="2682240" y="0"/>
                  </a:lnTo>
                  <a:lnTo>
                    <a:pt x="2758440" y="0"/>
                  </a:lnTo>
                  <a:lnTo>
                    <a:pt x="2758440" y="24384"/>
                  </a:lnTo>
                  <a:close/>
                </a:path>
                <a:path w="9017635" h="2537460">
                  <a:moveTo>
                    <a:pt x="2860548" y="24384"/>
                  </a:moveTo>
                  <a:lnTo>
                    <a:pt x="2784348" y="24384"/>
                  </a:lnTo>
                  <a:lnTo>
                    <a:pt x="2784348" y="0"/>
                  </a:lnTo>
                  <a:lnTo>
                    <a:pt x="2860548" y="0"/>
                  </a:lnTo>
                  <a:lnTo>
                    <a:pt x="2860548" y="24384"/>
                  </a:lnTo>
                  <a:close/>
                </a:path>
                <a:path w="9017635" h="2537460">
                  <a:moveTo>
                    <a:pt x="2961132" y="24384"/>
                  </a:moveTo>
                  <a:lnTo>
                    <a:pt x="2884932" y="24384"/>
                  </a:lnTo>
                  <a:lnTo>
                    <a:pt x="2884932" y="0"/>
                  </a:lnTo>
                  <a:lnTo>
                    <a:pt x="2961132" y="0"/>
                  </a:lnTo>
                  <a:lnTo>
                    <a:pt x="2961132" y="24384"/>
                  </a:lnTo>
                  <a:close/>
                </a:path>
                <a:path w="9017635" h="2537460">
                  <a:moveTo>
                    <a:pt x="3063240" y="24384"/>
                  </a:moveTo>
                  <a:lnTo>
                    <a:pt x="2987040" y="24384"/>
                  </a:lnTo>
                  <a:lnTo>
                    <a:pt x="2987040" y="0"/>
                  </a:lnTo>
                  <a:lnTo>
                    <a:pt x="3063240" y="0"/>
                  </a:lnTo>
                  <a:lnTo>
                    <a:pt x="3063240" y="24384"/>
                  </a:lnTo>
                  <a:close/>
                </a:path>
                <a:path w="9017635" h="2537460">
                  <a:moveTo>
                    <a:pt x="3165348" y="24384"/>
                  </a:moveTo>
                  <a:lnTo>
                    <a:pt x="3089148" y="24384"/>
                  </a:lnTo>
                  <a:lnTo>
                    <a:pt x="3089148" y="0"/>
                  </a:lnTo>
                  <a:lnTo>
                    <a:pt x="3165348" y="0"/>
                  </a:lnTo>
                  <a:lnTo>
                    <a:pt x="3165348" y="24384"/>
                  </a:lnTo>
                  <a:close/>
                </a:path>
                <a:path w="9017635" h="2537460">
                  <a:moveTo>
                    <a:pt x="3265932" y="24384"/>
                  </a:moveTo>
                  <a:lnTo>
                    <a:pt x="3189732" y="24384"/>
                  </a:lnTo>
                  <a:lnTo>
                    <a:pt x="3189732" y="0"/>
                  </a:lnTo>
                  <a:lnTo>
                    <a:pt x="3265932" y="0"/>
                  </a:lnTo>
                  <a:lnTo>
                    <a:pt x="3265932" y="24384"/>
                  </a:lnTo>
                  <a:close/>
                </a:path>
                <a:path w="9017635" h="2537460">
                  <a:moveTo>
                    <a:pt x="3368040" y="24384"/>
                  </a:moveTo>
                  <a:lnTo>
                    <a:pt x="3291840" y="24384"/>
                  </a:lnTo>
                  <a:lnTo>
                    <a:pt x="3291840" y="0"/>
                  </a:lnTo>
                  <a:lnTo>
                    <a:pt x="3368040" y="0"/>
                  </a:lnTo>
                  <a:lnTo>
                    <a:pt x="3368040" y="24384"/>
                  </a:lnTo>
                  <a:close/>
                </a:path>
                <a:path w="9017635" h="2537460">
                  <a:moveTo>
                    <a:pt x="3470148" y="24384"/>
                  </a:moveTo>
                  <a:lnTo>
                    <a:pt x="3393948" y="24384"/>
                  </a:lnTo>
                  <a:lnTo>
                    <a:pt x="3393948" y="0"/>
                  </a:lnTo>
                  <a:lnTo>
                    <a:pt x="3470148" y="0"/>
                  </a:lnTo>
                  <a:lnTo>
                    <a:pt x="3470148" y="24384"/>
                  </a:lnTo>
                  <a:close/>
                </a:path>
                <a:path w="9017635" h="2537460">
                  <a:moveTo>
                    <a:pt x="3570732" y="24384"/>
                  </a:moveTo>
                  <a:lnTo>
                    <a:pt x="3494532" y="24384"/>
                  </a:lnTo>
                  <a:lnTo>
                    <a:pt x="3494532" y="0"/>
                  </a:lnTo>
                  <a:lnTo>
                    <a:pt x="3570732" y="0"/>
                  </a:lnTo>
                  <a:lnTo>
                    <a:pt x="3570732" y="24384"/>
                  </a:lnTo>
                  <a:close/>
                </a:path>
                <a:path w="9017635" h="2537460">
                  <a:moveTo>
                    <a:pt x="3672840" y="24384"/>
                  </a:moveTo>
                  <a:lnTo>
                    <a:pt x="3596640" y="24384"/>
                  </a:lnTo>
                  <a:lnTo>
                    <a:pt x="3596640" y="0"/>
                  </a:lnTo>
                  <a:lnTo>
                    <a:pt x="3672840" y="0"/>
                  </a:lnTo>
                  <a:lnTo>
                    <a:pt x="3672840" y="24384"/>
                  </a:lnTo>
                  <a:close/>
                </a:path>
                <a:path w="9017635" h="2537460">
                  <a:moveTo>
                    <a:pt x="3774948" y="24384"/>
                  </a:moveTo>
                  <a:lnTo>
                    <a:pt x="3698748" y="24384"/>
                  </a:lnTo>
                  <a:lnTo>
                    <a:pt x="3698748" y="0"/>
                  </a:lnTo>
                  <a:lnTo>
                    <a:pt x="3774948" y="0"/>
                  </a:lnTo>
                  <a:lnTo>
                    <a:pt x="3774948" y="24384"/>
                  </a:lnTo>
                  <a:close/>
                </a:path>
                <a:path w="9017635" h="2537460">
                  <a:moveTo>
                    <a:pt x="3875532" y="24384"/>
                  </a:moveTo>
                  <a:lnTo>
                    <a:pt x="3799332" y="24384"/>
                  </a:lnTo>
                  <a:lnTo>
                    <a:pt x="3799332" y="0"/>
                  </a:lnTo>
                  <a:lnTo>
                    <a:pt x="3875532" y="0"/>
                  </a:lnTo>
                  <a:lnTo>
                    <a:pt x="3875532" y="24384"/>
                  </a:lnTo>
                  <a:close/>
                </a:path>
                <a:path w="9017635" h="2537460">
                  <a:moveTo>
                    <a:pt x="3977640" y="24384"/>
                  </a:moveTo>
                  <a:lnTo>
                    <a:pt x="3901440" y="24384"/>
                  </a:lnTo>
                  <a:lnTo>
                    <a:pt x="3901440" y="0"/>
                  </a:lnTo>
                  <a:lnTo>
                    <a:pt x="3977640" y="0"/>
                  </a:lnTo>
                  <a:lnTo>
                    <a:pt x="3977640" y="24384"/>
                  </a:lnTo>
                  <a:close/>
                </a:path>
                <a:path w="9017635" h="2537460">
                  <a:moveTo>
                    <a:pt x="4079748" y="24384"/>
                  </a:moveTo>
                  <a:lnTo>
                    <a:pt x="4003548" y="24384"/>
                  </a:lnTo>
                  <a:lnTo>
                    <a:pt x="4003548" y="0"/>
                  </a:lnTo>
                  <a:lnTo>
                    <a:pt x="4079748" y="0"/>
                  </a:lnTo>
                  <a:lnTo>
                    <a:pt x="4079748" y="24384"/>
                  </a:lnTo>
                  <a:close/>
                </a:path>
                <a:path w="9017635" h="2537460">
                  <a:moveTo>
                    <a:pt x="4180332" y="24384"/>
                  </a:moveTo>
                  <a:lnTo>
                    <a:pt x="4104132" y="24384"/>
                  </a:lnTo>
                  <a:lnTo>
                    <a:pt x="4104132" y="0"/>
                  </a:lnTo>
                  <a:lnTo>
                    <a:pt x="4180332" y="0"/>
                  </a:lnTo>
                  <a:lnTo>
                    <a:pt x="4180332" y="24384"/>
                  </a:lnTo>
                  <a:close/>
                </a:path>
                <a:path w="9017635" h="2537460">
                  <a:moveTo>
                    <a:pt x="4282440" y="24384"/>
                  </a:moveTo>
                  <a:lnTo>
                    <a:pt x="4206240" y="24384"/>
                  </a:lnTo>
                  <a:lnTo>
                    <a:pt x="4206240" y="0"/>
                  </a:lnTo>
                  <a:lnTo>
                    <a:pt x="4282440" y="0"/>
                  </a:lnTo>
                  <a:lnTo>
                    <a:pt x="4282440" y="24384"/>
                  </a:lnTo>
                  <a:close/>
                </a:path>
                <a:path w="9017635" h="2537460">
                  <a:moveTo>
                    <a:pt x="4384547" y="24384"/>
                  </a:moveTo>
                  <a:lnTo>
                    <a:pt x="4308348" y="24384"/>
                  </a:lnTo>
                  <a:lnTo>
                    <a:pt x="4308348" y="0"/>
                  </a:lnTo>
                  <a:lnTo>
                    <a:pt x="4384547" y="0"/>
                  </a:lnTo>
                  <a:lnTo>
                    <a:pt x="4384547" y="24384"/>
                  </a:lnTo>
                  <a:close/>
                </a:path>
                <a:path w="9017635" h="2537460">
                  <a:moveTo>
                    <a:pt x="4485131" y="24384"/>
                  </a:moveTo>
                  <a:lnTo>
                    <a:pt x="4408931" y="24384"/>
                  </a:lnTo>
                  <a:lnTo>
                    <a:pt x="4408931" y="0"/>
                  </a:lnTo>
                  <a:lnTo>
                    <a:pt x="4485131" y="0"/>
                  </a:lnTo>
                  <a:lnTo>
                    <a:pt x="4485131" y="24384"/>
                  </a:lnTo>
                  <a:close/>
                </a:path>
                <a:path w="9017635" h="2537460">
                  <a:moveTo>
                    <a:pt x="4587240" y="24384"/>
                  </a:moveTo>
                  <a:lnTo>
                    <a:pt x="4511040" y="24384"/>
                  </a:lnTo>
                  <a:lnTo>
                    <a:pt x="4511040" y="0"/>
                  </a:lnTo>
                  <a:lnTo>
                    <a:pt x="4587240" y="0"/>
                  </a:lnTo>
                  <a:lnTo>
                    <a:pt x="4587240" y="24384"/>
                  </a:lnTo>
                  <a:close/>
                </a:path>
                <a:path w="9017635" h="2537460">
                  <a:moveTo>
                    <a:pt x="4689347" y="24384"/>
                  </a:moveTo>
                  <a:lnTo>
                    <a:pt x="4613147" y="24384"/>
                  </a:lnTo>
                  <a:lnTo>
                    <a:pt x="4613147" y="0"/>
                  </a:lnTo>
                  <a:lnTo>
                    <a:pt x="4689347" y="0"/>
                  </a:lnTo>
                  <a:lnTo>
                    <a:pt x="4689347" y="24384"/>
                  </a:lnTo>
                  <a:close/>
                </a:path>
                <a:path w="9017635" h="2537460">
                  <a:moveTo>
                    <a:pt x="4789931" y="24384"/>
                  </a:moveTo>
                  <a:lnTo>
                    <a:pt x="4713731" y="24384"/>
                  </a:lnTo>
                  <a:lnTo>
                    <a:pt x="4713731" y="0"/>
                  </a:lnTo>
                  <a:lnTo>
                    <a:pt x="4789931" y="0"/>
                  </a:lnTo>
                  <a:lnTo>
                    <a:pt x="4789931" y="24384"/>
                  </a:lnTo>
                  <a:close/>
                </a:path>
                <a:path w="9017635" h="2537460">
                  <a:moveTo>
                    <a:pt x="4892040" y="24384"/>
                  </a:moveTo>
                  <a:lnTo>
                    <a:pt x="4815840" y="24384"/>
                  </a:lnTo>
                  <a:lnTo>
                    <a:pt x="4815840" y="0"/>
                  </a:lnTo>
                  <a:lnTo>
                    <a:pt x="4892040" y="0"/>
                  </a:lnTo>
                  <a:lnTo>
                    <a:pt x="4892040" y="24384"/>
                  </a:lnTo>
                  <a:close/>
                </a:path>
                <a:path w="9017635" h="2537460">
                  <a:moveTo>
                    <a:pt x="4994147" y="24384"/>
                  </a:moveTo>
                  <a:lnTo>
                    <a:pt x="4917947" y="24384"/>
                  </a:lnTo>
                  <a:lnTo>
                    <a:pt x="4917947" y="0"/>
                  </a:lnTo>
                  <a:lnTo>
                    <a:pt x="4994147" y="0"/>
                  </a:lnTo>
                  <a:lnTo>
                    <a:pt x="4994147" y="24384"/>
                  </a:lnTo>
                  <a:close/>
                </a:path>
                <a:path w="9017635" h="2537460">
                  <a:moveTo>
                    <a:pt x="5094731" y="24384"/>
                  </a:moveTo>
                  <a:lnTo>
                    <a:pt x="5018531" y="24384"/>
                  </a:lnTo>
                  <a:lnTo>
                    <a:pt x="5018531" y="0"/>
                  </a:lnTo>
                  <a:lnTo>
                    <a:pt x="5094731" y="0"/>
                  </a:lnTo>
                  <a:lnTo>
                    <a:pt x="5094731" y="24384"/>
                  </a:lnTo>
                  <a:close/>
                </a:path>
                <a:path w="9017635" h="2537460">
                  <a:moveTo>
                    <a:pt x="5196840" y="24384"/>
                  </a:moveTo>
                  <a:lnTo>
                    <a:pt x="5120640" y="24384"/>
                  </a:lnTo>
                  <a:lnTo>
                    <a:pt x="5120640" y="0"/>
                  </a:lnTo>
                  <a:lnTo>
                    <a:pt x="5196840" y="0"/>
                  </a:lnTo>
                  <a:lnTo>
                    <a:pt x="5196840" y="24384"/>
                  </a:lnTo>
                  <a:close/>
                </a:path>
                <a:path w="9017635" h="2537460">
                  <a:moveTo>
                    <a:pt x="5298947" y="24384"/>
                  </a:moveTo>
                  <a:lnTo>
                    <a:pt x="5222747" y="24384"/>
                  </a:lnTo>
                  <a:lnTo>
                    <a:pt x="5222747" y="0"/>
                  </a:lnTo>
                  <a:lnTo>
                    <a:pt x="5298947" y="0"/>
                  </a:lnTo>
                  <a:lnTo>
                    <a:pt x="5298947" y="24384"/>
                  </a:lnTo>
                  <a:close/>
                </a:path>
                <a:path w="9017635" h="2537460">
                  <a:moveTo>
                    <a:pt x="5399531" y="24384"/>
                  </a:moveTo>
                  <a:lnTo>
                    <a:pt x="5323331" y="24384"/>
                  </a:lnTo>
                  <a:lnTo>
                    <a:pt x="5323331" y="0"/>
                  </a:lnTo>
                  <a:lnTo>
                    <a:pt x="5399531" y="0"/>
                  </a:lnTo>
                  <a:lnTo>
                    <a:pt x="5399531" y="24384"/>
                  </a:lnTo>
                  <a:close/>
                </a:path>
                <a:path w="9017635" h="2537460">
                  <a:moveTo>
                    <a:pt x="5501640" y="24384"/>
                  </a:moveTo>
                  <a:lnTo>
                    <a:pt x="5425440" y="24384"/>
                  </a:lnTo>
                  <a:lnTo>
                    <a:pt x="5425440" y="0"/>
                  </a:lnTo>
                  <a:lnTo>
                    <a:pt x="5501640" y="0"/>
                  </a:lnTo>
                  <a:lnTo>
                    <a:pt x="5501640" y="24384"/>
                  </a:lnTo>
                  <a:close/>
                </a:path>
                <a:path w="9017635" h="2537460">
                  <a:moveTo>
                    <a:pt x="5603747" y="24384"/>
                  </a:moveTo>
                  <a:lnTo>
                    <a:pt x="5527547" y="24384"/>
                  </a:lnTo>
                  <a:lnTo>
                    <a:pt x="5527547" y="0"/>
                  </a:lnTo>
                  <a:lnTo>
                    <a:pt x="5603747" y="0"/>
                  </a:lnTo>
                  <a:lnTo>
                    <a:pt x="5603747" y="24384"/>
                  </a:lnTo>
                  <a:close/>
                </a:path>
                <a:path w="9017635" h="2537460">
                  <a:moveTo>
                    <a:pt x="5704331" y="24384"/>
                  </a:moveTo>
                  <a:lnTo>
                    <a:pt x="5628131" y="24384"/>
                  </a:lnTo>
                  <a:lnTo>
                    <a:pt x="5628131" y="0"/>
                  </a:lnTo>
                  <a:lnTo>
                    <a:pt x="5704331" y="0"/>
                  </a:lnTo>
                  <a:lnTo>
                    <a:pt x="5704331" y="24384"/>
                  </a:lnTo>
                  <a:close/>
                </a:path>
                <a:path w="9017635" h="2537460">
                  <a:moveTo>
                    <a:pt x="5806440" y="24384"/>
                  </a:moveTo>
                  <a:lnTo>
                    <a:pt x="5730240" y="24384"/>
                  </a:lnTo>
                  <a:lnTo>
                    <a:pt x="5730240" y="0"/>
                  </a:lnTo>
                  <a:lnTo>
                    <a:pt x="5806440" y="0"/>
                  </a:lnTo>
                  <a:lnTo>
                    <a:pt x="5806440" y="24384"/>
                  </a:lnTo>
                  <a:close/>
                </a:path>
                <a:path w="9017635" h="2537460">
                  <a:moveTo>
                    <a:pt x="5908547" y="24384"/>
                  </a:moveTo>
                  <a:lnTo>
                    <a:pt x="5832347" y="24384"/>
                  </a:lnTo>
                  <a:lnTo>
                    <a:pt x="5832347" y="0"/>
                  </a:lnTo>
                  <a:lnTo>
                    <a:pt x="5908547" y="0"/>
                  </a:lnTo>
                  <a:lnTo>
                    <a:pt x="5908547" y="24384"/>
                  </a:lnTo>
                  <a:close/>
                </a:path>
                <a:path w="9017635" h="2537460">
                  <a:moveTo>
                    <a:pt x="6009131" y="24384"/>
                  </a:moveTo>
                  <a:lnTo>
                    <a:pt x="5932931" y="24384"/>
                  </a:lnTo>
                  <a:lnTo>
                    <a:pt x="5932931" y="0"/>
                  </a:lnTo>
                  <a:lnTo>
                    <a:pt x="6009131" y="0"/>
                  </a:lnTo>
                  <a:lnTo>
                    <a:pt x="6009131" y="24384"/>
                  </a:lnTo>
                  <a:close/>
                </a:path>
                <a:path w="9017635" h="2537460">
                  <a:moveTo>
                    <a:pt x="6111240" y="24384"/>
                  </a:moveTo>
                  <a:lnTo>
                    <a:pt x="6035040" y="24384"/>
                  </a:lnTo>
                  <a:lnTo>
                    <a:pt x="6035040" y="0"/>
                  </a:lnTo>
                  <a:lnTo>
                    <a:pt x="6111240" y="0"/>
                  </a:lnTo>
                  <a:lnTo>
                    <a:pt x="6111240" y="24384"/>
                  </a:lnTo>
                  <a:close/>
                </a:path>
                <a:path w="9017635" h="2537460">
                  <a:moveTo>
                    <a:pt x="6213347" y="24384"/>
                  </a:moveTo>
                  <a:lnTo>
                    <a:pt x="6137147" y="24384"/>
                  </a:lnTo>
                  <a:lnTo>
                    <a:pt x="6137147" y="0"/>
                  </a:lnTo>
                  <a:lnTo>
                    <a:pt x="6213347" y="0"/>
                  </a:lnTo>
                  <a:lnTo>
                    <a:pt x="6213347" y="24384"/>
                  </a:lnTo>
                  <a:close/>
                </a:path>
                <a:path w="9017635" h="2537460">
                  <a:moveTo>
                    <a:pt x="6313931" y="24384"/>
                  </a:moveTo>
                  <a:lnTo>
                    <a:pt x="6237731" y="24384"/>
                  </a:lnTo>
                  <a:lnTo>
                    <a:pt x="6237731" y="0"/>
                  </a:lnTo>
                  <a:lnTo>
                    <a:pt x="6313931" y="0"/>
                  </a:lnTo>
                  <a:lnTo>
                    <a:pt x="6313931" y="24384"/>
                  </a:lnTo>
                  <a:close/>
                </a:path>
                <a:path w="9017635" h="2537460">
                  <a:moveTo>
                    <a:pt x="6416040" y="24384"/>
                  </a:moveTo>
                  <a:lnTo>
                    <a:pt x="6339840" y="24384"/>
                  </a:lnTo>
                  <a:lnTo>
                    <a:pt x="6339840" y="0"/>
                  </a:lnTo>
                  <a:lnTo>
                    <a:pt x="6416040" y="0"/>
                  </a:lnTo>
                  <a:lnTo>
                    <a:pt x="6416040" y="24384"/>
                  </a:lnTo>
                  <a:close/>
                </a:path>
                <a:path w="9017635" h="2537460">
                  <a:moveTo>
                    <a:pt x="6518147" y="24384"/>
                  </a:moveTo>
                  <a:lnTo>
                    <a:pt x="6441947" y="24384"/>
                  </a:lnTo>
                  <a:lnTo>
                    <a:pt x="6441947" y="0"/>
                  </a:lnTo>
                  <a:lnTo>
                    <a:pt x="6518147" y="0"/>
                  </a:lnTo>
                  <a:lnTo>
                    <a:pt x="6518147" y="24384"/>
                  </a:lnTo>
                  <a:close/>
                </a:path>
                <a:path w="9017635" h="2537460">
                  <a:moveTo>
                    <a:pt x="6618731" y="24384"/>
                  </a:moveTo>
                  <a:lnTo>
                    <a:pt x="6542531" y="24384"/>
                  </a:lnTo>
                  <a:lnTo>
                    <a:pt x="6542531" y="0"/>
                  </a:lnTo>
                  <a:lnTo>
                    <a:pt x="6618731" y="0"/>
                  </a:lnTo>
                  <a:lnTo>
                    <a:pt x="6618731" y="24384"/>
                  </a:lnTo>
                  <a:close/>
                </a:path>
                <a:path w="9017635" h="2537460">
                  <a:moveTo>
                    <a:pt x="6720840" y="24384"/>
                  </a:moveTo>
                  <a:lnTo>
                    <a:pt x="6644640" y="24384"/>
                  </a:lnTo>
                  <a:lnTo>
                    <a:pt x="6644640" y="0"/>
                  </a:lnTo>
                  <a:lnTo>
                    <a:pt x="6720840" y="0"/>
                  </a:lnTo>
                  <a:lnTo>
                    <a:pt x="6720840" y="24384"/>
                  </a:lnTo>
                  <a:close/>
                </a:path>
                <a:path w="9017635" h="2537460">
                  <a:moveTo>
                    <a:pt x="6822947" y="24384"/>
                  </a:moveTo>
                  <a:lnTo>
                    <a:pt x="6746747" y="24384"/>
                  </a:lnTo>
                  <a:lnTo>
                    <a:pt x="6746747" y="0"/>
                  </a:lnTo>
                  <a:lnTo>
                    <a:pt x="6822947" y="0"/>
                  </a:lnTo>
                  <a:lnTo>
                    <a:pt x="6822947" y="24384"/>
                  </a:lnTo>
                  <a:close/>
                </a:path>
                <a:path w="9017635" h="2537460">
                  <a:moveTo>
                    <a:pt x="6923531" y="24384"/>
                  </a:moveTo>
                  <a:lnTo>
                    <a:pt x="6847331" y="24384"/>
                  </a:lnTo>
                  <a:lnTo>
                    <a:pt x="6847331" y="0"/>
                  </a:lnTo>
                  <a:lnTo>
                    <a:pt x="6923531" y="0"/>
                  </a:lnTo>
                  <a:lnTo>
                    <a:pt x="6923531" y="24384"/>
                  </a:lnTo>
                  <a:close/>
                </a:path>
                <a:path w="9017635" h="2537460">
                  <a:moveTo>
                    <a:pt x="7025640" y="24384"/>
                  </a:moveTo>
                  <a:lnTo>
                    <a:pt x="6949440" y="24384"/>
                  </a:lnTo>
                  <a:lnTo>
                    <a:pt x="6949440" y="0"/>
                  </a:lnTo>
                  <a:lnTo>
                    <a:pt x="7025640" y="0"/>
                  </a:lnTo>
                  <a:lnTo>
                    <a:pt x="7025640" y="24384"/>
                  </a:lnTo>
                  <a:close/>
                </a:path>
                <a:path w="9017635" h="2537460">
                  <a:moveTo>
                    <a:pt x="7127747" y="24384"/>
                  </a:moveTo>
                  <a:lnTo>
                    <a:pt x="7051547" y="24384"/>
                  </a:lnTo>
                  <a:lnTo>
                    <a:pt x="7051547" y="0"/>
                  </a:lnTo>
                  <a:lnTo>
                    <a:pt x="7127747" y="0"/>
                  </a:lnTo>
                  <a:lnTo>
                    <a:pt x="7127747" y="24384"/>
                  </a:lnTo>
                  <a:close/>
                </a:path>
                <a:path w="9017635" h="2537460">
                  <a:moveTo>
                    <a:pt x="7228331" y="24384"/>
                  </a:moveTo>
                  <a:lnTo>
                    <a:pt x="7152131" y="24384"/>
                  </a:lnTo>
                  <a:lnTo>
                    <a:pt x="7152131" y="0"/>
                  </a:lnTo>
                  <a:lnTo>
                    <a:pt x="7228331" y="0"/>
                  </a:lnTo>
                  <a:lnTo>
                    <a:pt x="7228331" y="24384"/>
                  </a:lnTo>
                  <a:close/>
                </a:path>
                <a:path w="9017635" h="2537460">
                  <a:moveTo>
                    <a:pt x="7330440" y="24384"/>
                  </a:moveTo>
                  <a:lnTo>
                    <a:pt x="7254240" y="24384"/>
                  </a:lnTo>
                  <a:lnTo>
                    <a:pt x="7254240" y="0"/>
                  </a:lnTo>
                  <a:lnTo>
                    <a:pt x="7330440" y="0"/>
                  </a:lnTo>
                  <a:lnTo>
                    <a:pt x="7330440" y="24384"/>
                  </a:lnTo>
                  <a:close/>
                </a:path>
                <a:path w="9017635" h="2537460">
                  <a:moveTo>
                    <a:pt x="7432548" y="24384"/>
                  </a:moveTo>
                  <a:lnTo>
                    <a:pt x="7356348" y="24384"/>
                  </a:lnTo>
                  <a:lnTo>
                    <a:pt x="7356348" y="0"/>
                  </a:lnTo>
                  <a:lnTo>
                    <a:pt x="7432548" y="0"/>
                  </a:lnTo>
                  <a:lnTo>
                    <a:pt x="7432548" y="24384"/>
                  </a:lnTo>
                  <a:close/>
                </a:path>
                <a:path w="9017635" h="2537460">
                  <a:moveTo>
                    <a:pt x="7533131" y="24384"/>
                  </a:moveTo>
                  <a:lnTo>
                    <a:pt x="7456931" y="24384"/>
                  </a:lnTo>
                  <a:lnTo>
                    <a:pt x="7456931" y="0"/>
                  </a:lnTo>
                  <a:lnTo>
                    <a:pt x="7533131" y="0"/>
                  </a:lnTo>
                  <a:lnTo>
                    <a:pt x="7533131" y="24384"/>
                  </a:lnTo>
                  <a:close/>
                </a:path>
                <a:path w="9017635" h="2537460">
                  <a:moveTo>
                    <a:pt x="7635240" y="24384"/>
                  </a:moveTo>
                  <a:lnTo>
                    <a:pt x="7559040" y="24384"/>
                  </a:lnTo>
                  <a:lnTo>
                    <a:pt x="7559040" y="0"/>
                  </a:lnTo>
                  <a:lnTo>
                    <a:pt x="7635240" y="0"/>
                  </a:lnTo>
                  <a:lnTo>
                    <a:pt x="7635240" y="24384"/>
                  </a:lnTo>
                  <a:close/>
                </a:path>
                <a:path w="9017635" h="2537460">
                  <a:moveTo>
                    <a:pt x="7737348" y="24384"/>
                  </a:moveTo>
                  <a:lnTo>
                    <a:pt x="7661148" y="24384"/>
                  </a:lnTo>
                  <a:lnTo>
                    <a:pt x="7661148" y="0"/>
                  </a:lnTo>
                  <a:lnTo>
                    <a:pt x="7737348" y="0"/>
                  </a:lnTo>
                  <a:lnTo>
                    <a:pt x="7737348" y="24384"/>
                  </a:lnTo>
                  <a:close/>
                </a:path>
                <a:path w="9017635" h="2537460">
                  <a:moveTo>
                    <a:pt x="7837931" y="24384"/>
                  </a:moveTo>
                  <a:lnTo>
                    <a:pt x="7761731" y="24384"/>
                  </a:lnTo>
                  <a:lnTo>
                    <a:pt x="7761731" y="0"/>
                  </a:lnTo>
                  <a:lnTo>
                    <a:pt x="7837931" y="0"/>
                  </a:lnTo>
                  <a:lnTo>
                    <a:pt x="7837931" y="24384"/>
                  </a:lnTo>
                  <a:close/>
                </a:path>
                <a:path w="9017635" h="2537460">
                  <a:moveTo>
                    <a:pt x="7940040" y="24384"/>
                  </a:moveTo>
                  <a:lnTo>
                    <a:pt x="7863840" y="24384"/>
                  </a:lnTo>
                  <a:lnTo>
                    <a:pt x="7863840" y="0"/>
                  </a:lnTo>
                  <a:lnTo>
                    <a:pt x="7940040" y="0"/>
                  </a:lnTo>
                  <a:lnTo>
                    <a:pt x="7940040" y="24384"/>
                  </a:lnTo>
                  <a:close/>
                </a:path>
                <a:path w="9017635" h="2537460">
                  <a:moveTo>
                    <a:pt x="8042148" y="24384"/>
                  </a:moveTo>
                  <a:lnTo>
                    <a:pt x="7965948" y="24384"/>
                  </a:lnTo>
                  <a:lnTo>
                    <a:pt x="7965948" y="0"/>
                  </a:lnTo>
                  <a:lnTo>
                    <a:pt x="8042148" y="0"/>
                  </a:lnTo>
                  <a:lnTo>
                    <a:pt x="8042148" y="24384"/>
                  </a:lnTo>
                  <a:close/>
                </a:path>
                <a:path w="9017635" h="2537460">
                  <a:moveTo>
                    <a:pt x="8142732" y="24384"/>
                  </a:moveTo>
                  <a:lnTo>
                    <a:pt x="8066532" y="24384"/>
                  </a:lnTo>
                  <a:lnTo>
                    <a:pt x="8066532" y="0"/>
                  </a:lnTo>
                  <a:lnTo>
                    <a:pt x="8142732" y="0"/>
                  </a:lnTo>
                  <a:lnTo>
                    <a:pt x="8142732" y="24384"/>
                  </a:lnTo>
                  <a:close/>
                </a:path>
                <a:path w="9017635" h="2537460">
                  <a:moveTo>
                    <a:pt x="8244840" y="24384"/>
                  </a:moveTo>
                  <a:lnTo>
                    <a:pt x="8168640" y="24384"/>
                  </a:lnTo>
                  <a:lnTo>
                    <a:pt x="8168640" y="0"/>
                  </a:lnTo>
                  <a:lnTo>
                    <a:pt x="8244840" y="0"/>
                  </a:lnTo>
                  <a:lnTo>
                    <a:pt x="8244840" y="24384"/>
                  </a:lnTo>
                  <a:close/>
                </a:path>
                <a:path w="9017635" h="2537460">
                  <a:moveTo>
                    <a:pt x="8346948" y="24384"/>
                  </a:moveTo>
                  <a:lnTo>
                    <a:pt x="8270748" y="24384"/>
                  </a:lnTo>
                  <a:lnTo>
                    <a:pt x="8270748" y="0"/>
                  </a:lnTo>
                  <a:lnTo>
                    <a:pt x="8346948" y="0"/>
                  </a:lnTo>
                  <a:lnTo>
                    <a:pt x="8346948" y="24384"/>
                  </a:lnTo>
                  <a:close/>
                </a:path>
                <a:path w="9017635" h="2537460">
                  <a:moveTo>
                    <a:pt x="8447532" y="24384"/>
                  </a:moveTo>
                  <a:lnTo>
                    <a:pt x="8371332" y="24384"/>
                  </a:lnTo>
                  <a:lnTo>
                    <a:pt x="8371332" y="0"/>
                  </a:lnTo>
                  <a:lnTo>
                    <a:pt x="8447532" y="0"/>
                  </a:lnTo>
                  <a:lnTo>
                    <a:pt x="8447532" y="24384"/>
                  </a:lnTo>
                  <a:close/>
                </a:path>
                <a:path w="9017635" h="2537460">
                  <a:moveTo>
                    <a:pt x="8549640" y="24384"/>
                  </a:moveTo>
                  <a:lnTo>
                    <a:pt x="8473440" y="24384"/>
                  </a:lnTo>
                  <a:lnTo>
                    <a:pt x="8473440" y="0"/>
                  </a:lnTo>
                  <a:lnTo>
                    <a:pt x="8549640" y="0"/>
                  </a:lnTo>
                  <a:lnTo>
                    <a:pt x="8549640" y="24384"/>
                  </a:lnTo>
                  <a:close/>
                </a:path>
                <a:path w="9017635" h="2537460">
                  <a:moveTo>
                    <a:pt x="8651748" y="24384"/>
                  </a:moveTo>
                  <a:lnTo>
                    <a:pt x="8575548" y="24384"/>
                  </a:lnTo>
                  <a:lnTo>
                    <a:pt x="8575548" y="0"/>
                  </a:lnTo>
                  <a:lnTo>
                    <a:pt x="8651748" y="0"/>
                  </a:lnTo>
                  <a:lnTo>
                    <a:pt x="8651748" y="24384"/>
                  </a:lnTo>
                  <a:close/>
                </a:path>
                <a:path w="9017635" h="2537460">
                  <a:moveTo>
                    <a:pt x="8752332" y="24384"/>
                  </a:moveTo>
                  <a:lnTo>
                    <a:pt x="8676132" y="24384"/>
                  </a:lnTo>
                  <a:lnTo>
                    <a:pt x="8676132" y="0"/>
                  </a:lnTo>
                  <a:lnTo>
                    <a:pt x="8752332" y="0"/>
                  </a:lnTo>
                  <a:lnTo>
                    <a:pt x="8752332" y="24384"/>
                  </a:lnTo>
                  <a:close/>
                </a:path>
                <a:path w="9017635" h="2537460">
                  <a:moveTo>
                    <a:pt x="8854440" y="24384"/>
                  </a:moveTo>
                  <a:lnTo>
                    <a:pt x="8778240" y="24384"/>
                  </a:lnTo>
                  <a:lnTo>
                    <a:pt x="8778240" y="0"/>
                  </a:lnTo>
                  <a:lnTo>
                    <a:pt x="8854440" y="0"/>
                  </a:lnTo>
                  <a:lnTo>
                    <a:pt x="8854440" y="24384"/>
                  </a:lnTo>
                  <a:close/>
                </a:path>
                <a:path w="9017635" h="2537460">
                  <a:moveTo>
                    <a:pt x="8956548" y="24384"/>
                  </a:moveTo>
                  <a:lnTo>
                    <a:pt x="8880348" y="24384"/>
                  </a:lnTo>
                  <a:lnTo>
                    <a:pt x="8880348" y="0"/>
                  </a:lnTo>
                  <a:lnTo>
                    <a:pt x="8956548" y="0"/>
                  </a:lnTo>
                  <a:lnTo>
                    <a:pt x="8956548" y="24384"/>
                  </a:lnTo>
                  <a:close/>
                </a:path>
                <a:path w="9017635" h="2537460">
                  <a:moveTo>
                    <a:pt x="8991599" y="24384"/>
                  </a:moveTo>
                  <a:lnTo>
                    <a:pt x="8980932" y="24384"/>
                  </a:lnTo>
                  <a:lnTo>
                    <a:pt x="8980932" y="0"/>
                  </a:lnTo>
                  <a:lnTo>
                    <a:pt x="9011412" y="0"/>
                  </a:lnTo>
                  <a:lnTo>
                    <a:pt x="9017508" y="4572"/>
                  </a:lnTo>
                  <a:lnTo>
                    <a:pt x="9017508" y="12191"/>
                  </a:lnTo>
                  <a:lnTo>
                    <a:pt x="8991599" y="12191"/>
                  </a:lnTo>
                  <a:lnTo>
                    <a:pt x="8991599" y="24384"/>
                  </a:lnTo>
                  <a:close/>
                </a:path>
                <a:path w="9017635" h="2537460">
                  <a:moveTo>
                    <a:pt x="9017508" y="65532"/>
                  </a:moveTo>
                  <a:lnTo>
                    <a:pt x="8991599" y="65532"/>
                  </a:lnTo>
                  <a:lnTo>
                    <a:pt x="8991599" y="12191"/>
                  </a:lnTo>
                  <a:lnTo>
                    <a:pt x="9003792" y="24384"/>
                  </a:lnTo>
                  <a:lnTo>
                    <a:pt x="9017508" y="24384"/>
                  </a:lnTo>
                  <a:lnTo>
                    <a:pt x="9017508" y="65532"/>
                  </a:lnTo>
                  <a:close/>
                </a:path>
                <a:path w="9017635" h="2537460">
                  <a:moveTo>
                    <a:pt x="9017508" y="24384"/>
                  </a:moveTo>
                  <a:lnTo>
                    <a:pt x="9003792" y="24384"/>
                  </a:lnTo>
                  <a:lnTo>
                    <a:pt x="8991599" y="12191"/>
                  </a:lnTo>
                  <a:lnTo>
                    <a:pt x="9017508" y="12191"/>
                  </a:lnTo>
                  <a:lnTo>
                    <a:pt x="9017508" y="24384"/>
                  </a:lnTo>
                  <a:close/>
                </a:path>
                <a:path w="9017635" h="2537460">
                  <a:moveTo>
                    <a:pt x="9017508" y="167640"/>
                  </a:moveTo>
                  <a:lnTo>
                    <a:pt x="8991599" y="167640"/>
                  </a:lnTo>
                  <a:lnTo>
                    <a:pt x="8991599" y="91440"/>
                  </a:lnTo>
                  <a:lnTo>
                    <a:pt x="9017508" y="91440"/>
                  </a:lnTo>
                  <a:lnTo>
                    <a:pt x="9017508" y="167640"/>
                  </a:lnTo>
                  <a:close/>
                </a:path>
                <a:path w="9017635" h="2537460">
                  <a:moveTo>
                    <a:pt x="9017508" y="268224"/>
                  </a:moveTo>
                  <a:lnTo>
                    <a:pt x="8991599" y="268224"/>
                  </a:lnTo>
                  <a:lnTo>
                    <a:pt x="8991599" y="192024"/>
                  </a:lnTo>
                  <a:lnTo>
                    <a:pt x="9017508" y="192024"/>
                  </a:lnTo>
                  <a:lnTo>
                    <a:pt x="9017508" y="268224"/>
                  </a:lnTo>
                  <a:close/>
                </a:path>
                <a:path w="9017635" h="2537460">
                  <a:moveTo>
                    <a:pt x="9017508" y="370332"/>
                  </a:moveTo>
                  <a:lnTo>
                    <a:pt x="8991599" y="370332"/>
                  </a:lnTo>
                  <a:lnTo>
                    <a:pt x="8991599" y="294132"/>
                  </a:lnTo>
                  <a:lnTo>
                    <a:pt x="9017508" y="294132"/>
                  </a:lnTo>
                  <a:lnTo>
                    <a:pt x="9017508" y="370332"/>
                  </a:lnTo>
                  <a:close/>
                </a:path>
                <a:path w="9017635" h="2537460">
                  <a:moveTo>
                    <a:pt x="9017508" y="472440"/>
                  </a:moveTo>
                  <a:lnTo>
                    <a:pt x="8991599" y="472440"/>
                  </a:lnTo>
                  <a:lnTo>
                    <a:pt x="8991599" y="396240"/>
                  </a:lnTo>
                  <a:lnTo>
                    <a:pt x="9017508" y="396240"/>
                  </a:lnTo>
                  <a:lnTo>
                    <a:pt x="9017508" y="472440"/>
                  </a:lnTo>
                  <a:close/>
                </a:path>
                <a:path w="9017635" h="2537460">
                  <a:moveTo>
                    <a:pt x="9017508" y="573024"/>
                  </a:moveTo>
                  <a:lnTo>
                    <a:pt x="8991599" y="573024"/>
                  </a:lnTo>
                  <a:lnTo>
                    <a:pt x="8991599" y="496824"/>
                  </a:lnTo>
                  <a:lnTo>
                    <a:pt x="9017508" y="496824"/>
                  </a:lnTo>
                  <a:lnTo>
                    <a:pt x="9017508" y="573024"/>
                  </a:lnTo>
                  <a:close/>
                </a:path>
                <a:path w="9017635" h="2537460">
                  <a:moveTo>
                    <a:pt x="9017508" y="675132"/>
                  </a:moveTo>
                  <a:lnTo>
                    <a:pt x="8991599" y="675132"/>
                  </a:lnTo>
                  <a:lnTo>
                    <a:pt x="8991599" y="598932"/>
                  </a:lnTo>
                  <a:lnTo>
                    <a:pt x="9017508" y="598932"/>
                  </a:lnTo>
                  <a:lnTo>
                    <a:pt x="9017508" y="675132"/>
                  </a:lnTo>
                  <a:close/>
                </a:path>
                <a:path w="9017635" h="2537460">
                  <a:moveTo>
                    <a:pt x="9017508" y="777239"/>
                  </a:moveTo>
                  <a:lnTo>
                    <a:pt x="8991599" y="777239"/>
                  </a:lnTo>
                  <a:lnTo>
                    <a:pt x="8991599" y="701039"/>
                  </a:lnTo>
                  <a:lnTo>
                    <a:pt x="9017508" y="701039"/>
                  </a:lnTo>
                  <a:lnTo>
                    <a:pt x="9017508" y="777239"/>
                  </a:lnTo>
                  <a:close/>
                </a:path>
                <a:path w="9017635" h="2537460">
                  <a:moveTo>
                    <a:pt x="9017508" y="877824"/>
                  </a:moveTo>
                  <a:lnTo>
                    <a:pt x="8991599" y="877824"/>
                  </a:lnTo>
                  <a:lnTo>
                    <a:pt x="8991599" y="801624"/>
                  </a:lnTo>
                  <a:lnTo>
                    <a:pt x="9017508" y="801624"/>
                  </a:lnTo>
                  <a:lnTo>
                    <a:pt x="9017508" y="877824"/>
                  </a:lnTo>
                  <a:close/>
                </a:path>
                <a:path w="9017635" h="2537460">
                  <a:moveTo>
                    <a:pt x="9017508" y="979932"/>
                  </a:moveTo>
                  <a:lnTo>
                    <a:pt x="8991599" y="979932"/>
                  </a:lnTo>
                  <a:lnTo>
                    <a:pt x="8991599" y="903732"/>
                  </a:lnTo>
                  <a:lnTo>
                    <a:pt x="9017508" y="903732"/>
                  </a:lnTo>
                  <a:lnTo>
                    <a:pt x="9017508" y="979932"/>
                  </a:lnTo>
                  <a:close/>
                </a:path>
                <a:path w="9017635" h="2537460">
                  <a:moveTo>
                    <a:pt x="9017508" y="1082039"/>
                  </a:moveTo>
                  <a:lnTo>
                    <a:pt x="8991599" y="1082039"/>
                  </a:lnTo>
                  <a:lnTo>
                    <a:pt x="8991599" y="1005839"/>
                  </a:lnTo>
                  <a:lnTo>
                    <a:pt x="9017508" y="1005839"/>
                  </a:lnTo>
                  <a:lnTo>
                    <a:pt x="9017508" y="1082039"/>
                  </a:lnTo>
                  <a:close/>
                </a:path>
                <a:path w="9017635" h="2537460">
                  <a:moveTo>
                    <a:pt x="9017508" y="1182624"/>
                  </a:moveTo>
                  <a:lnTo>
                    <a:pt x="8991599" y="1182624"/>
                  </a:lnTo>
                  <a:lnTo>
                    <a:pt x="8991599" y="1106424"/>
                  </a:lnTo>
                  <a:lnTo>
                    <a:pt x="9017508" y="1106424"/>
                  </a:lnTo>
                  <a:lnTo>
                    <a:pt x="9017508" y="1182624"/>
                  </a:lnTo>
                  <a:close/>
                </a:path>
                <a:path w="9017635" h="2537460">
                  <a:moveTo>
                    <a:pt x="9017508" y="1284732"/>
                  </a:moveTo>
                  <a:lnTo>
                    <a:pt x="8991599" y="1284732"/>
                  </a:lnTo>
                  <a:lnTo>
                    <a:pt x="8991599" y="1208532"/>
                  </a:lnTo>
                  <a:lnTo>
                    <a:pt x="9017508" y="1208532"/>
                  </a:lnTo>
                  <a:lnTo>
                    <a:pt x="9017508" y="1284732"/>
                  </a:lnTo>
                  <a:close/>
                </a:path>
                <a:path w="9017635" h="2537460">
                  <a:moveTo>
                    <a:pt x="9017508" y="1386839"/>
                  </a:moveTo>
                  <a:lnTo>
                    <a:pt x="8991599" y="1386839"/>
                  </a:lnTo>
                  <a:lnTo>
                    <a:pt x="8991599" y="1310639"/>
                  </a:lnTo>
                  <a:lnTo>
                    <a:pt x="9017508" y="1310639"/>
                  </a:lnTo>
                  <a:lnTo>
                    <a:pt x="9017508" y="1386839"/>
                  </a:lnTo>
                  <a:close/>
                </a:path>
                <a:path w="9017635" h="2537460">
                  <a:moveTo>
                    <a:pt x="9017508" y="1487424"/>
                  </a:moveTo>
                  <a:lnTo>
                    <a:pt x="8991599" y="1487424"/>
                  </a:lnTo>
                  <a:lnTo>
                    <a:pt x="8991599" y="1411224"/>
                  </a:lnTo>
                  <a:lnTo>
                    <a:pt x="9017508" y="1411224"/>
                  </a:lnTo>
                  <a:lnTo>
                    <a:pt x="9017508" y="1487424"/>
                  </a:lnTo>
                  <a:close/>
                </a:path>
                <a:path w="9017635" h="2537460">
                  <a:moveTo>
                    <a:pt x="9017508" y="1589532"/>
                  </a:moveTo>
                  <a:lnTo>
                    <a:pt x="8991599" y="1589532"/>
                  </a:lnTo>
                  <a:lnTo>
                    <a:pt x="8991599" y="1513332"/>
                  </a:lnTo>
                  <a:lnTo>
                    <a:pt x="9017508" y="1513332"/>
                  </a:lnTo>
                  <a:lnTo>
                    <a:pt x="9017508" y="1589532"/>
                  </a:lnTo>
                  <a:close/>
                </a:path>
                <a:path w="9017635" h="2537460">
                  <a:moveTo>
                    <a:pt x="9017508" y="1691639"/>
                  </a:moveTo>
                  <a:lnTo>
                    <a:pt x="8991599" y="1691639"/>
                  </a:lnTo>
                  <a:lnTo>
                    <a:pt x="8991599" y="1615439"/>
                  </a:lnTo>
                  <a:lnTo>
                    <a:pt x="9017508" y="1615439"/>
                  </a:lnTo>
                  <a:lnTo>
                    <a:pt x="9017508" y="1691639"/>
                  </a:lnTo>
                  <a:close/>
                </a:path>
                <a:path w="9017635" h="2537460">
                  <a:moveTo>
                    <a:pt x="9017508" y="1792224"/>
                  </a:moveTo>
                  <a:lnTo>
                    <a:pt x="8991599" y="1792224"/>
                  </a:lnTo>
                  <a:lnTo>
                    <a:pt x="8991599" y="1716024"/>
                  </a:lnTo>
                  <a:lnTo>
                    <a:pt x="9017508" y="1716024"/>
                  </a:lnTo>
                  <a:lnTo>
                    <a:pt x="9017508" y="1792224"/>
                  </a:lnTo>
                  <a:close/>
                </a:path>
                <a:path w="9017635" h="2537460">
                  <a:moveTo>
                    <a:pt x="9017508" y="1894332"/>
                  </a:moveTo>
                  <a:lnTo>
                    <a:pt x="8991599" y="1894332"/>
                  </a:lnTo>
                  <a:lnTo>
                    <a:pt x="8991599" y="1818132"/>
                  </a:lnTo>
                  <a:lnTo>
                    <a:pt x="9017508" y="1818132"/>
                  </a:lnTo>
                  <a:lnTo>
                    <a:pt x="9017508" y="1894332"/>
                  </a:lnTo>
                  <a:close/>
                </a:path>
                <a:path w="9017635" h="2537460">
                  <a:moveTo>
                    <a:pt x="9017508" y="1996439"/>
                  </a:moveTo>
                  <a:lnTo>
                    <a:pt x="8991599" y="1996439"/>
                  </a:lnTo>
                  <a:lnTo>
                    <a:pt x="8991599" y="1920239"/>
                  </a:lnTo>
                  <a:lnTo>
                    <a:pt x="9017508" y="1920239"/>
                  </a:lnTo>
                  <a:lnTo>
                    <a:pt x="9017508" y="1996439"/>
                  </a:lnTo>
                  <a:close/>
                </a:path>
                <a:path w="9017635" h="2537460">
                  <a:moveTo>
                    <a:pt x="9017508" y="2097024"/>
                  </a:moveTo>
                  <a:lnTo>
                    <a:pt x="8991599" y="2097024"/>
                  </a:lnTo>
                  <a:lnTo>
                    <a:pt x="8991599" y="2020824"/>
                  </a:lnTo>
                  <a:lnTo>
                    <a:pt x="9017508" y="2020824"/>
                  </a:lnTo>
                  <a:lnTo>
                    <a:pt x="9017508" y="2097024"/>
                  </a:lnTo>
                  <a:close/>
                </a:path>
                <a:path w="9017635" h="2537460">
                  <a:moveTo>
                    <a:pt x="9017508" y="2199132"/>
                  </a:moveTo>
                  <a:lnTo>
                    <a:pt x="8991599" y="2199132"/>
                  </a:lnTo>
                  <a:lnTo>
                    <a:pt x="8991599" y="2122932"/>
                  </a:lnTo>
                  <a:lnTo>
                    <a:pt x="9017508" y="2122932"/>
                  </a:lnTo>
                  <a:lnTo>
                    <a:pt x="9017508" y="2199132"/>
                  </a:lnTo>
                  <a:close/>
                </a:path>
                <a:path w="9017635" h="2537460">
                  <a:moveTo>
                    <a:pt x="9017508" y="2301239"/>
                  </a:moveTo>
                  <a:lnTo>
                    <a:pt x="8991599" y="2301239"/>
                  </a:lnTo>
                  <a:lnTo>
                    <a:pt x="8991599" y="2225039"/>
                  </a:lnTo>
                  <a:lnTo>
                    <a:pt x="9017508" y="2225039"/>
                  </a:lnTo>
                  <a:lnTo>
                    <a:pt x="9017508" y="2301239"/>
                  </a:lnTo>
                  <a:close/>
                </a:path>
                <a:path w="9017635" h="2537460">
                  <a:moveTo>
                    <a:pt x="9017508" y="2401824"/>
                  </a:moveTo>
                  <a:lnTo>
                    <a:pt x="8991599" y="2401824"/>
                  </a:lnTo>
                  <a:lnTo>
                    <a:pt x="8991599" y="2325624"/>
                  </a:lnTo>
                  <a:lnTo>
                    <a:pt x="9017508" y="2325624"/>
                  </a:lnTo>
                  <a:lnTo>
                    <a:pt x="9017508" y="2401824"/>
                  </a:lnTo>
                  <a:close/>
                </a:path>
                <a:path w="9017635" h="2537460">
                  <a:moveTo>
                    <a:pt x="9017508" y="2503932"/>
                  </a:moveTo>
                  <a:lnTo>
                    <a:pt x="8991599" y="2503932"/>
                  </a:lnTo>
                  <a:lnTo>
                    <a:pt x="8991599" y="2427732"/>
                  </a:lnTo>
                  <a:lnTo>
                    <a:pt x="9017508" y="2427732"/>
                  </a:lnTo>
                  <a:lnTo>
                    <a:pt x="9017508" y="2503932"/>
                  </a:lnTo>
                  <a:close/>
                </a:path>
                <a:path w="9017635" h="2537460">
                  <a:moveTo>
                    <a:pt x="8999220" y="2537460"/>
                  </a:moveTo>
                  <a:lnTo>
                    <a:pt x="8923020" y="2537460"/>
                  </a:lnTo>
                  <a:lnTo>
                    <a:pt x="8923020" y="2511552"/>
                  </a:lnTo>
                  <a:lnTo>
                    <a:pt x="8999220" y="2511552"/>
                  </a:lnTo>
                  <a:lnTo>
                    <a:pt x="8999220" y="2537460"/>
                  </a:lnTo>
                  <a:close/>
                </a:path>
                <a:path w="9017635" h="2537460">
                  <a:moveTo>
                    <a:pt x="8897112" y="2537460"/>
                  </a:moveTo>
                  <a:lnTo>
                    <a:pt x="8820912" y="2537460"/>
                  </a:lnTo>
                  <a:lnTo>
                    <a:pt x="8820912" y="2511552"/>
                  </a:lnTo>
                  <a:lnTo>
                    <a:pt x="8897112" y="2511552"/>
                  </a:lnTo>
                  <a:lnTo>
                    <a:pt x="8897112" y="2537460"/>
                  </a:lnTo>
                  <a:close/>
                </a:path>
                <a:path w="9017635" h="2537460">
                  <a:moveTo>
                    <a:pt x="8796528" y="2537460"/>
                  </a:moveTo>
                  <a:lnTo>
                    <a:pt x="8720328" y="2537460"/>
                  </a:lnTo>
                  <a:lnTo>
                    <a:pt x="8720328" y="2511552"/>
                  </a:lnTo>
                  <a:lnTo>
                    <a:pt x="8796528" y="2511552"/>
                  </a:lnTo>
                  <a:lnTo>
                    <a:pt x="8796528" y="2537460"/>
                  </a:lnTo>
                  <a:close/>
                </a:path>
                <a:path w="9017635" h="2537460">
                  <a:moveTo>
                    <a:pt x="8694420" y="2537460"/>
                  </a:moveTo>
                  <a:lnTo>
                    <a:pt x="8618220" y="2537460"/>
                  </a:lnTo>
                  <a:lnTo>
                    <a:pt x="8618220" y="2511552"/>
                  </a:lnTo>
                  <a:lnTo>
                    <a:pt x="8694420" y="2511552"/>
                  </a:lnTo>
                  <a:lnTo>
                    <a:pt x="8694420" y="2537460"/>
                  </a:lnTo>
                  <a:close/>
                </a:path>
                <a:path w="9017635" h="2537460">
                  <a:moveTo>
                    <a:pt x="8592312" y="2537460"/>
                  </a:moveTo>
                  <a:lnTo>
                    <a:pt x="8516112" y="2537460"/>
                  </a:lnTo>
                  <a:lnTo>
                    <a:pt x="8516112" y="2511552"/>
                  </a:lnTo>
                  <a:lnTo>
                    <a:pt x="8592312" y="2511552"/>
                  </a:lnTo>
                  <a:lnTo>
                    <a:pt x="8592312" y="2537460"/>
                  </a:lnTo>
                  <a:close/>
                </a:path>
                <a:path w="9017635" h="2537460">
                  <a:moveTo>
                    <a:pt x="8491728" y="2537460"/>
                  </a:moveTo>
                  <a:lnTo>
                    <a:pt x="8415528" y="2537460"/>
                  </a:lnTo>
                  <a:lnTo>
                    <a:pt x="8415528" y="2511552"/>
                  </a:lnTo>
                  <a:lnTo>
                    <a:pt x="8491728" y="2511552"/>
                  </a:lnTo>
                  <a:lnTo>
                    <a:pt x="8491728" y="2537460"/>
                  </a:lnTo>
                  <a:close/>
                </a:path>
                <a:path w="9017635" h="2537460">
                  <a:moveTo>
                    <a:pt x="8389620" y="2537460"/>
                  </a:moveTo>
                  <a:lnTo>
                    <a:pt x="8313420" y="2537460"/>
                  </a:lnTo>
                  <a:lnTo>
                    <a:pt x="8313420" y="2511552"/>
                  </a:lnTo>
                  <a:lnTo>
                    <a:pt x="8389620" y="2511552"/>
                  </a:lnTo>
                  <a:lnTo>
                    <a:pt x="8389620" y="2537460"/>
                  </a:lnTo>
                  <a:close/>
                </a:path>
                <a:path w="9017635" h="2537460">
                  <a:moveTo>
                    <a:pt x="8287512" y="2537460"/>
                  </a:moveTo>
                  <a:lnTo>
                    <a:pt x="8211312" y="2537460"/>
                  </a:lnTo>
                  <a:lnTo>
                    <a:pt x="8211312" y="2511552"/>
                  </a:lnTo>
                  <a:lnTo>
                    <a:pt x="8287512" y="2511552"/>
                  </a:lnTo>
                  <a:lnTo>
                    <a:pt x="8287512" y="2537460"/>
                  </a:lnTo>
                  <a:close/>
                </a:path>
                <a:path w="9017635" h="2537460">
                  <a:moveTo>
                    <a:pt x="8186928" y="2537460"/>
                  </a:moveTo>
                  <a:lnTo>
                    <a:pt x="8110728" y="2537460"/>
                  </a:lnTo>
                  <a:lnTo>
                    <a:pt x="8110728" y="2511552"/>
                  </a:lnTo>
                  <a:lnTo>
                    <a:pt x="8186928" y="2511552"/>
                  </a:lnTo>
                  <a:lnTo>
                    <a:pt x="8186928" y="2537460"/>
                  </a:lnTo>
                  <a:close/>
                </a:path>
                <a:path w="9017635" h="2537460">
                  <a:moveTo>
                    <a:pt x="8084820" y="2537460"/>
                  </a:moveTo>
                  <a:lnTo>
                    <a:pt x="8008620" y="2537460"/>
                  </a:lnTo>
                  <a:lnTo>
                    <a:pt x="8008620" y="2511552"/>
                  </a:lnTo>
                  <a:lnTo>
                    <a:pt x="8084820" y="2511552"/>
                  </a:lnTo>
                  <a:lnTo>
                    <a:pt x="8084820" y="2537460"/>
                  </a:lnTo>
                  <a:close/>
                </a:path>
                <a:path w="9017635" h="2537460">
                  <a:moveTo>
                    <a:pt x="7982712" y="2537460"/>
                  </a:moveTo>
                  <a:lnTo>
                    <a:pt x="7906512" y="2537460"/>
                  </a:lnTo>
                  <a:lnTo>
                    <a:pt x="7906512" y="2511552"/>
                  </a:lnTo>
                  <a:lnTo>
                    <a:pt x="7982712" y="2511552"/>
                  </a:lnTo>
                  <a:lnTo>
                    <a:pt x="7982712" y="2537460"/>
                  </a:lnTo>
                  <a:close/>
                </a:path>
                <a:path w="9017635" h="2537460">
                  <a:moveTo>
                    <a:pt x="7882128" y="2537460"/>
                  </a:moveTo>
                  <a:lnTo>
                    <a:pt x="7805928" y="2537460"/>
                  </a:lnTo>
                  <a:lnTo>
                    <a:pt x="7805928" y="2511552"/>
                  </a:lnTo>
                  <a:lnTo>
                    <a:pt x="7882128" y="2511552"/>
                  </a:lnTo>
                  <a:lnTo>
                    <a:pt x="7882128" y="2537460"/>
                  </a:lnTo>
                  <a:close/>
                </a:path>
                <a:path w="9017635" h="2537460">
                  <a:moveTo>
                    <a:pt x="7780020" y="2537460"/>
                  </a:moveTo>
                  <a:lnTo>
                    <a:pt x="7703820" y="2537460"/>
                  </a:lnTo>
                  <a:lnTo>
                    <a:pt x="7703820" y="2511552"/>
                  </a:lnTo>
                  <a:lnTo>
                    <a:pt x="7780020" y="2511552"/>
                  </a:lnTo>
                  <a:lnTo>
                    <a:pt x="7780020" y="2537460"/>
                  </a:lnTo>
                  <a:close/>
                </a:path>
                <a:path w="9017635" h="2537460">
                  <a:moveTo>
                    <a:pt x="7677912" y="2537460"/>
                  </a:moveTo>
                  <a:lnTo>
                    <a:pt x="7601712" y="2537460"/>
                  </a:lnTo>
                  <a:lnTo>
                    <a:pt x="7601712" y="2511552"/>
                  </a:lnTo>
                  <a:lnTo>
                    <a:pt x="7677912" y="2511552"/>
                  </a:lnTo>
                  <a:lnTo>
                    <a:pt x="7677912" y="2537460"/>
                  </a:lnTo>
                  <a:close/>
                </a:path>
                <a:path w="9017635" h="2537460">
                  <a:moveTo>
                    <a:pt x="7577328" y="2537460"/>
                  </a:moveTo>
                  <a:lnTo>
                    <a:pt x="7501128" y="2537460"/>
                  </a:lnTo>
                  <a:lnTo>
                    <a:pt x="7501128" y="2511552"/>
                  </a:lnTo>
                  <a:lnTo>
                    <a:pt x="7577328" y="2511552"/>
                  </a:lnTo>
                  <a:lnTo>
                    <a:pt x="7577328" y="2537460"/>
                  </a:lnTo>
                  <a:close/>
                </a:path>
                <a:path w="9017635" h="2537460">
                  <a:moveTo>
                    <a:pt x="7475220" y="2537460"/>
                  </a:moveTo>
                  <a:lnTo>
                    <a:pt x="7399020" y="2537460"/>
                  </a:lnTo>
                  <a:lnTo>
                    <a:pt x="7399020" y="2511552"/>
                  </a:lnTo>
                  <a:lnTo>
                    <a:pt x="7475220" y="2511552"/>
                  </a:lnTo>
                  <a:lnTo>
                    <a:pt x="7475220" y="2537460"/>
                  </a:lnTo>
                  <a:close/>
                </a:path>
                <a:path w="9017635" h="2537460">
                  <a:moveTo>
                    <a:pt x="7373112" y="2537460"/>
                  </a:moveTo>
                  <a:lnTo>
                    <a:pt x="7296912" y="2537460"/>
                  </a:lnTo>
                  <a:lnTo>
                    <a:pt x="7296912" y="2511552"/>
                  </a:lnTo>
                  <a:lnTo>
                    <a:pt x="7373112" y="2511552"/>
                  </a:lnTo>
                  <a:lnTo>
                    <a:pt x="7373112" y="2537460"/>
                  </a:lnTo>
                  <a:close/>
                </a:path>
                <a:path w="9017635" h="2537460">
                  <a:moveTo>
                    <a:pt x="7272528" y="2537460"/>
                  </a:moveTo>
                  <a:lnTo>
                    <a:pt x="7196328" y="2537460"/>
                  </a:lnTo>
                  <a:lnTo>
                    <a:pt x="7196328" y="2511552"/>
                  </a:lnTo>
                  <a:lnTo>
                    <a:pt x="7272528" y="2511552"/>
                  </a:lnTo>
                  <a:lnTo>
                    <a:pt x="7272528" y="2537460"/>
                  </a:lnTo>
                  <a:close/>
                </a:path>
                <a:path w="9017635" h="2537460">
                  <a:moveTo>
                    <a:pt x="7170420" y="2537460"/>
                  </a:moveTo>
                  <a:lnTo>
                    <a:pt x="7094220" y="2537460"/>
                  </a:lnTo>
                  <a:lnTo>
                    <a:pt x="7094220" y="2511552"/>
                  </a:lnTo>
                  <a:lnTo>
                    <a:pt x="7170420" y="2511552"/>
                  </a:lnTo>
                  <a:lnTo>
                    <a:pt x="7170420" y="2537460"/>
                  </a:lnTo>
                  <a:close/>
                </a:path>
                <a:path w="9017635" h="2537460">
                  <a:moveTo>
                    <a:pt x="7068312" y="2537460"/>
                  </a:moveTo>
                  <a:lnTo>
                    <a:pt x="6992112" y="2537460"/>
                  </a:lnTo>
                  <a:lnTo>
                    <a:pt x="6992112" y="2511552"/>
                  </a:lnTo>
                  <a:lnTo>
                    <a:pt x="7068312" y="2511552"/>
                  </a:lnTo>
                  <a:lnTo>
                    <a:pt x="7068312" y="2537460"/>
                  </a:lnTo>
                  <a:close/>
                </a:path>
                <a:path w="9017635" h="2537460">
                  <a:moveTo>
                    <a:pt x="6967728" y="2537460"/>
                  </a:moveTo>
                  <a:lnTo>
                    <a:pt x="6891528" y="2537460"/>
                  </a:lnTo>
                  <a:lnTo>
                    <a:pt x="6891528" y="2511552"/>
                  </a:lnTo>
                  <a:lnTo>
                    <a:pt x="6967728" y="2511552"/>
                  </a:lnTo>
                  <a:lnTo>
                    <a:pt x="6967728" y="2537460"/>
                  </a:lnTo>
                  <a:close/>
                </a:path>
                <a:path w="9017635" h="2537460">
                  <a:moveTo>
                    <a:pt x="6865620" y="2537460"/>
                  </a:moveTo>
                  <a:lnTo>
                    <a:pt x="6789420" y="2537460"/>
                  </a:lnTo>
                  <a:lnTo>
                    <a:pt x="6789420" y="2511552"/>
                  </a:lnTo>
                  <a:lnTo>
                    <a:pt x="6865620" y="2511552"/>
                  </a:lnTo>
                  <a:lnTo>
                    <a:pt x="6865620" y="2537460"/>
                  </a:lnTo>
                  <a:close/>
                </a:path>
                <a:path w="9017635" h="2537460">
                  <a:moveTo>
                    <a:pt x="6763512" y="2537460"/>
                  </a:moveTo>
                  <a:lnTo>
                    <a:pt x="6687312" y="2537460"/>
                  </a:lnTo>
                  <a:lnTo>
                    <a:pt x="6687312" y="2511552"/>
                  </a:lnTo>
                  <a:lnTo>
                    <a:pt x="6763512" y="2511552"/>
                  </a:lnTo>
                  <a:lnTo>
                    <a:pt x="6763512" y="2537460"/>
                  </a:lnTo>
                  <a:close/>
                </a:path>
                <a:path w="9017635" h="2537460">
                  <a:moveTo>
                    <a:pt x="6662928" y="2537460"/>
                  </a:moveTo>
                  <a:lnTo>
                    <a:pt x="6586728" y="2537460"/>
                  </a:lnTo>
                  <a:lnTo>
                    <a:pt x="6586728" y="2511552"/>
                  </a:lnTo>
                  <a:lnTo>
                    <a:pt x="6662928" y="2511552"/>
                  </a:lnTo>
                  <a:lnTo>
                    <a:pt x="6662928" y="2537460"/>
                  </a:lnTo>
                  <a:close/>
                </a:path>
                <a:path w="9017635" h="2537460">
                  <a:moveTo>
                    <a:pt x="6560820" y="2537460"/>
                  </a:moveTo>
                  <a:lnTo>
                    <a:pt x="6484620" y="2537460"/>
                  </a:lnTo>
                  <a:lnTo>
                    <a:pt x="6484620" y="2511552"/>
                  </a:lnTo>
                  <a:lnTo>
                    <a:pt x="6560820" y="2511552"/>
                  </a:lnTo>
                  <a:lnTo>
                    <a:pt x="6560820" y="2537460"/>
                  </a:lnTo>
                  <a:close/>
                </a:path>
                <a:path w="9017635" h="2537460">
                  <a:moveTo>
                    <a:pt x="6458712" y="2537460"/>
                  </a:moveTo>
                  <a:lnTo>
                    <a:pt x="6382512" y="2537460"/>
                  </a:lnTo>
                  <a:lnTo>
                    <a:pt x="6382512" y="2511552"/>
                  </a:lnTo>
                  <a:lnTo>
                    <a:pt x="6458712" y="2511552"/>
                  </a:lnTo>
                  <a:lnTo>
                    <a:pt x="6458712" y="2537460"/>
                  </a:lnTo>
                  <a:close/>
                </a:path>
                <a:path w="9017635" h="2537460">
                  <a:moveTo>
                    <a:pt x="6358128" y="2537460"/>
                  </a:moveTo>
                  <a:lnTo>
                    <a:pt x="6281928" y="2537460"/>
                  </a:lnTo>
                  <a:lnTo>
                    <a:pt x="6281928" y="2511552"/>
                  </a:lnTo>
                  <a:lnTo>
                    <a:pt x="6358128" y="2511552"/>
                  </a:lnTo>
                  <a:lnTo>
                    <a:pt x="6358128" y="2537460"/>
                  </a:lnTo>
                  <a:close/>
                </a:path>
                <a:path w="9017635" h="2537460">
                  <a:moveTo>
                    <a:pt x="6256020" y="2537460"/>
                  </a:moveTo>
                  <a:lnTo>
                    <a:pt x="6179820" y="2537460"/>
                  </a:lnTo>
                  <a:lnTo>
                    <a:pt x="6179820" y="2511552"/>
                  </a:lnTo>
                  <a:lnTo>
                    <a:pt x="6256020" y="2511552"/>
                  </a:lnTo>
                  <a:lnTo>
                    <a:pt x="6256020" y="2537460"/>
                  </a:lnTo>
                  <a:close/>
                </a:path>
                <a:path w="9017635" h="2537460">
                  <a:moveTo>
                    <a:pt x="6153912" y="2537460"/>
                  </a:moveTo>
                  <a:lnTo>
                    <a:pt x="6077712" y="2537460"/>
                  </a:lnTo>
                  <a:lnTo>
                    <a:pt x="6077712" y="2511552"/>
                  </a:lnTo>
                  <a:lnTo>
                    <a:pt x="6153912" y="2511552"/>
                  </a:lnTo>
                  <a:lnTo>
                    <a:pt x="6153912" y="2537460"/>
                  </a:lnTo>
                  <a:close/>
                </a:path>
                <a:path w="9017635" h="2537460">
                  <a:moveTo>
                    <a:pt x="6053328" y="2537460"/>
                  </a:moveTo>
                  <a:lnTo>
                    <a:pt x="5977128" y="2537460"/>
                  </a:lnTo>
                  <a:lnTo>
                    <a:pt x="5977128" y="2511552"/>
                  </a:lnTo>
                  <a:lnTo>
                    <a:pt x="6053328" y="2511552"/>
                  </a:lnTo>
                  <a:lnTo>
                    <a:pt x="6053328" y="2537460"/>
                  </a:lnTo>
                  <a:close/>
                </a:path>
                <a:path w="9017635" h="2537460">
                  <a:moveTo>
                    <a:pt x="5951220" y="2537460"/>
                  </a:moveTo>
                  <a:lnTo>
                    <a:pt x="5875020" y="2537460"/>
                  </a:lnTo>
                  <a:lnTo>
                    <a:pt x="5875020" y="2511552"/>
                  </a:lnTo>
                  <a:lnTo>
                    <a:pt x="5951220" y="2511552"/>
                  </a:lnTo>
                  <a:lnTo>
                    <a:pt x="5951220" y="2537460"/>
                  </a:lnTo>
                  <a:close/>
                </a:path>
                <a:path w="9017635" h="2537460">
                  <a:moveTo>
                    <a:pt x="5849112" y="2537460"/>
                  </a:moveTo>
                  <a:lnTo>
                    <a:pt x="5772912" y="2537460"/>
                  </a:lnTo>
                  <a:lnTo>
                    <a:pt x="5772912" y="2511552"/>
                  </a:lnTo>
                  <a:lnTo>
                    <a:pt x="5849112" y="2511552"/>
                  </a:lnTo>
                  <a:lnTo>
                    <a:pt x="5849112" y="2537460"/>
                  </a:lnTo>
                  <a:close/>
                </a:path>
                <a:path w="9017635" h="2537460">
                  <a:moveTo>
                    <a:pt x="5748528" y="2537460"/>
                  </a:moveTo>
                  <a:lnTo>
                    <a:pt x="5672328" y="2537460"/>
                  </a:lnTo>
                  <a:lnTo>
                    <a:pt x="5672328" y="2511552"/>
                  </a:lnTo>
                  <a:lnTo>
                    <a:pt x="5748528" y="2511552"/>
                  </a:lnTo>
                  <a:lnTo>
                    <a:pt x="5748528" y="2537460"/>
                  </a:lnTo>
                  <a:close/>
                </a:path>
                <a:path w="9017635" h="2537460">
                  <a:moveTo>
                    <a:pt x="5646420" y="2537460"/>
                  </a:moveTo>
                  <a:lnTo>
                    <a:pt x="5570220" y="2537460"/>
                  </a:lnTo>
                  <a:lnTo>
                    <a:pt x="5570220" y="2511552"/>
                  </a:lnTo>
                  <a:lnTo>
                    <a:pt x="5646420" y="2511552"/>
                  </a:lnTo>
                  <a:lnTo>
                    <a:pt x="5646420" y="2537460"/>
                  </a:lnTo>
                  <a:close/>
                </a:path>
                <a:path w="9017635" h="2537460">
                  <a:moveTo>
                    <a:pt x="5544312" y="2537460"/>
                  </a:moveTo>
                  <a:lnTo>
                    <a:pt x="5468112" y="2537460"/>
                  </a:lnTo>
                  <a:lnTo>
                    <a:pt x="5468112" y="2511552"/>
                  </a:lnTo>
                  <a:lnTo>
                    <a:pt x="5544312" y="2511552"/>
                  </a:lnTo>
                  <a:lnTo>
                    <a:pt x="5544312" y="2537460"/>
                  </a:lnTo>
                  <a:close/>
                </a:path>
                <a:path w="9017635" h="2537460">
                  <a:moveTo>
                    <a:pt x="5443728" y="2537460"/>
                  </a:moveTo>
                  <a:lnTo>
                    <a:pt x="5367528" y="2537460"/>
                  </a:lnTo>
                  <a:lnTo>
                    <a:pt x="5367528" y="2511552"/>
                  </a:lnTo>
                  <a:lnTo>
                    <a:pt x="5443728" y="2511552"/>
                  </a:lnTo>
                  <a:lnTo>
                    <a:pt x="5443728" y="2537460"/>
                  </a:lnTo>
                  <a:close/>
                </a:path>
                <a:path w="9017635" h="2537460">
                  <a:moveTo>
                    <a:pt x="5341620" y="2537460"/>
                  </a:moveTo>
                  <a:lnTo>
                    <a:pt x="5265420" y="2537460"/>
                  </a:lnTo>
                  <a:lnTo>
                    <a:pt x="5265420" y="2511552"/>
                  </a:lnTo>
                  <a:lnTo>
                    <a:pt x="5341620" y="2511552"/>
                  </a:lnTo>
                  <a:lnTo>
                    <a:pt x="5341620" y="2537460"/>
                  </a:lnTo>
                  <a:close/>
                </a:path>
                <a:path w="9017635" h="2537460">
                  <a:moveTo>
                    <a:pt x="5239512" y="2537460"/>
                  </a:moveTo>
                  <a:lnTo>
                    <a:pt x="5163312" y="2537460"/>
                  </a:lnTo>
                  <a:lnTo>
                    <a:pt x="5163312" y="2511552"/>
                  </a:lnTo>
                  <a:lnTo>
                    <a:pt x="5239512" y="2511552"/>
                  </a:lnTo>
                  <a:lnTo>
                    <a:pt x="5239512" y="2537460"/>
                  </a:lnTo>
                  <a:close/>
                </a:path>
                <a:path w="9017635" h="2537460">
                  <a:moveTo>
                    <a:pt x="5138928" y="2537460"/>
                  </a:moveTo>
                  <a:lnTo>
                    <a:pt x="5062728" y="2537460"/>
                  </a:lnTo>
                  <a:lnTo>
                    <a:pt x="5062728" y="2511552"/>
                  </a:lnTo>
                  <a:lnTo>
                    <a:pt x="5138928" y="2511552"/>
                  </a:lnTo>
                  <a:lnTo>
                    <a:pt x="5138928" y="2537460"/>
                  </a:lnTo>
                  <a:close/>
                </a:path>
                <a:path w="9017635" h="2537460">
                  <a:moveTo>
                    <a:pt x="5036820" y="2537460"/>
                  </a:moveTo>
                  <a:lnTo>
                    <a:pt x="4960620" y="2537460"/>
                  </a:lnTo>
                  <a:lnTo>
                    <a:pt x="4960620" y="2511552"/>
                  </a:lnTo>
                  <a:lnTo>
                    <a:pt x="5036820" y="2511552"/>
                  </a:lnTo>
                  <a:lnTo>
                    <a:pt x="5036820" y="2537460"/>
                  </a:lnTo>
                  <a:close/>
                </a:path>
                <a:path w="9017635" h="2537460">
                  <a:moveTo>
                    <a:pt x="4934712" y="2537460"/>
                  </a:moveTo>
                  <a:lnTo>
                    <a:pt x="4858512" y="2537460"/>
                  </a:lnTo>
                  <a:lnTo>
                    <a:pt x="4858512" y="2511552"/>
                  </a:lnTo>
                  <a:lnTo>
                    <a:pt x="4934712" y="2511552"/>
                  </a:lnTo>
                  <a:lnTo>
                    <a:pt x="4934712" y="2537460"/>
                  </a:lnTo>
                  <a:close/>
                </a:path>
                <a:path w="9017635" h="2537460">
                  <a:moveTo>
                    <a:pt x="4834128" y="2537460"/>
                  </a:moveTo>
                  <a:lnTo>
                    <a:pt x="4757928" y="2537460"/>
                  </a:lnTo>
                  <a:lnTo>
                    <a:pt x="4757928" y="2511552"/>
                  </a:lnTo>
                  <a:lnTo>
                    <a:pt x="4834128" y="2511552"/>
                  </a:lnTo>
                  <a:lnTo>
                    <a:pt x="4834128" y="2537460"/>
                  </a:lnTo>
                  <a:close/>
                </a:path>
                <a:path w="9017635" h="2537460">
                  <a:moveTo>
                    <a:pt x="4732020" y="2537460"/>
                  </a:moveTo>
                  <a:lnTo>
                    <a:pt x="4655820" y="2537460"/>
                  </a:lnTo>
                  <a:lnTo>
                    <a:pt x="4655820" y="2511552"/>
                  </a:lnTo>
                  <a:lnTo>
                    <a:pt x="4732020" y="2511552"/>
                  </a:lnTo>
                  <a:lnTo>
                    <a:pt x="4732020" y="2537460"/>
                  </a:lnTo>
                  <a:close/>
                </a:path>
                <a:path w="9017635" h="2537460">
                  <a:moveTo>
                    <a:pt x="4629912" y="2537460"/>
                  </a:moveTo>
                  <a:lnTo>
                    <a:pt x="4553712" y="2537460"/>
                  </a:lnTo>
                  <a:lnTo>
                    <a:pt x="4553712" y="2511552"/>
                  </a:lnTo>
                  <a:lnTo>
                    <a:pt x="4629912" y="2511552"/>
                  </a:lnTo>
                  <a:lnTo>
                    <a:pt x="4629912" y="2537460"/>
                  </a:lnTo>
                  <a:close/>
                </a:path>
                <a:path w="9017635" h="2537460">
                  <a:moveTo>
                    <a:pt x="4529328" y="2537460"/>
                  </a:moveTo>
                  <a:lnTo>
                    <a:pt x="4453128" y="2537460"/>
                  </a:lnTo>
                  <a:lnTo>
                    <a:pt x="4453128" y="2511552"/>
                  </a:lnTo>
                  <a:lnTo>
                    <a:pt x="4529328" y="2511552"/>
                  </a:lnTo>
                  <a:lnTo>
                    <a:pt x="4529328" y="2537460"/>
                  </a:lnTo>
                  <a:close/>
                </a:path>
                <a:path w="9017635" h="2537460">
                  <a:moveTo>
                    <a:pt x="4427220" y="2537460"/>
                  </a:moveTo>
                  <a:lnTo>
                    <a:pt x="4351020" y="2537460"/>
                  </a:lnTo>
                  <a:lnTo>
                    <a:pt x="4351020" y="2511552"/>
                  </a:lnTo>
                  <a:lnTo>
                    <a:pt x="4427220" y="2511552"/>
                  </a:lnTo>
                  <a:lnTo>
                    <a:pt x="4427220" y="2537460"/>
                  </a:lnTo>
                  <a:close/>
                </a:path>
                <a:path w="9017635" h="2537460">
                  <a:moveTo>
                    <a:pt x="4325112" y="2537460"/>
                  </a:moveTo>
                  <a:lnTo>
                    <a:pt x="4248912" y="2537460"/>
                  </a:lnTo>
                  <a:lnTo>
                    <a:pt x="4248912" y="2511552"/>
                  </a:lnTo>
                  <a:lnTo>
                    <a:pt x="4325112" y="2511552"/>
                  </a:lnTo>
                  <a:lnTo>
                    <a:pt x="4325112" y="2537460"/>
                  </a:lnTo>
                  <a:close/>
                </a:path>
                <a:path w="9017635" h="2537460">
                  <a:moveTo>
                    <a:pt x="4224528" y="2537460"/>
                  </a:moveTo>
                  <a:lnTo>
                    <a:pt x="4148328" y="2537460"/>
                  </a:lnTo>
                  <a:lnTo>
                    <a:pt x="4148328" y="2511552"/>
                  </a:lnTo>
                  <a:lnTo>
                    <a:pt x="4224528" y="2511552"/>
                  </a:lnTo>
                  <a:lnTo>
                    <a:pt x="4224528" y="2537460"/>
                  </a:lnTo>
                  <a:close/>
                </a:path>
                <a:path w="9017635" h="2537460">
                  <a:moveTo>
                    <a:pt x="4122420" y="2537460"/>
                  </a:moveTo>
                  <a:lnTo>
                    <a:pt x="4046220" y="2537460"/>
                  </a:lnTo>
                  <a:lnTo>
                    <a:pt x="4046220" y="2511552"/>
                  </a:lnTo>
                  <a:lnTo>
                    <a:pt x="4122420" y="2511552"/>
                  </a:lnTo>
                  <a:lnTo>
                    <a:pt x="4122420" y="2537460"/>
                  </a:lnTo>
                  <a:close/>
                </a:path>
                <a:path w="9017635" h="2537460">
                  <a:moveTo>
                    <a:pt x="4020311" y="2537460"/>
                  </a:moveTo>
                  <a:lnTo>
                    <a:pt x="3944111" y="2537460"/>
                  </a:lnTo>
                  <a:lnTo>
                    <a:pt x="3944111" y="2511552"/>
                  </a:lnTo>
                  <a:lnTo>
                    <a:pt x="4020311" y="2511552"/>
                  </a:lnTo>
                  <a:lnTo>
                    <a:pt x="4020311" y="2537460"/>
                  </a:lnTo>
                  <a:close/>
                </a:path>
                <a:path w="9017635" h="2537460">
                  <a:moveTo>
                    <a:pt x="3919728" y="2537460"/>
                  </a:moveTo>
                  <a:lnTo>
                    <a:pt x="3843528" y="2537460"/>
                  </a:lnTo>
                  <a:lnTo>
                    <a:pt x="3843528" y="2511552"/>
                  </a:lnTo>
                  <a:lnTo>
                    <a:pt x="3919728" y="2511552"/>
                  </a:lnTo>
                  <a:lnTo>
                    <a:pt x="3919728" y="2537460"/>
                  </a:lnTo>
                  <a:close/>
                </a:path>
                <a:path w="9017635" h="2537460">
                  <a:moveTo>
                    <a:pt x="3817619" y="2537460"/>
                  </a:moveTo>
                  <a:lnTo>
                    <a:pt x="3741419" y="2537460"/>
                  </a:lnTo>
                  <a:lnTo>
                    <a:pt x="3741419" y="2511552"/>
                  </a:lnTo>
                  <a:lnTo>
                    <a:pt x="3817619" y="2511552"/>
                  </a:lnTo>
                  <a:lnTo>
                    <a:pt x="3817619" y="2537460"/>
                  </a:lnTo>
                  <a:close/>
                </a:path>
                <a:path w="9017635" h="2537460">
                  <a:moveTo>
                    <a:pt x="3715511" y="2537460"/>
                  </a:moveTo>
                  <a:lnTo>
                    <a:pt x="3639311" y="2537460"/>
                  </a:lnTo>
                  <a:lnTo>
                    <a:pt x="3639311" y="2511552"/>
                  </a:lnTo>
                  <a:lnTo>
                    <a:pt x="3715511" y="2511552"/>
                  </a:lnTo>
                  <a:lnTo>
                    <a:pt x="3715511" y="2537460"/>
                  </a:lnTo>
                  <a:close/>
                </a:path>
                <a:path w="9017635" h="2537460">
                  <a:moveTo>
                    <a:pt x="3614928" y="2537460"/>
                  </a:moveTo>
                  <a:lnTo>
                    <a:pt x="3538728" y="2537460"/>
                  </a:lnTo>
                  <a:lnTo>
                    <a:pt x="3538728" y="2511552"/>
                  </a:lnTo>
                  <a:lnTo>
                    <a:pt x="3614928" y="2511552"/>
                  </a:lnTo>
                  <a:lnTo>
                    <a:pt x="3614928" y="2537460"/>
                  </a:lnTo>
                  <a:close/>
                </a:path>
                <a:path w="9017635" h="2537460">
                  <a:moveTo>
                    <a:pt x="3512819" y="2537460"/>
                  </a:moveTo>
                  <a:lnTo>
                    <a:pt x="3436619" y="2537460"/>
                  </a:lnTo>
                  <a:lnTo>
                    <a:pt x="3436619" y="2511552"/>
                  </a:lnTo>
                  <a:lnTo>
                    <a:pt x="3512819" y="2511552"/>
                  </a:lnTo>
                  <a:lnTo>
                    <a:pt x="3512819" y="2537460"/>
                  </a:lnTo>
                  <a:close/>
                </a:path>
                <a:path w="9017635" h="2537460">
                  <a:moveTo>
                    <a:pt x="3410711" y="2537460"/>
                  </a:moveTo>
                  <a:lnTo>
                    <a:pt x="3334511" y="2537460"/>
                  </a:lnTo>
                  <a:lnTo>
                    <a:pt x="3334511" y="2511552"/>
                  </a:lnTo>
                  <a:lnTo>
                    <a:pt x="3410711" y="2511552"/>
                  </a:lnTo>
                  <a:lnTo>
                    <a:pt x="3410711" y="2537460"/>
                  </a:lnTo>
                  <a:close/>
                </a:path>
                <a:path w="9017635" h="2537460">
                  <a:moveTo>
                    <a:pt x="3310127" y="2537460"/>
                  </a:moveTo>
                  <a:lnTo>
                    <a:pt x="3233927" y="2537460"/>
                  </a:lnTo>
                  <a:lnTo>
                    <a:pt x="3233927" y="2511552"/>
                  </a:lnTo>
                  <a:lnTo>
                    <a:pt x="3310127" y="2511552"/>
                  </a:lnTo>
                  <a:lnTo>
                    <a:pt x="3310127" y="2537460"/>
                  </a:lnTo>
                  <a:close/>
                </a:path>
                <a:path w="9017635" h="2537460">
                  <a:moveTo>
                    <a:pt x="3208019" y="2537460"/>
                  </a:moveTo>
                  <a:lnTo>
                    <a:pt x="3131819" y="2537460"/>
                  </a:lnTo>
                  <a:lnTo>
                    <a:pt x="3131819" y="2511552"/>
                  </a:lnTo>
                  <a:lnTo>
                    <a:pt x="3208019" y="2511552"/>
                  </a:lnTo>
                  <a:lnTo>
                    <a:pt x="3208019" y="2537460"/>
                  </a:lnTo>
                  <a:close/>
                </a:path>
                <a:path w="9017635" h="2537460">
                  <a:moveTo>
                    <a:pt x="3105911" y="2537460"/>
                  </a:moveTo>
                  <a:lnTo>
                    <a:pt x="3029711" y="2537460"/>
                  </a:lnTo>
                  <a:lnTo>
                    <a:pt x="3029711" y="2511552"/>
                  </a:lnTo>
                  <a:lnTo>
                    <a:pt x="3105911" y="2511552"/>
                  </a:lnTo>
                  <a:lnTo>
                    <a:pt x="3105911" y="2537460"/>
                  </a:lnTo>
                  <a:close/>
                </a:path>
                <a:path w="9017635" h="2537460">
                  <a:moveTo>
                    <a:pt x="3005327" y="2537460"/>
                  </a:moveTo>
                  <a:lnTo>
                    <a:pt x="2929127" y="2537460"/>
                  </a:lnTo>
                  <a:lnTo>
                    <a:pt x="2929127" y="2511552"/>
                  </a:lnTo>
                  <a:lnTo>
                    <a:pt x="3005327" y="2511552"/>
                  </a:lnTo>
                  <a:lnTo>
                    <a:pt x="3005327" y="2537460"/>
                  </a:lnTo>
                  <a:close/>
                </a:path>
                <a:path w="9017635" h="2537460">
                  <a:moveTo>
                    <a:pt x="2903219" y="2537460"/>
                  </a:moveTo>
                  <a:lnTo>
                    <a:pt x="2827019" y="2537460"/>
                  </a:lnTo>
                  <a:lnTo>
                    <a:pt x="2827019" y="2511552"/>
                  </a:lnTo>
                  <a:lnTo>
                    <a:pt x="2903219" y="2511552"/>
                  </a:lnTo>
                  <a:lnTo>
                    <a:pt x="2903219" y="2537460"/>
                  </a:lnTo>
                  <a:close/>
                </a:path>
                <a:path w="9017635" h="2537460">
                  <a:moveTo>
                    <a:pt x="2801111" y="2537460"/>
                  </a:moveTo>
                  <a:lnTo>
                    <a:pt x="2724911" y="2537460"/>
                  </a:lnTo>
                  <a:lnTo>
                    <a:pt x="2724911" y="2511552"/>
                  </a:lnTo>
                  <a:lnTo>
                    <a:pt x="2801111" y="2511552"/>
                  </a:lnTo>
                  <a:lnTo>
                    <a:pt x="2801111" y="2537460"/>
                  </a:lnTo>
                  <a:close/>
                </a:path>
                <a:path w="9017635" h="2537460">
                  <a:moveTo>
                    <a:pt x="2700527" y="2537460"/>
                  </a:moveTo>
                  <a:lnTo>
                    <a:pt x="2624327" y="2537460"/>
                  </a:lnTo>
                  <a:lnTo>
                    <a:pt x="2624327" y="2511552"/>
                  </a:lnTo>
                  <a:lnTo>
                    <a:pt x="2700527" y="2511552"/>
                  </a:lnTo>
                  <a:lnTo>
                    <a:pt x="2700527" y="2537460"/>
                  </a:lnTo>
                  <a:close/>
                </a:path>
                <a:path w="9017635" h="2537460">
                  <a:moveTo>
                    <a:pt x="2598419" y="2537460"/>
                  </a:moveTo>
                  <a:lnTo>
                    <a:pt x="2522219" y="2537460"/>
                  </a:lnTo>
                  <a:lnTo>
                    <a:pt x="2522219" y="2511552"/>
                  </a:lnTo>
                  <a:lnTo>
                    <a:pt x="2598419" y="2511552"/>
                  </a:lnTo>
                  <a:lnTo>
                    <a:pt x="2598419" y="2537460"/>
                  </a:lnTo>
                  <a:close/>
                </a:path>
                <a:path w="9017635" h="2537460">
                  <a:moveTo>
                    <a:pt x="2496311" y="2537460"/>
                  </a:moveTo>
                  <a:lnTo>
                    <a:pt x="2420111" y="2537460"/>
                  </a:lnTo>
                  <a:lnTo>
                    <a:pt x="2420111" y="2511552"/>
                  </a:lnTo>
                  <a:lnTo>
                    <a:pt x="2496311" y="2511552"/>
                  </a:lnTo>
                  <a:lnTo>
                    <a:pt x="2496311" y="2537460"/>
                  </a:lnTo>
                  <a:close/>
                </a:path>
                <a:path w="9017635" h="2537460">
                  <a:moveTo>
                    <a:pt x="2395727" y="2537460"/>
                  </a:moveTo>
                  <a:lnTo>
                    <a:pt x="2319527" y="2537460"/>
                  </a:lnTo>
                  <a:lnTo>
                    <a:pt x="2319527" y="2511552"/>
                  </a:lnTo>
                  <a:lnTo>
                    <a:pt x="2395727" y="2511552"/>
                  </a:lnTo>
                  <a:lnTo>
                    <a:pt x="2395727" y="2537460"/>
                  </a:lnTo>
                  <a:close/>
                </a:path>
                <a:path w="9017635" h="2537460">
                  <a:moveTo>
                    <a:pt x="2293619" y="2537460"/>
                  </a:moveTo>
                  <a:lnTo>
                    <a:pt x="2217419" y="2537460"/>
                  </a:lnTo>
                  <a:lnTo>
                    <a:pt x="2217419" y="2511552"/>
                  </a:lnTo>
                  <a:lnTo>
                    <a:pt x="2293619" y="2511552"/>
                  </a:lnTo>
                  <a:lnTo>
                    <a:pt x="2293619" y="2537460"/>
                  </a:lnTo>
                  <a:close/>
                </a:path>
                <a:path w="9017635" h="2537460">
                  <a:moveTo>
                    <a:pt x="2191511" y="2537460"/>
                  </a:moveTo>
                  <a:lnTo>
                    <a:pt x="2115311" y="2537460"/>
                  </a:lnTo>
                  <a:lnTo>
                    <a:pt x="2115311" y="2511552"/>
                  </a:lnTo>
                  <a:lnTo>
                    <a:pt x="2191511" y="2511552"/>
                  </a:lnTo>
                  <a:lnTo>
                    <a:pt x="2191511" y="2537460"/>
                  </a:lnTo>
                  <a:close/>
                </a:path>
                <a:path w="9017635" h="2537460">
                  <a:moveTo>
                    <a:pt x="2090927" y="2537460"/>
                  </a:moveTo>
                  <a:lnTo>
                    <a:pt x="2014727" y="2537460"/>
                  </a:lnTo>
                  <a:lnTo>
                    <a:pt x="2014727" y="2511552"/>
                  </a:lnTo>
                  <a:lnTo>
                    <a:pt x="2090927" y="2511552"/>
                  </a:lnTo>
                  <a:lnTo>
                    <a:pt x="2090927" y="2537460"/>
                  </a:lnTo>
                  <a:close/>
                </a:path>
                <a:path w="9017635" h="2537460">
                  <a:moveTo>
                    <a:pt x="1988819" y="2537460"/>
                  </a:moveTo>
                  <a:lnTo>
                    <a:pt x="1912620" y="2537460"/>
                  </a:lnTo>
                  <a:lnTo>
                    <a:pt x="1912620" y="2511552"/>
                  </a:lnTo>
                  <a:lnTo>
                    <a:pt x="1988819" y="2511552"/>
                  </a:lnTo>
                  <a:lnTo>
                    <a:pt x="1988819" y="2537460"/>
                  </a:lnTo>
                  <a:close/>
                </a:path>
                <a:path w="9017635" h="2537460">
                  <a:moveTo>
                    <a:pt x="1886712" y="2537460"/>
                  </a:moveTo>
                  <a:lnTo>
                    <a:pt x="1810512" y="2537460"/>
                  </a:lnTo>
                  <a:lnTo>
                    <a:pt x="1810512" y="2511552"/>
                  </a:lnTo>
                  <a:lnTo>
                    <a:pt x="1886712" y="2511552"/>
                  </a:lnTo>
                  <a:lnTo>
                    <a:pt x="1886712" y="2537460"/>
                  </a:lnTo>
                  <a:close/>
                </a:path>
                <a:path w="9017635" h="2537460">
                  <a:moveTo>
                    <a:pt x="1786128" y="2537460"/>
                  </a:moveTo>
                  <a:lnTo>
                    <a:pt x="1709928" y="2537460"/>
                  </a:lnTo>
                  <a:lnTo>
                    <a:pt x="1709928" y="2511552"/>
                  </a:lnTo>
                  <a:lnTo>
                    <a:pt x="1786128" y="2511552"/>
                  </a:lnTo>
                  <a:lnTo>
                    <a:pt x="1786128" y="2537460"/>
                  </a:lnTo>
                  <a:close/>
                </a:path>
                <a:path w="9017635" h="2537460">
                  <a:moveTo>
                    <a:pt x="1684020" y="2537460"/>
                  </a:moveTo>
                  <a:lnTo>
                    <a:pt x="1607820" y="2537460"/>
                  </a:lnTo>
                  <a:lnTo>
                    <a:pt x="1607820" y="2511552"/>
                  </a:lnTo>
                  <a:lnTo>
                    <a:pt x="1684020" y="2511552"/>
                  </a:lnTo>
                  <a:lnTo>
                    <a:pt x="1684020" y="2537460"/>
                  </a:lnTo>
                  <a:close/>
                </a:path>
                <a:path w="9017635" h="2537460">
                  <a:moveTo>
                    <a:pt x="1581912" y="2537460"/>
                  </a:moveTo>
                  <a:lnTo>
                    <a:pt x="1505712" y="2537460"/>
                  </a:lnTo>
                  <a:lnTo>
                    <a:pt x="1505712" y="2511552"/>
                  </a:lnTo>
                  <a:lnTo>
                    <a:pt x="1581912" y="2511552"/>
                  </a:lnTo>
                  <a:lnTo>
                    <a:pt x="1581912" y="2537460"/>
                  </a:lnTo>
                  <a:close/>
                </a:path>
                <a:path w="9017635" h="2537460">
                  <a:moveTo>
                    <a:pt x="1481328" y="2537460"/>
                  </a:moveTo>
                  <a:lnTo>
                    <a:pt x="1405128" y="2537460"/>
                  </a:lnTo>
                  <a:lnTo>
                    <a:pt x="1405128" y="2511552"/>
                  </a:lnTo>
                  <a:lnTo>
                    <a:pt x="1481328" y="2511552"/>
                  </a:lnTo>
                  <a:lnTo>
                    <a:pt x="1481328" y="2537460"/>
                  </a:lnTo>
                  <a:close/>
                </a:path>
                <a:path w="9017635" h="2537460">
                  <a:moveTo>
                    <a:pt x="1379220" y="2537460"/>
                  </a:moveTo>
                  <a:lnTo>
                    <a:pt x="1303020" y="2537460"/>
                  </a:lnTo>
                  <a:lnTo>
                    <a:pt x="1303020" y="2511552"/>
                  </a:lnTo>
                  <a:lnTo>
                    <a:pt x="1379220" y="2511552"/>
                  </a:lnTo>
                  <a:lnTo>
                    <a:pt x="1379220" y="2537460"/>
                  </a:lnTo>
                  <a:close/>
                </a:path>
                <a:path w="9017635" h="2537460">
                  <a:moveTo>
                    <a:pt x="1277112" y="2537460"/>
                  </a:moveTo>
                  <a:lnTo>
                    <a:pt x="1200912" y="2537460"/>
                  </a:lnTo>
                  <a:lnTo>
                    <a:pt x="1200912" y="2511552"/>
                  </a:lnTo>
                  <a:lnTo>
                    <a:pt x="1277112" y="2511552"/>
                  </a:lnTo>
                  <a:lnTo>
                    <a:pt x="1277112" y="2537460"/>
                  </a:lnTo>
                  <a:close/>
                </a:path>
                <a:path w="9017635" h="2537460">
                  <a:moveTo>
                    <a:pt x="1176528" y="2537460"/>
                  </a:moveTo>
                  <a:lnTo>
                    <a:pt x="1100328" y="2537460"/>
                  </a:lnTo>
                  <a:lnTo>
                    <a:pt x="1100328" y="2511552"/>
                  </a:lnTo>
                  <a:lnTo>
                    <a:pt x="1176528" y="2511552"/>
                  </a:lnTo>
                  <a:lnTo>
                    <a:pt x="1176528" y="2537460"/>
                  </a:lnTo>
                  <a:close/>
                </a:path>
                <a:path w="9017635" h="2537460">
                  <a:moveTo>
                    <a:pt x="1074420" y="2537460"/>
                  </a:moveTo>
                  <a:lnTo>
                    <a:pt x="998220" y="2537460"/>
                  </a:lnTo>
                  <a:lnTo>
                    <a:pt x="998220" y="2511552"/>
                  </a:lnTo>
                  <a:lnTo>
                    <a:pt x="1074420" y="2511552"/>
                  </a:lnTo>
                  <a:lnTo>
                    <a:pt x="1074420" y="2537460"/>
                  </a:lnTo>
                  <a:close/>
                </a:path>
                <a:path w="9017635" h="2537460">
                  <a:moveTo>
                    <a:pt x="972312" y="2537460"/>
                  </a:moveTo>
                  <a:lnTo>
                    <a:pt x="896112" y="2537460"/>
                  </a:lnTo>
                  <a:lnTo>
                    <a:pt x="896112" y="2511552"/>
                  </a:lnTo>
                  <a:lnTo>
                    <a:pt x="972312" y="2511552"/>
                  </a:lnTo>
                  <a:lnTo>
                    <a:pt x="972312" y="2537460"/>
                  </a:lnTo>
                  <a:close/>
                </a:path>
                <a:path w="9017635" h="2537460">
                  <a:moveTo>
                    <a:pt x="871728" y="2537460"/>
                  </a:moveTo>
                  <a:lnTo>
                    <a:pt x="795528" y="2537460"/>
                  </a:lnTo>
                  <a:lnTo>
                    <a:pt x="795528" y="2511552"/>
                  </a:lnTo>
                  <a:lnTo>
                    <a:pt x="871728" y="2511552"/>
                  </a:lnTo>
                  <a:lnTo>
                    <a:pt x="871728" y="2537460"/>
                  </a:lnTo>
                  <a:close/>
                </a:path>
                <a:path w="9017635" h="2537460">
                  <a:moveTo>
                    <a:pt x="769620" y="2537460"/>
                  </a:moveTo>
                  <a:lnTo>
                    <a:pt x="693419" y="2537460"/>
                  </a:lnTo>
                  <a:lnTo>
                    <a:pt x="693419" y="2511552"/>
                  </a:lnTo>
                  <a:lnTo>
                    <a:pt x="769620" y="2511552"/>
                  </a:lnTo>
                  <a:lnTo>
                    <a:pt x="769620" y="2537460"/>
                  </a:lnTo>
                  <a:close/>
                </a:path>
                <a:path w="9017635" h="2537460">
                  <a:moveTo>
                    <a:pt x="667512" y="2537460"/>
                  </a:moveTo>
                  <a:lnTo>
                    <a:pt x="591312" y="2537460"/>
                  </a:lnTo>
                  <a:lnTo>
                    <a:pt x="591312" y="2511552"/>
                  </a:lnTo>
                  <a:lnTo>
                    <a:pt x="667512" y="2511552"/>
                  </a:lnTo>
                  <a:lnTo>
                    <a:pt x="667512" y="2537460"/>
                  </a:lnTo>
                  <a:close/>
                </a:path>
                <a:path w="9017635" h="2537460">
                  <a:moveTo>
                    <a:pt x="566927" y="2537460"/>
                  </a:moveTo>
                  <a:lnTo>
                    <a:pt x="490727" y="2537460"/>
                  </a:lnTo>
                  <a:lnTo>
                    <a:pt x="490727" y="2511552"/>
                  </a:lnTo>
                  <a:lnTo>
                    <a:pt x="566927" y="2511552"/>
                  </a:lnTo>
                  <a:lnTo>
                    <a:pt x="566927" y="2537460"/>
                  </a:lnTo>
                  <a:close/>
                </a:path>
                <a:path w="9017635" h="2537460">
                  <a:moveTo>
                    <a:pt x="464819" y="2537460"/>
                  </a:moveTo>
                  <a:lnTo>
                    <a:pt x="388619" y="2537460"/>
                  </a:lnTo>
                  <a:lnTo>
                    <a:pt x="388619" y="2511552"/>
                  </a:lnTo>
                  <a:lnTo>
                    <a:pt x="464819" y="2511552"/>
                  </a:lnTo>
                  <a:lnTo>
                    <a:pt x="464819" y="2537460"/>
                  </a:lnTo>
                  <a:close/>
                </a:path>
                <a:path w="9017635" h="2537460">
                  <a:moveTo>
                    <a:pt x="362712" y="2537460"/>
                  </a:moveTo>
                  <a:lnTo>
                    <a:pt x="286512" y="2537460"/>
                  </a:lnTo>
                  <a:lnTo>
                    <a:pt x="286512" y="2511552"/>
                  </a:lnTo>
                  <a:lnTo>
                    <a:pt x="362712" y="2511552"/>
                  </a:lnTo>
                  <a:lnTo>
                    <a:pt x="362712" y="2537460"/>
                  </a:lnTo>
                  <a:close/>
                </a:path>
                <a:path w="9017635" h="2537460">
                  <a:moveTo>
                    <a:pt x="262127" y="2537460"/>
                  </a:moveTo>
                  <a:lnTo>
                    <a:pt x="185927" y="2537460"/>
                  </a:lnTo>
                  <a:lnTo>
                    <a:pt x="185927" y="2511552"/>
                  </a:lnTo>
                  <a:lnTo>
                    <a:pt x="262127" y="2511552"/>
                  </a:lnTo>
                  <a:lnTo>
                    <a:pt x="262127" y="2537460"/>
                  </a:lnTo>
                  <a:close/>
                </a:path>
                <a:path w="9017635" h="2537460">
                  <a:moveTo>
                    <a:pt x="160019" y="2537460"/>
                  </a:moveTo>
                  <a:lnTo>
                    <a:pt x="83819" y="2537460"/>
                  </a:lnTo>
                  <a:lnTo>
                    <a:pt x="83819" y="2511552"/>
                  </a:lnTo>
                  <a:lnTo>
                    <a:pt x="160019" y="2511552"/>
                  </a:lnTo>
                  <a:lnTo>
                    <a:pt x="160019" y="2537460"/>
                  </a:lnTo>
                  <a:close/>
                </a:path>
              </a:pathLst>
            </a:custGeom>
            <a:solidFill>
              <a:srgbClr val="BF0000"/>
            </a:solidFill>
          </p:spPr>
          <p:txBody>
            <a:bodyPr wrap="square" lIns="0" tIns="0" rIns="0" bIns="0" rtlCol="0"/>
            <a:lstStyle/>
            <a:p>
              <a:endParaRPr sz="1588"/>
            </a:p>
          </p:txBody>
        </p:sp>
      </p:grpSp>
    </p:spTree>
    <p:extLst>
      <p:ext uri="{BB962C8B-B14F-4D97-AF65-F5344CB8AC3E}">
        <p14:creationId xmlns:p14="http://schemas.microsoft.com/office/powerpoint/2010/main" val="128898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658470" y="509451"/>
            <a:ext cx="9013883" cy="984606"/>
          </a:xfrm>
          <a:prstGeom prst="rect">
            <a:avLst/>
          </a:prstGeom>
        </p:spPr>
        <p:txBody>
          <a:bodyPr vert="horz" wrap="square" lIns="0" tIns="10646" rIns="0" bIns="0" rtlCol="0">
            <a:spAutoFit/>
          </a:bodyPr>
          <a:lstStyle/>
          <a:p>
            <a:pPr marL="2092810" marR="4483" indent="-1873723">
              <a:lnSpc>
                <a:spcPct val="100000"/>
              </a:lnSpc>
              <a:spcBef>
                <a:spcPts val="84"/>
              </a:spcBef>
            </a:pPr>
            <a:r>
              <a:rPr spc="-9" dirty="0"/>
              <a:t>The vanishing </a:t>
            </a:r>
            <a:r>
              <a:rPr spc="-18" dirty="0"/>
              <a:t>gradient</a:t>
            </a:r>
            <a:r>
              <a:rPr spc="18" dirty="0"/>
              <a:t> </a:t>
            </a:r>
            <a:r>
              <a:rPr spc="-13" dirty="0"/>
              <a:t>problem</a:t>
            </a:r>
            <a:r>
              <a:rPr spc="-4" dirty="0"/>
              <a:t> </a:t>
            </a:r>
            <a:r>
              <a:rPr spc="-22" dirty="0"/>
              <a:t>for </a:t>
            </a:r>
            <a:r>
              <a:rPr spc="-785" dirty="0"/>
              <a:t> </a:t>
            </a:r>
            <a:r>
              <a:rPr dirty="0"/>
              <a:t>deep</a:t>
            </a:r>
            <a:r>
              <a:rPr spc="-18" dirty="0"/>
              <a:t> networks</a:t>
            </a:r>
          </a:p>
        </p:txBody>
      </p:sp>
      <p:sp>
        <p:nvSpPr>
          <p:cNvPr id="3" name="object 3"/>
          <p:cNvSpPr txBox="1"/>
          <p:nvPr/>
        </p:nvSpPr>
        <p:spPr>
          <a:xfrm>
            <a:off x="2534687" y="1821667"/>
            <a:ext cx="6877050" cy="2175113"/>
          </a:xfrm>
          <a:prstGeom prst="rect">
            <a:avLst/>
          </a:prstGeom>
        </p:spPr>
        <p:txBody>
          <a:bodyPr vert="horz" wrap="square" lIns="0" tIns="11206" rIns="0" bIns="0" rtlCol="0">
            <a:spAutoFit/>
          </a:bodyPr>
          <a:lstStyle/>
          <a:p>
            <a:pPr marL="313781" marR="795100" indent="-303135">
              <a:spcBef>
                <a:spcPts val="88"/>
              </a:spcBef>
              <a:buFont typeface="Arial MT"/>
              <a:buChar char="•"/>
              <a:tabLst>
                <a:tab pos="313221" algn="l"/>
                <a:tab pos="314342" algn="l"/>
              </a:tabLst>
            </a:pPr>
            <a:r>
              <a:rPr sz="2824" dirty="0">
                <a:latin typeface="Calibri"/>
                <a:cs typeface="Calibri"/>
              </a:rPr>
              <a:t>A</a:t>
            </a:r>
            <a:r>
              <a:rPr sz="2824" spc="9" dirty="0">
                <a:latin typeface="Calibri"/>
                <a:cs typeface="Calibri"/>
              </a:rPr>
              <a:t> </a:t>
            </a:r>
            <a:r>
              <a:rPr sz="2824" spc="-9" dirty="0">
                <a:latin typeface="Calibri"/>
                <a:cs typeface="Calibri"/>
              </a:rPr>
              <a:t>particular</a:t>
            </a:r>
            <a:r>
              <a:rPr sz="2824" spc="40" dirty="0">
                <a:latin typeface="Calibri"/>
                <a:cs typeface="Calibri"/>
              </a:rPr>
              <a:t> </a:t>
            </a:r>
            <a:r>
              <a:rPr sz="2824" spc="-13" dirty="0">
                <a:latin typeface="Calibri"/>
                <a:cs typeface="Calibri"/>
              </a:rPr>
              <a:t>problem</a:t>
            </a:r>
            <a:r>
              <a:rPr sz="2824" spc="13" dirty="0">
                <a:latin typeface="Calibri"/>
                <a:cs typeface="Calibri"/>
              </a:rPr>
              <a:t> </a:t>
            </a:r>
            <a:r>
              <a:rPr sz="2824" dirty="0">
                <a:latin typeface="Calibri"/>
                <a:cs typeface="Calibri"/>
              </a:rPr>
              <a:t>with</a:t>
            </a:r>
            <a:r>
              <a:rPr sz="2824" spc="-4" dirty="0">
                <a:latin typeface="Calibri"/>
                <a:cs typeface="Calibri"/>
              </a:rPr>
              <a:t> </a:t>
            </a:r>
            <a:r>
              <a:rPr sz="2824" spc="-9" dirty="0">
                <a:latin typeface="Calibri"/>
                <a:cs typeface="Calibri"/>
              </a:rPr>
              <a:t>training</a:t>
            </a:r>
            <a:r>
              <a:rPr sz="2824" spc="4" dirty="0">
                <a:latin typeface="Calibri"/>
                <a:cs typeface="Calibri"/>
              </a:rPr>
              <a:t> </a:t>
            </a:r>
            <a:r>
              <a:rPr sz="2824" spc="-4" dirty="0">
                <a:latin typeface="Calibri"/>
                <a:cs typeface="Calibri"/>
              </a:rPr>
              <a:t>deep </a:t>
            </a:r>
            <a:r>
              <a:rPr sz="2824" spc="-622" dirty="0">
                <a:latin typeface="Calibri"/>
                <a:cs typeface="Calibri"/>
              </a:rPr>
              <a:t> </a:t>
            </a:r>
            <a:r>
              <a:rPr sz="2824" spc="-9" dirty="0">
                <a:latin typeface="Calibri"/>
                <a:cs typeface="Calibri"/>
              </a:rPr>
              <a:t>networks..</a:t>
            </a:r>
            <a:endParaRPr sz="2824" dirty="0">
              <a:latin typeface="Calibri"/>
              <a:cs typeface="Calibri"/>
            </a:endParaRPr>
          </a:p>
          <a:p>
            <a:pPr marL="667346" lvl="1" indent="-253266">
              <a:spcBef>
                <a:spcPts val="609"/>
              </a:spcBef>
              <a:buFont typeface="Arial MT"/>
              <a:buChar char="–"/>
              <a:tabLst>
                <a:tab pos="667906" algn="l"/>
              </a:tabLst>
            </a:pPr>
            <a:r>
              <a:rPr sz="2471" spc="-13" dirty="0">
                <a:latin typeface="Calibri"/>
                <a:cs typeface="Calibri"/>
              </a:rPr>
              <a:t>(</a:t>
            </a:r>
            <a:r>
              <a:rPr sz="2471" spc="-13" dirty="0">
                <a:solidFill>
                  <a:srgbClr val="BF0000"/>
                </a:solidFill>
                <a:latin typeface="Calibri"/>
                <a:cs typeface="Calibri"/>
              </a:rPr>
              <a:t>Any</a:t>
            </a:r>
            <a:r>
              <a:rPr sz="2471" spc="-9" dirty="0">
                <a:solidFill>
                  <a:srgbClr val="BF0000"/>
                </a:solidFill>
                <a:latin typeface="Calibri"/>
                <a:cs typeface="Calibri"/>
              </a:rPr>
              <a:t> </a:t>
            </a:r>
            <a:r>
              <a:rPr sz="2471" spc="-4" dirty="0">
                <a:solidFill>
                  <a:srgbClr val="BF0000"/>
                </a:solidFill>
                <a:latin typeface="Calibri"/>
                <a:cs typeface="Calibri"/>
              </a:rPr>
              <a:t>deep</a:t>
            </a:r>
            <a:r>
              <a:rPr sz="2471" spc="-9" dirty="0">
                <a:solidFill>
                  <a:srgbClr val="BF0000"/>
                </a:solidFill>
                <a:latin typeface="Calibri"/>
                <a:cs typeface="Calibri"/>
              </a:rPr>
              <a:t> network,</a:t>
            </a:r>
            <a:r>
              <a:rPr sz="2471" spc="4" dirty="0">
                <a:solidFill>
                  <a:srgbClr val="BF0000"/>
                </a:solidFill>
                <a:latin typeface="Calibri"/>
                <a:cs typeface="Calibri"/>
              </a:rPr>
              <a:t> </a:t>
            </a:r>
            <a:r>
              <a:rPr sz="2471" dirty="0">
                <a:solidFill>
                  <a:srgbClr val="BF0000"/>
                </a:solidFill>
                <a:latin typeface="Calibri"/>
                <a:cs typeface="Calibri"/>
              </a:rPr>
              <a:t>not</a:t>
            </a:r>
            <a:r>
              <a:rPr sz="2471" spc="-13" dirty="0">
                <a:solidFill>
                  <a:srgbClr val="BF0000"/>
                </a:solidFill>
                <a:latin typeface="Calibri"/>
                <a:cs typeface="Calibri"/>
              </a:rPr>
              <a:t> just</a:t>
            </a:r>
            <a:r>
              <a:rPr sz="2471" spc="40" dirty="0">
                <a:solidFill>
                  <a:srgbClr val="BF0000"/>
                </a:solidFill>
                <a:latin typeface="Calibri"/>
                <a:cs typeface="Calibri"/>
              </a:rPr>
              <a:t> </a:t>
            </a:r>
            <a:r>
              <a:rPr sz="2471" spc="-13" dirty="0">
                <a:solidFill>
                  <a:srgbClr val="BF0000"/>
                </a:solidFill>
                <a:latin typeface="Calibri"/>
                <a:cs typeface="Calibri"/>
              </a:rPr>
              <a:t>recurrent </a:t>
            </a:r>
            <a:r>
              <a:rPr sz="2471" spc="-9" dirty="0">
                <a:solidFill>
                  <a:srgbClr val="BF0000"/>
                </a:solidFill>
                <a:latin typeface="Calibri"/>
                <a:cs typeface="Calibri"/>
              </a:rPr>
              <a:t>nets</a:t>
            </a:r>
            <a:r>
              <a:rPr sz="2471" spc="-9" dirty="0">
                <a:latin typeface="Calibri"/>
                <a:cs typeface="Calibri"/>
              </a:rPr>
              <a:t>)</a:t>
            </a:r>
            <a:endParaRPr sz="2471" dirty="0">
              <a:latin typeface="Calibri"/>
              <a:cs typeface="Calibri"/>
            </a:endParaRPr>
          </a:p>
          <a:p>
            <a:pPr marL="667346" marR="4483" lvl="1" indent="-253266">
              <a:spcBef>
                <a:spcPts val="591"/>
              </a:spcBef>
              <a:buFont typeface="Arial MT"/>
              <a:buChar char="–"/>
              <a:tabLst>
                <a:tab pos="667906" algn="l"/>
              </a:tabLst>
            </a:pPr>
            <a:r>
              <a:rPr sz="2471" spc="-9" dirty="0">
                <a:latin typeface="Calibri"/>
                <a:cs typeface="Calibri"/>
              </a:rPr>
              <a:t>The</a:t>
            </a:r>
            <a:r>
              <a:rPr sz="2471" spc="9" dirty="0">
                <a:latin typeface="Calibri"/>
                <a:cs typeface="Calibri"/>
              </a:rPr>
              <a:t> </a:t>
            </a:r>
            <a:r>
              <a:rPr sz="2471" spc="-18" dirty="0">
                <a:latin typeface="Calibri"/>
                <a:cs typeface="Calibri"/>
              </a:rPr>
              <a:t>gradient</a:t>
            </a:r>
            <a:r>
              <a:rPr sz="2471" spc="13" dirty="0">
                <a:latin typeface="Calibri"/>
                <a:cs typeface="Calibri"/>
              </a:rPr>
              <a:t> </a:t>
            </a:r>
            <a:r>
              <a:rPr sz="2471" dirty="0">
                <a:latin typeface="Calibri"/>
                <a:cs typeface="Calibri"/>
              </a:rPr>
              <a:t>of</a:t>
            </a:r>
            <a:r>
              <a:rPr sz="2471" spc="-4" dirty="0">
                <a:latin typeface="Calibri"/>
                <a:cs typeface="Calibri"/>
              </a:rPr>
              <a:t> the</a:t>
            </a:r>
            <a:r>
              <a:rPr sz="2471" spc="9" dirty="0">
                <a:latin typeface="Calibri"/>
                <a:cs typeface="Calibri"/>
              </a:rPr>
              <a:t> </a:t>
            </a:r>
            <a:r>
              <a:rPr sz="2471" spc="-18" dirty="0">
                <a:latin typeface="Calibri"/>
                <a:cs typeface="Calibri"/>
              </a:rPr>
              <a:t>error</a:t>
            </a:r>
            <a:r>
              <a:rPr sz="2471" spc="9" dirty="0">
                <a:latin typeface="Calibri"/>
                <a:cs typeface="Calibri"/>
              </a:rPr>
              <a:t> </a:t>
            </a:r>
            <a:r>
              <a:rPr sz="2471" spc="-4" dirty="0">
                <a:latin typeface="Calibri"/>
                <a:cs typeface="Calibri"/>
              </a:rPr>
              <a:t>with</a:t>
            </a:r>
            <a:r>
              <a:rPr sz="2471" spc="-9" dirty="0">
                <a:latin typeface="Calibri"/>
                <a:cs typeface="Calibri"/>
              </a:rPr>
              <a:t> respect</a:t>
            </a:r>
            <a:r>
              <a:rPr sz="2471" spc="18" dirty="0">
                <a:latin typeface="Calibri"/>
                <a:cs typeface="Calibri"/>
              </a:rPr>
              <a:t> </a:t>
            </a:r>
            <a:r>
              <a:rPr sz="2471" spc="-9" dirty="0">
                <a:latin typeface="Calibri"/>
                <a:cs typeface="Calibri"/>
              </a:rPr>
              <a:t>to</a:t>
            </a:r>
            <a:r>
              <a:rPr sz="2471" spc="-18" dirty="0">
                <a:latin typeface="Calibri"/>
                <a:cs typeface="Calibri"/>
              </a:rPr>
              <a:t> </a:t>
            </a:r>
            <a:r>
              <a:rPr sz="2471" spc="-9" dirty="0">
                <a:latin typeface="Calibri"/>
                <a:cs typeface="Calibri"/>
              </a:rPr>
              <a:t>weights </a:t>
            </a:r>
            <a:r>
              <a:rPr sz="2471" spc="-543" dirty="0">
                <a:latin typeface="Calibri"/>
                <a:cs typeface="Calibri"/>
              </a:rPr>
              <a:t> </a:t>
            </a:r>
            <a:r>
              <a:rPr sz="2471" spc="-4" dirty="0">
                <a:latin typeface="Calibri"/>
                <a:cs typeface="Calibri"/>
              </a:rPr>
              <a:t>is</a:t>
            </a:r>
            <a:r>
              <a:rPr sz="2471" dirty="0">
                <a:latin typeface="Calibri"/>
                <a:cs typeface="Calibri"/>
              </a:rPr>
              <a:t> </a:t>
            </a:r>
            <a:r>
              <a:rPr sz="2471" spc="-13" dirty="0">
                <a:latin typeface="Calibri"/>
                <a:cs typeface="Calibri"/>
              </a:rPr>
              <a:t>unstable..</a:t>
            </a:r>
            <a:endParaRPr sz="2471" dirty="0">
              <a:latin typeface="Calibri"/>
              <a:cs typeface="Calibri"/>
            </a:endParaRPr>
          </a:p>
        </p:txBody>
      </p:sp>
      <p:sp>
        <p:nvSpPr>
          <p:cNvPr id="5" name="Title 1"/>
          <p:cNvSpPr txBox="1">
            <a:spLocks/>
          </p:cNvSpPr>
          <p:nvPr/>
        </p:nvSpPr>
        <p:spPr>
          <a:xfrm>
            <a:off x="0" y="0"/>
            <a:ext cx="0" cy="0"/>
          </a:xfrm>
        </p:spPr>
        <p:txBody>
          <a:bodyPr lIns="0" tIns="0" rIns="0" bIns="0"/>
          <a:lstStyle>
            <a:lvl1pPr algn="l" defTabSz="914400" rtl="0" eaLnBrk="1" latinLnBrk="0" hangingPunct="1">
              <a:lnSpc>
                <a:spcPct val="90000"/>
              </a:lnSpc>
              <a:spcBef>
                <a:spcPct val="0"/>
              </a:spcBef>
              <a:buNone/>
              <a:defRPr sz="3164" b="1" i="0" kern="1200">
                <a:solidFill>
                  <a:schemeClr val="tx1"/>
                </a:solidFill>
                <a:latin typeface="Arial"/>
                <a:ea typeface="+mj-ea"/>
                <a:cs typeface="Arial"/>
              </a:defRPr>
            </a:lvl1pPr>
          </a:lstStyle>
          <a:p>
            <a:r>
              <a:rPr lang="en-US"/>
              <a:t>  </a:t>
            </a:r>
            <a:endParaRPr lang="en-IN" dirty="0"/>
          </a:p>
        </p:txBody>
      </p:sp>
      <p:sp>
        <p:nvSpPr>
          <p:cNvPr id="6" name="Text Placeholder 2"/>
          <p:cNvSpPr>
            <a:spLocks noGrp="1"/>
          </p:cNvSpPr>
          <p:nvPr>
            <p:ph type="body" idx="1"/>
          </p:nvPr>
        </p:nvSpPr>
        <p:spPr>
          <a:xfrm>
            <a:off x="0" y="0"/>
            <a:ext cx="0" cy="0"/>
          </a:xfrm>
        </p:spPr>
        <p:txBody>
          <a:bodyPr/>
          <a:lstStyle/>
          <a:p>
            <a:pPr marL="0" indent="0">
              <a:buNone/>
            </a:pPr>
            <a:r>
              <a:rPr lang="en-US" dirty="0"/>
              <a:t> </a:t>
            </a:r>
            <a:endParaRPr lang="en-IN" dirty="0"/>
          </a:p>
        </p:txBody>
      </p:sp>
    </p:spTree>
    <p:extLst>
      <p:ext uri="{BB962C8B-B14F-4D97-AF65-F5344CB8AC3E}">
        <p14:creationId xmlns:p14="http://schemas.microsoft.com/office/powerpoint/2010/main" val="38438164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658471" y="1"/>
            <a:ext cx="0" cy="142860"/>
          </a:xfrm>
          <a:prstGeom prst="rect">
            <a:avLst/>
          </a:prstGeom>
        </p:spPr>
        <p:txBody>
          <a:bodyPr vert="horz" wrap="square" lIns="0" tIns="0" rIns="0" bIns="0" rtlCol="0">
            <a:spAutoFit/>
          </a:bodyPr>
          <a:lstStyle/>
          <a:p>
            <a:pPr marL="11206">
              <a:lnSpc>
                <a:spcPts val="1094"/>
              </a:lnSpc>
            </a:pPr>
            <a:r>
              <a:rPr dirty="0"/>
              <a:t>4</a:t>
            </a:r>
          </a:p>
        </p:txBody>
      </p:sp>
      <p:sp>
        <p:nvSpPr>
          <p:cNvPr id="2" name="object 2"/>
          <p:cNvSpPr txBox="1">
            <a:spLocks noGrp="1"/>
          </p:cNvSpPr>
          <p:nvPr>
            <p:ph type="title"/>
          </p:nvPr>
        </p:nvSpPr>
        <p:spPr>
          <a:xfrm>
            <a:off x="5389527" y="810501"/>
            <a:ext cx="1964862" cy="608851"/>
          </a:xfrm>
          <a:prstGeom prst="rect">
            <a:avLst/>
          </a:prstGeom>
        </p:spPr>
        <p:txBody>
          <a:bodyPr vert="horz" wrap="square" lIns="0" tIns="11206" rIns="0" bIns="0" rtlCol="0">
            <a:spAutoFit/>
          </a:bodyPr>
          <a:lstStyle/>
          <a:p>
            <a:pPr marL="11206">
              <a:lnSpc>
                <a:spcPct val="100000"/>
              </a:lnSpc>
              <a:spcBef>
                <a:spcPts val="88"/>
              </a:spcBef>
            </a:pPr>
            <a:r>
              <a:rPr sz="3883" spc="-13" dirty="0"/>
              <a:t>R</a:t>
            </a:r>
            <a:r>
              <a:rPr sz="3883" spc="4" dirty="0"/>
              <a:t>NN</a:t>
            </a:r>
            <a:r>
              <a:rPr sz="3883" dirty="0"/>
              <a:t>s</a:t>
            </a:r>
            <a:r>
              <a:rPr sz="3883" spc="9" dirty="0"/>
              <a:t>.</a:t>
            </a:r>
            <a:r>
              <a:rPr sz="3883" dirty="0"/>
              <a:t>.</a:t>
            </a:r>
          </a:p>
        </p:txBody>
      </p:sp>
      <p:sp>
        <p:nvSpPr>
          <p:cNvPr id="3" name="object 3"/>
          <p:cNvSpPr txBox="1"/>
          <p:nvPr/>
        </p:nvSpPr>
        <p:spPr>
          <a:xfrm>
            <a:off x="2534687" y="1732938"/>
            <a:ext cx="8490364" cy="4722382"/>
          </a:xfrm>
          <a:prstGeom prst="rect">
            <a:avLst/>
          </a:prstGeom>
        </p:spPr>
        <p:txBody>
          <a:bodyPr vert="horz" wrap="square" lIns="0" tIns="57149" rIns="0" bIns="0" rtlCol="0">
            <a:spAutoFit/>
          </a:bodyPr>
          <a:lstStyle/>
          <a:p>
            <a:pPr marL="313781" indent="-303135">
              <a:spcBef>
                <a:spcPts val="449"/>
              </a:spcBef>
              <a:buFont typeface="Arial MT"/>
              <a:buChar char="•"/>
              <a:tabLst>
                <a:tab pos="313221" algn="l"/>
                <a:tab pos="314342" algn="l"/>
              </a:tabLst>
            </a:pPr>
            <a:r>
              <a:rPr sz="2824" spc="-13" dirty="0">
                <a:latin typeface="Calibri"/>
                <a:cs typeface="Calibri"/>
              </a:rPr>
              <a:t>Excellent</a:t>
            </a:r>
            <a:r>
              <a:rPr sz="2824" spc="-4" dirty="0">
                <a:latin typeface="Calibri"/>
                <a:cs typeface="Calibri"/>
              </a:rPr>
              <a:t> </a:t>
            </a:r>
            <a:r>
              <a:rPr sz="2824" dirty="0">
                <a:latin typeface="Calibri"/>
                <a:cs typeface="Calibri"/>
              </a:rPr>
              <a:t>models</a:t>
            </a:r>
            <a:r>
              <a:rPr sz="2824" spc="-22" dirty="0">
                <a:latin typeface="Calibri"/>
                <a:cs typeface="Calibri"/>
              </a:rPr>
              <a:t> for</a:t>
            </a:r>
            <a:r>
              <a:rPr sz="2824" spc="13" dirty="0">
                <a:latin typeface="Calibri"/>
                <a:cs typeface="Calibri"/>
              </a:rPr>
              <a:t> </a:t>
            </a:r>
            <a:r>
              <a:rPr sz="2824" spc="-4" dirty="0">
                <a:latin typeface="Calibri"/>
                <a:cs typeface="Calibri"/>
              </a:rPr>
              <a:t>time-series</a:t>
            </a:r>
            <a:r>
              <a:rPr sz="2824" spc="-22" dirty="0">
                <a:latin typeface="Calibri"/>
                <a:cs typeface="Calibri"/>
              </a:rPr>
              <a:t> </a:t>
            </a:r>
            <a:r>
              <a:rPr sz="2824" spc="-9" dirty="0">
                <a:latin typeface="Calibri"/>
                <a:cs typeface="Calibri"/>
              </a:rPr>
              <a:t>analysis</a:t>
            </a:r>
            <a:r>
              <a:rPr sz="2824" spc="40" dirty="0">
                <a:latin typeface="Calibri"/>
                <a:cs typeface="Calibri"/>
              </a:rPr>
              <a:t> </a:t>
            </a:r>
            <a:r>
              <a:rPr sz="2824" spc="-18" dirty="0">
                <a:latin typeface="Calibri"/>
                <a:cs typeface="Calibri"/>
              </a:rPr>
              <a:t>tasks</a:t>
            </a:r>
            <a:endParaRPr sz="2824" dirty="0">
              <a:latin typeface="Calibri"/>
              <a:cs typeface="Calibri"/>
            </a:endParaRPr>
          </a:p>
          <a:p>
            <a:pPr marL="667346" lvl="1" indent="-253266">
              <a:spcBef>
                <a:spcPts val="309"/>
              </a:spcBef>
              <a:buFont typeface="Arial MT"/>
              <a:buChar char="–"/>
              <a:tabLst>
                <a:tab pos="667906" algn="l"/>
              </a:tabLst>
            </a:pPr>
            <a:r>
              <a:rPr sz="2471" spc="-4" dirty="0">
                <a:latin typeface="Calibri"/>
                <a:cs typeface="Calibri"/>
              </a:rPr>
              <a:t>Time-series</a:t>
            </a:r>
            <a:r>
              <a:rPr sz="2471" spc="-9" dirty="0">
                <a:latin typeface="Calibri"/>
                <a:cs typeface="Calibri"/>
              </a:rPr>
              <a:t> prediction</a:t>
            </a:r>
            <a:endParaRPr sz="2471" dirty="0">
              <a:latin typeface="Calibri"/>
              <a:cs typeface="Calibri"/>
            </a:endParaRPr>
          </a:p>
          <a:p>
            <a:pPr marL="667346" lvl="1" indent="-253266">
              <a:spcBef>
                <a:spcPts val="300"/>
              </a:spcBef>
              <a:buFont typeface="Arial MT"/>
              <a:buChar char="–"/>
              <a:tabLst>
                <a:tab pos="667906" algn="l"/>
              </a:tabLst>
            </a:pPr>
            <a:r>
              <a:rPr sz="2471" spc="-4" dirty="0">
                <a:latin typeface="Calibri"/>
                <a:cs typeface="Calibri"/>
              </a:rPr>
              <a:t>Time-series</a:t>
            </a:r>
            <a:r>
              <a:rPr sz="2471" spc="4" dirty="0">
                <a:latin typeface="Calibri"/>
                <a:cs typeface="Calibri"/>
              </a:rPr>
              <a:t> </a:t>
            </a:r>
            <a:r>
              <a:rPr sz="2471" spc="-9" dirty="0">
                <a:latin typeface="Calibri"/>
                <a:cs typeface="Calibri"/>
              </a:rPr>
              <a:t>classification</a:t>
            </a:r>
            <a:endParaRPr sz="2471" dirty="0">
              <a:latin typeface="Calibri"/>
              <a:cs typeface="Calibri"/>
            </a:endParaRPr>
          </a:p>
          <a:p>
            <a:pPr marL="667346" lvl="1" indent="-253266">
              <a:spcBef>
                <a:spcPts val="296"/>
              </a:spcBef>
              <a:buFont typeface="Arial MT"/>
              <a:buChar char="–"/>
              <a:tabLst>
                <a:tab pos="667906" algn="l"/>
              </a:tabLst>
            </a:pPr>
            <a:r>
              <a:rPr sz="2471" spc="-9" dirty="0">
                <a:latin typeface="Calibri"/>
                <a:cs typeface="Calibri"/>
              </a:rPr>
              <a:t>Sequence</a:t>
            </a:r>
            <a:r>
              <a:rPr sz="2471" spc="-4" dirty="0">
                <a:latin typeface="Calibri"/>
                <a:cs typeface="Calibri"/>
              </a:rPr>
              <a:t> </a:t>
            </a:r>
            <a:r>
              <a:rPr sz="2471" spc="-13" dirty="0">
                <a:latin typeface="Calibri"/>
                <a:cs typeface="Calibri"/>
              </a:rPr>
              <a:t>generation..</a:t>
            </a:r>
            <a:endParaRPr sz="2471" dirty="0">
              <a:latin typeface="Calibri"/>
              <a:cs typeface="Calibri"/>
            </a:endParaRPr>
          </a:p>
          <a:p>
            <a:pPr marL="667346" marR="60515" lvl="1" indent="-253266">
              <a:lnSpc>
                <a:spcPts val="2665"/>
              </a:lnSpc>
              <a:spcBef>
                <a:spcPts val="635"/>
              </a:spcBef>
              <a:buFont typeface="Arial MT"/>
              <a:buChar char="–"/>
              <a:tabLst>
                <a:tab pos="667906" algn="l"/>
              </a:tabLst>
            </a:pPr>
            <a:r>
              <a:rPr sz="2471" spc="-4" dirty="0">
                <a:latin typeface="Calibri"/>
                <a:cs typeface="Calibri"/>
              </a:rPr>
              <a:t>They</a:t>
            </a:r>
            <a:r>
              <a:rPr sz="2471" spc="-26" dirty="0">
                <a:latin typeface="Calibri"/>
                <a:cs typeface="Calibri"/>
              </a:rPr>
              <a:t> </a:t>
            </a:r>
            <a:r>
              <a:rPr sz="2471" spc="-9" dirty="0">
                <a:latin typeface="Calibri"/>
                <a:cs typeface="Calibri"/>
              </a:rPr>
              <a:t>can</a:t>
            </a:r>
            <a:r>
              <a:rPr sz="2471" dirty="0">
                <a:latin typeface="Calibri"/>
                <a:cs typeface="Calibri"/>
              </a:rPr>
              <a:t> </a:t>
            </a:r>
            <a:r>
              <a:rPr sz="2471" spc="-9" dirty="0">
                <a:latin typeface="Calibri"/>
                <a:cs typeface="Calibri"/>
              </a:rPr>
              <a:t>even</a:t>
            </a:r>
            <a:r>
              <a:rPr sz="2471" dirty="0">
                <a:latin typeface="Calibri"/>
                <a:cs typeface="Calibri"/>
              </a:rPr>
              <a:t> </a:t>
            </a:r>
            <a:r>
              <a:rPr sz="2471" spc="-4" dirty="0">
                <a:latin typeface="Calibri"/>
                <a:cs typeface="Calibri"/>
              </a:rPr>
              <a:t>simplify</a:t>
            </a:r>
            <a:r>
              <a:rPr sz="2471" dirty="0">
                <a:latin typeface="Calibri"/>
                <a:cs typeface="Calibri"/>
              </a:rPr>
              <a:t> </a:t>
            </a:r>
            <a:r>
              <a:rPr sz="2471" spc="-13" dirty="0">
                <a:latin typeface="Calibri"/>
                <a:cs typeface="Calibri"/>
              </a:rPr>
              <a:t>problems</a:t>
            </a:r>
            <a:r>
              <a:rPr sz="2471" spc="57" dirty="0">
                <a:latin typeface="Calibri"/>
                <a:cs typeface="Calibri"/>
              </a:rPr>
              <a:t> </a:t>
            </a:r>
            <a:r>
              <a:rPr sz="2471" spc="-13" dirty="0">
                <a:latin typeface="Calibri"/>
                <a:cs typeface="Calibri"/>
              </a:rPr>
              <a:t>that</a:t>
            </a:r>
            <a:r>
              <a:rPr sz="2471" dirty="0">
                <a:latin typeface="Calibri"/>
                <a:cs typeface="Calibri"/>
              </a:rPr>
              <a:t> </a:t>
            </a:r>
            <a:r>
              <a:rPr sz="2471" spc="-22" dirty="0">
                <a:latin typeface="Calibri"/>
                <a:cs typeface="Calibri"/>
              </a:rPr>
              <a:t>are</a:t>
            </a:r>
            <a:r>
              <a:rPr sz="2471" spc="18" dirty="0">
                <a:latin typeface="Calibri"/>
                <a:cs typeface="Calibri"/>
              </a:rPr>
              <a:t> </a:t>
            </a:r>
            <a:r>
              <a:rPr sz="2471" spc="-13" dirty="0">
                <a:latin typeface="Calibri"/>
                <a:cs typeface="Calibri"/>
              </a:rPr>
              <a:t>difficult </a:t>
            </a:r>
            <a:r>
              <a:rPr sz="2471" spc="-547" dirty="0">
                <a:latin typeface="Calibri"/>
                <a:cs typeface="Calibri"/>
              </a:rPr>
              <a:t> </a:t>
            </a:r>
            <a:r>
              <a:rPr sz="2471" spc="-22" dirty="0">
                <a:latin typeface="Calibri"/>
                <a:cs typeface="Calibri"/>
              </a:rPr>
              <a:t>for</a:t>
            </a:r>
            <a:r>
              <a:rPr sz="2471" spc="4" dirty="0">
                <a:latin typeface="Calibri"/>
                <a:cs typeface="Calibri"/>
              </a:rPr>
              <a:t> </a:t>
            </a:r>
            <a:r>
              <a:rPr sz="2471" spc="-18" dirty="0">
                <a:latin typeface="Calibri"/>
                <a:cs typeface="Calibri"/>
              </a:rPr>
              <a:t>MLPs</a:t>
            </a:r>
            <a:endParaRPr sz="2471" dirty="0">
              <a:latin typeface="Calibri"/>
              <a:cs typeface="Calibri"/>
            </a:endParaRPr>
          </a:p>
          <a:p>
            <a:pPr lvl="1">
              <a:spcBef>
                <a:spcPts val="49"/>
              </a:spcBef>
              <a:buFont typeface="Arial MT"/>
              <a:buChar char="–"/>
            </a:pPr>
            <a:endParaRPr sz="2868" dirty="0">
              <a:latin typeface="Calibri"/>
              <a:cs typeface="Calibri"/>
            </a:endParaRPr>
          </a:p>
          <a:p>
            <a:pPr marL="313781" indent="-303135">
              <a:buFont typeface="Arial MT"/>
              <a:buChar char="•"/>
              <a:tabLst>
                <a:tab pos="313221" algn="l"/>
                <a:tab pos="314342" algn="l"/>
              </a:tabLst>
            </a:pPr>
            <a:r>
              <a:rPr sz="2824" dirty="0">
                <a:latin typeface="Calibri"/>
                <a:cs typeface="Calibri"/>
              </a:rPr>
              <a:t>But</a:t>
            </a:r>
            <a:r>
              <a:rPr sz="2824" spc="-9" dirty="0">
                <a:latin typeface="Calibri"/>
                <a:cs typeface="Calibri"/>
              </a:rPr>
              <a:t> </a:t>
            </a:r>
            <a:r>
              <a:rPr sz="2824" spc="-4" dirty="0">
                <a:latin typeface="Calibri"/>
                <a:cs typeface="Calibri"/>
              </a:rPr>
              <a:t>the</a:t>
            </a:r>
            <a:r>
              <a:rPr sz="2824" spc="-13" dirty="0">
                <a:latin typeface="Calibri"/>
                <a:cs typeface="Calibri"/>
              </a:rPr>
              <a:t> </a:t>
            </a:r>
            <a:r>
              <a:rPr sz="2824" dirty="0">
                <a:latin typeface="Calibri"/>
                <a:cs typeface="Calibri"/>
              </a:rPr>
              <a:t>memory </a:t>
            </a:r>
            <a:r>
              <a:rPr sz="2824" spc="-4" dirty="0">
                <a:latin typeface="Calibri"/>
                <a:cs typeface="Calibri"/>
              </a:rPr>
              <a:t>isn’t</a:t>
            </a:r>
            <a:r>
              <a:rPr sz="2824" spc="22" dirty="0">
                <a:latin typeface="Calibri"/>
                <a:cs typeface="Calibri"/>
              </a:rPr>
              <a:t> </a:t>
            </a:r>
            <a:r>
              <a:rPr sz="2824" dirty="0">
                <a:latin typeface="Calibri"/>
                <a:cs typeface="Calibri"/>
              </a:rPr>
              <a:t>all</a:t>
            </a:r>
            <a:r>
              <a:rPr sz="2824" spc="-22" dirty="0">
                <a:latin typeface="Calibri"/>
                <a:cs typeface="Calibri"/>
              </a:rPr>
              <a:t> </a:t>
            </a:r>
            <a:r>
              <a:rPr sz="2824" spc="-9" dirty="0">
                <a:latin typeface="Calibri"/>
                <a:cs typeface="Calibri"/>
              </a:rPr>
              <a:t>that</a:t>
            </a:r>
            <a:r>
              <a:rPr sz="2824" spc="22" dirty="0">
                <a:latin typeface="Calibri"/>
                <a:cs typeface="Calibri"/>
              </a:rPr>
              <a:t> </a:t>
            </a:r>
            <a:r>
              <a:rPr sz="2824" spc="-13" dirty="0">
                <a:latin typeface="Calibri"/>
                <a:cs typeface="Calibri"/>
              </a:rPr>
              <a:t>great..</a:t>
            </a:r>
            <a:endParaRPr sz="2824" dirty="0">
              <a:latin typeface="Calibri"/>
              <a:cs typeface="Calibri"/>
            </a:endParaRPr>
          </a:p>
          <a:p>
            <a:pPr marL="667346" lvl="1" indent="-253266">
              <a:spcBef>
                <a:spcPts val="313"/>
              </a:spcBef>
              <a:buFont typeface="Arial MT"/>
              <a:buChar char="–"/>
              <a:tabLst>
                <a:tab pos="667906" algn="l"/>
              </a:tabLst>
            </a:pPr>
            <a:r>
              <a:rPr lang="en-US" sz="2471" spc="-4" dirty="0">
                <a:latin typeface="Calibri"/>
                <a:cs typeface="Calibri"/>
              </a:rPr>
              <a:t>They are very much prone to Vanishing/Exploding Gradients</a:t>
            </a:r>
          </a:p>
          <a:p>
            <a:pPr marL="667346" lvl="1" indent="-253266">
              <a:spcBef>
                <a:spcPts val="313"/>
              </a:spcBef>
              <a:buFont typeface="Arial MT"/>
              <a:buChar char="–"/>
              <a:tabLst>
                <a:tab pos="667906" algn="l"/>
              </a:tabLst>
            </a:pPr>
            <a:r>
              <a:rPr lang="en-US" sz="2471" spc="-4" dirty="0">
                <a:latin typeface="Calibri"/>
                <a:cs typeface="Calibri"/>
              </a:rPr>
              <a:t>Long term dependencies are hard to capture</a:t>
            </a:r>
          </a:p>
          <a:p>
            <a:pPr marL="667346" lvl="1" indent="-253266">
              <a:spcBef>
                <a:spcPts val="313"/>
              </a:spcBef>
              <a:buFont typeface="Arial MT"/>
              <a:buChar char="–"/>
              <a:tabLst>
                <a:tab pos="667906" algn="l"/>
              </a:tabLst>
            </a:pPr>
            <a:r>
              <a:rPr lang="en-US" sz="2471" spc="-4" dirty="0">
                <a:cs typeface="Calibri"/>
              </a:rPr>
              <a:t>Also they are not parallelizable models</a:t>
            </a:r>
          </a:p>
          <a:p>
            <a:pPr marL="667346" lvl="1" indent="-253266">
              <a:spcBef>
                <a:spcPts val="313"/>
              </a:spcBef>
              <a:buFont typeface="Arial MT"/>
              <a:buChar char="–"/>
              <a:tabLst>
                <a:tab pos="667906" algn="l"/>
              </a:tabLst>
            </a:pPr>
            <a:endParaRPr sz="2471" dirty="0">
              <a:latin typeface="Calibri"/>
              <a:cs typeface="Calibri"/>
            </a:endParaRPr>
          </a:p>
        </p:txBody>
      </p:sp>
      <p:sp>
        <p:nvSpPr>
          <p:cNvPr id="5" name="Title 1"/>
          <p:cNvSpPr txBox="1">
            <a:spLocks/>
          </p:cNvSpPr>
          <p:nvPr/>
        </p:nvSpPr>
        <p:spPr>
          <a:xfrm>
            <a:off x="0" y="0"/>
            <a:ext cx="0" cy="0"/>
          </a:xfrm>
        </p:spPr>
        <p:txBody>
          <a:bodyPr lIns="0" tIns="0" rIns="0" bIns="0"/>
          <a:lstStyle>
            <a:lvl1pPr algn="l" defTabSz="914400" rtl="0" eaLnBrk="1" latinLnBrk="0" hangingPunct="1">
              <a:lnSpc>
                <a:spcPct val="90000"/>
              </a:lnSpc>
              <a:spcBef>
                <a:spcPct val="0"/>
              </a:spcBef>
              <a:buNone/>
              <a:defRPr sz="3164" b="1" i="0" kern="1200">
                <a:solidFill>
                  <a:schemeClr val="tx1"/>
                </a:solidFill>
                <a:latin typeface="Arial"/>
                <a:ea typeface="+mj-ea"/>
                <a:cs typeface="Arial"/>
              </a:defRPr>
            </a:lvl1pPr>
          </a:lstStyle>
          <a:p>
            <a:r>
              <a:rPr lang="en-US"/>
              <a:t>  </a:t>
            </a:r>
            <a:endParaRPr lang="en-IN" dirty="0"/>
          </a:p>
        </p:txBody>
      </p:sp>
      <p:sp>
        <p:nvSpPr>
          <p:cNvPr id="6" name="Text Placeholder 2"/>
          <p:cNvSpPr>
            <a:spLocks noGrp="1"/>
          </p:cNvSpPr>
          <p:nvPr>
            <p:ph type="body" idx="1"/>
          </p:nvPr>
        </p:nvSpPr>
        <p:spPr>
          <a:xfrm>
            <a:off x="0" y="0"/>
            <a:ext cx="0" cy="0"/>
          </a:xfrm>
        </p:spPr>
        <p:txBody>
          <a:bodyPr/>
          <a:lstStyle/>
          <a:p>
            <a:pPr marL="0" indent="0">
              <a:buNone/>
            </a:pPr>
            <a:r>
              <a:rPr lang="en-US" dirty="0"/>
              <a:t> </a:t>
            </a:r>
            <a:endParaRPr lang="en-IN" dirty="0"/>
          </a:p>
        </p:txBody>
      </p:sp>
    </p:spTree>
    <p:extLst>
      <p:ext uri="{BB962C8B-B14F-4D97-AF65-F5344CB8AC3E}">
        <p14:creationId xmlns:p14="http://schemas.microsoft.com/office/powerpoint/2010/main" val="19045098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658471" y="1"/>
            <a:ext cx="0" cy="142860"/>
          </a:xfrm>
          <a:prstGeom prst="rect">
            <a:avLst/>
          </a:prstGeom>
        </p:spPr>
        <p:txBody>
          <a:bodyPr vert="horz" wrap="square" lIns="0" tIns="0" rIns="0" bIns="0" rtlCol="0">
            <a:spAutoFit/>
          </a:bodyPr>
          <a:lstStyle/>
          <a:p>
            <a:pPr marL="11206">
              <a:lnSpc>
                <a:spcPts val="1094"/>
              </a:lnSpc>
            </a:pPr>
            <a:r>
              <a:rPr dirty="0"/>
              <a:t>4</a:t>
            </a:r>
          </a:p>
        </p:txBody>
      </p:sp>
      <p:sp>
        <p:nvSpPr>
          <p:cNvPr id="2" name="object 2"/>
          <p:cNvSpPr txBox="1">
            <a:spLocks noGrp="1"/>
          </p:cNvSpPr>
          <p:nvPr>
            <p:ph type="title"/>
          </p:nvPr>
        </p:nvSpPr>
        <p:spPr>
          <a:xfrm>
            <a:off x="5389526" y="810501"/>
            <a:ext cx="3297273" cy="608851"/>
          </a:xfrm>
          <a:prstGeom prst="rect">
            <a:avLst/>
          </a:prstGeom>
        </p:spPr>
        <p:txBody>
          <a:bodyPr vert="horz" wrap="square" lIns="0" tIns="11206" rIns="0" bIns="0" rtlCol="0">
            <a:spAutoFit/>
          </a:bodyPr>
          <a:lstStyle/>
          <a:p>
            <a:pPr marL="11206">
              <a:lnSpc>
                <a:spcPct val="100000"/>
              </a:lnSpc>
              <a:spcBef>
                <a:spcPts val="88"/>
              </a:spcBef>
            </a:pPr>
            <a:r>
              <a:rPr lang="en-US" sz="3883" dirty="0"/>
              <a:t>References</a:t>
            </a:r>
            <a:endParaRPr sz="3883" dirty="0"/>
          </a:p>
        </p:txBody>
      </p:sp>
      <p:sp>
        <p:nvSpPr>
          <p:cNvPr id="3" name="object 3"/>
          <p:cNvSpPr txBox="1"/>
          <p:nvPr/>
        </p:nvSpPr>
        <p:spPr>
          <a:xfrm>
            <a:off x="2534687" y="1732938"/>
            <a:ext cx="8490364" cy="2911694"/>
          </a:xfrm>
          <a:prstGeom prst="rect">
            <a:avLst/>
          </a:prstGeom>
        </p:spPr>
        <p:txBody>
          <a:bodyPr vert="horz" wrap="square" lIns="0" tIns="57149" rIns="0" bIns="0" rtlCol="0">
            <a:spAutoFit/>
          </a:bodyPr>
          <a:lstStyle/>
          <a:p>
            <a:pPr marL="667346" lvl="1" indent="-253266">
              <a:spcBef>
                <a:spcPts val="313"/>
              </a:spcBef>
              <a:buFont typeface="Arial MT"/>
              <a:buChar char="–"/>
              <a:tabLst>
                <a:tab pos="667906" algn="l"/>
              </a:tabLst>
            </a:pPr>
            <a:r>
              <a:rPr lang="en-IN" sz="2471" dirty="0">
                <a:cs typeface="Calibri"/>
                <a:hlinkClick r:id="rId2"/>
              </a:rPr>
              <a:t>https://www.youtube.com/watch?v=BtLJ-oAGvfc</a:t>
            </a:r>
            <a:endParaRPr lang="en-IN" sz="2471" dirty="0">
              <a:cs typeface="Calibri"/>
            </a:endParaRPr>
          </a:p>
          <a:p>
            <a:pPr marL="871280" lvl="2">
              <a:spcBef>
                <a:spcPts val="313"/>
              </a:spcBef>
              <a:tabLst>
                <a:tab pos="667906" algn="l"/>
              </a:tabLst>
            </a:pPr>
            <a:r>
              <a:rPr lang="en-US" sz="2471" dirty="0">
                <a:cs typeface="Calibri"/>
              </a:rPr>
              <a:t>(RNN basics by Prof. </a:t>
            </a:r>
            <a:r>
              <a:rPr lang="en-US" sz="2471" dirty="0" err="1">
                <a:cs typeface="Calibri"/>
              </a:rPr>
              <a:t>Bhiksha</a:t>
            </a:r>
            <a:r>
              <a:rPr lang="en-US" sz="2471" dirty="0">
                <a:cs typeface="Calibri"/>
              </a:rPr>
              <a:t> Raj, CMU, USA)</a:t>
            </a:r>
          </a:p>
          <a:p>
            <a:pPr marL="871280" lvl="2">
              <a:spcBef>
                <a:spcPts val="313"/>
              </a:spcBef>
              <a:tabLst>
                <a:tab pos="667906" algn="l"/>
              </a:tabLst>
            </a:pPr>
            <a:endParaRPr lang="en-IN" sz="2471" dirty="0">
              <a:cs typeface="Calibri"/>
            </a:endParaRPr>
          </a:p>
          <a:p>
            <a:pPr marL="667346" lvl="1" indent="-253266">
              <a:spcBef>
                <a:spcPts val="313"/>
              </a:spcBef>
              <a:buFont typeface="Arial MT"/>
              <a:buChar char="–"/>
              <a:tabLst>
                <a:tab pos="667906" algn="l"/>
              </a:tabLst>
            </a:pPr>
            <a:r>
              <a:rPr lang="en-IN" sz="2471" dirty="0">
                <a:cs typeface="Calibri"/>
                <a:hlinkClick r:id="rId3"/>
              </a:rPr>
              <a:t>http://karpathy.github.io/2015/05/21/rnn-effectiveness/</a:t>
            </a:r>
            <a:endParaRPr lang="en-IN" sz="2471" dirty="0">
              <a:cs typeface="Calibri"/>
            </a:endParaRPr>
          </a:p>
          <a:p>
            <a:pPr marL="667346" lvl="1" indent="-253266">
              <a:spcBef>
                <a:spcPts val="313"/>
              </a:spcBef>
              <a:buFont typeface="Arial MT"/>
              <a:buChar char="–"/>
              <a:tabLst>
                <a:tab pos="667906" algn="l"/>
              </a:tabLst>
            </a:pPr>
            <a:endParaRPr lang="en-IN" sz="2471" dirty="0">
              <a:latin typeface="Calibri"/>
              <a:cs typeface="Calibri"/>
            </a:endParaRPr>
          </a:p>
          <a:p>
            <a:pPr marL="667346" lvl="1" indent="-253266">
              <a:spcBef>
                <a:spcPts val="313"/>
              </a:spcBef>
              <a:buFont typeface="Arial MT"/>
              <a:buChar char="–"/>
              <a:tabLst>
                <a:tab pos="667906" algn="l"/>
              </a:tabLst>
            </a:pPr>
            <a:r>
              <a:rPr lang="en-IN" sz="2471" dirty="0">
                <a:cs typeface="Calibri"/>
              </a:rPr>
              <a:t>https://www.youtube.com/watch?v=7ZQgK_MV_t0&amp;list=PLuhqtP7jdD8ARBnzj8SZwNFhwWT89fAFr&amp;index=3</a:t>
            </a:r>
            <a:endParaRPr sz="2471" dirty="0">
              <a:latin typeface="Calibri"/>
              <a:cs typeface="Calibri"/>
            </a:endParaRPr>
          </a:p>
        </p:txBody>
      </p:sp>
      <p:sp>
        <p:nvSpPr>
          <p:cNvPr id="5" name="Title 1"/>
          <p:cNvSpPr txBox="1">
            <a:spLocks/>
          </p:cNvSpPr>
          <p:nvPr/>
        </p:nvSpPr>
        <p:spPr>
          <a:xfrm>
            <a:off x="0" y="0"/>
            <a:ext cx="0" cy="0"/>
          </a:xfrm>
        </p:spPr>
        <p:txBody>
          <a:bodyPr lIns="0" tIns="0" rIns="0" bIns="0"/>
          <a:lstStyle>
            <a:lvl1pPr algn="l" defTabSz="914400" rtl="0" eaLnBrk="1" latinLnBrk="0" hangingPunct="1">
              <a:lnSpc>
                <a:spcPct val="90000"/>
              </a:lnSpc>
              <a:spcBef>
                <a:spcPct val="0"/>
              </a:spcBef>
              <a:buNone/>
              <a:defRPr sz="3164" b="1" i="0" kern="1200">
                <a:solidFill>
                  <a:schemeClr val="tx1"/>
                </a:solidFill>
                <a:latin typeface="Arial"/>
                <a:ea typeface="+mj-ea"/>
                <a:cs typeface="Arial"/>
              </a:defRPr>
            </a:lvl1pPr>
          </a:lstStyle>
          <a:p>
            <a:r>
              <a:rPr lang="en-US"/>
              <a:t>  </a:t>
            </a:r>
            <a:endParaRPr lang="en-IN" dirty="0"/>
          </a:p>
        </p:txBody>
      </p:sp>
      <p:sp>
        <p:nvSpPr>
          <p:cNvPr id="6" name="Text Placeholder 2"/>
          <p:cNvSpPr>
            <a:spLocks noGrp="1"/>
          </p:cNvSpPr>
          <p:nvPr>
            <p:ph type="body" idx="1"/>
          </p:nvPr>
        </p:nvSpPr>
        <p:spPr>
          <a:xfrm>
            <a:off x="0" y="0"/>
            <a:ext cx="0" cy="0"/>
          </a:xfrm>
        </p:spPr>
        <p:txBody>
          <a:bodyPr/>
          <a:lstStyle/>
          <a:p>
            <a:pPr marL="0" indent="0">
              <a:buNone/>
            </a:pPr>
            <a:r>
              <a:rPr lang="en-US" dirty="0"/>
              <a:t> </a:t>
            </a:r>
            <a:endParaRPr lang="en-IN" dirty="0"/>
          </a:p>
        </p:txBody>
      </p:sp>
    </p:spTree>
    <p:extLst>
      <p:ext uri="{BB962C8B-B14F-4D97-AF65-F5344CB8AC3E}">
        <p14:creationId xmlns:p14="http://schemas.microsoft.com/office/powerpoint/2010/main" val="2894109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2636</TotalTime>
  <Words>2667</Words>
  <Application>Microsoft Office PowerPoint</Application>
  <PresentationFormat>Widescreen</PresentationFormat>
  <Paragraphs>485</Paragraphs>
  <Slides>53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Arial MT</vt:lpstr>
      <vt:lpstr>Calibri</vt:lpstr>
      <vt:lpstr>Cambria Math</vt:lpstr>
      <vt:lpstr>Tahoma</vt:lpstr>
      <vt:lpstr>Office Theme</vt:lpstr>
      <vt:lpstr>PowerPoint Presentation</vt:lpstr>
      <vt:lpstr>Modelling Series</vt:lpstr>
      <vt:lpstr>The stock prediction problem… To invest or not to invest?</vt:lpstr>
      <vt:lpstr> </vt:lpstr>
      <vt:lpstr>Finite-response model</vt:lpstr>
      <vt:lpstr>Problems of Deep Neural Nets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simple state-space model</vt:lpstr>
      <vt:lpstr>The detailed version of the simplified  representation</vt:lpstr>
      <vt:lpstr>How do we train the network</vt:lpstr>
      <vt:lpstr>Training the RNN</vt:lpstr>
      <vt:lpstr>Training: Forward pass</vt:lpstr>
      <vt:lpstr>Training: Computing gradients</vt:lpstr>
      <vt:lpstr>Back Propagation Through Time</vt:lpstr>
      <vt:lpstr>Back Propagation Through Time</vt:lpstr>
      <vt:lpstr> </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Back Propagation Through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Extensions to the RNN</vt:lpstr>
      <vt:lpstr>Bidirectional RNN ℎ(𝑇 − 1)</vt:lpstr>
      <vt:lpstr>The vanishing gradient problem for  deep networks</vt:lpstr>
      <vt:lpstr>RNNs..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Pebbeti Bhanu prakash</dc:creator>
  <cp:lastModifiedBy>Maakhish Sai</cp:lastModifiedBy>
  <cp:revision>37</cp:revision>
  <dcterms:created xsi:type="dcterms:W3CDTF">2021-12-06T09:03:30Z</dcterms:created>
  <dcterms:modified xsi:type="dcterms:W3CDTF">2025-11-06T06:06:49Z</dcterms:modified>
</cp:coreProperties>
</file>