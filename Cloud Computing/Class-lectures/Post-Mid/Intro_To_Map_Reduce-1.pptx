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  <p:sldMasterId id="2147483936" r:id="rId2"/>
  </p:sldMasterIdLst>
  <p:notesMasterIdLst>
    <p:notesMasterId r:id="rId37"/>
  </p:notesMasterIdLst>
  <p:sldIdLst>
    <p:sldId id="256" r:id="rId3"/>
    <p:sldId id="291" r:id="rId4"/>
    <p:sldId id="282" r:id="rId5"/>
    <p:sldId id="333" r:id="rId6"/>
    <p:sldId id="334" r:id="rId7"/>
    <p:sldId id="271" r:id="rId8"/>
    <p:sldId id="289" r:id="rId9"/>
    <p:sldId id="335" r:id="rId10"/>
    <p:sldId id="272" r:id="rId11"/>
    <p:sldId id="284" r:id="rId12"/>
    <p:sldId id="336" r:id="rId13"/>
    <p:sldId id="337" r:id="rId14"/>
    <p:sldId id="285" r:id="rId15"/>
    <p:sldId id="273" r:id="rId16"/>
    <p:sldId id="286" r:id="rId17"/>
    <p:sldId id="287" r:id="rId18"/>
    <p:sldId id="338" r:id="rId19"/>
    <p:sldId id="292" r:id="rId20"/>
    <p:sldId id="339" r:id="rId21"/>
    <p:sldId id="313" r:id="rId22"/>
    <p:sldId id="341" r:id="rId23"/>
    <p:sldId id="342" r:id="rId24"/>
    <p:sldId id="343" r:id="rId25"/>
    <p:sldId id="299" r:id="rId26"/>
    <p:sldId id="344" r:id="rId27"/>
    <p:sldId id="355" r:id="rId28"/>
    <p:sldId id="356" r:id="rId29"/>
    <p:sldId id="357" r:id="rId30"/>
    <p:sldId id="359" r:id="rId31"/>
    <p:sldId id="345" r:id="rId32"/>
    <p:sldId id="346" r:id="rId33"/>
    <p:sldId id="347" r:id="rId34"/>
    <p:sldId id="358" r:id="rId35"/>
    <p:sldId id="354" r:id="rId36"/>
  </p:sldIdLst>
  <p:sldSz cx="10287000" cy="6858000" type="35mm"/>
  <p:notesSz cx="6858000" cy="9144000"/>
  <p:defaultTextStyle>
    <a:defPPr>
      <a:defRPr lang="en-US"/>
    </a:defPPr>
    <a:lvl1pPr marL="0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35500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71001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06500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419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6774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129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48498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6839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1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9" autoAdjust="0"/>
  </p:normalViewPr>
  <p:slideViewPr>
    <p:cSldViewPr>
      <p:cViewPr varScale="1">
        <p:scale>
          <a:sx n="111" d="100"/>
          <a:sy n="111" d="100"/>
        </p:scale>
        <p:origin x="-1176" y="-78"/>
      </p:cViewPr>
      <p:guideLst>
        <p:guide orient="horz" pos="2161"/>
        <p:guide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290D9-3010-4711-9A79-536C2FEFF62D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B81D1-87DC-4B64-9889-01AFB32511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39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8C6D8E-2BF0-4BFF-80F6-162900C916A0}" type="slidenum">
              <a:rPr lang="en-US"/>
              <a:pPr/>
              <a:t>2</a:t>
            </a:fld>
            <a:endParaRPr lang="en-US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0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79BA58-2EF6-4CF0-B254-DF8BFD9A320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87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8" y="1371606"/>
            <a:ext cx="8829674" cy="1927225"/>
          </a:xfrm>
        </p:spPr>
        <p:txBody>
          <a:bodyPr anchor="b">
            <a:noAutofit/>
          </a:bodyPr>
          <a:lstStyle>
            <a:lvl1pPr>
              <a:defRPr sz="4400" cap="all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525" y="3505201"/>
            <a:ext cx="72009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66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32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98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64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30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96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62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28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771528" y="3398521"/>
            <a:ext cx="8829674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49387"/>
            <a:ext cx="9258300" cy="54121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295400"/>
            <a:ext cx="9258300" cy="5181600"/>
          </a:xfrm>
        </p:spPr>
        <p:txBody>
          <a:bodyPr/>
          <a:lstStyle>
            <a:lvl2pPr>
              <a:defRPr b="1"/>
            </a:lvl2pPr>
            <a:lvl4pPr>
              <a:defRPr b="1"/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601" y="2362203"/>
            <a:ext cx="8743951" cy="2200275"/>
          </a:xfrm>
        </p:spPr>
        <p:txBody>
          <a:bodyPr anchor="b">
            <a:normAutofit/>
          </a:bodyPr>
          <a:lstStyle>
            <a:lvl1pPr algn="l">
              <a:defRPr sz="3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601" y="4626870"/>
            <a:ext cx="8743951" cy="1500187"/>
          </a:xfrm>
        </p:spPr>
        <p:txBody>
          <a:bodyPr anchor="t">
            <a:normAutofit/>
          </a:bodyPr>
          <a:lstStyle>
            <a:lvl1pPr marL="0" indent="0">
              <a:buNone/>
              <a:defRPr sz="1900">
                <a:solidFill>
                  <a:schemeClr val="tx2"/>
                </a:solidFill>
              </a:defRPr>
            </a:lvl1pPr>
            <a:lvl2pPr marL="36608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321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9826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6434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3043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965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6260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92869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822962" y="4599434"/>
            <a:ext cx="8829674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73351"/>
            <a:ext cx="4543426" cy="4718304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9227" y="1673351"/>
            <a:ext cx="4543426" cy="4718304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76400"/>
            <a:ext cx="4423411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1500" b="0">
                <a:solidFill>
                  <a:schemeClr val="tx2"/>
                </a:solidFill>
              </a:defRPr>
            </a:lvl1pPr>
            <a:lvl2pPr marL="366087" indent="0">
              <a:buNone/>
              <a:defRPr sz="1500" b="1"/>
            </a:lvl2pPr>
            <a:lvl3pPr marL="732173" indent="0">
              <a:buNone/>
              <a:defRPr sz="1500" b="1"/>
            </a:lvl3pPr>
            <a:lvl4pPr marL="1098262" indent="0">
              <a:buNone/>
              <a:defRPr sz="1400" b="1"/>
            </a:lvl4pPr>
            <a:lvl5pPr marL="1464348" indent="0">
              <a:buNone/>
              <a:defRPr sz="1400" b="1"/>
            </a:lvl5pPr>
            <a:lvl6pPr marL="1830434" indent="0">
              <a:buNone/>
              <a:defRPr sz="1400" b="1"/>
            </a:lvl6pPr>
            <a:lvl7pPr marL="2196520" indent="0">
              <a:buNone/>
              <a:defRPr sz="1400" b="1"/>
            </a:lvl7pPr>
            <a:lvl8pPr marL="2562608" indent="0">
              <a:buNone/>
              <a:defRPr sz="1400" b="1"/>
            </a:lvl8pPr>
            <a:lvl9pPr marL="2928695" indent="0">
              <a:buNone/>
              <a:defRPr sz="1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" y="2438399"/>
            <a:ext cx="4423411" cy="3951288"/>
          </a:xfrm>
        </p:spPr>
        <p:txBody>
          <a:bodyPr/>
          <a:lstStyle>
            <a:lvl1pPr>
              <a:defRPr sz="1900"/>
            </a:lvl1pPr>
            <a:lvl2pPr>
              <a:defRPr sz="15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9241" y="1676400"/>
            <a:ext cx="4423411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15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6087" indent="0">
              <a:buNone/>
              <a:defRPr sz="1500" b="1"/>
            </a:lvl2pPr>
            <a:lvl3pPr marL="732173" indent="0">
              <a:buNone/>
              <a:defRPr sz="1500" b="1"/>
            </a:lvl3pPr>
            <a:lvl4pPr marL="1098262" indent="0">
              <a:buNone/>
              <a:defRPr sz="1400" b="1"/>
            </a:lvl4pPr>
            <a:lvl5pPr marL="1464348" indent="0">
              <a:buNone/>
              <a:defRPr sz="1400" b="1"/>
            </a:lvl5pPr>
            <a:lvl6pPr marL="1830434" indent="0">
              <a:buNone/>
              <a:defRPr sz="1400" b="1"/>
            </a:lvl6pPr>
            <a:lvl7pPr marL="2196520" indent="0">
              <a:buNone/>
              <a:defRPr sz="1400" b="1"/>
            </a:lvl7pPr>
            <a:lvl8pPr marL="2562608" indent="0">
              <a:buNone/>
              <a:defRPr sz="1400" b="1"/>
            </a:lvl8pPr>
            <a:lvl9pPr marL="2928695" indent="0">
              <a:buNone/>
              <a:defRPr sz="1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49241" y="2438399"/>
            <a:ext cx="4423411" cy="3951288"/>
          </a:xfrm>
        </p:spPr>
        <p:txBody>
          <a:bodyPr/>
          <a:lstStyle>
            <a:lvl1pPr>
              <a:defRPr sz="1900"/>
            </a:lvl1pPr>
            <a:lvl2pPr>
              <a:defRPr sz="15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789366" y="4045774"/>
            <a:ext cx="4709161" cy="8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792081"/>
            <a:ext cx="2407158" cy="1261872"/>
          </a:xfrm>
        </p:spPr>
        <p:txBody>
          <a:bodyPr anchor="b">
            <a:noAutofit/>
          </a:bodyPr>
          <a:lstStyle>
            <a:lvl1pPr algn="l">
              <a:defRPr sz="19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3278" y="792080"/>
            <a:ext cx="6429375" cy="557784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3" y="2130558"/>
            <a:ext cx="2407158" cy="4243615"/>
          </a:xfrm>
        </p:spPr>
        <p:txBody>
          <a:bodyPr/>
          <a:lstStyle>
            <a:lvl1pPr marL="0" indent="0">
              <a:buNone/>
              <a:defRPr sz="1100"/>
            </a:lvl1pPr>
            <a:lvl2pPr marL="366087" indent="0">
              <a:buNone/>
              <a:defRPr sz="1000"/>
            </a:lvl2pPr>
            <a:lvl3pPr marL="732173" indent="0">
              <a:buNone/>
              <a:defRPr sz="800"/>
            </a:lvl3pPr>
            <a:lvl4pPr marL="1098262" indent="0">
              <a:buNone/>
              <a:defRPr sz="700"/>
            </a:lvl4pPr>
            <a:lvl5pPr marL="1464348" indent="0">
              <a:buNone/>
              <a:defRPr sz="700"/>
            </a:lvl5pPr>
            <a:lvl6pPr marL="1830434" indent="0">
              <a:buNone/>
              <a:defRPr sz="700"/>
            </a:lvl6pPr>
            <a:lvl7pPr marL="2196520" indent="0">
              <a:buNone/>
              <a:defRPr sz="700"/>
            </a:lvl7pPr>
            <a:lvl8pPr marL="2562608" indent="0">
              <a:buNone/>
              <a:defRPr sz="700"/>
            </a:lvl8pPr>
            <a:lvl9pPr marL="2928695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333860" y="3580111"/>
            <a:ext cx="5577840" cy="178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792480"/>
            <a:ext cx="2410516" cy="1264921"/>
          </a:xfrm>
        </p:spPr>
        <p:txBody>
          <a:bodyPr anchor="b">
            <a:normAutofit/>
          </a:bodyPr>
          <a:lstStyle>
            <a:lvl1pPr algn="l">
              <a:defRPr sz="19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15938" y="838203"/>
            <a:ext cx="6642439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2600"/>
            </a:lvl1pPr>
            <a:lvl2pPr marL="366087" indent="0">
              <a:buNone/>
              <a:defRPr sz="2200"/>
            </a:lvl2pPr>
            <a:lvl3pPr marL="732173" indent="0">
              <a:buNone/>
              <a:defRPr sz="1900"/>
            </a:lvl3pPr>
            <a:lvl4pPr marL="1098262" indent="0">
              <a:buNone/>
              <a:defRPr sz="1500"/>
            </a:lvl4pPr>
            <a:lvl5pPr marL="1464348" indent="0">
              <a:buNone/>
              <a:defRPr sz="1500"/>
            </a:lvl5pPr>
            <a:lvl6pPr marL="1830434" indent="0">
              <a:buNone/>
              <a:defRPr sz="1500"/>
            </a:lvl6pPr>
            <a:lvl7pPr marL="2196520" indent="0">
              <a:buNone/>
              <a:defRPr sz="1500"/>
            </a:lvl7pPr>
            <a:lvl8pPr marL="2562608" indent="0">
              <a:buNone/>
              <a:defRPr sz="1500"/>
            </a:lvl8pPr>
            <a:lvl9pPr marL="2928695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133600"/>
            <a:ext cx="2407158" cy="4242816"/>
          </a:xfrm>
        </p:spPr>
        <p:txBody>
          <a:bodyPr/>
          <a:lstStyle>
            <a:lvl1pPr marL="0" indent="0">
              <a:buNone/>
              <a:defRPr sz="1100"/>
            </a:lvl1pPr>
            <a:lvl2pPr marL="366087" indent="0">
              <a:buNone/>
              <a:defRPr sz="1000"/>
            </a:lvl2pPr>
            <a:lvl3pPr marL="732173" indent="0">
              <a:buNone/>
              <a:defRPr sz="800"/>
            </a:lvl3pPr>
            <a:lvl4pPr marL="1098262" indent="0">
              <a:buNone/>
              <a:defRPr sz="700"/>
            </a:lvl4pPr>
            <a:lvl5pPr marL="1464348" indent="0">
              <a:buNone/>
              <a:defRPr sz="700"/>
            </a:lvl5pPr>
            <a:lvl6pPr marL="1830434" indent="0">
              <a:buNone/>
              <a:defRPr sz="700"/>
            </a:lvl6pPr>
            <a:lvl7pPr marL="2196520" indent="0">
              <a:buNone/>
              <a:defRPr sz="700"/>
            </a:lvl7pPr>
            <a:lvl8pPr marL="2562608" indent="0">
              <a:buNone/>
              <a:defRPr sz="700"/>
            </a:lvl8pPr>
            <a:lvl9pPr marL="2928695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8078" y="609600"/>
            <a:ext cx="2314575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2" y="609600"/>
            <a:ext cx="6772274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5" y="2130425"/>
            <a:ext cx="874395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3050" y="3886200"/>
            <a:ext cx="72009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20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49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4406900"/>
            <a:ext cx="874395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2906713"/>
            <a:ext cx="874395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05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00200"/>
            <a:ext cx="4552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9700" y="1600200"/>
            <a:ext cx="4552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63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535113"/>
            <a:ext cx="454501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" y="2174875"/>
            <a:ext cx="454501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26050" y="1535113"/>
            <a:ext cx="454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6050" y="2174875"/>
            <a:ext cx="4546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55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00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08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273050"/>
            <a:ext cx="338455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2725" y="273050"/>
            <a:ext cx="574992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1435100"/>
            <a:ext cx="33845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56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125" y="4800600"/>
            <a:ext cx="6172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6125" y="612775"/>
            <a:ext cx="6172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6125" y="5367338"/>
            <a:ext cx="6172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22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539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8075" y="274638"/>
            <a:ext cx="2314575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74638"/>
            <a:ext cx="679132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9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0287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218" tIns="36609" rIns="73218" bIns="36609"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0" y="449386"/>
            <a:ext cx="9258300" cy="685801"/>
          </a:xfrm>
          <a:prstGeom prst="rect">
            <a:avLst/>
          </a:prstGeom>
        </p:spPr>
        <p:txBody>
          <a:bodyPr vert="horz" lIns="73218" tIns="36609" rIns="73218" bIns="36609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0200"/>
            <a:ext cx="9258300" cy="4876800"/>
          </a:xfrm>
          <a:prstGeom prst="rect">
            <a:avLst/>
          </a:prstGeom>
        </p:spPr>
        <p:txBody>
          <a:bodyPr vert="horz" lIns="73218" tIns="36609" rIns="73218" bIns="3660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4"/>
            <a:r>
              <a:rPr lang="en-US" dirty="0" smtClean="0"/>
              <a:t> Third level</a:t>
            </a:r>
          </a:p>
          <a:p>
            <a:pPr lvl="6"/>
            <a:r>
              <a:rPr lang="en-US" dirty="0" smtClean="0"/>
              <a:t>Fourth level</a:t>
            </a:r>
          </a:p>
          <a:p>
            <a:pPr lvl="8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287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218" tIns="36609" rIns="73218" bIns="36609"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18290"/>
            <a:ext cx="3257550" cy="329183"/>
          </a:xfrm>
          <a:prstGeom prst="rect">
            <a:avLst/>
          </a:prstGeom>
        </p:spPr>
        <p:txBody>
          <a:bodyPr vert="horz" lIns="73218" tIns="36609" rIns="73218" bIns="36609" rtlCol="0" anchor="ctr"/>
          <a:lstStyle>
            <a:lvl1pPr algn="l">
              <a:defRPr sz="1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57625" y="18290"/>
            <a:ext cx="4629151" cy="329183"/>
          </a:xfrm>
          <a:prstGeom prst="rect">
            <a:avLst/>
          </a:prstGeom>
        </p:spPr>
        <p:txBody>
          <a:bodyPr vert="horz" lIns="73218" tIns="36609" rIns="73218" bIns="36609" rtlCol="0"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72501" y="18290"/>
            <a:ext cx="1200150" cy="329183"/>
          </a:xfrm>
          <a:prstGeom prst="rect">
            <a:avLst/>
          </a:prstGeom>
        </p:spPr>
        <p:txBody>
          <a:bodyPr vert="horz" lIns="73218" tIns="36609" rIns="73218" bIns="36609" rtlCol="0" anchor="ctr"/>
          <a:lstStyle>
            <a:lvl1pPr algn="l">
              <a:defRPr sz="11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732173" rtl="0" eaLnBrk="1" latinLnBrk="0" hangingPunct="1">
        <a:spcBef>
          <a:spcPct val="0"/>
        </a:spcBef>
        <a:buNone/>
        <a:defRPr sz="3000" b="1" kern="1200" spc="-81" baseline="0">
          <a:solidFill>
            <a:schemeClr val="tx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146436" indent="-146436" algn="l" defTabSz="732173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b="1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1pPr>
      <a:lvl2pPr marL="366087" indent="-146436" algn="l" defTabSz="732173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1800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2pPr>
      <a:lvl3pPr marL="585739" indent="-146436" algn="l" defTabSz="732173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b="1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3pPr>
      <a:lvl4pPr marL="805391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4pPr>
      <a:lvl5pPr marL="951826" indent="-109826" algn="l" defTabSz="732173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600" b="1" kern="1200" baseline="0">
          <a:solidFill>
            <a:srgbClr val="002060"/>
          </a:solidFill>
          <a:latin typeface="Microsoft JhengHei" pitchFamily="34" charset="-120"/>
          <a:ea typeface="+mn-ea"/>
          <a:cs typeface="+mn-cs"/>
        </a:defRPr>
      </a:lvl5pPr>
      <a:lvl6pPr marL="1098262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96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7pPr>
      <a:lvl8pPr marL="1391131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1537565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100" b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6087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2173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98262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64348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30434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196520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62608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28695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0" y="274638"/>
            <a:ext cx="92583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00200"/>
            <a:ext cx="92583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356350"/>
            <a:ext cx="2400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4725" y="6356350"/>
            <a:ext cx="3257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350" y="6356350"/>
            <a:ext cx="2400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5785" y="1371606"/>
            <a:ext cx="9065418" cy="1371599"/>
          </a:xfrm>
        </p:spPr>
        <p:txBody>
          <a:bodyPr/>
          <a:lstStyle/>
          <a:p>
            <a:r>
              <a:rPr lang="en-US" sz="2900" dirty="0"/>
              <a:t>  </a:t>
            </a:r>
            <a:r>
              <a:rPr lang="en-US" sz="2900" dirty="0" smtClean="0"/>
              <a:t>Introduction to map-reduce</a:t>
            </a:r>
            <a:endParaRPr lang="en-US" sz="29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525" y="3505201"/>
            <a:ext cx="7200900" cy="1447799"/>
          </a:xfrm>
        </p:spPr>
        <p:txBody>
          <a:bodyPr/>
          <a:lstStyle/>
          <a:p>
            <a:r>
              <a:rPr lang="en-US" dirty="0" err="1" smtClean="0">
                <a:solidFill>
                  <a:srgbClr val="002060"/>
                </a:solidFill>
                <a:latin typeface="+mj-lt"/>
                <a:ea typeface="Adobe Gothic Std B" pitchFamily="34" charset="-128"/>
              </a:rPr>
              <a:t>Jiaul</a:t>
            </a:r>
            <a:r>
              <a:rPr lang="en-US" dirty="0" smtClean="0">
                <a:solidFill>
                  <a:srgbClr val="002060"/>
                </a:solidFill>
                <a:latin typeface="+mj-lt"/>
                <a:ea typeface="Adobe Gothic Std B" pitchFamily="34" charset="-128"/>
              </a:rPr>
              <a:t> Paik</a:t>
            </a:r>
          </a:p>
          <a:p>
            <a:endParaRPr lang="en-US" dirty="0" smtClean="0">
              <a:solidFill>
                <a:srgbClr val="002060"/>
              </a:solidFill>
              <a:latin typeface="+mj-lt"/>
              <a:ea typeface="Adobe Gothic Std B" pitchFamily="34" charset="-128"/>
            </a:endParaRPr>
          </a:p>
          <a:p>
            <a:r>
              <a:rPr lang="en-US" sz="1400" dirty="0" smtClean="0">
                <a:solidFill>
                  <a:srgbClr val="002060"/>
                </a:solidFill>
                <a:latin typeface="+mj-lt"/>
                <a:ea typeface="Adobe Gothic Std B" pitchFamily="34" charset="-128"/>
              </a:rPr>
              <a:t>Email:</a:t>
            </a:r>
            <a:r>
              <a:rPr lang="en-US" sz="1600" dirty="0" smtClean="0">
                <a:solidFill>
                  <a:srgbClr val="002060"/>
                </a:solidFill>
                <a:latin typeface="+mj-lt"/>
                <a:ea typeface="Adobe Gothic Std B" pitchFamily="34" charset="-128"/>
              </a:rPr>
              <a:t> </a:t>
            </a:r>
            <a:r>
              <a:rPr lang="en-US" sz="1600" dirty="0" smtClean="0">
                <a:solidFill>
                  <a:srgbClr val="002060"/>
                </a:solidFill>
                <a:latin typeface="Aparajita" pitchFamily="34" charset="0"/>
                <a:ea typeface="Adobe Gothic Std B" pitchFamily="34" charset="-128"/>
                <a:cs typeface="Aparajita" pitchFamily="34" charset="0"/>
              </a:rPr>
              <a:t>jia.paik@gmail.com</a:t>
            </a:r>
            <a:endParaRPr lang="en-US" sz="1600" dirty="0">
              <a:solidFill>
                <a:srgbClr val="002060"/>
              </a:solidFill>
              <a:latin typeface="Aparajita" pitchFamily="34" charset="0"/>
              <a:ea typeface="Adobe Gothic Std B" pitchFamily="34" charset="-128"/>
              <a:cs typeface="Aparajita" pitchFamily="34" charset="0"/>
            </a:endParaRPr>
          </a:p>
          <a:p>
            <a:endParaRPr lang="en-US" dirty="0" smtClean="0">
              <a:solidFill>
                <a:srgbClr val="002060"/>
              </a:solidFill>
              <a:latin typeface="+mj-lt"/>
              <a:ea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691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Classical Data Processing</a:t>
            </a:r>
            <a:endParaRPr lang="en-US" dirty="0"/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952500" y="2971800"/>
            <a:ext cx="14478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 dirty="0"/>
              <a:t>Memory</a:t>
            </a:r>
          </a:p>
        </p:txBody>
      </p:sp>
      <p:sp>
        <p:nvSpPr>
          <p:cNvPr id="51206" name="AutoShape 6"/>
          <p:cNvSpPr>
            <a:spLocks noChangeArrowheads="1"/>
          </p:cNvSpPr>
          <p:nvPr/>
        </p:nvSpPr>
        <p:spPr bwMode="auto">
          <a:xfrm>
            <a:off x="952500" y="4114800"/>
            <a:ext cx="1524000" cy="9144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Disk</a:t>
            </a:r>
          </a:p>
        </p:txBody>
      </p:sp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952500" y="2209800"/>
            <a:ext cx="1447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 dirty="0"/>
              <a:t>CPU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90900" y="3110805"/>
            <a:ext cx="6324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Single Node Machine</a:t>
            </a:r>
          </a:p>
          <a:p>
            <a:endParaRPr lang="en-US" b="1" dirty="0" smtClean="0"/>
          </a:p>
          <a:p>
            <a:pPr marL="678400" lvl="1" indent="-342900">
              <a:buFont typeface="+mj-lt"/>
              <a:buAutoNum type="arabicPeriod"/>
            </a:pPr>
            <a:r>
              <a:rPr lang="en-US" dirty="0"/>
              <a:t>D</a:t>
            </a:r>
            <a:r>
              <a:rPr lang="en-US" dirty="0" smtClean="0"/>
              <a:t>ata fits into memory</a:t>
            </a:r>
          </a:p>
          <a:p>
            <a:pPr marL="956751" lvl="2" indent="-285750">
              <a:buFont typeface="Arial" pitchFamily="34" charset="0"/>
              <a:buChar char="•"/>
            </a:pPr>
            <a:r>
              <a:rPr lang="en-US" dirty="0" smtClean="0"/>
              <a:t>Load data from disk into memory and then process from memory</a:t>
            </a:r>
          </a:p>
          <a:p>
            <a:pPr marL="956751" lvl="2" indent="-285750">
              <a:buFont typeface="Arial" pitchFamily="34" charset="0"/>
              <a:buChar char="•"/>
            </a:pPr>
            <a:endParaRPr lang="en-US" dirty="0" smtClean="0"/>
          </a:p>
          <a:p>
            <a:pPr marL="678400" lvl="1" indent="-342900">
              <a:buFont typeface="+mj-lt"/>
              <a:buAutoNum type="arabicPeriod"/>
            </a:pPr>
            <a:r>
              <a:rPr lang="en-US" dirty="0" smtClean="0"/>
              <a:t>Data does not fit into memory </a:t>
            </a:r>
          </a:p>
          <a:p>
            <a:pPr marL="956751" lvl="2" indent="-285750">
              <a:buFont typeface="Arial" pitchFamily="34" charset="0"/>
              <a:buChar char="•"/>
            </a:pPr>
            <a:r>
              <a:rPr lang="en-US" dirty="0" smtClean="0"/>
              <a:t>Load part of the data from disk into memory</a:t>
            </a:r>
          </a:p>
          <a:p>
            <a:pPr marL="956751" lvl="2" indent="-285750">
              <a:buFont typeface="Arial" pitchFamily="34" charset="0"/>
              <a:buChar char="•"/>
            </a:pPr>
            <a:r>
              <a:rPr lang="en-US" dirty="0" smtClean="0"/>
              <a:t>Process the data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3119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Motivation: Simple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10 Billion web pages</a:t>
            </a:r>
          </a:p>
          <a:p>
            <a:endParaRPr lang="en-US" sz="2000" dirty="0"/>
          </a:p>
          <a:p>
            <a:r>
              <a:rPr lang="en-US" sz="2000" dirty="0" smtClean="0"/>
              <a:t>Average size of webpage: 20KB</a:t>
            </a:r>
          </a:p>
          <a:p>
            <a:endParaRPr lang="en-US" sz="2000" dirty="0"/>
          </a:p>
          <a:p>
            <a:r>
              <a:rPr lang="en-US" sz="2000" dirty="0" smtClean="0"/>
              <a:t>Total 200 TB</a:t>
            </a:r>
          </a:p>
          <a:p>
            <a:endParaRPr lang="en-US" sz="2000" dirty="0"/>
          </a:p>
          <a:p>
            <a:r>
              <a:rPr lang="en-US" sz="2000" dirty="0" smtClean="0"/>
              <a:t>Disk read bandwidth = 50MB/sec</a:t>
            </a:r>
          </a:p>
          <a:p>
            <a:endParaRPr lang="en-US" sz="2000" dirty="0"/>
          </a:p>
          <a:p>
            <a:r>
              <a:rPr lang="en-US" sz="2000" dirty="0" smtClean="0"/>
              <a:t>Time to read = 4 million second = </a:t>
            </a:r>
            <a:r>
              <a:rPr lang="en-US" sz="2000" dirty="0" smtClean="0">
                <a:solidFill>
                  <a:srgbClr val="C00000"/>
                </a:solidFill>
              </a:rPr>
              <a:t>46+ days</a:t>
            </a:r>
          </a:p>
          <a:p>
            <a:endParaRPr lang="en-US" sz="2000" dirty="0"/>
          </a:p>
          <a:p>
            <a:r>
              <a:rPr lang="en-US" sz="2000" dirty="0" smtClean="0"/>
              <a:t>Longer, if you want to do useful analytics with the data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8845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81000"/>
            <a:ext cx="9258300" cy="38881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the Solution?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914400"/>
            <a:ext cx="9258300" cy="54864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Use multiple interconnected machine as follows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731400"/>
            <a:ext cx="990599" cy="8166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81100" y="1524000"/>
            <a:ext cx="54864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dirty="0" smtClean="0"/>
              <a:t>                                   BIG DATA</a:t>
            </a:r>
            <a:endParaRPr lang="en-US" sz="1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699" y="2741910"/>
            <a:ext cx="990599" cy="8166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426" y="2749793"/>
            <a:ext cx="990599" cy="8166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1" y="2749793"/>
            <a:ext cx="990599" cy="8166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4026800"/>
            <a:ext cx="1295400" cy="106798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2400300" y="1524000"/>
            <a:ext cx="0" cy="609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0"/>
            <a:endCxn id="5" idx="2"/>
          </p:cNvCxnSpPr>
          <p:nvPr/>
        </p:nvCxnSpPr>
        <p:spPr>
          <a:xfrm>
            <a:off x="3924300" y="1524000"/>
            <a:ext cx="0" cy="609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265025" y="1524000"/>
            <a:ext cx="0" cy="609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4" idx="0"/>
          </p:cNvCxnSpPr>
          <p:nvPr/>
        </p:nvCxnSpPr>
        <p:spPr>
          <a:xfrm flipH="1">
            <a:off x="1600200" y="2133600"/>
            <a:ext cx="266700" cy="59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6" idx="0"/>
          </p:cNvCxnSpPr>
          <p:nvPr/>
        </p:nvCxnSpPr>
        <p:spPr>
          <a:xfrm flipH="1">
            <a:off x="3047999" y="2133600"/>
            <a:ext cx="266701" cy="608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7" idx="0"/>
          </p:cNvCxnSpPr>
          <p:nvPr/>
        </p:nvCxnSpPr>
        <p:spPr>
          <a:xfrm>
            <a:off x="4610100" y="2133600"/>
            <a:ext cx="159626" cy="616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8" idx="0"/>
          </p:cNvCxnSpPr>
          <p:nvPr/>
        </p:nvCxnSpPr>
        <p:spPr>
          <a:xfrm>
            <a:off x="6134100" y="2133600"/>
            <a:ext cx="190501" cy="616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4" idx="2"/>
            <a:endCxn id="9" idx="0"/>
          </p:cNvCxnSpPr>
          <p:nvPr/>
        </p:nvCxnSpPr>
        <p:spPr>
          <a:xfrm>
            <a:off x="1600200" y="3548094"/>
            <a:ext cx="2209800" cy="478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6" idx="2"/>
            <a:endCxn id="9" idx="0"/>
          </p:cNvCxnSpPr>
          <p:nvPr/>
        </p:nvCxnSpPr>
        <p:spPr>
          <a:xfrm>
            <a:off x="3047999" y="3558604"/>
            <a:ext cx="762001" cy="468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2"/>
            <a:endCxn id="9" idx="0"/>
          </p:cNvCxnSpPr>
          <p:nvPr/>
        </p:nvCxnSpPr>
        <p:spPr>
          <a:xfrm flipH="1">
            <a:off x="3810000" y="3566487"/>
            <a:ext cx="959726" cy="460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8" idx="2"/>
            <a:endCxn id="9" idx="0"/>
          </p:cNvCxnSpPr>
          <p:nvPr/>
        </p:nvCxnSpPr>
        <p:spPr>
          <a:xfrm flipH="1">
            <a:off x="3810000" y="3566487"/>
            <a:ext cx="2514601" cy="460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00100" y="5867400"/>
            <a:ext cx="6343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Known </a:t>
            </a:r>
            <a:r>
              <a:rPr lang="en-US" sz="1600" b="1" dirty="0" smtClean="0">
                <a:solidFill>
                  <a:srgbClr val="C00000"/>
                </a:solidFill>
              </a:rPr>
              <a:t>as Distributed Data processing </a:t>
            </a:r>
            <a:r>
              <a:rPr lang="en-US" sz="1600" b="1" dirty="0" smtClean="0"/>
              <a:t>in </a:t>
            </a:r>
            <a:r>
              <a:rPr lang="en-US" sz="1600" b="1" dirty="0" smtClean="0">
                <a:solidFill>
                  <a:srgbClr val="C00000"/>
                </a:solidFill>
              </a:rPr>
              <a:t>Cluster of Computers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33598" y="1692202"/>
            <a:ext cx="27975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1. Split data into small chunks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6996626" y="2280788"/>
            <a:ext cx="2877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2. Send different chunks to </a:t>
            </a:r>
          </a:p>
          <a:p>
            <a:r>
              <a:rPr lang="en-US" b="1" dirty="0" smtClean="0"/>
              <a:t>different machines and process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7032984" y="3657600"/>
            <a:ext cx="2432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3. Collect the results from </a:t>
            </a:r>
          </a:p>
          <a:p>
            <a:r>
              <a:rPr lang="en-US" b="1" dirty="0" smtClean="0"/>
              <a:t>different machines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6951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3" grpId="0"/>
      <p:bldP spid="34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0" y="2895600"/>
            <a:ext cx="7296150" cy="541214"/>
          </a:xfrm>
        </p:spPr>
        <p:txBody>
          <a:bodyPr>
            <a:normAutofit/>
          </a:bodyPr>
          <a:lstStyle/>
          <a:p>
            <a:r>
              <a:rPr lang="en-US" dirty="0" smtClean="0"/>
              <a:t>How to Organize Cluster of Computers?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9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381000"/>
            <a:ext cx="9067800" cy="541214"/>
          </a:xfrm>
        </p:spPr>
        <p:txBody>
          <a:bodyPr/>
          <a:lstStyle/>
          <a:p>
            <a:r>
              <a:rPr lang="en-US" dirty="0" smtClean="0"/>
              <a:t>Cluster Architecture: Rack Servers</a:t>
            </a:r>
            <a:endParaRPr lang="en-US" dirty="0"/>
          </a:p>
        </p:txBody>
      </p:sp>
      <p:sp>
        <p:nvSpPr>
          <p:cNvPr id="4" name="Rectangle 3"/>
          <p:cNvSpPr>
            <a:spLocks noChangeAspect="1"/>
          </p:cNvSpPr>
          <p:nvPr/>
        </p:nvSpPr>
        <p:spPr>
          <a:xfrm>
            <a:off x="855292" y="3134170"/>
            <a:ext cx="3886200" cy="1828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448300" y="3134170"/>
            <a:ext cx="3810000" cy="1818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19300" y="2362200"/>
            <a:ext cx="1066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switch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782512" y="23622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switch</a:t>
            </a:r>
            <a:endParaRPr lang="en-US" dirty="0"/>
          </a:p>
        </p:txBody>
      </p:sp>
      <p:sp>
        <p:nvSpPr>
          <p:cNvPr id="10" name="Rectangle 9"/>
          <p:cNvSpPr>
            <a:spLocks noChangeAspect="1"/>
          </p:cNvSpPr>
          <p:nvPr/>
        </p:nvSpPr>
        <p:spPr>
          <a:xfrm>
            <a:off x="1028700" y="3429000"/>
            <a:ext cx="8763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machine</a:t>
            </a:r>
            <a:endParaRPr lang="en-US" dirty="0"/>
          </a:p>
        </p:txBody>
      </p:sp>
      <p:sp>
        <p:nvSpPr>
          <p:cNvPr id="11" name="Rectangle 10"/>
          <p:cNvSpPr>
            <a:spLocks noChangeAspect="1"/>
          </p:cNvSpPr>
          <p:nvPr/>
        </p:nvSpPr>
        <p:spPr>
          <a:xfrm>
            <a:off x="3371849" y="3429000"/>
            <a:ext cx="933451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</a:t>
            </a:r>
          </a:p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600699" y="3429000"/>
            <a:ext cx="916357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machine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8038568" y="3426863"/>
            <a:ext cx="914932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machine</a:t>
            </a:r>
            <a:endParaRPr lang="en-US" dirty="0"/>
          </a:p>
        </p:txBody>
      </p:sp>
      <p:cxnSp>
        <p:nvCxnSpPr>
          <p:cNvPr id="15" name="Straight Connector 14"/>
          <p:cNvCxnSpPr>
            <a:stCxn id="6" idx="2"/>
          </p:cNvCxnSpPr>
          <p:nvPr/>
        </p:nvCxnSpPr>
        <p:spPr>
          <a:xfrm flipH="1">
            <a:off x="1333500" y="2590800"/>
            <a:ext cx="1219200" cy="836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552700" y="2590800"/>
            <a:ext cx="1447800" cy="836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2"/>
          </p:cNvCxnSpPr>
          <p:nvPr/>
        </p:nvCxnSpPr>
        <p:spPr>
          <a:xfrm flipH="1">
            <a:off x="5943600" y="2590800"/>
            <a:ext cx="1334212" cy="836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277812" y="2590800"/>
            <a:ext cx="1332788" cy="836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000500" y="1371600"/>
            <a:ext cx="1447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switch</a:t>
            </a:r>
            <a:endParaRPr lang="en-US" dirty="0"/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2552700" y="1524000"/>
            <a:ext cx="144780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endCxn id="7" idx="0"/>
          </p:cNvCxnSpPr>
          <p:nvPr/>
        </p:nvCxnSpPr>
        <p:spPr>
          <a:xfrm>
            <a:off x="5448300" y="1524000"/>
            <a:ext cx="1829512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62086" y="5106047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Rack 1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130254" y="5106047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Rack 2</a:t>
            </a:r>
            <a:endParaRPr lang="en-US" dirty="0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5524500" y="1371600"/>
            <a:ext cx="1334212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0254" y="1236519"/>
            <a:ext cx="1716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Backbone switch</a:t>
            </a:r>
          </a:p>
          <a:p>
            <a:r>
              <a:rPr lang="en-US" dirty="0" smtClean="0"/>
              <a:t>Typically 2-10 </a:t>
            </a:r>
            <a:r>
              <a:rPr lang="en-US" dirty="0" err="1" smtClean="0"/>
              <a:t>gbps</a:t>
            </a:r>
            <a:endParaRPr lang="en-US" dirty="0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7872765" y="2476500"/>
            <a:ext cx="3949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20100" y="2107168"/>
            <a:ext cx="121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 </a:t>
            </a:r>
            <a:r>
              <a:rPr lang="en-US" dirty="0" err="1" smtClean="0"/>
              <a:t>gbps</a:t>
            </a:r>
            <a:r>
              <a:rPr lang="en-US" dirty="0" smtClean="0"/>
              <a:t> between any pair of nodes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98743" y="5774409"/>
            <a:ext cx="71208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Each rack contains 16-64 commodity (low cost) computers (also called nodes)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In 2011, Google has roughly 1 million nodes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5632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Data Centre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://www.filecluster.com/reviews/wp-content/uploads/2008/11/server_rack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84" y="993229"/>
            <a:ext cx="9432635" cy="556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2819400"/>
            <a:ext cx="6686550" cy="541214"/>
          </a:xfrm>
        </p:spPr>
        <p:txBody>
          <a:bodyPr/>
          <a:lstStyle/>
          <a:p>
            <a:r>
              <a:rPr lang="en-US" dirty="0" smtClean="0"/>
              <a:t>Challenges in Cluster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3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 #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Node failures</a:t>
            </a:r>
          </a:p>
          <a:p>
            <a:pPr lvl="1"/>
            <a:r>
              <a:rPr lang="en-US" dirty="0" smtClean="0"/>
              <a:t>Single server lifetime: 1000 days</a:t>
            </a:r>
          </a:p>
          <a:p>
            <a:pPr lvl="1"/>
            <a:r>
              <a:rPr lang="en-US" dirty="0" smtClean="0"/>
              <a:t>1000 servers in cluster =&gt; 1 failure/day</a:t>
            </a:r>
          </a:p>
          <a:p>
            <a:pPr lvl="1"/>
            <a:r>
              <a:rPr lang="en-US" dirty="0" smtClean="0"/>
              <a:t>1M servers in clusters =&gt; 1000 failures/day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Consequences of node failure</a:t>
            </a:r>
          </a:p>
          <a:p>
            <a:pPr lvl="1"/>
            <a:r>
              <a:rPr lang="en-US" dirty="0" smtClean="0"/>
              <a:t>Data loss</a:t>
            </a:r>
          </a:p>
          <a:p>
            <a:pPr lvl="1"/>
            <a:r>
              <a:rPr lang="en-US" dirty="0" smtClean="0"/>
              <a:t>Node failure in the middle of long and expensive computation</a:t>
            </a:r>
          </a:p>
          <a:p>
            <a:pPr lvl="2"/>
            <a:r>
              <a:rPr lang="en-US" dirty="0" smtClean="0"/>
              <a:t>Need to restart the computation from scratch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7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 #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Network bottleneck</a:t>
            </a:r>
          </a:p>
          <a:p>
            <a:pPr lvl="1"/>
            <a:r>
              <a:rPr lang="en-US" dirty="0" smtClean="0"/>
              <a:t>Computers in a cluster exchanges data through network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</a:t>
            </a:r>
          </a:p>
          <a:p>
            <a:pPr lvl="2"/>
            <a:r>
              <a:rPr lang="en-US" dirty="0" smtClean="0"/>
              <a:t>Network bandwidth = 1 </a:t>
            </a:r>
            <a:r>
              <a:rPr lang="en-US" dirty="0" err="1" smtClean="0"/>
              <a:t>gbps</a:t>
            </a:r>
            <a:endParaRPr lang="en-US" dirty="0" smtClean="0"/>
          </a:p>
          <a:p>
            <a:pPr lvl="2"/>
            <a:r>
              <a:rPr lang="en-US" dirty="0" smtClean="0"/>
              <a:t>Moving 10TB of data takes 1 day</a:t>
            </a:r>
          </a:p>
          <a:p>
            <a:pPr lvl="1"/>
            <a:endParaRPr lang="en-US" dirty="0" smtClean="0"/>
          </a:p>
          <a:p>
            <a:pPr marL="219651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64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 #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Programming is hard!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Why?</a:t>
            </a:r>
            <a:endParaRPr lang="en-US" dirty="0"/>
          </a:p>
          <a:p>
            <a:pPr marL="562551" lvl="1" indent="-342900">
              <a:buFont typeface="+mj-lt"/>
              <a:buAutoNum type="arabicPeriod"/>
            </a:pPr>
            <a:r>
              <a:rPr lang="en-US" dirty="0" smtClean="0"/>
              <a:t>Data </a:t>
            </a:r>
            <a:r>
              <a:rPr lang="en-US" dirty="0"/>
              <a:t>distributions across machines is </a:t>
            </a:r>
            <a:r>
              <a:rPr lang="en-US" dirty="0" smtClean="0"/>
              <a:t>non-trivial</a:t>
            </a:r>
          </a:p>
          <a:p>
            <a:pPr lvl="2"/>
            <a:r>
              <a:rPr lang="en-US" dirty="0" smtClean="0"/>
              <a:t>(It is desirable that machines have roughly the same load)</a:t>
            </a:r>
          </a:p>
          <a:p>
            <a:pPr marL="562551" lvl="1" indent="-342900">
              <a:buFont typeface="+mj-lt"/>
              <a:buAutoNum type="arabicPeriod"/>
            </a:pPr>
            <a:r>
              <a:rPr lang="en-US" dirty="0" smtClean="0"/>
              <a:t>Avoiding </a:t>
            </a:r>
            <a:r>
              <a:rPr lang="en-US" dirty="0">
                <a:solidFill>
                  <a:srgbClr val="C00000"/>
                </a:solidFill>
              </a:rPr>
              <a:t>race </a:t>
            </a:r>
            <a:r>
              <a:rPr lang="en-US" dirty="0" smtClean="0">
                <a:solidFill>
                  <a:srgbClr val="C00000"/>
                </a:solidFill>
              </a:rPr>
              <a:t>conditions</a:t>
            </a:r>
          </a:p>
          <a:p>
            <a:pPr lvl="2"/>
            <a:r>
              <a:rPr lang="en-US" dirty="0" smtClean="0"/>
              <a:t>Given two tasks T1 and T2, </a:t>
            </a:r>
          </a:p>
          <a:p>
            <a:pPr lvl="3"/>
            <a:r>
              <a:rPr lang="en-US" dirty="0" smtClean="0"/>
              <a:t>Correctness of result depends on the sequence of execution of task</a:t>
            </a:r>
          </a:p>
          <a:p>
            <a:pPr lvl="3"/>
            <a:r>
              <a:rPr lang="en-US" dirty="0" smtClean="0"/>
              <a:t>For example, T1 before T2 is must, but NOT T2 before T1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26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Solution?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Map-Reduce</a:t>
            </a:r>
          </a:p>
          <a:p>
            <a:endParaRPr lang="en-US" dirty="0"/>
          </a:p>
          <a:p>
            <a:pPr lvl="1"/>
            <a:r>
              <a:rPr lang="en-US" sz="2000" dirty="0" smtClean="0"/>
              <a:t>It is a </a:t>
            </a:r>
            <a:r>
              <a:rPr lang="en-US" sz="2000" dirty="0" smtClean="0">
                <a:solidFill>
                  <a:srgbClr val="C00000"/>
                </a:solidFill>
              </a:rPr>
              <a:t>simple programming model </a:t>
            </a:r>
            <a:r>
              <a:rPr lang="en-US" sz="2000" dirty="0" smtClean="0"/>
              <a:t>for processing </a:t>
            </a:r>
            <a:r>
              <a:rPr lang="en-US" sz="2000" dirty="0" smtClean="0">
                <a:solidFill>
                  <a:srgbClr val="C00000"/>
                </a:solidFill>
              </a:rPr>
              <a:t>really big data</a:t>
            </a:r>
            <a:r>
              <a:rPr lang="en-US" sz="2000" dirty="0" smtClean="0"/>
              <a:t> using </a:t>
            </a:r>
            <a:r>
              <a:rPr lang="en-US" sz="2000" dirty="0" smtClean="0">
                <a:solidFill>
                  <a:srgbClr val="C00000"/>
                </a:solidFill>
              </a:rPr>
              <a:t>cluster of computers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27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Map-Reduce </a:t>
            </a:r>
            <a:r>
              <a:rPr lang="en-US" dirty="0"/>
              <a:t>addresses the </a:t>
            </a:r>
            <a:r>
              <a:rPr lang="en-US" dirty="0" smtClean="0"/>
              <a:t>challenges?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295400"/>
            <a:ext cx="9258300" cy="5334000"/>
          </a:xfrm>
        </p:spPr>
        <p:txBody>
          <a:bodyPr/>
          <a:lstStyle/>
          <a:p>
            <a:pPr marL="676851" lvl="1" indent="-457200">
              <a:buFont typeface="+mj-lt"/>
              <a:buAutoNum type="arabicPeriod"/>
            </a:pPr>
            <a:r>
              <a:rPr lang="en-US" sz="2000" dirty="0" smtClean="0"/>
              <a:t>Data loss prevention</a:t>
            </a:r>
          </a:p>
          <a:p>
            <a:pPr lvl="2"/>
            <a:r>
              <a:rPr lang="en-US" sz="1600" dirty="0" smtClean="0"/>
              <a:t>By keeping multiple copies of data in different machines</a:t>
            </a:r>
          </a:p>
          <a:p>
            <a:pPr marL="562551" lvl="1" indent="-342900">
              <a:buFont typeface="+mj-lt"/>
              <a:buAutoNum type="arabicPeriod"/>
            </a:pPr>
            <a:endParaRPr lang="en-US" dirty="0" smtClean="0"/>
          </a:p>
          <a:p>
            <a:pPr marL="676851" lvl="1" indent="-457200">
              <a:buFont typeface="+mj-lt"/>
              <a:buAutoNum type="arabicPeriod"/>
            </a:pPr>
            <a:r>
              <a:rPr lang="en-US" sz="2000" dirty="0" smtClean="0"/>
              <a:t>Data movement minimization</a:t>
            </a:r>
          </a:p>
          <a:p>
            <a:pPr lvl="2"/>
            <a:r>
              <a:rPr lang="en-US" sz="1600" dirty="0" smtClean="0"/>
              <a:t>By moving computation to the data </a:t>
            </a:r>
          </a:p>
          <a:p>
            <a:pPr lvl="3"/>
            <a:r>
              <a:rPr lang="en-US" sz="1200" dirty="0" smtClean="0"/>
              <a:t>(send your computer program to machines containing data)</a:t>
            </a:r>
          </a:p>
          <a:p>
            <a:pPr marL="439303" lvl="2" indent="0">
              <a:buNone/>
            </a:pPr>
            <a:endParaRPr lang="en-US" dirty="0"/>
          </a:p>
          <a:p>
            <a:pPr marL="676851" lvl="1" indent="-457200">
              <a:buFont typeface="+mj-lt"/>
              <a:buAutoNum type="arabicPeriod"/>
            </a:pPr>
            <a:r>
              <a:rPr lang="en-US" sz="2000" dirty="0" smtClean="0"/>
              <a:t>Simple programing model</a:t>
            </a:r>
          </a:p>
          <a:p>
            <a:pPr lvl="2"/>
            <a:r>
              <a:rPr lang="en-US" sz="1600" dirty="0" smtClean="0"/>
              <a:t>Mainly using two functions</a:t>
            </a:r>
          </a:p>
          <a:p>
            <a:pPr marL="887555" lvl="3" indent="-228600">
              <a:buFont typeface="+mj-lt"/>
              <a:buAutoNum type="arabicPeriod"/>
            </a:pPr>
            <a:r>
              <a:rPr lang="en-US" sz="1600" dirty="0"/>
              <a:t>M</a:t>
            </a:r>
            <a:r>
              <a:rPr lang="en-US" sz="1600" dirty="0" smtClean="0"/>
              <a:t>ap </a:t>
            </a:r>
          </a:p>
          <a:p>
            <a:pPr marL="887555" lvl="3" indent="-228600">
              <a:buFont typeface="+mj-lt"/>
              <a:buAutoNum type="arabicPeriod"/>
            </a:pPr>
            <a:r>
              <a:rPr lang="en-US" sz="1600" dirty="0" smtClean="0"/>
              <a:t>Reduce</a:t>
            </a:r>
          </a:p>
          <a:p>
            <a:pPr marL="887555" lvl="3" indent="-22860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680544" y="4876800"/>
            <a:ext cx="649036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/>
              <a:t>Programmer’s responsibility:</a:t>
            </a:r>
          </a:p>
          <a:p>
            <a:r>
              <a:rPr lang="en-US" dirty="0" smtClean="0"/>
              <a:t>   </a:t>
            </a:r>
            <a:r>
              <a:rPr lang="en-US" sz="1600" dirty="0" smtClean="0"/>
              <a:t>Write only two functions, </a:t>
            </a:r>
            <a:r>
              <a:rPr lang="en-US" sz="1600" dirty="0" smtClean="0">
                <a:solidFill>
                  <a:srgbClr val="C00000"/>
                </a:solidFill>
              </a:rPr>
              <a:t>Map and Reduce </a:t>
            </a:r>
            <a:r>
              <a:rPr lang="en-US" sz="1600" dirty="0" smtClean="0"/>
              <a:t>suitable for your problem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186" y="4986010"/>
            <a:ext cx="1428750" cy="16906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500" y="5811029"/>
            <a:ext cx="46682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C00000"/>
                </a:solidFill>
              </a:rPr>
              <a:t>You DO NOT need to worry about other things</a:t>
            </a:r>
            <a:endParaRPr 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82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Redundant Storage Infrastructure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Distributed File System</a:t>
            </a:r>
          </a:p>
          <a:p>
            <a:pPr lvl="1"/>
            <a:r>
              <a:rPr lang="en-US" dirty="0" smtClean="0"/>
              <a:t>Global file namespaces, redundancy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Multiple copies of data  and in different nodes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Example: Google file system (GFS), HDFS </a:t>
            </a:r>
            <a:r>
              <a:rPr lang="en-US" sz="1400" dirty="0" smtClean="0"/>
              <a:t>(</a:t>
            </a:r>
            <a:r>
              <a:rPr lang="en-US" sz="1400" dirty="0" err="1"/>
              <a:t>H</a:t>
            </a:r>
            <a:r>
              <a:rPr lang="en-US" sz="1400" dirty="0" err="1" smtClean="0"/>
              <a:t>adoop</a:t>
            </a:r>
            <a:r>
              <a:rPr lang="en-US" sz="1400" dirty="0" smtClean="0"/>
              <a:t>, a open-source map-reduce system)</a:t>
            </a:r>
            <a:r>
              <a:rPr lang="en-US" dirty="0" smtClean="0"/>
              <a:t> </a:t>
            </a:r>
          </a:p>
          <a:p>
            <a:pPr lvl="1"/>
            <a:endParaRPr lang="en-US" dirty="0"/>
          </a:p>
          <a:p>
            <a:r>
              <a:rPr lang="en-US" dirty="0" smtClean="0"/>
              <a:t>Typical usage pattern</a:t>
            </a:r>
          </a:p>
          <a:p>
            <a:pPr lvl="1"/>
            <a:r>
              <a:rPr lang="en-US" dirty="0" smtClean="0"/>
              <a:t>Data is rarely updated in place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Reads and appends are common</a:t>
            </a:r>
          </a:p>
        </p:txBody>
      </p:sp>
    </p:spTree>
    <p:extLst>
      <p:ext uri="{BB962C8B-B14F-4D97-AF65-F5344CB8AC3E}">
        <p14:creationId xmlns:p14="http://schemas.microsoft.com/office/powerpoint/2010/main" val="146549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381000"/>
            <a:ext cx="9258300" cy="46501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Distributed File System: Inside Look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90600"/>
            <a:ext cx="9258300" cy="5638800"/>
          </a:xfrm>
        </p:spPr>
        <p:txBody>
          <a:bodyPr/>
          <a:lstStyle/>
          <a:p>
            <a:r>
              <a:rPr lang="en-US" sz="1800" dirty="0" smtClean="0"/>
              <a:t>Data is kept in chunks, spread across machines</a:t>
            </a:r>
          </a:p>
          <a:p>
            <a:r>
              <a:rPr lang="en-US" sz="1800" dirty="0" smtClean="0"/>
              <a:t>Each chunk is replicated on different machines</a:t>
            </a:r>
          </a:p>
          <a:p>
            <a:pPr lvl="1"/>
            <a:r>
              <a:rPr lang="en-US" dirty="0" smtClean="0"/>
              <a:t>Ensures persistence</a:t>
            </a:r>
          </a:p>
          <a:p>
            <a:pPr lvl="1"/>
            <a:r>
              <a:rPr lang="en-US" dirty="0" smtClean="0"/>
              <a:t>Example:</a:t>
            </a:r>
          </a:p>
          <a:p>
            <a:pPr lvl="2"/>
            <a:r>
              <a:rPr lang="en-US" sz="1400" dirty="0" smtClean="0"/>
              <a:t>We have two files, A and B</a:t>
            </a:r>
          </a:p>
          <a:p>
            <a:pPr lvl="2"/>
            <a:r>
              <a:rPr lang="en-US" sz="1400" dirty="0"/>
              <a:t>3</a:t>
            </a:r>
            <a:r>
              <a:rPr lang="en-US" sz="1400" dirty="0" smtClean="0"/>
              <a:t> computers</a:t>
            </a:r>
          </a:p>
          <a:p>
            <a:pPr lvl="2"/>
            <a:r>
              <a:rPr lang="en-US" sz="1400" dirty="0" smtClean="0"/>
              <a:t>2 times replication of data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marL="439303" lvl="2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52500" y="4114800"/>
            <a:ext cx="1314449" cy="1066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33700" y="4114800"/>
            <a:ext cx="1219200" cy="1066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686300" y="4114800"/>
            <a:ext cx="1257300" cy="1066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28700" y="423088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676400" y="4230880"/>
            <a:ext cx="4953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a2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33329" y="468986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a3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714500" y="468986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b1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009900" y="4200257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b1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657600" y="421628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a1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009900" y="468986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b2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657600" y="4697337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a2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724400" y="419278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a3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410200" y="419278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724400" y="468986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410200" y="468986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901262" y="3612427"/>
            <a:ext cx="28745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Here are the Chunk </a:t>
            </a:r>
            <a:r>
              <a:rPr lang="en-US" sz="1600" b="1" dirty="0"/>
              <a:t>S</a:t>
            </a:r>
            <a:r>
              <a:rPr lang="en-US" sz="1600" b="1" dirty="0" smtClean="0"/>
              <a:t>ervers</a:t>
            </a:r>
            <a:endParaRPr lang="en-US" sz="1600" b="1" dirty="0"/>
          </a:p>
        </p:txBody>
      </p:sp>
      <p:sp>
        <p:nvSpPr>
          <p:cNvPr id="22" name="Rectangle 21"/>
          <p:cNvSpPr/>
          <p:nvPr/>
        </p:nvSpPr>
        <p:spPr>
          <a:xfrm>
            <a:off x="1312424" y="5608935"/>
            <a:ext cx="4309351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Chunk servers also serve as compute nodes</a:t>
            </a:r>
            <a:endParaRPr lang="en-US" b="1" dirty="0"/>
          </a:p>
        </p:txBody>
      </p:sp>
      <p:sp>
        <p:nvSpPr>
          <p:cNvPr id="23" name="Rectangle 22"/>
          <p:cNvSpPr/>
          <p:nvPr/>
        </p:nvSpPr>
        <p:spPr>
          <a:xfrm>
            <a:off x="2047874" y="6123122"/>
            <a:ext cx="283845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Bring computation to the data</a:t>
            </a:r>
            <a:endParaRPr lang="en-US" b="1" dirty="0"/>
          </a:p>
        </p:txBody>
      </p:sp>
      <p:sp>
        <p:nvSpPr>
          <p:cNvPr id="19" name="Rectangle 18"/>
          <p:cNvSpPr/>
          <p:nvPr/>
        </p:nvSpPr>
        <p:spPr>
          <a:xfrm>
            <a:off x="4533900" y="2264979"/>
            <a:ext cx="19050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</a:t>
            </a:r>
            <a:r>
              <a:rPr lang="en-US" dirty="0" smtClean="0"/>
              <a:t>1         a2         a3    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7192891" y="2230439"/>
            <a:ext cx="1227209" cy="4155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b</a:t>
            </a:r>
            <a:r>
              <a:rPr lang="en-US" dirty="0" smtClean="0"/>
              <a:t>1         b2</a:t>
            </a:r>
            <a:endParaRPr lang="en-US" dirty="0"/>
          </a:p>
        </p:txBody>
      </p:sp>
      <p:cxnSp>
        <p:nvCxnSpPr>
          <p:cNvPr id="28" name="Straight Connector 27"/>
          <p:cNvCxnSpPr/>
          <p:nvPr/>
        </p:nvCxnSpPr>
        <p:spPr>
          <a:xfrm>
            <a:off x="5124450" y="2264979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715000" y="2264979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4" idx="0"/>
            <a:endCxn id="24" idx="2"/>
          </p:cNvCxnSpPr>
          <p:nvPr/>
        </p:nvCxnSpPr>
        <p:spPr>
          <a:xfrm>
            <a:off x="7806496" y="2230439"/>
            <a:ext cx="0" cy="415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219608" y="2667000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654049" y="268475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64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/>
      <p:bldP spid="22" grpId="0" animBg="1"/>
      <p:bldP spid="23" grpId="0" animBg="1"/>
      <p:bldP spid="19" grpId="0" animBg="1"/>
      <p:bldP spid="24" grpId="0" animBg="1"/>
      <p:bldP spid="34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Distributes File System: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Chunk servers</a:t>
            </a:r>
          </a:p>
          <a:p>
            <a:pPr lvl="1"/>
            <a:r>
              <a:rPr lang="en-US" dirty="0" smtClean="0"/>
              <a:t>File is split into contiguous chunks (16-64 </a:t>
            </a:r>
            <a:r>
              <a:rPr lang="en-US" dirty="0" err="1" smtClean="0"/>
              <a:t>mb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Each chunk is replicated (usually 2 times or 3 times)</a:t>
            </a:r>
          </a:p>
          <a:p>
            <a:pPr lvl="1"/>
            <a:r>
              <a:rPr lang="en-US" dirty="0" smtClean="0"/>
              <a:t>Try to keep replicas in different racks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Master node</a:t>
            </a:r>
          </a:p>
          <a:p>
            <a:pPr lvl="1"/>
            <a:r>
              <a:rPr lang="en-US" dirty="0" smtClean="0"/>
              <a:t>Stores metadata about where the files are stored</a:t>
            </a:r>
          </a:p>
          <a:p>
            <a:pPr lvl="1"/>
            <a:r>
              <a:rPr lang="en-US" dirty="0" smtClean="0"/>
              <a:t>It might also be replicated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44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2895600"/>
            <a:ext cx="6305550" cy="541214"/>
          </a:xfrm>
        </p:spPr>
        <p:txBody>
          <a:bodyPr/>
          <a:lstStyle/>
          <a:p>
            <a:r>
              <a:rPr lang="en-US" dirty="0" smtClean="0"/>
              <a:t>Map-Reduce Programming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93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" y="381000"/>
            <a:ext cx="8686800" cy="609600"/>
          </a:xfrm>
        </p:spPr>
        <p:txBody>
          <a:bodyPr>
            <a:normAutofit/>
          </a:bodyPr>
          <a:lstStyle/>
          <a:p>
            <a:r>
              <a:rPr lang="en-US" dirty="0" smtClean="0"/>
              <a:t> Example Problem: Counting Words</a:t>
            </a:r>
            <a:endParaRPr lang="en-US" dirty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>
                <a:latin typeface="+mn-lt"/>
              </a:rPr>
              <a:t>We </a:t>
            </a:r>
            <a:r>
              <a:rPr lang="en-US" sz="2000" dirty="0">
                <a:latin typeface="+mn-lt"/>
              </a:rPr>
              <a:t>have a </a:t>
            </a:r>
            <a:r>
              <a:rPr lang="en-US" sz="2000" dirty="0" smtClean="0">
                <a:latin typeface="+mn-lt"/>
              </a:rPr>
              <a:t>huge text document and count </a:t>
            </a:r>
            <a:r>
              <a:rPr lang="en-US" sz="2000" dirty="0">
                <a:latin typeface="+mn-lt"/>
              </a:rPr>
              <a:t>the number of times each </a:t>
            </a:r>
            <a:r>
              <a:rPr lang="en-US" sz="2000" dirty="0" smtClean="0">
                <a:latin typeface="+mn-lt"/>
              </a:rPr>
              <a:t>distinct </a:t>
            </a:r>
            <a:r>
              <a:rPr lang="en-US" sz="2000" dirty="0">
                <a:latin typeface="+mn-lt"/>
              </a:rPr>
              <a:t>word appears in the </a:t>
            </a:r>
            <a:r>
              <a:rPr lang="en-US" sz="2000" dirty="0" smtClean="0">
                <a:latin typeface="+mn-lt"/>
              </a:rPr>
              <a:t>file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pPr lvl="8"/>
            <a:endParaRPr lang="en-US" dirty="0"/>
          </a:p>
          <a:p>
            <a:r>
              <a:rPr lang="en-US" b="1" dirty="0"/>
              <a:t>Sample </a:t>
            </a:r>
            <a:r>
              <a:rPr lang="en-US" b="1" dirty="0" smtClean="0"/>
              <a:t>application</a:t>
            </a:r>
          </a:p>
          <a:p>
            <a:pPr lvl="1"/>
            <a:r>
              <a:rPr lang="en-US" dirty="0" smtClean="0"/>
              <a:t>Analyze </a:t>
            </a:r>
            <a:r>
              <a:rPr lang="en-US" dirty="0"/>
              <a:t>web server logs to find popular </a:t>
            </a:r>
            <a:r>
              <a:rPr lang="en-US" dirty="0" smtClean="0"/>
              <a:t>URLs</a:t>
            </a:r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sz="2000" dirty="0" smtClean="0">
                <a:solidFill>
                  <a:srgbClr val="C00000"/>
                </a:solidFill>
              </a:rPr>
              <a:t>How you solve this using a single machine?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7575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49387"/>
            <a:ext cx="9258300" cy="388813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 Word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90600"/>
            <a:ext cx="9258300" cy="54864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Case 1: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sz="1600" dirty="0"/>
              <a:t>File too large for memory, but all &lt;word, count&gt; pairs fit in </a:t>
            </a:r>
            <a:r>
              <a:rPr lang="en-US" sz="1600" dirty="0" smtClean="0"/>
              <a:t>memory</a:t>
            </a:r>
          </a:p>
          <a:p>
            <a:pPr lvl="6"/>
            <a:r>
              <a:rPr lang="en-US" sz="1400" dirty="0" smtClean="0"/>
              <a:t>You can create a big string array OR you can create  a hash table</a:t>
            </a:r>
          </a:p>
          <a:p>
            <a:pPr lvl="6"/>
            <a:endParaRPr lang="en-US" sz="1400" dirty="0"/>
          </a:p>
          <a:p>
            <a:r>
              <a:rPr lang="en-US" dirty="0">
                <a:solidFill>
                  <a:srgbClr val="C00000"/>
                </a:solidFill>
              </a:rPr>
              <a:t>Case 2:  </a:t>
            </a:r>
            <a:r>
              <a:rPr lang="en-US" sz="1600" dirty="0"/>
              <a:t>All &lt;word, count&gt; pairs do not fit in memory, but fit into </a:t>
            </a:r>
            <a:r>
              <a:rPr lang="en-US" sz="1600" dirty="0" smtClean="0"/>
              <a:t>disk</a:t>
            </a:r>
          </a:p>
          <a:p>
            <a:pPr lvl="6"/>
            <a:r>
              <a:rPr lang="en-US" dirty="0" smtClean="0"/>
              <a:t>A possible approach (write computer programs/functions for each step)</a:t>
            </a:r>
          </a:p>
          <a:p>
            <a:pPr lvl="6"/>
            <a:endParaRPr lang="en-US" dirty="0" smtClean="0"/>
          </a:p>
          <a:p>
            <a:pPr marL="1473295" lvl="7" indent="-228600">
              <a:buFont typeface="+mj-lt"/>
              <a:buAutoNum type="arabicPeriod"/>
            </a:pPr>
            <a:r>
              <a:rPr lang="en-US" b="1" dirty="0" smtClean="0"/>
              <a:t>Break the text document into sequence of words</a:t>
            </a:r>
          </a:p>
          <a:p>
            <a:pPr marL="1473295" lvl="7" indent="-228600">
              <a:buFont typeface="+mj-lt"/>
              <a:buAutoNum type="arabicPeriod"/>
            </a:pPr>
            <a:endParaRPr lang="en-US" b="1" dirty="0" smtClean="0"/>
          </a:p>
          <a:p>
            <a:pPr marL="1473295" lvl="7" indent="-228600">
              <a:buFont typeface="+mj-lt"/>
              <a:buAutoNum type="arabicPeriod"/>
            </a:pPr>
            <a:endParaRPr lang="en-US" b="1" dirty="0" smtClean="0"/>
          </a:p>
          <a:p>
            <a:pPr marL="1473295" lvl="7" indent="-228600">
              <a:buFont typeface="+mj-lt"/>
              <a:buAutoNum type="arabicPeriod"/>
            </a:pPr>
            <a:r>
              <a:rPr lang="en-US" b="1" dirty="0" smtClean="0"/>
              <a:t>Sort the words</a:t>
            </a:r>
          </a:p>
          <a:p>
            <a:pPr lvl="8"/>
            <a:r>
              <a:rPr lang="en-US" b="1" dirty="0" smtClean="0"/>
              <a:t>This will bring same words together</a:t>
            </a:r>
          </a:p>
          <a:p>
            <a:pPr marL="1473295" lvl="7" indent="-228600">
              <a:buFont typeface="+mj-lt"/>
              <a:buAutoNum type="arabicPeriod"/>
            </a:pPr>
            <a:endParaRPr lang="en-US" b="1" dirty="0" smtClean="0"/>
          </a:p>
          <a:p>
            <a:pPr marL="1473295" lvl="7" indent="-228600">
              <a:buFont typeface="+mj-lt"/>
              <a:buAutoNum type="arabicPeriod"/>
            </a:pPr>
            <a:r>
              <a:rPr lang="en-US" b="1" dirty="0" smtClean="0"/>
              <a:t>Count the frequencies in a single pass</a:t>
            </a:r>
          </a:p>
          <a:p>
            <a:pPr marL="1473295" lvl="7" indent="-228600">
              <a:buFont typeface="+mj-lt"/>
              <a:buAutoNum type="arabicPeriod"/>
            </a:pPr>
            <a:endParaRPr lang="en-US" b="1" dirty="0"/>
          </a:p>
          <a:p>
            <a:pPr marL="1473295" lvl="7" indent="-228600">
              <a:buFont typeface="+mj-lt"/>
              <a:buAutoNum type="arabicPeriod"/>
            </a:pPr>
            <a:endParaRPr lang="en-US" b="1" dirty="0" smtClean="0"/>
          </a:p>
          <a:p>
            <a:pPr marL="228600" indent="-228600">
              <a:buFont typeface="+mj-lt"/>
              <a:buAutoNum type="arabicPeriod"/>
            </a:pPr>
            <a:endParaRPr lang="en-US" b="1" dirty="0"/>
          </a:p>
          <a:p>
            <a:r>
              <a:rPr lang="en-US" sz="2000" dirty="0">
                <a:solidFill>
                  <a:srgbClr val="C00000"/>
                </a:solidFill>
              </a:rPr>
              <a:t>Case 2 </a:t>
            </a:r>
            <a:r>
              <a:rPr lang="en-US" sz="2000" dirty="0"/>
              <a:t>captures the essence of </a:t>
            </a:r>
            <a:r>
              <a:rPr lang="en-US" sz="2000" dirty="0">
                <a:solidFill>
                  <a:srgbClr val="C00000"/>
                </a:solidFill>
              </a:rPr>
              <a:t>Map-Reduce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19900" y="2743200"/>
            <a:ext cx="1752600" cy="3048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getWords</a:t>
            </a:r>
            <a:r>
              <a:rPr lang="en-US" dirty="0" smtClean="0"/>
              <a:t>(</a:t>
            </a:r>
            <a:r>
              <a:rPr lang="en-US" dirty="0" err="1" smtClean="0"/>
              <a:t>textFile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46606" y="3352800"/>
            <a:ext cx="1752600" cy="3048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46606" y="3962400"/>
            <a:ext cx="1752600" cy="3048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count</a:t>
            </a:r>
            <a:endParaRPr lang="en-US" dirty="0"/>
          </a:p>
        </p:txBody>
      </p:sp>
      <p:sp>
        <p:nvSpPr>
          <p:cNvPr id="8" name="Down Arrow 7"/>
          <p:cNvSpPr/>
          <p:nvPr/>
        </p:nvSpPr>
        <p:spPr>
          <a:xfrm>
            <a:off x="7581900" y="3048000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7608606" y="3677540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3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Map-Reduce</a:t>
            </a:r>
            <a:r>
              <a:rPr lang="en-US" dirty="0"/>
              <a:t>: </a:t>
            </a:r>
            <a:r>
              <a:rPr lang="en-US" dirty="0" smtClean="0"/>
              <a:t>In a Nutshell</a:t>
            </a:r>
            <a:endParaRPr lang="en-US" dirty="0"/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514351" y="1295400"/>
            <a:ext cx="6534149" cy="381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b="1" dirty="0" err="1" smtClean="0">
                <a:latin typeface="Courier New" pitchFamily="49" charset="0"/>
              </a:rPr>
              <a:t>getWords</a:t>
            </a:r>
            <a:r>
              <a:rPr lang="en-US" sz="2000" b="1" dirty="0" smtClean="0">
                <a:latin typeface="Courier New" pitchFamily="49" charset="0"/>
              </a:rPr>
              <a:t>(</a:t>
            </a:r>
            <a:r>
              <a:rPr lang="en-US" sz="1400" b="1" dirty="0" err="1" smtClean="0">
                <a:latin typeface="Courier New" pitchFamily="49" charset="0"/>
              </a:rPr>
              <a:t>dataFile</a:t>
            </a:r>
            <a:r>
              <a:rPr lang="en-US" sz="2000" b="1" dirty="0" smtClean="0">
                <a:latin typeface="Courier New" pitchFamily="49" charset="0"/>
              </a:rPr>
              <a:t>)    sort     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2438400"/>
            <a:ext cx="33528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600" b="1" dirty="0" smtClean="0"/>
              <a:t>Map</a:t>
            </a:r>
          </a:p>
          <a:p>
            <a:pPr marL="0" lvl="1" algn="just"/>
            <a:r>
              <a:rPr lang="en-US" sz="1600" dirty="0"/>
              <a:t> </a:t>
            </a:r>
            <a:r>
              <a:rPr lang="en-US" sz="1600" dirty="0" smtClean="0"/>
              <a:t> </a:t>
            </a:r>
            <a:r>
              <a:rPr lang="en-US" b="1" dirty="0" smtClean="0"/>
              <a:t>extract </a:t>
            </a:r>
            <a:r>
              <a:rPr lang="en-US" b="1" dirty="0"/>
              <a:t>something you care </a:t>
            </a:r>
            <a:r>
              <a:rPr lang="en-US" b="1" dirty="0" smtClean="0"/>
              <a:t>about</a:t>
            </a:r>
          </a:p>
          <a:p>
            <a:pPr marL="0" lvl="1" algn="just"/>
            <a:r>
              <a:rPr lang="en-US" b="1" dirty="0"/>
              <a:t> </a:t>
            </a:r>
            <a:r>
              <a:rPr lang="en-US" b="1" dirty="0" smtClean="0"/>
              <a:t> (here word and count)</a:t>
            </a:r>
            <a:endParaRPr lang="en-US" b="1" dirty="0"/>
          </a:p>
          <a:p>
            <a:pPr algn="just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305300" y="2438400"/>
            <a:ext cx="22860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600" b="1" dirty="0"/>
              <a:t>Group by </a:t>
            </a:r>
            <a:r>
              <a:rPr lang="en-US" sz="1600" b="1" dirty="0" smtClean="0"/>
              <a:t>key</a:t>
            </a:r>
          </a:p>
          <a:p>
            <a:pPr algn="just"/>
            <a:r>
              <a:rPr lang="en-US" b="1" dirty="0"/>
              <a:t> </a:t>
            </a:r>
            <a:r>
              <a:rPr lang="en-US" b="1" dirty="0" smtClean="0"/>
              <a:t>  sort and shuffle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048500" y="2438400"/>
            <a:ext cx="28956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600" b="1" dirty="0" smtClean="0"/>
              <a:t>Reduce</a:t>
            </a:r>
          </a:p>
          <a:p>
            <a:pPr marL="0" lvl="1" algn="just"/>
            <a:r>
              <a:rPr lang="en-US" sz="1600" b="1" dirty="0"/>
              <a:t> </a:t>
            </a:r>
            <a:r>
              <a:rPr lang="en-US" sz="1600" b="1" dirty="0" smtClean="0"/>
              <a:t>  </a:t>
            </a:r>
            <a:r>
              <a:rPr lang="en-US" dirty="0"/>
              <a:t>Aggregate, summarize, </a:t>
            </a:r>
            <a:r>
              <a:rPr lang="en-US" dirty="0" err="1" smtClean="0"/>
              <a:t>etc</a:t>
            </a:r>
            <a:endParaRPr lang="en-US" dirty="0" smtClean="0"/>
          </a:p>
          <a:p>
            <a:pPr marL="0" lvl="1" algn="just"/>
            <a:r>
              <a:rPr lang="en-US" dirty="0"/>
              <a:t> </a:t>
            </a:r>
            <a:r>
              <a:rPr lang="en-US" dirty="0" smtClean="0"/>
              <a:t>   Save the results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638300" y="1677110"/>
            <a:ext cx="457200" cy="761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7" idx="0"/>
          </p:cNvCxnSpPr>
          <p:nvPr/>
        </p:nvCxnSpPr>
        <p:spPr>
          <a:xfrm>
            <a:off x="5905500" y="1604131"/>
            <a:ext cx="2590800" cy="834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341264" y="1605370"/>
            <a:ext cx="838200" cy="824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3900" y="4800600"/>
            <a:ext cx="542360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000" b="1" dirty="0" smtClean="0"/>
              <a:t>Summary</a:t>
            </a:r>
          </a:p>
          <a:p>
            <a:pPr marL="792700" lvl="1" indent="-457200" algn="just">
              <a:buFont typeface="+mj-lt"/>
              <a:buAutoNum type="arabicPeriod"/>
            </a:pPr>
            <a:r>
              <a:rPr lang="en-US" sz="1600" dirty="0" smtClean="0"/>
              <a:t>Outline </a:t>
            </a:r>
            <a:r>
              <a:rPr lang="en-US" sz="1600" dirty="0"/>
              <a:t>stays the </a:t>
            </a:r>
            <a:r>
              <a:rPr lang="en-US" sz="1600" dirty="0" smtClean="0"/>
              <a:t>same</a:t>
            </a:r>
          </a:p>
          <a:p>
            <a:pPr marL="792700" lvl="1" indent="-457200" algn="just">
              <a:buFont typeface="+mj-lt"/>
              <a:buAutoNum type="arabicPeriod"/>
            </a:pPr>
            <a:r>
              <a:rPr lang="en-US" sz="1600" b="1" dirty="0"/>
              <a:t>Map </a:t>
            </a:r>
            <a:r>
              <a:rPr lang="en-US" sz="1600" dirty="0"/>
              <a:t>and </a:t>
            </a:r>
            <a:r>
              <a:rPr lang="en-US" sz="1600" b="1" dirty="0"/>
              <a:t>Reduce </a:t>
            </a:r>
            <a:r>
              <a:rPr lang="en-US" sz="1600" dirty="0"/>
              <a:t>to be defined to fit the </a:t>
            </a:r>
            <a:r>
              <a:rPr lang="en-US" sz="1600" dirty="0" smtClean="0"/>
              <a:t>problem</a:t>
            </a:r>
            <a:endParaRPr lang="en-US" sz="1600" dirty="0"/>
          </a:p>
        </p:txBody>
      </p:sp>
      <p:sp>
        <p:nvSpPr>
          <p:cNvPr id="3" name="Right Arrow 2"/>
          <p:cNvSpPr/>
          <p:nvPr/>
        </p:nvSpPr>
        <p:spPr>
          <a:xfrm>
            <a:off x="3404431" y="1363054"/>
            <a:ext cx="457200" cy="24231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4722264" y="1361815"/>
            <a:ext cx="457200" cy="24231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1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MapReduce</a:t>
            </a:r>
            <a:r>
              <a:rPr lang="en-US" dirty="0"/>
              <a:t>: The </a:t>
            </a:r>
            <a:r>
              <a:rPr lang="en-US" dirty="0" smtClean="0">
                <a:solidFill>
                  <a:srgbClr val="C00000"/>
                </a:solidFill>
              </a:rPr>
              <a:t>Map</a:t>
            </a:r>
            <a:r>
              <a:rPr lang="en-US" dirty="0" smtClean="0"/>
              <a:t> Step</a:t>
            </a:r>
            <a:endParaRPr lang="en-US" dirty="0"/>
          </a:p>
        </p:txBody>
      </p:sp>
      <p:grpSp>
        <p:nvGrpSpPr>
          <p:cNvPr id="108565" name="Group 21"/>
          <p:cNvGrpSpPr>
            <a:grpSpLocks/>
          </p:cNvGrpSpPr>
          <p:nvPr/>
        </p:nvGrpSpPr>
        <p:grpSpPr bwMode="auto">
          <a:xfrm>
            <a:off x="1333500" y="3810000"/>
            <a:ext cx="1219200" cy="381000"/>
            <a:chOff x="240" y="2016"/>
            <a:chExt cx="768" cy="240"/>
          </a:xfrm>
        </p:grpSpPr>
        <p:sp>
          <p:nvSpPr>
            <p:cNvPr id="108548" name="Rectangle 4"/>
            <p:cNvSpPr>
              <a:spLocks noChangeArrowheads="1"/>
            </p:cNvSpPr>
            <p:nvPr/>
          </p:nvSpPr>
          <p:spPr bwMode="auto">
            <a:xfrm>
              <a:off x="576" y="2016"/>
              <a:ext cx="432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c</a:t>
              </a:r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08549" name="AutoShape 5"/>
            <p:cNvSpPr>
              <a:spLocks noChangeArrowheads="1"/>
            </p:cNvSpPr>
            <p:nvPr/>
          </p:nvSpPr>
          <p:spPr bwMode="auto">
            <a:xfrm>
              <a:off x="240" y="2016"/>
              <a:ext cx="288" cy="24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f</a:t>
              </a:r>
              <a:r>
                <a:rPr lang="en-US" dirty="0" smtClean="0"/>
                <a:t>2</a:t>
              </a:r>
              <a:endParaRPr lang="en-US" dirty="0"/>
            </a:p>
          </p:txBody>
        </p:sp>
      </p:grpSp>
      <p:grpSp>
        <p:nvGrpSpPr>
          <p:cNvPr id="108580" name="Group 36"/>
          <p:cNvGrpSpPr>
            <a:grpSpLocks/>
          </p:cNvGrpSpPr>
          <p:nvPr/>
        </p:nvGrpSpPr>
        <p:grpSpPr bwMode="auto">
          <a:xfrm>
            <a:off x="3771900" y="2514600"/>
            <a:ext cx="1676400" cy="1219200"/>
            <a:chOff x="1776" y="1152"/>
            <a:chExt cx="1056" cy="768"/>
          </a:xfrm>
        </p:grpSpPr>
        <p:grpSp>
          <p:nvGrpSpPr>
            <p:cNvPr id="108554" name="Group 10"/>
            <p:cNvGrpSpPr>
              <a:grpSpLocks/>
            </p:cNvGrpSpPr>
            <p:nvPr/>
          </p:nvGrpSpPr>
          <p:grpSpPr bwMode="auto">
            <a:xfrm>
              <a:off x="1776" y="1152"/>
              <a:ext cx="1056" cy="336"/>
              <a:chOff x="2256" y="1344"/>
              <a:chExt cx="1056" cy="336"/>
            </a:xfrm>
          </p:grpSpPr>
          <p:sp>
            <p:nvSpPr>
              <p:cNvPr id="108552" name="AutoShape 8"/>
              <p:cNvSpPr>
                <a:spLocks noChangeArrowheads="1"/>
              </p:cNvSpPr>
              <p:nvPr/>
            </p:nvSpPr>
            <p:spPr bwMode="auto">
              <a:xfrm>
                <a:off x="2256" y="1344"/>
                <a:ext cx="432" cy="336"/>
              </a:xfrm>
              <a:prstGeom prst="diamond">
                <a:avLst/>
              </a:prstGeom>
              <a:solidFill>
                <a:srgbClr val="99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 smtClean="0"/>
                  <a:t>k1</a:t>
                </a:r>
                <a:endParaRPr lang="en-US" dirty="0"/>
              </a:p>
            </p:txBody>
          </p:sp>
          <p:sp>
            <p:nvSpPr>
              <p:cNvPr id="108553" name="AutoShape 9"/>
              <p:cNvSpPr>
                <a:spLocks noChangeArrowheads="1"/>
              </p:cNvSpPr>
              <p:nvPr/>
            </p:nvSpPr>
            <p:spPr bwMode="auto">
              <a:xfrm>
                <a:off x="2688" y="1344"/>
                <a:ext cx="624" cy="336"/>
              </a:xfrm>
              <a:prstGeom prst="parallelogram">
                <a:avLst>
                  <a:gd name="adj" fmla="val 46429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 smtClean="0"/>
                  <a:t>v1</a:t>
                </a:r>
                <a:endParaRPr lang="en-US" dirty="0"/>
              </a:p>
            </p:txBody>
          </p:sp>
        </p:grpSp>
        <p:grpSp>
          <p:nvGrpSpPr>
            <p:cNvPr id="108555" name="Group 11"/>
            <p:cNvGrpSpPr>
              <a:grpSpLocks/>
            </p:cNvGrpSpPr>
            <p:nvPr/>
          </p:nvGrpSpPr>
          <p:grpSpPr bwMode="auto">
            <a:xfrm>
              <a:off x="1776" y="1584"/>
              <a:ext cx="1056" cy="336"/>
              <a:chOff x="2256" y="1344"/>
              <a:chExt cx="1056" cy="336"/>
            </a:xfrm>
          </p:grpSpPr>
          <p:sp>
            <p:nvSpPr>
              <p:cNvPr id="108556" name="AutoShape 12"/>
              <p:cNvSpPr>
                <a:spLocks noChangeArrowheads="1"/>
              </p:cNvSpPr>
              <p:nvPr/>
            </p:nvSpPr>
            <p:spPr bwMode="auto">
              <a:xfrm>
                <a:off x="2256" y="1344"/>
                <a:ext cx="432" cy="336"/>
              </a:xfrm>
              <a:prstGeom prst="diamond">
                <a:avLst/>
              </a:prstGeom>
              <a:solidFill>
                <a:srgbClr val="CC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 smtClean="0"/>
                  <a:t>k2</a:t>
                </a:r>
                <a:endParaRPr lang="en-US" dirty="0"/>
              </a:p>
            </p:txBody>
          </p:sp>
          <p:sp>
            <p:nvSpPr>
              <p:cNvPr id="108557" name="AutoShape 13"/>
              <p:cNvSpPr>
                <a:spLocks noChangeArrowheads="1"/>
              </p:cNvSpPr>
              <p:nvPr/>
            </p:nvSpPr>
            <p:spPr bwMode="auto">
              <a:xfrm>
                <a:off x="2688" y="1344"/>
                <a:ext cx="624" cy="336"/>
              </a:xfrm>
              <a:prstGeom prst="parallelogram">
                <a:avLst>
                  <a:gd name="adj" fmla="val 46429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 smtClean="0"/>
                  <a:t>v2</a:t>
                </a:r>
                <a:endParaRPr lang="en-US" dirty="0"/>
              </a:p>
            </p:txBody>
          </p:sp>
        </p:grpSp>
      </p:grpSp>
      <p:grpSp>
        <p:nvGrpSpPr>
          <p:cNvPr id="108579" name="Group 35"/>
          <p:cNvGrpSpPr>
            <a:grpSpLocks/>
          </p:cNvGrpSpPr>
          <p:nvPr/>
        </p:nvGrpSpPr>
        <p:grpSpPr bwMode="auto">
          <a:xfrm>
            <a:off x="2705100" y="2895600"/>
            <a:ext cx="762000" cy="609600"/>
            <a:chOff x="1104" y="1296"/>
            <a:chExt cx="480" cy="384"/>
          </a:xfrm>
        </p:grpSpPr>
        <p:sp>
          <p:nvSpPr>
            <p:cNvPr id="108563" name="AutoShape 19"/>
            <p:cNvSpPr>
              <a:spLocks noChangeArrowheads="1"/>
            </p:cNvSpPr>
            <p:nvPr/>
          </p:nvSpPr>
          <p:spPr bwMode="auto">
            <a:xfrm>
              <a:off x="1152" y="1488"/>
              <a:ext cx="432" cy="192"/>
            </a:xfrm>
            <a:prstGeom prst="rightArrow">
              <a:avLst>
                <a:gd name="adj1" fmla="val 50000"/>
                <a:gd name="adj2" fmla="val 56250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564" name="Text Box 20"/>
            <p:cNvSpPr txBox="1">
              <a:spLocks noChangeArrowheads="1"/>
            </p:cNvSpPr>
            <p:nvPr/>
          </p:nvSpPr>
          <p:spPr bwMode="auto">
            <a:xfrm>
              <a:off x="1104" y="1296"/>
              <a:ext cx="3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map</a:t>
              </a:r>
            </a:p>
          </p:txBody>
        </p:sp>
      </p:grpSp>
      <p:grpSp>
        <p:nvGrpSpPr>
          <p:cNvPr id="108569" name="Group 25"/>
          <p:cNvGrpSpPr>
            <a:grpSpLocks/>
          </p:cNvGrpSpPr>
          <p:nvPr/>
        </p:nvGrpSpPr>
        <p:grpSpPr bwMode="auto">
          <a:xfrm>
            <a:off x="1333500" y="3124200"/>
            <a:ext cx="1219200" cy="381000"/>
            <a:chOff x="240" y="2016"/>
            <a:chExt cx="768" cy="240"/>
          </a:xfrm>
        </p:grpSpPr>
        <p:sp>
          <p:nvSpPr>
            <p:cNvPr id="108570" name="Rectangle 26"/>
            <p:cNvSpPr>
              <a:spLocks noChangeArrowheads="1"/>
            </p:cNvSpPr>
            <p:nvPr/>
          </p:nvSpPr>
          <p:spPr bwMode="auto">
            <a:xfrm>
              <a:off x="576" y="2016"/>
              <a:ext cx="432" cy="24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c</a:t>
              </a:r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08571" name="AutoShape 27"/>
            <p:cNvSpPr>
              <a:spLocks noChangeArrowheads="1"/>
            </p:cNvSpPr>
            <p:nvPr/>
          </p:nvSpPr>
          <p:spPr bwMode="auto">
            <a:xfrm>
              <a:off x="240" y="2016"/>
              <a:ext cx="288" cy="240"/>
            </a:xfrm>
            <a:prstGeom prst="triangle">
              <a:avLst>
                <a:gd name="adj" fmla="val 50000"/>
              </a:avLst>
            </a:prstGeom>
            <a:solidFill>
              <a:srgbClr val="CC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f</a:t>
              </a:r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108572" name="Group 28"/>
          <p:cNvGrpSpPr>
            <a:grpSpLocks/>
          </p:cNvGrpSpPr>
          <p:nvPr/>
        </p:nvGrpSpPr>
        <p:grpSpPr bwMode="auto">
          <a:xfrm>
            <a:off x="1257300" y="5257800"/>
            <a:ext cx="1219200" cy="381000"/>
            <a:chOff x="240" y="2016"/>
            <a:chExt cx="768" cy="240"/>
          </a:xfrm>
        </p:grpSpPr>
        <p:sp>
          <p:nvSpPr>
            <p:cNvPr id="108573" name="Rectangle 29"/>
            <p:cNvSpPr>
              <a:spLocks noChangeArrowheads="1"/>
            </p:cNvSpPr>
            <p:nvPr/>
          </p:nvSpPr>
          <p:spPr bwMode="auto">
            <a:xfrm>
              <a:off x="576" y="2016"/>
              <a:ext cx="432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c</a:t>
              </a:r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08574" name="AutoShape 30"/>
            <p:cNvSpPr>
              <a:spLocks noChangeArrowheads="1"/>
            </p:cNvSpPr>
            <p:nvPr/>
          </p:nvSpPr>
          <p:spPr bwMode="auto">
            <a:xfrm>
              <a:off x="240" y="2016"/>
              <a:ext cx="288" cy="240"/>
            </a:xfrm>
            <a:prstGeom prst="triangle">
              <a:avLst>
                <a:gd name="adj" fmla="val 50000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f</a:t>
              </a:r>
              <a:r>
                <a:rPr lang="en-US" dirty="0" smtClean="0"/>
                <a:t>3</a:t>
              </a:r>
              <a:endParaRPr lang="en-US" dirty="0"/>
            </a:p>
          </p:txBody>
        </p:sp>
      </p:grpSp>
      <p:sp>
        <p:nvSpPr>
          <p:cNvPr id="108577" name="Text Box 33"/>
          <p:cNvSpPr txBox="1">
            <a:spLocks noChangeArrowheads="1"/>
          </p:cNvSpPr>
          <p:nvPr/>
        </p:nvSpPr>
        <p:spPr bwMode="auto">
          <a:xfrm>
            <a:off x="1592264" y="4419600"/>
            <a:ext cx="503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…</a:t>
            </a:r>
          </a:p>
        </p:txBody>
      </p:sp>
      <p:grpSp>
        <p:nvGrpSpPr>
          <p:cNvPr id="108581" name="Group 37"/>
          <p:cNvGrpSpPr>
            <a:grpSpLocks/>
          </p:cNvGrpSpPr>
          <p:nvPr/>
        </p:nvGrpSpPr>
        <p:grpSpPr bwMode="auto">
          <a:xfrm>
            <a:off x="3771900" y="3886200"/>
            <a:ext cx="1676400" cy="533400"/>
            <a:chOff x="2256" y="1344"/>
            <a:chExt cx="1056" cy="336"/>
          </a:xfrm>
        </p:grpSpPr>
        <p:sp>
          <p:nvSpPr>
            <p:cNvPr id="108582" name="AutoShape 38"/>
            <p:cNvSpPr>
              <a:spLocks noChangeArrowheads="1"/>
            </p:cNvSpPr>
            <p:nvPr/>
          </p:nvSpPr>
          <p:spPr bwMode="auto">
            <a:xfrm>
              <a:off x="2256" y="1344"/>
              <a:ext cx="432" cy="336"/>
            </a:xfrm>
            <a:prstGeom prst="diamond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k3</a:t>
              </a:r>
              <a:endParaRPr lang="en-US" dirty="0"/>
            </a:p>
          </p:txBody>
        </p:sp>
        <p:sp>
          <p:nvSpPr>
            <p:cNvPr id="108583" name="AutoShape 39"/>
            <p:cNvSpPr>
              <a:spLocks noChangeArrowheads="1"/>
            </p:cNvSpPr>
            <p:nvPr/>
          </p:nvSpPr>
          <p:spPr bwMode="auto">
            <a:xfrm>
              <a:off x="2688" y="1344"/>
              <a:ext cx="624" cy="336"/>
            </a:xfrm>
            <a:prstGeom prst="parallelogram">
              <a:avLst>
                <a:gd name="adj" fmla="val 4642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v3</a:t>
              </a:r>
              <a:endParaRPr lang="en-US" dirty="0"/>
            </a:p>
          </p:txBody>
        </p:sp>
      </p:grpSp>
      <p:grpSp>
        <p:nvGrpSpPr>
          <p:cNvPr id="108584" name="Group 40"/>
          <p:cNvGrpSpPr>
            <a:grpSpLocks/>
          </p:cNvGrpSpPr>
          <p:nvPr/>
        </p:nvGrpSpPr>
        <p:grpSpPr bwMode="auto">
          <a:xfrm>
            <a:off x="2705100" y="3657600"/>
            <a:ext cx="762000" cy="609600"/>
            <a:chOff x="1104" y="1296"/>
            <a:chExt cx="480" cy="384"/>
          </a:xfrm>
        </p:grpSpPr>
        <p:sp>
          <p:nvSpPr>
            <p:cNvPr id="108585" name="AutoShape 41"/>
            <p:cNvSpPr>
              <a:spLocks noChangeArrowheads="1"/>
            </p:cNvSpPr>
            <p:nvPr/>
          </p:nvSpPr>
          <p:spPr bwMode="auto">
            <a:xfrm>
              <a:off x="1152" y="1488"/>
              <a:ext cx="432" cy="192"/>
            </a:xfrm>
            <a:prstGeom prst="rightArrow">
              <a:avLst>
                <a:gd name="adj1" fmla="val 50000"/>
                <a:gd name="adj2" fmla="val 56250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586" name="Text Box 42"/>
            <p:cNvSpPr txBox="1">
              <a:spLocks noChangeArrowheads="1"/>
            </p:cNvSpPr>
            <p:nvPr/>
          </p:nvSpPr>
          <p:spPr bwMode="auto">
            <a:xfrm>
              <a:off x="1104" y="1296"/>
              <a:ext cx="3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map</a:t>
              </a:r>
            </a:p>
          </p:txBody>
        </p:sp>
      </p:grpSp>
      <p:sp>
        <p:nvSpPr>
          <p:cNvPr id="108611" name="Text Box 67"/>
          <p:cNvSpPr txBox="1">
            <a:spLocks noChangeArrowheads="1"/>
          </p:cNvSpPr>
          <p:nvPr/>
        </p:nvSpPr>
        <p:spPr bwMode="auto">
          <a:xfrm>
            <a:off x="1025336" y="1438824"/>
            <a:ext cx="23984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Input key-value pairs</a:t>
            </a:r>
          </a:p>
          <a:p>
            <a:r>
              <a:rPr lang="en-US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(file name and its content)</a:t>
            </a:r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8578" name="Text Box 34"/>
          <p:cNvSpPr txBox="1">
            <a:spLocks noChangeArrowheads="1"/>
          </p:cNvSpPr>
          <p:nvPr/>
        </p:nvSpPr>
        <p:spPr bwMode="auto">
          <a:xfrm>
            <a:off x="3967672" y="1438824"/>
            <a:ext cx="26998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Intermediate key-value pairs</a:t>
            </a:r>
          </a:p>
          <a:p>
            <a:r>
              <a:rPr lang="en-US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(word and count)</a:t>
            </a:r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8619" name="Text Box 75"/>
          <p:cNvSpPr txBox="1">
            <a:spLocks noChangeArrowheads="1"/>
          </p:cNvSpPr>
          <p:nvPr/>
        </p:nvSpPr>
        <p:spPr bwMode="auto">
          <a:xfrm>
            <a:off x="4076700" y="4495800"/>
            <a:ext cx="503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…</a:t>
            </a:r>
          </a:p>
        </p:txBody>
      </p:sp>
      <p:sp>
        <p:nvSpPr>
          <p:cNvPr id="108620" name="AutoShape 76"/>
          <p:cNvSpPr>
            <a:spLocks noChangeArrowheads="1"/>
          </p:cNvSpPr>
          <p:nvPr/>
        </p:nvSpPr>
        <p:spPr bwMode="auto">
          <a:xfrm>
            <a:off x="3848100" y="5181600"/>
            <a:ext cx="685800" cy="533400"/>
          </a:xfrm>
          <a:prstGeom prst="diamond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dirty="0" smtClean="0"/>
              <a:t>k4</a:t>
            </a:r>
            <a:endParaRPr lang="en-US" dirty="0"/>
          </a:p>
        </p:txBody>
      </p:sp>
      <p:sp>
        <p:nvSpPr>
          <p:cNvPr id="108621" name="AutoShape 77"/>
          <p:cNvSpPr>
            <a:spLocks noChangeArrowheads="1"/>
          </p:cNvSpPr>
          <p:nvPr/>
        </p:nvSpPr>
        <p:spPr bwMode="auto">
          <a:xfrm>
            <a:off x="4533900" y="5181600"/>
            <a:ext cx="990600" cy="533400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v4</a:t>
            </a:r>
            <a:endParaRPr lang="en-US" dirty="0"/>
          </a:p>
        </p:txBody>
      </p:sp>
      <p:grpSp>
        <p:nvGrpSpPr>
          <p:cNvPr id="34" name="Group 40"/>
          <p:cNvGrpSpPr>
            <a:grpSpLocks/>
          </p:cNvGrpSpPr>
          <p:nvPr/>
        </p:nvGrpSpPr>
        <p:grpSpPr bwMode="auto">
          <a:xfrm>
            <a:off x="2801240" y="5105400"/>
            <a:ext cx="762000" cy="609600"/>
            <a:chOff x="1104" y="1296"/>
            <a:chExt cx="480" cy="384"/>
          </a:xfrm>
        </p:grpSpPr>
        <p:sp>
          <p:nvSpPr>
            <p:cNvPr id="35" name="AutoShape 41"/>
            <p:cNvSpPr>
              <a:spLocks noChangeArrowheads="1"/>
            </p:cNvSpPr>
            <p:nvPr/>
          </p:nvSpPr>
          <p:spPr bwMode="auto">
            <a:xfrm>
              <a:off x="1152" y="1488"/>
              <a:ext cx="432" cy="192"/>
            </a:xfrm>
            <a:prstGeom prst="rightArrow">
              <a:avLst>
                <a:gd name="adj1" fmla="val 50000"/>
                <a:gd name="adj2" fmla="val 56250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42"/>
            <p:cNvSpPr txBox="1">
              <a:spLocks noChangeArrowheads="1"/>
            </p:cNvSpPr>
            <p:nvPr/>
          </p:nvSpPr>
          <p:spPr bwMode="auto">
            <a:xfrm>
              <a:off x="1104" y="1296"/>
              <a:ext cx="3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map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964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78" grpId="0"/>
      <p:bldP spid="108619" grpId="0"/>
      <p:bldP spid="108620" grpId="0" animBg="1"/>
      <p:bldP spid="1086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MapReduce</a:t>
            </a:r>
            <a:r>
              <a:rPr lang="en-US" dirty="0"/>
              <a:t>: The </a:t>
            </a:r>
            <a:r>
              <a:rPr lang="en-US" dirty="0" smtClean="0">
                <a:solidFill>
                  <a:srgbClr val="C00000"/>
                </a:solidFill>
              </a:rPr>
              <a:t>Reduce </a:t>
            </a:r>
            <a:r>
              <a:rPr lang="en-US" dirty="0" smtClean="0"/>
              <a:t>Step</a:t>
            </a:r>
            <a:endParaRPr lang="en-US" dirty="0"/>
          </a:p>
        </p:txBody>
      </p:sp>
      <p:grpSp>
        <p:nvGrpSpPr>
          <p:cNvPr id="109635" name="Group 67"/>
          <p:cNvGrpSpPr>
            <a:grpSpLocks/>
          </p:cNvGrpSpPr>
          <p:nvPr/>
        </p:nvGrpSpPr>
        <p:grpSpPr bwMode="auto">
          <a:xfrm>
            <a:off x="2998788" y="3087690"/>
            <a:ext cx="849312" cy="874713"/>
            <a:chOff x="1529" y="1753"/>
            <a:chExt cx="535" cy="551"/>
          </a:xfrm>
        </p:grpSpPr>
        <p:sp>
          <p:nvSpPr>
            <p:cNvPr id="109597" name="AutoShape 29"/>
            <p:cNvSpPr>
              <a:spLocks noChangeArrowheads="1"/>
            </p:cNvSpPr>
            <p:nvPr/>
          </p:nvSpPr>
          <p:spPr bwMode="auto">
            <a:xfrm>
              <a:off x="1584" y="2112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98" name="Text Box 30"/>
            <p:cNvSpPr txBox="1">
              <a:spLocks noChangeArrowheads="1"/>
            </p:cNvSpPr>
            <p:nvPr/>
          </p:nvSpPr>
          <p:spPr bwMode="auto">
            <a:xfrm>
              <a:off x="1529" y="1753"/>
              <a:ext cx="46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Group</a:t>
              </a:r>
            </a:p>
            <a:p>
              <a:r>
                <a:rPr lang="en-US" b="1" dirty="0"/>
                <a:t>by key</a:t>
              </a:r>
            </a:p>
          </p:txBody>
        </p:sp>
      </p:grpSp>
      <p:grpSp>
        <p:nvGrpSpPr>
          <p:cNvPr id="109601" name="Group 33"/>
          <p:cNvGrpSpPr>
            <a:grpSpLocks/>
          </p:cNvGrpSpPr>
          <p:nvPr/>
        </p:nvGrpSpPr>
        <p:grpSpPr bwMode="auto">
          <a:xfrm>
            <a:off x="6515100" y="2362200"/>
            <a:ext cx="1066800" cy="533400"/>
            <a:chOff x="3456" y="1296"/>
            <a:chExt cx="672" cy="336"/>
          </a:xfrm>
        </p:grpSpPr>
        <p:sp>
          <p:nvSpPr>
            <p:cNvPr id="109599" name="AutoShape 31"/>
            <p:cNvSpPr>
              <a:spLocks noChangeArrowheads="1"/>
            </p:cNvSpPr>
            <p:nvPr/>
          </p:nvSpPr>
          <p:spPr bwMode="auto">
            <a:xfrm>
              <a:off x="3504" y="1488"/>
              <a:ext cx="624" cy="144"/>
            </a:xfrm>
            <a:prstGeom prst="rightArrow">
              <a:avLst>
                <a:gd name="adj1" fmla="val 50000"/>
                <a:gd name="adj2" fmla="val 108333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600" name="Text Box 32"/>
            <p:cNvSpPr txBox="1">
              <a:spLocks noChangeArrowheads="1"/>
            </p:cNvSpPr>
            <p:nvPr/>
          </p:nvSpPr>
          <p:spPr bwMode="auto">
            <a:xfrm>
              <a:off x="3456" y="1296"/>
              <a:ext cx="48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reduce</a:t>
              </a:r>
            </a:p>
          </p:txBody>
        </p:sp>
      </p:grpSp>
      <p:grpSp>
        <p:nvGrpSpPr>
          <p:cNvPr id="109602" name="Group 34"/>
          <p:cNvGrpSpPr>
            <a:grpSpLocks/>
          </p:cNvGrpSpPr>
          <p:nvPr/>
        </p:nvGrpSpPr>
        <p:grpSpPr bwMode="auto">
          <a:xfrm>
            <a:off x="6515100" y="2971800"/>
            <a:ext cx="1066800" cy="533400"/>
            <a:chOff x="3456" y="1296"/>
            <a:chExt cx="672" cy="336"/>
          </a:xfrm>
        </p:grpSpPr>
        <p:sp>
          <p:nvSpPr>
            <p:cNvPr id="109603" name="AutoShape 35"/>
            <p:cNvSpPr>
              <a:spLocks noChangeArrowheads="1"/>
            </p:cNvSpPr>
            <p:nvPr/>
          </p:nvSpPr>
          <p:spPr bwMode="auto">
            <a:xfrm>
              <a:off x="3504" y="1488"/>
              <a:ext cx="624" cy="144"/>
            </a:xfrm>
            <a:prstGeom prst="rightArrow">
              <a:avLst>
                <a:gd name="adj1" fmla="val 50000"/>
                <a:gd name="adj2" fmla="val 108333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604" name="Text Box 36"/>
            <p:cNvSpPr txBox="1">
              <a:spLocks noChangeArrowheads="1"/>
            </p:cNvSpPr>
            <p:nvPr/>
          </p:nvSpPr>
          <p:spPr bwMode="auto">
            <a:xfrm>
              <a:off x="3456" y="1296"/>
              <a:ext cx="48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reduce</a:t>
              </a:r>
            </a:p>
          </p:txBody>
        </p:sp>
      </p:grpSp>
      <p:grpSp>
        <p:nvGrpSpPr>
          <p:cNvPr id="109610" name="Group 42"/>
          <p:cNvGrpSpPr>
            <a:grpSpLocks/>
          </p:cNvGrpSpPr>
          <p:nvPr/>
        </p:nvGrpSpPr>
        <p:grpSpPr bwMode="auto">
          <a:xfrm>
            <a:off x="7658100" y="2514600"/>
            <a:ext cx="1295400" cy="533400"/>
            <a:chOff x="4464" y="1392"/>
            <a:chExt cx="816" cy="336"/>
          </a:xfrm>
        </p:grpSpPr>
        <p:sp>
          <p:nvSpPr>
            <p:cNvPr id="109605" name="AutoShape 37"/>
            <p:cNvSpPr>
              <a:spLocks noChangeArrowheads="1"/>
            </p:cNvSpPr>
            <p:nvPr/>
          </p:nvSpPr>
          <p:spPr bwMode="auto">
            <a:xfrm>
              <a:off x="4464" y="1392"/>
              <a:ext cx="432" cy="336"/>
            </a:xfrm>
            <a:prstGeom prst="diamond">
              <a:avLst/>
            </a:prstGeom>
            <a:solidFill>
              <a:srgbClr val="99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k1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607" name="AutoShape 39"/>
                <p:cNvSpPr>
                  <a:spLocks noChangeArrowheads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607" name="AutoShap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blipFill rotWithShape="1">
                  <a:blip r:embed="rId2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611" name="Group 43"/>
          <p:cNvGrpSpPr>
            <a:grpSpLocks/>
          </p:cNvGrpSpPr>
          <p:nvPr/>
        </p:nvGrpSpPr>
        <p:grpSpPr bwMode="auto">
          <a:xfrm>
            <a:off x="7658100" y="3124200"/>
            <a:ext cx="1295400" cy="533400"/>
            <a:chOff x="4464" y="1392"/>
            <a:chExt cx="816" cy="336"/>
          </a:xfrm>
        </p:grpSpPr>
        <p:sp>
          <p:nvSpPr>
            <p:cNvPr id="109612" name="AutoShape 44"/>
            <p:cNvSpPr>
              <a:spLocks noChangeArrowheads="1"/>
            </p:cNvSpPr>
            <p:nvPr/>
          </p:nvSpPr>
          <p:spPr bwMode="auto">
            <a:xfrm>
              <a:off x="4464" y="1392"/>
              <a:ext cx="432" cy="336"/>
            </a:xfrm>
            <a:prstGeom prst="diamond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k2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613" name="AutoShape 45"/>
                <p:cNvSpPr>
                  <a:spLocks noChangeArrowheads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′′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613" name="AutoShap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blipFill rotWithShape="1">
                  <a:blip r:embed="rId3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614" name="Group 46"/>
          <p:cNvGrpSpPr>
            <a:grpSpLocks/>
          </p:cNvGrpSpPr>
          <p:nvPr/>
        </p:nvGrpSpPr>
        <p:grpSpPr bwMode="auto">
          <a:xfrm>
            <a:off x="7734300" y="5105400"/>
            <a:ext cx="1295400" cy="533400"/>
            <a:chOff x="4464" y="1392"/>
            <a:chExt cx="816" cy="336"/>
          </a:xfrm>
        </p:grpSpPr>
        <p:sp>
          <p:nvSpPr>
            <p:cNvPr id="109615" name="AutoShape 47"/>
            <p:cNvSpPr>
              <a:spLocks noChangeArrowheads="1"/>
            </p:cNvSpPr>
            <p:nvPr/>
          </p:nvSpPr>
          <p:spPr bwMode="auto">
            <a:xfrm>
              <a:off x="4464" y="1392"/>
              <a:ext cx="432" cy="336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k3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616" name="AutoShape 48"/>
                <p:cNvSpPr>
                  <a:spLocks noChangeArrowheads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′′′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616" name="AutoShap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blipFill rotWithShape="1">
                  <a:blip r:embed="rId4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617" name="Text Box 49"/>
          <p:cNvSpPr txBox="1">
            <a:spLocks noChangeArrowheads="1"/>
          </p:cNvSpPr>
          <p:nvPr/>
        </p:nvSpPr>
        <p:spPr bwMode="auto">
          <a:xfrm>
            <a:off x="8145464" y="4267200"/>
            <a:ext cx="503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/>
              <a:t>…</a:t>
            </a:r>
          </a:p>
        </p:txBody>
      </p:sp>
      <p:grpSp>
        <p:nvGrpSpPr>
          <p:cNvPr id="109634" name="Group 66"/>
          <p:cNvGrpSpPr>
            <a:grpSpLocks/>
          </p:cNvGrpSpPr>
          <p:nvPr/>
        </p:nvGrpSpPr>
        <p:grpSpPr bwMode="auto">
          <a:xfrm>
            <a:off x="3848100" y="1905000"/>
            <a:ext cx="2743200" cy="3657600"/>
            <a:chOff x="2064" y="1008"/>
            <a:chExt cx="1728" cy="2304"/>
          </a:xfrm>
        </p:grpSpPr>
        <p:sp>
          <p:nvSpPr>
            <p:cNvPr id="109573" name="AutoShape 5"/>
            <p:cNvSpPr>
              <a:spLocks noChangeArrowheads="1"/>
            </p:cNvSpPr>
            <p:nvPr/>
          </p:nvSpPr>
          <p:spPr bwMode="auto">
            <a:xfrm>
              <a:off x="2112" y="2976"/>
              <a:ext cx="432" cy="336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k3</a:t>
              </a:r>
              <a:endParaRPr lang="en-US" dirty="0"/>
            </a:p>
          </p:txBody>
        </p:sp>
        <p:sp>
          <p:nvSpPr>
            <p:cNvPr id="109574" name="AutoShape 6"/>
            <p:cNvSpPr>
              <a:spLocks noChangeArrowheads="1"/>
            </p:cNvSpPr>
            <p:nvPr/>
          </p:nvSpPr>
          <p:spPr bwMode="auto">
            <a:xfrm>
              <a:off x="2544" y="2976"/>
              <a:ext cx="528" cy="336"/>
            </a:xfrm>
            <a:prstGeom prst="parallelogram">
              <a:avLst>
                <a:gd name="adj" fmla="val 392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v4</a:t>
              </a:r>
              <a:endParaRPr lang="en-US" dirty="0"/>
            </a:p>
          </p:txBody>
        </p:sp>
        <p:sp>
          <p:nvSpPr>
            <p:cNvPr id="109575" name="Text Box 7"/>
            <p:cNvSpPr txBox="1">
              <a:spLocks noChangeArrowheads="1"/>
            </p:cNvSpPr>
            <p:nvPr/>
          </p:nvSpPr>
          <p:spPr bwMode="auto">
            <a:xfrm>
              <a:off x="2467" y="2496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/>
                <a:t>…</a:t>
              </a:r>
            </a:p>
          </p:txBody>
        </p:sp>
        <p:sp>
          <p:nvSpPr>
            <p:cNvPr id="109576" name="AutoShape 8"/>
            <p:cNvSpPr>
              <a:spLocks noChangeArrowheads="1"/>
            </p:cNvSpPr>
            <p:nvPr/>
          </p:nvSpPr>
          <p:spPr bwMode="auto">
            <a:xfrm>
              <a:off x="2064" y="1392"/>
              <a:ext cx="432" cy="336"/>
            </a:xfrm>
            <a:prstGeom prst="diamond">
              <a:avLst/>
            </a:prstGeom>
            <a:solidFill>
              <a:srgbClr val="99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k1</a:t>
              </a:r>
              <a:endParaRPr lang="en-US" dirty="0"/>
            </a:p>
          </p:txBody>
        </p:sp>
        <p:sp>
          <p:nvSpPr>
            <p:cNvPr id="109577" name="AutoShape 9"/>
            <p:cNvSpPr>
              <a:spLocks noChangeArrowheads="1"/>
            </p:cNvSpPr>
            <p:nvPr/>
          </p:nvSpPr>
          <p:spPr bwMode="auto">
            <a:xfrm>
              <a:off x="2496" y="1392"/>
              <a:ext cx="528" cy="336"/>
            </a:xfrm>
            <a:prstGeom prst="parallelogram">
              <a:avLst>
                <a:gd name="adj" fmla="val 392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v1</a:t>
              </a:r>
              <a:endParaRPr lang="en-US" dirty="0"/>
            </a:p>
          </p:txBody>
        </p:sp>
        <p:sp>
          <p:nvSpPr>
            <p:cNvPr id="109578" name="AutoShape 10"/>
            <p:cNvSpPr>
              <a:spLocks noChangeArrowheads="1"/>
            </p:cNvSpPr>
            <p:nvPr/>
          </p:nvSpPr>
          <p:spPr bwMode="auto">
            <a:xfrm>
              <a:off x="2064" y="1824"/>
              <a:ext cx="432" cy="336"/>
            </a:xfrm>
            <a:prstGeom prst="diamond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k2</a:t>
              </a:r>
              <a:endParaRPr lang="en-US" dirty="0"/>
            </a:p>
          </p:txBody>
        </p:sp>
        <p:sp>
          <p:nvSpPr>
            <p:cNvPr id="109579" name="AutoShape 11"/>
            <p:cNvSpPr>
              <a:spLocks noChangeArrowheads="1"/>
            </p:cNvSpPr>
            <p:nvPr/>
          </p:nvSpPr>
          <p:spPr bwMode="auto">
            <a:xfrm>
              <a:off x="2496" y="1824"/>
              <a:ext cx="480" cy="336"/>
            </a:xfrm>
            <a:prstGeom prst="parallelogram">
              <a:avLst>
                <a:gd name="adj" fmla="val 3571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v2</a:t>
              </a:r>
              <a:endParaRPr lang="en-US" dirty="0"/>
            </a:p>
          </p:txBody>
        </p:sp>
        <p:sp>
          <p:nvSpPr>
            <p:cNvPr id="109580" name="AutoShape 12"/>
            <p:cNvSpPr>
              <a:spLocks noChangeArrowheads="1"/>
            </p:cNvSpPr>
            <p:nvPr/>
          </p:nvSpPr>
          <p:spPr bwMode="auto">
            <a:xfrm>
              <a:off x="2832" y="1824"/>
              <a:ext cx="528" cy="336"/>
            </a:xfrm>
            <a:prstGeom prst="parallelogram">
              <a:avLst>
                <a:gd name="adj" fmla="val 392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v5</a:t>
              </a:r>
              <a:endParaRPr lang="en-US" dirty="0"/>
            </a:p>
          </p:txBody>
        </p:sp>
        <p:sp>
          <p:nvSpPr>
            <p:cNvPr id="109581" name="AutoShape 13"/>
            <p:cNvSpPr>
              <a:spLocks noChangeArrowheads="1"/>
            </p:cNvSpPr>
            <p:nvPr/>
          </p:nvSpPr>
          <p:spPr bwMode="auto">
            <a:xfrm>
              <a:off x="2880" y="1392"/>
              <a:ext cx="528" cy="336"/>
            </a:xfrm>
            <a:prstGeom prst="parallelogram">
              <a:avLst>
                <a:gd name="adj" fmla="val 392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v3</a:t>
              </a:r>
              <a:endParaRPr lang="en-US" dirty="0"/>
            </a:p>
          </p:txBody>
        </p:sp>
        <p:sp>
          <p:nvSpPr>
            <p:cNvPr id="109582" name="AutoShape 14"/>
            <p:cNvSpPr>
              <a:spLocks noChangeArrowheads="1"/>
            </p:cNvSpPr>
            <p:nvPr/>
          </p:nvSpPr>
          <p:spPr bwMode="auto">
            <a:xfrm>
              <a:off x="3264" y="1392"/>
              <a:ext cx="528" cy="336"/>
            </a:xfrm>
            <a:prstGeom prst="parallelogram">
              <a:avLst>
                <a:gd name="adj" fmla="val 392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v6</a:t>
              </a:r>
              <a:endParaRPr lang="en-US" dirty="0"/>
            </a:p>
          </p:txBody>
        </p:sp>
        <p:sp>
          <p:nvSpPr>
            <p:cNvPr id="109632" name="Rectangle 64"/>
            <p:cNvSpPr>
              <a:spLocks noChangeArrowheads="1"/>
            </p:cNvSpPr>
            <p:nvPr/>
          </p:nvSpPr>
          <p:spPr bwMode="auto">
            <a:xfrm>
              <a:off x="2160" y="1008"/>
              <a:ext cx="148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Key-value groups</a:t>
              </a:r>
            </a:p>
          </p:txBody>
        </p:sp>
      </p:grpSp>
      <p:sp>
        <p:nvSpPr>
          <p:cNvPr id="109633" name="Rectangle 65"/>
          <p:cNvSpPr>
            <a:spLocks noChangeArrowheads="1"/>
          </p:cNvSpPr>
          <p:nvPr/>
        </p:nvSpPr>
        <p:spPr bwMode="auto">
          <a:xfrm>
            <a:off x="7277100" y="1676400"/>
            <a:ext cx="2057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Output </a:t>
            </a:r>
          </a:p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key-value pairs</a:t>
            </a:r>
          </a:p>
        </p:txBody>
      </p:sp>
      <p:grpSp>
        <p:nvGrpSpPr>
          <p:cNvPr id="49" name="Group 34"/>
          <p:cNvGrpSpPr>
            <a:grpSpLocks/>
          </p:cNvGrpSpPr>
          <p:nvPr/>
        </p:nvGrpSpPr>
        <p:grpSpPr bwMode="auto">
          <a:xfrm>
            <a:off x="6134100" y="5029200"/>
            <a:ext cx="1066800" cy="533400"/>
            <a:chOff x="3456" y="1296"/>
            <a:chExt cx="672" cy="336"/>
          </a:xfrm>
        </p:grpSpPr>
        <p:sp>
          <p:nvSpPr>
            <p:cNvPr id="50" name="AutoShape 35"/>
            <p:cNvSpPr>
              <a:spLocks noChangeArrowheads="1"/>
            </p:cNvSpPr>
            <p:nvPr/>
          </p:nvSpPr>
          <p:spPr bwMode="auto">
            <a:xfrm>
              <a:off x="3504" y="1488"/>
              <a:ext cx="624" cy="144"/>
            </a:xfrm>
            <a:prstGeom prst="rightArrow">
              <a:avLst>
                <a:gd name="adj1" fmla="val 50000"/>
                <a:gd name="adj2" fmla="val 108333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Text Box 36"/>
            <p:cNvSpPr txBox="1">
              <a:spLocks noChangeArrowheads="1"/>
            </p:cNvSpPr>
            <p:nvPr/>
          </p:nvSpPr>
          <p:spPr bwMode="auto">
            <a:xfrm>
              <a:off x="3456" y="1296"/>
              <a:ext cx="48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reduce</a:t>
              </a:r>
            </a:p>
          </p:txBody>
        </p:sp>
      </p:grpSp>
      <p:sp>
        <p:nvSpPr>
          <p:cNvPr id="53" name="AutoShape 21"/>
          <p:cNvSpPr>
            <a:spLocks noChangeArrowheads="1"/>
          </p:cNvSpPr>
          <p:nvPr/>
        </p:nvSpPr>
        <p:spPr bwMode="auto">
          <a:xfrm>
            <a:off x="1377952" y="5105400"/>
            <a:ext cx="685800" cy="381000"/>
          </a:xfrm>
          <a:prstGeom prst="diamond">
            <a:avLst/>
          </a:prstGeom>
          <a:solidFill>
            <a:srgbClr val="99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k1</a:t>
            </a:r>
            <a:endParaRPr lang="en-US" dirty="0"/>
          </a:p>
        </p:txBody>
      </p:sp>
      <p:sp>
        <p:nvSpPr>
          <p:cNvPr id="54" name="AutoShape 22"/>
          <p:cNvSpPr>
            <a:spLocks noChangeArrowheads="1"/>
          </p:cNvSpPr>
          <p:nvPr/>
        </p:nvSpPr>
        <p:spPr bwMode="auto">
          <a:xfrm>
            <a:off x="2214350" y="5086884"/>
            <a:ext cx="530653" cy="342900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v6</a:t>
            </a:r>
            <a:endParaRPr lang="en-US" dirty="0"/>
          </a:p>
        </p:txBody>
      </p:sp>
      <p:sp>
        <p:nvSpPr>
          <p:cNvPr id="57" name="Text Box 28"/>
          <p:cNvSpPr txBox="1">
            <a:spLocks noChangeArrowheads="1"/>
          </p:cNvSpPr>
          <p:nvPr/>
        </p:nvSpPr>
        <p:spPr bwMode="auto">
          <a:xfrm>
            <a:off x="7261371" y="802335"/>
            <a:ext cx="1476376" cy="41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Intermediate</a:t>
            </a:r>
          </a:p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key-value pairs</a:t>
            </a:r>
          </a:p>
        </p:txBody>
      </p:sp>
      <p:sp>
        <p:nvSpPr>
          <p:cNvPr id="76" name="AutoShape 17"/>
          <p:cNvSpPr>
            <a:spLocks noChangeArrowheads="1"/>
          </p:cNvSpPr>
          <p:nvPr/>
        </p:nvSpPr>
        <p:spPr bwMode="auto">
          <a:xfrm>
            <a:off x="1333500" y="4038600"/>
            <a:ext cx="685800" cy="424543"/>
          </a:xfrm>
          <a:prstGeom prst="diamond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k3</a:t>
            </a:r>
            <a:endParaRPr lang="en-US" dirty="0"/>
          </a:p>
        </p:txBody>
      </p:sp>
      <p:sp>
        <p:nvSpPr>
          <p:cNvPr id="77" name="AutoShape 18"/>
          <p:cNvSpPr>
            <a:spLocks noChangeArrowheads="1"/>
          </p:cNvSpPr>
          <p:nvPr/>
        </p:nvSpPr>
        <p:spPr bwMode="auto">
          <a:xfrm>
            <a:off x="2162177" y="4114800"/>
            <a:ext cx="641350" cy="333569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v4</a:t>
            </a:r>
            <a:endParaRPr lang="en-US" dirty="0"/>
          </a:p>
        </p:txBody>
      </p:sp>
      <p:sp>
        <p:nvSpPr>
          <p:cNvPr id="78" name="Text Box 19"/>
          <p:cNvSpPr txBox="1">
            <a:spLocks noChangeArrowheads="1"/>
          </p:cNvSpPr>
          <p:nvPr/>
        </p:nvSpPr>
        <p:spPr bwMode="auto">
          <a:xfrm>
            <a:off x="1758952" y="3649824"/>
            <a:ext cx="503238" cy="363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…</a:t>
            </a:r>
          </a:p>
        </p:txBody>
      </p:sp>
      <p:sp>
        <p:nvSpPr>
          <p:cNvPr id="79" name="AutoShape 21"/>
          <p:cNvSpPr>
            <a:spLocks noChangeArrowheads="1"/>
          </p:cNvSpPr>
          <p:nvPr/>
        </p:nvSpPr>
        <p:spPr bwMode="auto">
          <a:xfrm>
            <a:off x="1301752" y="2133600"/>
            <a:ext cx="685800" cy="424543"/>
          </a:xfrm>
          <a:prstGeom prst="diamond">
            <a:avLst/>
          </a:prstGeom>
          <a:solidFill>
            <a:srgbClr val="99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k1</a:t>
            </a:r>
            <a:endParaRPr lang="en-US" dirty="0"/>
          </a:p>
        </p:txBody>
      </p:sp>
      <p:sp>
        <p:nvSpPr>
          <p:cNvPr id="80" name="AutoShape 22"/>
          <p:cNvSpPr>
            <a:spLocks noChangeArrowheads="1"/>
          </p:cNvSpPr>
          <p:nvPr/>
        </p:nvSpPr>
        <p:spPr bwMode="auto">
          <a:xfrm>
            <a:off x="2144715" y="2163925"/>
            <a:ext cx="669925" cy="363894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v1</a:t>
            </a:r>
            <a:endParaRPr lang="en-US" dirty="0"/>
          </a:p>
        </p:txBody>
      </p:sp>
      <p:sp>
        <p:nvSpPr>
          <p:cNvPr id="82" name="AutoShape 25"/>
          <p:cNvSpPr>
            <a:spLocks noChangeArrowheads="1"/>
          </p:cNvSpPr>
          <p:nvPr/>
        </p:nvSpPr>
        <p:spPr bwMode="auto">
          <a:xfrm>
            <a:off x="2147890" y="2738826"/>
            <a:ext cx="669925" cy="327252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v2</a:t>
            </a:r>
            <a:endParaRPr lang="en-US" dirty="0"/>
          </a:p>
        </p:txBody>
      </p:sp>
      <p:sp>
        <p:nvSpPr>
          <p:cNvPr id="85" name="AutoShape 10"/>
          <p:cNvSpPr>
            <a:spLocks noChangeArrowheads="1"/>
          </p:cNvSpPr>
          <p:nvPr/>
        </p:nvSpPr>
        <p:spPr bwMode="auto">
          <a:xfrm>
            <a:off x="1362078" y="2670175"/>
            <a:ext cx="565148" cy="455612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k2</a:t>
            </a:r>
            <a:endParaRPr lang="en-US" dirty="0"/>
          </a:p>
        </p:txBody>
      </p:sp>
      <p:sp>
        <p:nvSpPr>
          <p:cNvPr id="86" name="AutoShape 25"/>
          <p:cNvSpPr>
            <a:spLocks noChangeArrowheads="1"/>
          </p:cNvSpPr>
          <p:nvPr/>
        </p:nvSpPr>
        <p:spPr bwMode="auto">
          <a:xfrm>
            <a:off x="2187575" y="4642239"/>
            <a:ext cx="669925" cy="327252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v5</a:t>
            </a:r>
            <a:endParaRPr lang="en-US" dirty="0"/>
          </a:p>
        </p:txBody>
      </p:sp>
      <p:sp>
        <p:nvSpPr>
          <p:cNvPr id="87" name="AutoShape 10"/>
          <p:cNvSpPr>
            <a:spLocks noChangeArrowheads="1"/>
          </p:cNvSpPr>
          <p:nvPr/>
        </p:nvSpPr>
        <p:spPr bwMode="auto">
          <a:xfrm>
            <a:off x="1401763" y="4573588"/>
            <a:ext cx="565148" cy="455612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k2</a:t>
            </a:r>
            <a:endParaRPr lang="en-US" dirty="0"/>
          </a:p>
        </p:txBody>
      </p:sp>
      <p:sp>
        <p:nvSpPr>
          <p:cNvPr id="88" name="AutoShape 21"/>
          <p:cNvSpPr>
            <a:spLocks noChangeArrowheads="1"/>
          </p:cNvSpPr>
          <p:nvPr/>
        </p:nvSpPr>
        <p:spPr bwMode="auto">
          <a:xfrm>
            <a:off x="1333500" y="3352800"/>
            <a:ext cx="685800" cy="381000"/>
          </a:xfrm>
          <a:prstGeom prst="diamond">
            <a:avLst/>
          </a:prstGeom>
          <a:solidFill>
            <a:srgbClr val="99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k1</a:t>
            </a:r>
            <a:endParaRPr lang="en-US" dirty="0"/>
          </a:p>
        </p:txBody>
      </p:sp>
      <p:sp>
        <p:nvSpPr>
          <p:cNvPr id="89" name="AutoShape 22"/>
          <p:cNvSpPr>
            <a:spLocks noChangeArrowheads="1"/>
          </p:cNvSpPr>
          <p:nvPr/>
        </p:nvSpPr>
        <p:spPr bwMode="auto">
          <a:xfrm>
            <a:off x="2169898" y="3371850"/>
            <a:ext cx="530653" cy="342900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v3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61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17" grpId="0"/>
      <p:bldP spid="1096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Map-reduce: Word Count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64850" y="4038600"/>
            <a:ext cx="1600200" cy="1370231"/>
          </a:xfrm>
          <a:prstGeom prst="rect">
            <a:avLst/>
          </a:prstGeom>
          <a:ln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100" dirty="0">
                <a:latin typeface="Arial Narrow" pitchFamily="34" charset="0"/>
                <a:cs typeface="Arial" pitchFamily="34" charset="0"/>
              </a:rPr>
              <a:t>The crew of the space shuttle Endeavor recently returned to Earth as ambassadors, harbingers of a new era of space exploration. </a:t>
            </a:r>
            <a:r>
              <a:rPr lang="en-US" sz="1100" dirty="0" smtClean="0">
                <a:latin typeface="Arial Narrow" pitchFamily="34" charset="0"/>
                <a:cs typeface="Arial" pitchFamily="34" charset="0"/>
              </a:rPr>
              <a:t>Crew members </a:t>
            </a:r>
            <a:r>
              <a:rPr lang="en-US" sz="1100" dirty="0">
                <a:latin typeface="Arial Narrow" pitchFamily="34" charset="0"/>
                <a:cs typeface="Arial" pitchFamily="34" charset="0"/>
              </a:rPr>
              <a:t>at </a:t>
            </a:r>
            <a:r>
              <a:rPr lang="en-US" sz="1100" dirty="0" smtClean="0">
                <a:latin typeface="Arial Narrow" pitchFamily="34" charset="0"/>
                <a:cs typeface="Arial" pitchFamily="34" charset="0"/>
              </a:rPr>
              <a:t>……………………..</a:t>
            </a:r>
            <a:endParaRPr lang="en-US" sz="11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6300" y="610766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Big document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50304" y="3352800"/>
            <a:ext cx="1600200" cy="2819400"/>
          </a:xfrm>
          <a:prstGeom prst="rect">
            <a:avLst/>
          </a:prstGeom>
          <a:ln cmpd="sng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latin typeface="Arial Body"/>
              </a:rPr>
              <a:t>(the</a:t>
            </a:r>
            <a:r>
              <a:rPr lang="en-US" sz="1000" dirty="0">
                <a:latin typeface="Arial Body"/>
              </a:rPr>
              <a:t>, 1)</a:t>
            </a:r>
          </a:p>
          <a:p>
            <a:pPr algn="ctr"/>
            <a:r>
              <a:rPr lang="en-US" sz="1000" dirty="0">
                <a:latin typeface="Arial Body"/>
              </a:rPr>
              <a:t>(crew, 1)</a:t>
            </a:r>
          </a:p>
          <a:p>
            <a:pPr algn="ctr"/>
            <a:r>
              <a:rPr lang="en-US" sz="1000" dirty="0">
                <a:latin typeface="Arial Body"/>
              </a:rPr>
              <a:t>(of, 1)</a:t>
            </a:r>
          </a:p>
          <a:p>
            <a:pPr algn="ctr"/>
            <a:r>
              <a:rPr lang="en-US" sz="1000" dirty="0">
                <a:latin typeface="Arial Body"/>
              </a:rPr>
              <a:t>(the, 1)</a:t>
            </a:r>
          </a:p>
          <a:p>
            <a:pPr algn="ctr"/>
            <a:r>
              <a:rPr lang="en-US" sz="1000" dirty="0">
                <a:latin typeface="Arial Body"/>
              </a:rPr>
              <a:t>(space, 1)</a:t>
            </a:r>
          </a:p>
          <a:p>
            <a:pPr algn="ctr"/>
            <a:r>
              <a:rPr lang="en-US" sz="1000" dirty="0">
                <a:latin typeface="Arial Body"/>
              </a:rPr>
              <a:t>(shuttle, 1)</a:t>
            </a:r>
          </a:p>
          <a:p>
            <a:pPr algn="ctr"/>
            <a:r>
              <a:rPr lang="en-US" sz="1000" dirty="0" smtClean="0">
                <a:latin typeface="Arial Body"/>
              </a:rPr>
              <a:t>(endeavor</a:t>
            </a:r>
            <a:r>
              <a:rPr lang="en-US" sz="1000" dirty="0">
                <a:latin typeface="Arial Body"/>
              </a:rPr>
              <a:t>, 1)</a:t>
            </a:r>
          </a:p>
          <a:p>
            <a:pPr algn="ctr"/>
            <a:r>
              <a:rPr lang="en-US" sz="1000" dirty="0">
                <a:latin typeface="Arial Body"/>
              </a:rPr>
              <a:t>(recently, 1</a:t>
            </a:r>
            <a:r>
              <a:rPr lang="en-US" sz="1000" dirty="0" smtClean="0">
                <a:latin typeface="Arial Body"/>
              </a:rPr>
              <a:t>)</a:t>
            </a:r>
          </a:p>
          <a:p>
            <a:pPr algn="ctr"/>
            <a:r>
              <a:rPr lang="en-US" sz="1000" dirty="0" smtClean="0">
                <a:latin typeface="Arial Body"/>
              </a:rPr>
              <a:t>(returned, 1)</a:t>
            </a:r>
          </a:p>
          <a:p>
            <a:pPr algn="ctr"/>
            <a:endParaRPr lang="en-US" sz="1000" dirty="0" smtClean="0">
              <a:latin typeface="Arial Body"/>
            </a:endParaRPr>
          </a:p>
          <a:p>
            <a:pPr algn="ctr"/>
            <a:r>
              <a:rPr lang="en-US" sz="1000" dirty="0" smtClean="0">
                <a:latin typeface="Arial Body"/>
              </a:rPr>
              <a:t>(to, 1)</a:t>
            </a:r>
          </a:p>
          <a:p>
            <a:pPr algn="ctr"/>
            <a:r>
              <a:rPr lang="en-US" sz="1000" dirty="0" smtClean="0">
                <a:latin typeface="Arial Body"/>
              </a:rPr>
              <a:t>(earth, 1)</a:t>
            </a:r>
          </a:p>
          <a:p>
            <a:pPr algn="ctr"/>
            <a:r>
              <a:rPr lang="en-US" sz="1000" dirty="0" smtClean="0">
                <a:latin typeface="Arial Body"/>
              </a:rPr>
              <a:t>(as, 1)</a:t>
            </a:r>
          </a:p>
          <a:p>
            <a:pPr algn="ctr"/>
            <a:r>
              <a:rPr lang="en-US" sz="1000" dirty="0" smtClean="0">
                <a:latin typeface="Arial Body"/>
              </a:rPr>
              <a:t>(</a:t>
            </a:r>
            <a:r>
              <a:rPr lang="en-US" sz="1000" dirty="0" smtClean="0">
                <a:latin typeface="Arial Body"/>
                <a:cs typeface="Arial" pitchFamily="34" charset="0"/>
              </a:rPr>
              <a:t>ambassadors, 1</a:t>
            </a:r>
            <a:r>
              <a:rPr lang="en-US" sz="1000" dirty="0" smtClean="0">
                <a:latin typeface="Arial Body"/>
              </a:rPr>
              <a:t>)</a:t>
            </a:r>
            <a:endParaRPr lang="en-US" sz="1000" dirty="0">
              <a:latin typeface="Arial Body"/>
            </a:endParaRPr>
          </a:p>
          <a:p>
            <a:pPr algn="ctr"/>
            <a:r>
              <a:rPr lang="en-US" sz="1100" dirty="0" smtClean="0"/>
              <a:t>….</a:t>
            </a:r>
          </a:p>
          <a:p>
            <a:pPr algn="ctr"/>
            <a:endParaRPr lang="en-US" sz="1100" dirty="0" smtClean="0"/>
          </a:p>
          <a:p>
            <a:pPr algn="ctr"/>
            <a:r>
              <a:rPr lang="en-US" sz="1100" dirty="0" smtClean="0"/>
              <a:t>(crew, 1) </a:t>
            </a:r>
          </a:p>
          <a:p>
            <a:pPr algn="ctr"/>
            <a:r>
              <a:rPr lang="en-US" sz="1100" dirty="0" smtClean="0"/>
              <a:t>……..</a:t>
            </a:r>
            <a:endParaRPr lang="en-US" sz="1100" dirty="0"/>
          </a:p>
        </p:txBody>
      </p:sp>
      <p:sp>
        <p:nvSpPr>
          <p:cNvPr id="51" name="Rectangle 50"/>
          <p:cNvSpPr/>
          <p:nvPr/>
        </p:nvSpPr>
        <p:spPr>
          <a:xfrm>
            <a:off x="4731504" y="3468469"/>
            <a:ext cx="1600200" cy="2590800"/>
          </a:xfrm>
          <a:prstGeom prst="rect">
            <a:avLst/>
          </a:prstGeom>
          <a:ln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(crew, 1)</a:t>
            </a:r>
          </a:p>
          <a:p>
            <a:pPr algn="ctr"/>
            <a:r>
              <a:rPr lang="en-US" dirty="0"/>
              <a:t>(crew, 1)</a:t>
            </a:r>
          </a:p>
          <a:p>
            <a:pPr algn="ctr"/>
            <a:r>
              <a:rPr lang="en-US" dirty="0"/>
              <a:t>(space, 1)</a:t>
            </a: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(</a:t>
            </a:r>
            <a:r>
              <a:rPr lang="en-US" dirty="0"/>
              <a:t>the, 1)</a:t>
            </a:r>
          </a:p>
          <a:p>
            <a:pPr algn="ctr"/>
            <a:r>
              <a:rPr lang="en-US" dirty="0"/>
              <a:t>(the, 1)</a:t>
            </a:r>
          </a:p>
          <a:p>
            <a:pPr algn="ctr"/>
            <a:r>
              <a:rPr lang="en-US" dirty="0"/>
              <a:t>(the, 1</a:t>
            </a:r>
            <a:r>
              <a:rPr lang="en-US" dirty="0" smtClean="0"/>
              <a:t>)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(</a:t>
            </a:r>
            <a:r>
              <a:rPr lang="en-US" dirty="0"/>
              <a:t>shuttle, 1)</a:t>
            </a:r>
          </a:p>
          <a:p>
            <a:pPr algn="ctr"/>
            <a:r>
              <a:rPr lang="en-US" dirty="0"/>
              <a:t>(recently, 1)</a:t>
            </a:r>
          </a:p>
          <a:p>
            <a:pPr algn="ctr"/>
            <a:r>
              <a:rPr lang="en-US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12704" y="3468469"/>
            <a:ext cx="1600200" cy="2590800"/>
          </a:xfrm>
          <a:prstGeom prst="rect">
            <a:avLst/>
          </a:prstGeom>
          <a:ln cmpd="sng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(crew, 2)</a:t>
            </a:r>
          </a:p>
          <a:p>
            <a:pPr algn="ctr"/>
            <a:r>
              <a:rPr lang="en-US" dirty="0"/>
              <a:t>(space, 1</a:t>
            </a:r>
            <a:r>
              <a:rPr lang="en-US" dirty="0" smtClean="0"/>
              <a:t>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(the, 3</a:t>
            </a:r>
            <a:r>
              <a:rPr lang="en-US" dirty="0" smtClean="0"/>
              <a:t>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(shuttle, 1)</a:t>
            </a:r>
          </a:p>
          <a:p>
            <a:pPr algn="ctr"/>
            <a:r>
              <a:rPr lang="en-US" dirty="0"/>
              <a:t>(recently, 1)</a:t>
            </a:r>
          </a:p>
          <a:p>
            <a:pPr algn="ctr"/>
            <a:r>
              <a:rPr lang="en-US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50304" y="2057400"/>
            <a:ext cx="1600200" cy="1143000"/>
          </a:xfrm>
          <a:prstGeom prst="rect">
            <a:avLst/>
          </a:prstGeom>
          <a:ln cmpd="sng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MAP:</a:t>
            </a:r>
          </a:p>
          <a:p>
            <a:pPr algn="ctr"/>
            <a:r>
              <a:rPr lang="en-US" dirty="0"/>
              <a:t>Read input and produces a set of key-value pairs</a:t>
            </a:r>
            <a:endParaRPr lang="en-US" b="1" dirty="0"/>
          </a:p>
        </p:txBody>
      </p:sp>
      <p:sp>
        <p:nvSpPr>
          <p:cNvPr id="56" name="Rectangle 55"/>
          <p:cNvSpPr/>
          <p:nvPr/>
        </p:nvSpPr>
        <p:spPr>
          <a:xfrm>
            <a:off x="4731504" y="2057400"/>
            <a:ext cx="1600200" cy="1143000"/>
          </a:xfrm>
          <a:prstGeom prst="rect">
            <a:avLst/>
          </a:prstGeom>
          <a:ln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Group by key:</a:t>
            </a:r>
          </a:p>
          <a:p>
            <a:pPr algn="ctr"/>
            <a:r>
              <a:rPr lang="en-US" dirty="0"/>
              <a:t>Collect all pairs with same key</a:t>
            </a:r>
            <a:endParaRPr lang="en-US" b="1" dirty="0"/>
          </a:p>
        </p:txBody>
      </p:sp>
      <p:sp>
        <p:nvSpPr>
          <p:cNvPr id="57" name="Rectangle 56"/>
          <p:cNvSpPr/>
          <p:nvPr/>
        </p:nvSpPr>
        <p:spPr>
          <a:xfrm>
            <a:off x="6712704" y="2057400"/>
            <a:ext cx="1600200" cy="1143000"/>
          </a:xfrm>
          <a:prstGeom prst="rect">
            <a:avLst/>
          </a:prstGeom>
          <a:ln cmpd="sng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Reduce:</a:t>
            </a:r>
          </a:p>
          <a:p>
            <a:pPr algn="ctr"/>
            <a:r>
              <a:rPr lang="en-US" dirty="0"/>
              <a:t>Collect all values belonging to the key and output</a:t>
            </a:r>
            <a:endParaRPr lang="en-US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2933700" y="6107669"/>
            <a:ext cx="11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(key, value)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83696" y="1411069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Provided by the programmer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91300" y="1411069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Provided by the programmer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24407" y="6107669"/>
            <a:ext cx="11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(key, value)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14900" y="6107669"/>
            <a:ext cx="11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(key, value)</a:t>
            </a:r>
          </a:p>
        </p:txBody>
      </p:sp>
      <p:grpSp>
        <p:nvGrpSpPr>
          <p:cNvPr id="8" name="Group 97"/>
          <p:cNvGrpSpPr/>
          <p:nvPr/>
        </p:nvGrpSpPr>
        <p:grpSpPr>
          <a:xfrm>
            <a:off x="4381500" y="3886200"/>
            <a:ext cx="228600" cy="1600200"/>
            <a:chOff x="3810000" y="4114800"/>
            <a:chExt cx="228600" cy="1600200"/>
          </a:xfrm>
        </p:grpSpPr>
        <p:cxnSp>
          <p:nvCxnSpPr>
            <p:cNvPr id="90" name="Straight Connector 89"/>
            <p:cNvCxnSpPr/>
            <p:nvPr/>
          </p:nvCxnSpPr>
          <p:spPr>
            <a:xfrm rot="16200000" flipH="1">
              <a:off x="3619500" y="4381500"/>
              <a:ext cx="685800" cy="152400"/>
            </a:xfrm>
            <a:prstGeom prst="line">
              <a:avLst/>
            </a:prstGeom>
            <a:ln cmpd="sng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5400000" flipH="1" flipV="1">
              <a:off x="3505200" y="5181600"/>
              <a:ext cx="914400" cy="152400"/>
            </a:xfrm>
            <a:prstGeom prst="line">
              <a:avLst/>
            </a:prstGeom>
            <a:ln cmpd="sng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 rot="5400000" flipH="1" flipV="1">
              <a:off x="3657600" y="4953000"/>
              <a:ext cx="533400" cy="228600"/>
            </a:xfrm>
            <a:prstGeom prst="line">
              <a:avLst/>
            </a:prstGeom>
            <a:ln cmpd="sng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6200000" flipH="1">
              <a:off x="3733800" y="4495800"/>
              <a:ext cx="381000" cy="228600"/>
            </a:xfrm>
            <a:prstGeom prst="line">
              <a:avLst/>
            </a:prstGeom>
            <a:ln cmpd="sng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/>
          <p:cNvCxnSpPr/>
          <p:nvPr/>
        </p:nvCxnSpPr>
        <p:spPr>
          <a:xfrm>
            <a:off x="800100" y="4800600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00100" y="4495800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750304" y="4876800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750304" y="5715000"/>
            <a:ext cx="16311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2365050" y="4038600"/>
            <a:ext cx="385254" cy="1904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343346" y="4610100"/>
            <a:ext cx="385254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2365050" y="5143500"/>
            <a:ext cx="363550" cy="800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731504" y="4381499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4731504" y="5143500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712704" y="4381499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6712704" y="4889974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331704" y="39624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6286500" y="46482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286500" y="55626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06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8" grpId="0"/>
      <p:bldP spid="47" grpId="0" animBg="1"/>
      <p:bldP spid="51" grpId="0" animBg="1"/>
      <p:bldP spid="54" grpId="0" animBg="1"/>
      <p:bldP spid="55" grpId="0" animBg="1"/>
      <p:bldP spid="56" grpId="0" animBg="1"/>
      <p:bldP spid="57" grpId="0" animBg="1"/>
      <p:bldP spid="58" grpId="0"/>
      <p:bldP spid="59" grpId="0"/>
      <p:bldP spid="60" grpId="0"/>
      <p:bldP spid="65" grpId="0"/>
      <p:bldP spid="6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Word Count </a:t>
            </a:r>
            <a:r>
              <a:rPr lang="en-US" sz="2400" dirty="0" smtClean="0"/>
              <a:t>Using </a:t>
            </a:r>
            <a:r>
              <a:rPr lang="en-US" sz="2400" dirty="0" err="1" smtClean="0"/>
              <a:t>MapReduce</a:t>
            </a:r>
            <a:r>
              <a:rPr lang="en-US" sz="2400" dirty="0" smtClean="0"/>
              <a:t>: </a:t>
            </a:r>
            <a:r>
              <a:rPr lang="en-US" sz="2400" dirty="0" err="1" smtClean="0"/>
              <a:t>Pseudocode</a:t>
            </a:r>
            <a:endParaRPr lang="en-US" sz="2400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92" y="1295400"/>
            <a:ext cx="8001000" cy="144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map(key, value):</a:t>
            </a:r>
          </a:p>
          <a:p>
            <a:pPr>
              <a:buFont typeface="Wingdings" pitchFamily="2" charset="2"/>
              <a:buNone/>
            </a:pPr>
            <a:r>
              <a:rPr lang="en-US" sz="1800" b="0" dirty="0">
                <a:latin typeface="Courier New" pitchFamily="49" charset="0"/>
                <a:cs typeface="Courier New" pitchFamily="49" charset="0"/>
              </a:rPr>
              <a:t>// key: document name; </a:t>
            </a:r>
            <a:r>
              <a:rPr lang="en-US" sz="1800" b="0" dirty="0" smtClean="0">
                <a:latin typeface="Courier New" pitchFamily="49" charset="0"/>
                <a:cs typeface="Courier New" pitchFamily="49" charset="0"/>
              </a:rPr>
              <a:t> value</a:t>
            </a:r>
            <a:r>
              <a:rPr lang="en-US" sz="1800" b="0" dirty="0">
                <a:latin typeface="Courier New" pitchFamily="49" charset="0"/>
                <a:cs typeface="Courier New" pitchFamily="49" charset="0"/>
              </a:rPr>
              <a:t>: text of the document</a:t>
            </a:r>
          </a:p>
          <a:p>
            <a:pPr>
              <a:buFont typeface="Wingdings" pitchFamily="2" charset="2"/>
              <a:buNone/>
            </a:pPr>
            <a:r>
              <a:rPr lang="en-US" sz="2000" b="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0" dirty="0">
                <a:latin typeface="Courier New" pitchFamily="49" charset="0"/>
                <a:cs typeface="Courier New" pitchFamily="49" charset="0"/>
              </a:rPr>
              <a:t>for each word w in </a:t>
            </a:r>
            <a:r>
              <a:rPr lang="en-US" sz="1400" b="0" dirty="0" smtClean="0">
                <a:latin typeface="Courier New" pitchFamily="49" charset="0"/>
                <a:cs typeface="Courier New" pitchFamily="49" charset="0"/>
              </a:rPr>
              <a:t>value</a:t>
            </a:r>
            <a:endParaRPr lang="en-US" sz="1400" b="0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1400" b="0" dirty="0">
                <a:latin typeface="Courier New" pitchFamily="49" charset="0"/>
                <a:cs typeface="Courier New" pitchFamily="49" charset="0"/>
              </a:rPr>
              <a:t>		emit(w, 1</a:t>
            </a:r>
            <a:r>
              <a:rPr lang="en-US" sz="1400" b="0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en-US" sz="1400" b="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1028700" y="3657600"/>
            <a:ext cx="7772400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reduce(key, values):</a:t>
            </a:r>
          </a:p>
          <a:p>
            <a:r>
              <a:rPr lang="en-US" sz="16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// key: a word; </a:t>
            </a:r>
            <a:r>
              <a:rPr lang="en-US" sz="16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value</a:t>
            </a:r>
            <a:r>
              <a:rPr lang="en-US" sz="16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16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set of counts values for the word</a:t>
            </a:r>
            <a:endParaRPr lang="en-US" sz="16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result = 0</a:t>
            </a:r>
          </a:p>
          <a:p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for each count v in values:</a:t>
            </a:r>
          </a:p>
          <a:p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	result += v</a:t>
            </a:r>
          </a:p>
          <a:p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emit(key, result)</a:t>
            </a:r>
          </a:p>
        </p:txBody>
      </p:sp>
    </p:spTree>
    <p:extLst>
      <p:ext uri="{BB962C8B-B14F-4D97-AF65-F5344CB8AC3E}">
        <p14:creationId xmlns:p14="http://schemas.microsoft.com/office/powerpoint/2010/main" val="4211765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/>
      <p:bldP spid="8909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381001"/>
            <a:ext cx="9258300" cy="381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Map-reduce System: </a:t>
            </a:r>
            <a:r>
              <a:rPr lang="en-US" dirty="0"/>
              <a:t>Under the Hood</a:t>
            </a:r>
          </a:p>
        </p:txBody>
      </p:sp>
      <p:pic>
        <p:nvPicPr>
          <p:cNvPr id="2050" name="Picture 2" descr="http://labs.google.com/papers/mapreduce-osdi04-slides/index-auto-0008-00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411" y="1066800"/>
            <a:ext cx="6800850" cy="4476751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723900" y="6172200"/>
            <a:ext cx="7010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1600" b="1" dirty="0">
                <a:solidFill>
                  <a:srgbClr val="C00000"/>
                </a:solidFill>
              </a:rPr>
              <a:t>All phases are distributed with many tasks doing the </a:t>
            </a:r>
            <a:r>
              <a:rPr lang="en-GB" sz="1600" b="1" dirty="0" smtClean="0">
                <a:solidFill>
                  <a:srgbClr val="C00000"/>
                </a:solidFill>
              </a:rPr>
              <a:t>work in parallel</a:t>
            </a:r>
            <a:endParaRPr lang="en-GB" sz="1600" b="1" dirty="0">
              <a:solidFill>
                <a:srgbClr val="C0000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438900" y="3287371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58100" y="3148871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Moving data across machines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7056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Map-Reduce Algorithm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Lao UI" pitchFamily="34" charset="0"/>
                <a:cs typeface="Lao UI" pitchFamily="34" charset="0"/>
              </a:rPr>
              <a:t>Programmer’s responsibility is to design two functions:</a:t>
            </a:r>
          </a:p>
          <a:p>
            <a:pPr marL="562551" lvl="1" indent="-342900">
              <a:buFont typeface="+mj-lt"/>
              <a:buAutoNum type="arabicPeriod"/>
            </a:pPr>
            <a:r>
              <a:rPr lang="en-US" dirty="0" smtClean="0">
                <a:latin typeface="Lao UI" pitchFamily="34" charset="0"/>
                <a:cs typeface="Lao UI" pitchFamily="34" charset="0"/>
              </a:rPr>
              <a:t>Map</a:t>
            </a:r>
          </a:p>
          <a:p>
            <a:pPr marL="562551" lvl="1" indent="-342900">
              <a:buFont typeface="+mj-lt"/>
              <a:buAutoNum type="arabicPeriod"/>
            </a:pPr>
            <a:r>
              <a:rPr lang="en-US" dirty="0" smtClean="0">
                <a:latin typeface="Lao UI" pitchFamily="34" charset="0"/>
                <a:cs typeface="Lao UI" pitchFamily="34" charset="0"/>
              </a:rPr>
              <a:t>Reduce</a:t>
            </a:r>
          </a:p>
          <a:p>
            <a:pPr marL="562551" lvl="1" indent="-342900">
              <a:buFont typeface="+mj-lt"/>
              <a:buAutoNum type="arabicPeriod"/>
            </a:pPr>
            <a:endParaRPr lang="en-US" dirty="0">
              <a:latin typeface="Lao UI" pitchFamily="34" charset="0"/>
              <a:cs typeface="Lao UI" pitchFamily="34" charset="0"/>
            </a:endParaRPr>
          </a:p>
          <a:p>
            <a:pPr marL="562551" lvl="1" indent="-342900">
              <a:buFont typeface="+mj-lt"/>
              <a:buAutoNum type="arabicPeriod"/>
            </a:pPr>
            <a:endParaRPr lang="en-US" dirty="0" smtClean="0">
              <a:latin typeface="Lao UI" pitchFamily="34" charset="0"/>
              <a:cs typeface="Lao UI" pitchFamily="34" charset="0"/>
            </a:endParaRPr>
          </a:p>
          <a:p>
            <a:pPr marL="562551" lvl="1" indent="-342900">
              <a:buFont typeface="+mj-lt"/>
              <a:buAutoNum type="arabicPeriod"/>
            </a:pPr>
            <a:endParaRPr lang="en-US" dirty="0">
              <a:latin typeface="Lao UI" pitchFamily="34" charset="0"/>
              <a:cs typeface="Lao UI" pitchFamily="34" charset="0"/>
            </a:endParaRPr>
          </a:p>
          <a:p>
            <a:r>
              <a:rPr lang="en-US" dirty="0" smtClean="0">
                <a:latin typeface="Lao UI" pitchFamily="34" charset="0"/>
                <a:cs typeface="Lao UI" pitchFamily="34" charset="0"/>
              </a:rPr>
              <a:t>A very important issue</a:t>
            </a:r>
          </a:p>
          <a:p>
            <a:pPr lvl="1"/>
            <a:r>
              <a:rPr lang="en-US" dirty="0" smtClean="0">
                <a:latin typeface="Lao UI" pitchFamily="34" charset="0"/>
                <a:cs typeface="Lao UI" pitchFamily="34" charset="0"/>
              </a:rPr>
              <a:t>Often network is the bottleneck</a:t>
            </a:r>
          </a:p>
          <a:p>
            <a:pPr lvl="1"/>
            <a:r>
              <a:rPr lang="en-US" dirty="0" smtClean="0">
                <a:latin typeface="Lao UI" pitchFamily="34" charset="0"/>
                <a:cs typeface="Lao UI" pitchFamily="34" charset="0"/>
              </a:rPr>
              <a:t>Your design should minimize data communications across machines</a:t>
            </a:r>
          </a:p>
          <a:p>
            <a:pPr lvl="1"/>
            <a:endParaRPr lang="en-US" dirty="0" smtClean="0">
              <a:latin typeface="Lao UI" pitchFamily="34" charset="0"/>
              <a:cs typeface="Lao UI" pitchFamily="34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67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Problems Suitable for Map-reduce</a:t>
            </a:r>
            <a:br>
              <a:rPr lang="en-US" dirty="0"/>
            </a:b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Map-reduce </a:t>
            </a:r>
            <a:r>
              <a:rPr lang="en-US" dirty="0"/>
              <a:t>is suitable for batch </a:t>
            </a:r>
            <a:r>
              <a:rPr lang="en-US" dirty="0" smtClean="0"/>
              <a:t>processing</a:t>
            </a:r>
          </a:p>
          <a:p>
            <a:pPr lvl="1"/>
            <a:r>
              <a:rPr lang="en-US" dirty="0" smtClean="0"/>
              <a:t>Updates are made after whole batch of data is processed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mappers do not need data from one another while they are running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</a:t>
            </a:r>
          </a:p>
          <a:p>
            <a:pPr marL="782203" lvl="2" indent="-342900">
              <a:buFont typeface="+mj-lt"/>
              <a:buAutoNum type="arabicPeriod"/>
            </a:pPr>
            <a:r>
              <a:rPr lang="en-US" sz="1600" dirty="0" smtClean="0"/>
              <a:t>Word count</a:t>
            </a:r>
          </a:p>
          <a:p>
            <a:pPr marL="782203" lvl="2" indent="-342900">
              <a:buFont typeface="+mj-lt"/>
              <a:buAutoNum type="arabicPeriod"/>
            </a:pPr>
            <a:endParaRPr lang="en-US" sz="1600" dirty="0"/>
          </a:p>
          <a:p>
            <a:pPr marL="782203" lvl="2" indent="-342900">
              <a:buFont typeface="+mj-lt"/>
              <a:buAutoNum type="arabicPeriod"/>
            </a:pPr>
            <a:endParaRPr lang="en-US" sz="1600" dirty="0" smtClean="0"/>
          </a:p>
          <a:p>
            <a:pPr marL="782203" lvl="2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2200" dirty="0" smtClean="0"/>
              <a:t>In general, map-reduce is suitable:</a:t>
            </a:r>
          </a:p>
          <a:p>
            <a:pPr marL="0" indent="0">
              <a:buNone/>
            </a:pPr>
            <a:r>
              <a:rPr lang="en-US" sz="2200" dirty="0"/>
              <a:t> </a:t>
            </a:r>
            <a:r>
              <a:rPr lang="en-US" sz="2200" dirty="0" smtClean="0"/>
              <a:t>  </a:t>
            </a:r>
            <a:r>
              <a:rPr lang="en-US" sz="2200" dirty="0" smtClean="0">
                <a:solidFill>
                  <a:srgbClr val="C00000"/>
                </a:solidFill>
              </a:rPr>
              <a:t>if the problem can be broken into independent sub-problems</a:t>
            </a:r>
          </a:p>
        </p:txBody>
      </p:sp>
    </p:spTree>
    <p:extLst>
      <p:ext uri="{BB962C8B-B14F-4D97-AF65-F5344CB8AC3E}">
        <p14:creationId xmlns:p14="http://schemas.microsoft.com/office/powerpoint/2010/main" val="387850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381000"/>
            <a:ext cx="9258300" cy="381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Problems </a:t>
            </a:r>
            <a:r>
              <a:rPr lang="en-US" dirty="0" smtClean="0">
                <a:solidFill>
                  <a:srgbClr val="FF0000"/>
                </a:solidFill>
              </a:rPr>
              <a:t>NOT</a:t>
            </a:r>
            <a:r>
              <a:rPr lang="en-US" dirty="0" smtClean="0"/>
              <a:t> Suitable </a:t>
            </a:r>
            <a:r>
              <a:rPr lang="en-US" dirty="0"/>
              <a:t>for Map-reduce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066800"/>
            <a:ext cx="9258300" cy="5410200"/>
          </a:xfrm>
        </p:spPr>
        <p:txBody>
          <a:bodyPr/>
          <a:lstStyle/>
          <a:p>
            <a:r>
              <a:rPr lang="en-US" dirty="0" smtClean="0"/>
              <a:t>In general, when the machines need to exchange data too often during computation</a:t>
            </a:r>
          </a:p>
          <a:p>
            <a:endParaRPr lang="en-US" dirty="0"/>
          </a:p>
          <a:p>
            <a:r>
              <a:rPr lang="en-US" dirty="0" smtClean="0"/>
              <a:t>Examples</a:t>
            </a:r>
          </a:p>
          <a:p>
            <a:pPr marL="562551" lvl="1" indent="-342900">
              <a:buFont typeface="+mj-lt"/>
              <a:buAutoNum type="arabicPeriod"/>
            </a:pPr>
            <a:r>
              <a:rPr lang="en-US" dirty="0" smtClean="0"/>
              <a:t>Applications that require very quick response time</a:t>
            </a:r>
          </a:p>
          <a:p>
            <a:pPr lvl="2"/>
            <a:r>
              <a:rPr lang="en-US" dirty="0" smtClean="0"/>
              <a:t>   </a:t>
            </a:r>
            <a:r>
              <a:rPr lang="en-US" sz="1600" dirty="0" smtClean="0"/>
              <a:t>In IR, indexing is okay, but query processing is not suitable for map-reduce</a:t>
            </a:r>
          </a:p>
          <a:p>
            <a:pPr lvl="2"/>
            <a:endParaRPr lang="en-US" sz="1600" dirty="0" smtClean="0"/>
          </a:p>
          <a:p>
            <a:pPr marL="562551" lvl="1" indent="-342900">
              <a:buFont typeface="+mj-lt"/>
              <a:buAutoNum type="arabicPeriod"/>
            </a:pPr>
            <a:r>
              <a:rPr lang="en-US" dirty="0" smtClean="0"/>
              <a:t>Machine learning algorithms that require frequent parameter update</a:t>
            </a:r>
          </a:p>
          <a:p>
            <a:pPr lvl="2"/>
            <a:r>
              <a:rPr lang="en-US" dirty="0" smtClean="0"/>
              <a:t>Stochastic gradient descent</a:t>
            </a:r>
          </a:p>
          <a:p>
            <a:pPr marL="562551" lvl="1" indent="-342900">
              <a:buFont typeface="+mj-lt"/>
              <a:buAutoNum type="arabicPeriod"/>
            </a:pPr>
            <a:endParaRPr lang="en-US" dirty="0" smtClean="0"/>
          </a:p>
          <a:p>
            <a:pPr marL="562551" lvl="1" indent="-342900">
              <a:buFont typeface="+mj-lt"/>
              <a:buAutoNum type="arabicPeriod"/>
            </a:pPr>
            <a:endParaRPr lang="en-US" dirty="0" smtClean="0"/>
          </a:p>
          <a:p>
            <a:pPr marL="562551" lvl="1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93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1900" y="2971800"/>
            <a:ext cx="2266950" cy="541214"/>
          </a:xfrm>
        </p:spPr>
        <p:txBody>
          <a:bodyPr/>
          <a:lstStyle/>
          <a:p>
            <a:r>
              <a:rPr lang="en-US" dirty="0" smtClean="0"/>
              <a:t>Exercises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665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381000"/>
            <a:ext cx="9258300" cy="38881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Warm-up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14400"/>
            <a:ext cx="9258300" cy="556260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Matrix Addition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Can it be done in map-reduce?</a:t>
            </a:r>
          </a:p>
          <a:p>
            <a:pPr lvl="1"/>
            <a:r>
              <a:rPr lang="en-US" sz="1400" dirty="0" smtClean="0"/>
              <a:t>YES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smtClean="0"/>
              <a:t>What is the map </a:t>
            </a:r>
            <a:r>
              <a:rPr lang="en-US" sz="2000" dirty="0"/>
              <a:t>function </a:t>
            </a:r>
            <a:r>
              <a:rPr lang="en-US" sz="2000" dirty="0" smtClean="0"/>
              <a:t>(</a:t>
            </a:r>
            <a:r>
              <a:rPr lang="en-US" sz="1600" dirty="0" smtClean="0"/>
              <a:t>key </a:t>
            </a:r>
            <a:r>
              <a:rPr lang="en-US" sz="1600" dirty="0"/>
              <a:t>and value</a:t>
            </a:r>
            <a:r>
              <a:rPr lang="en-US" sz="2000" dirty="0"/>
              <a:t>)?</a:t>
            </a:r>
            <a:endParaRPr lang="en-US" sz="2000" dirty="0" smtClean="0"/>
          </a:p>
          <a:p>
            <a:pPr lvl="1"/>
            <a:r>
              <a:rPr lang="en-US" sz="1600" dirty="0" smtClean="0"/>
              <a:t> Key = row number;  value = elements of row (as an array)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smtClean="0"/>
              <a:t>What is the reduce function?</a:t>
            </a:r>
          </a:p>
          <a:p>
            <a:pPr lvl="1"/>
            <a:r>
              <a:rPr lang="en-US" sz="1600" dirty="0" smtClean="0"/>
              <a:t>For each key, reducer will have two arrays</a:t>
            </a:r>
          </a:p>
          <a:p>
            <a:pPr lvl="1"/>
            <a:r>
              <a:rPr lang="en-US" sz="1600" dirty="0" smtClean="0"/>
              <a:t>Reduce function simply adds numbers, </a:t>
            </a:r>
            <a:r>
              <a:rPr lang="en-US" sz="1600" dirty="0"/>
              <a:t>position-wise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371600"/>
            <a:ext cx="5036820" cy="1120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824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" y="381000"/>
            <a:ext cx="9258300" cy="54121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Advanced Exercise: Join By Map-Reduce</a:t>
            </a:r>
            <a:endParaRPr lang="en-US" sz="28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066800"/>
            <a:ext cx="8229600" cy="1143000"/>
          </a:xfrm>
        </p:spPr>
        <p:txBody>
          <a:bodyPr/>
          <a:lstStyle/>
          <a:p>
            <a:r>
              <a:rPr lang="en-US" b="1" dirty="0" smtClean="0"/>
              <a:t>Compute the natural join </a:t>
            </a:r>
            <a:r>
              <a:rPr lang="en-US" dirty="0" smtClean="0">
                <a:solidFill>
                  <a:srgbClr val="C00000"/>
                </a:solidFill>
              </a:rPr>
              <a:t>T1(A,B) ⋈ T2(B,C)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  </a:t>
            </a:r>
            <a:r>
              <a:rPr lang="en-US" sz="1400" dirty="0" smtClean="0"/>
              <a:t>(combine rows from T1 and T2 such that rows have common value in column B)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210293"/>
              </p:ext>
            </p:extLst>
          </p:nvPr>
        </p:nvGraphicFramePr>
        <p:xfrm>
          <a:off x="647700" y="3581400"/>
          <a:ext cx="2209800" cy="18542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104900"/>
                <a:gridCol w="11049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endParaRPr lang="en-US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n-US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711712"/>
              </p:ext>
            </p:extLst>
          </p:nvPr>
        </p:nvGraphicFramePr>
        <p:xfrm>
          <a:off x="3549080" y="3919264"/>
          <a:ext cx="2209800" cy="14833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104900"/>
                <a:gridCol w="11049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n-US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endParaRPr lang="en-US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992096" y="4495800"/>
            <a:ext cx="439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⋈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103842"/>
              </p:ext>
            </p:extLst>
          </p:nvPr>
        </p:nvGraphicFramePr>
        <p:xfrm>
          <a:off x="6743700" y="3851187"/>
          <a:ext cx="2209800" cy="14833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736600"/>
                <a:gridCol w="736600"/>
                <a:gridCol w="736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endParaRPr lang="en-US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lang="en-US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endParaRPr lang="en-US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732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732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n-US" baseline="-25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732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076473" y="4495799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=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07920" y="312420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latin typeface="Arial" pitchFamily="34" charset="0"/>
                <a:cs typeface="Arial" pitchFamily="34" charset="0"/>
              </a:rPr>
              <a:t>T1</a:t>
            </a:r>
            <a:endParaRPr 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11766" y="34935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latin typeface="Arial" pitchFamily="34" charset="0"/>
                <a:cs typeface="Arial" pitchFamily="34" charset="0"/>
              </a:rPr>
              <a:t>T2</a:t>
            </a:r>
            <a:endParaRPr lang="en-US" sz="18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49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Map-Reduce Join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450" y="1295400"/>
            <a:ext cx="8610600" cy="5257801"/>
          </a:xfrm>
        </p:spPr>
        <p:txBody>
          <a:bodyPr/>
          <a:lstStyle/>
          <a:p>
            <a:r>
              <a:rPr lang="en-US" b="1" dirty="0" smtClean="0"/>
              <a:t>Map process</a:t>
            </a:r>
          </a:p>
          <a:p>
            <a:pPr lvl="1"/>
            <a:r>
              <a:rPr lang="en-US" dirty="0" smtClean="0"/>
              <a:t>Each row (</a:t>
            </a:r>
            <a:r>
              <a:rPr lang="en-US" dirty="0" err="1" smtClean="0"/>
              <a:t>a,b</a:t>
            </a:r>
            <a:r>
              <a:rPr lang="en-US" dirty="0" smtClean="0"/>
              <a:t>) from T1 into </a:t>
            </a:r>
            <a:r>
              <a:rPr lang="en-US" dirty="0"/>
              <a:t>key-value pair </a:t>
            </a:r>
            <a:r>
              <a:rPr lang="en-US" dirty="0">
                <a:solidFill>
                  <a:srgbClr val="C00000"/>
                </a:solidFill>
              </a:rPr>
              <a:t>(b,(</a:t>
            </a:r>
            <a:r>
              <a:rPr lang="en-US" dirty="0" smtClean="0">
                <a:solidFill>
                  <a:srgbClr val="C00000"/>
                </a:solidFill>
              </a:rPr>
              <a:t>a,T1))</a:t>
            </a:r>
          </a:p>
          <a:p>
            <a:pPr lvl="1"/>
            <a:r>
              <a:rPr lang="en-US" dirty="0" smtClean="0"/>
              <a:t>Each row (</a:t>
            </a:r>
            <a:r>
              <a:rPr lang="en-US" dirty="0" err="1" smtClean="0"/>
              <a:t>b,c</a:t>
            </a:r>
            <a:r>
              <a:rPr lang="en-US" dirty="0" smtClean="0"/>
              <a:t>) from T2 </a:t>
            </a:r>
            <a:r>
              <a:rPr lang="en-US" dirty="0"/>
              <a:t>into </a:t>
            </a:r>
            <a:r>
              <a:rPr lang="en-US" dirty="0">
                <a:solidFill>
                  <a:srgbClr val="C00000"/>
                </a:solidFill>
              </a:rPr>
              <a:t>(b,(</a:t>
            </a:r>
            <a:r>
              <a:rPr lang="en-US" dirty="0" smtClean="0">
                <a:solidFill>
                  <a:srgbClr val="C00000"/>
                </a:solidFill>
              </a:rPr>
              <a:t>c,T2))</a:t>
            </a:r>
          </a:p>
          <a:p>
            <a:pPr marL="1391129" lvl="8" indent="0">
              <a:buNone/>
            </a:pPr>
            <a:endParaRPr lang="en-US" i="1" dirty="0"/>
          </a:p>
          <a:p>
            <a:pPr marL="1391129" lvl="8" indent="0">
              <a:buNone/>
            </a:pPr>
            <a:endParaRPr lang="en-US" i="1" dirty="0"/>
          </a:p>
          <a:p>
            <a:pPr marL="1391129" lvl="8" indent="0">
              <a:buNone/>
            </a:pPr>
            <a:endParaRPr lang="en-US" i="1" dirty="0"/>
          </a:p>
          <a:p>
            <a:pPr marL="1391129" lvl="8" indent="0">
              <a:buNone/>
            </a:pPr>
            <a:endParaRPr lang="en-US" i="1" dirty="0"/>
          </a:p>
          <a:p>
            <a:pPr marL="1391129" lvl="8" indent="0">
              <a:buNone/>
            </a:pPr>
            <a:endParaRPr lang="en-US" i="1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Reduce process</a:t>
            </a:r>
            <a:endParaRPr lang="en-US" dirty="0" smtClean="0"/>
          </a:p>
          <a:p>
            <a:pPr lvl="1"/>
            <a:r>
              <a:rPr lang="en-US" dirty="0" smtClean="0"/>
              <a:t>Each reduce process matches all the pairs </a:t>
            </a:r>
            <a:r>
              <a:rPr lang="en-US" dirty="0" smtClean="0">
                <a:solidFill>
                  <a:srgbClr val="C00000"/>
                </a:solidFill>
              </a:rPr>
              <a:t>(b,(a,T1)) </a:t>
            </a:r>
            <a:r>
              <a:rPr lang="en-US" dirty="0" smtClean="0"/>
              <a:t>with all </a:t>
            </a:r>
            <a:r>
              <a:rPr lang="en-US" dirty="0" smtClean="0">
                <a:solidFill>
                  <a:srgbClr val="C00000"/>
                </a:solidFill>
              </a:rPr>
              <a:t>(b,(c,T2)) </a:t>
            </a:r>
            <a:r>
              <a:rPr lang="en-US" dirty="0" smtClean="0"/>
              <a:t>and outputs 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a,b,c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21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49387"/>
            <a:ext cx="9258300" cy="46501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Advanced </a:t>
            </a:r>
            <a:r>
              <a:rPr lang="en-US" sz="3200" dirty="0" smtClean="0"/>
              <a:t>Exercise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90600"/>
            <a:ext cx="9258300" cy="54864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You have a dataset with thousands of features. Find the most co-related features in that data. </a:t>
            </a:r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510" y="1905000"/>
            <a:ext cx="69342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28900" y="5486400"/>
            <a:ext cx="5265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3314700" y="1752600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314700" y="1752600"/>
            <a:ext cx="533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648700" y="1752600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66361" y="1444823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features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160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381000"/>
            <a:ext cx="9258300" cy="541214"/>
          </a:xfrm>
        </p:spPr>
        <p:txBody>
          <a:bodyPr/>
          <a:lstStyle/>
          <a:p>
            <a:r>
              <a:rPr lang="en-US" dirty="0" smtClean="0"/>
              <a:t>Take Home Exercises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</a:t>
            </a:r>
            <a:r>
              <a:rPr lang="en-US" dirty="0" smtClean="0">
                <a:solidFill>
                  <a:srgbClr val="C00000"/>
                </a:solidFill>
              </a:rPr>
              <a:t>Map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Reduce</a:t>
            </a:r>
            <a:r>
              <a:rPr lang="en-US" dirty="0" smtClean="0"/>
              <a:t> functions for the following</a:t>
            </a:r>
          </a:p>
          <a:p>
            <a:endParaRPr lang="en-US" dirty="0"/>
          </a:p>
          <a:p>
            <a:pPr marL="562551" lvl="1" indent="-342900">
              <a:buFont typeface="+mj-lt"/>
              <a:buAutoNum type="arabicPeriod"/>
            </a:pPr>
            <a:r>
              <a:rPr lang="en-US" dirty="0" err="1" smtClean="0"/>
              <a:t>Pagerank</a:t>
            </a:r>
            <a:endParaRPr lang="en-US" dirty="0" smtClean="0"/>
          </a:p>
          <a:p>
            <a:pPr marL="562551" lvl="1" indent="-342900">
              <a:buFont typeface="+mj-lt"/>
              <a:buAutoNum type="arabicPeriod"/>
            </a:pPr>
            <a:endParaRPr lang="en-US" dirty="0" smtClean="0"/>
          </a:p>
          <a:p>
            <a:pPr marL="562551" lvl="1" indent="-342900">
              <a:buFont typeface="+mj-lt"/>
              <a:buAutoNum type="arabicPeriod"/>
            </a:pPr>
            <a:endParaRPr lang="en-US" dirty="0"/>
          </a:p>
          <a:p>
            <a:pPr marL="562551" lvl="1" indent="-342900">
              <a:buFont typeface="+mj-lt"/>
              <a:buAutoNum type="arabicPeriod"/>
            </a:pPr>
            <a:endParaRPr lang="en-US" dirty="0"/>
          </a:p>
          <a:p>
            <a:pPr marL="562551" lvl="1" indent="-342900">
              <a:buFont typeface="+mj-lt"/>
              <a:buAutoNum type="arabicPeriod"/>
            </a:pPr>
            <a:r>
              <a:rPr lang="en-US" dirty="0" smtClean="0"/>
              <a:t>HITS</a:t>
            </a:r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2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9375</TotalTime>
  <Words>1559</Words>
  <Application>Microsoft Office PowerPoint</Application>
  <PresentationFormat>35mm Slides</PresentationFormat>
  <Paragraphs>456</Paragraphs>
  <Slides>34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Clarity</vt:lpstr>
      <vt:lpstr>Custom Design</vt:lpstr>
      <vt:lpstr>  Introduction to map-reduce</vt:lpstr>
      <vt:lpstr>Classical Data Processing</vt:lpstr>
      <vt:lpstr>Motivation: Simple Example</vt:lpstr>
      <vt:lpstr>What is the Solution?</vt:lpstr>
      <vt:lpstr>How to Organize Cluster of Computers?</vt:lpstr>
      <vt:lpstr>Cluster Architecture: Rack Servers</vt:lpstr>
      <vt:lpstr>Google Data Centre</vt:lpstr>
      <vt:lpstr>Challenges in Cluster Computing</vt:lpstr>
      <vt:lpstr>Challenge # 1</vt:lpstr>
      <vt:lpstr>Challenge # 2</vt:lpstr>
      <vt:lpstr>Challenge # 3</vt:lpstr>
      <vt:lpstr>What is the Solution?</vt:lpstr>
      <vt:lpstr>How Map-Reduce addresses the challenges?</vt:lpstr>
      <vt:lpstr>Redundant Storage Infrastructure</vt:lpstr>
      <vt:lpstr>Distributed File System: Inside Look</vt:lpstr>
      <vt:lpstr>Distributes File System: Summary</vt:lpstr>
      <vt:lpstr>Map-Reduce Programming Model</vt:lpstr>
      <vt:lpstr> Example Problem: Counting Words</vt:lpstr>
      <vt:lpstr> Word Count</vt:lpstr>
      <vt:lpstr>Map-Reduce: In a Nutshell</vt:lpstr>
      <vt:lpstr>MapReduce: The Map Step</vt:lpstr>
      <vt:lpstr>MapReduce: The Reduce Step</vt:lpstr>
      <vt:lpstr>Map-reduce: Word Count</vt:lpstr>
      <vt:lpstr>Word Count Using MapReduce: Pseudocode</vt:lpstr>
      <vt:lpstr>Map-reduce System: Under the Hood</vt:lpstr>
      <vt:lpstr>Map-Reduce Algorithm Design</vt:lpstr>
      <vt:lpstr> Problems Suitable for Map-reduce  </vt:lpstr>
      <vt:lpstr> Problems NOT Suitable for Map-reduce </vt:lpstr>
      <vt:lpstr>Exercises</vt:lpstr>
      <vt:lpstr>Warm-up Exercise</vt:lpstr>
      <vt:lpstr>Advanced Exercise: Join By Map-Reduce</vt:lpstr>
      <vt:lpstr>Map-Reduce Join</vt:lpstr>
      <vt:lpstr>Advanced Exercise </vt:lpstr>
      <vt:lpstr>Take Home Exercises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1390</cp:revision>
  <dcterms:created xsi:type="dcterms:W3CDTF">2006-08-16T00:00:00Z</dcterms:created>
  <dcterms:modified xsi:type="dcterms:W3CDTF">2017-03-18T12:00:12Z</dcterms:modified>
</cp:coreProperties>
</file>