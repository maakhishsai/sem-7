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3936" r:id="rId2"/>
  </p:sldMasterIdLst>
  <p:notesMasterIdLst>
    <p:notesMasterId r:id="rId39"/>
  </p:notesMasterIdLst>
  <p:sldIdLst>
    <p:sldId id="256" r:id="rId3"/>
    <p:sldId id="361" r:id="rId4"/>
    <p:sldId id="360" r:id="rId5"/>
    <p:sldId id="348" r:id="rId6"/>
    <p:sldId id="349" r:id="rId7"/>
    <p:sldId id="350" r:id="rId8"/>
    <p:sldId id="351" r:id="rId9"/>
    <p:sldId id="352" r:id="rId10"/>
    <p:sldId id="362" r:id="rId11"/>
    <p:sldId id="363" r:id="rId12"/>
    <p:sldId id="364" r:id="rId13"/>
    <p:sldId id="365" r:id="rId14"/>
    <p:sldId id="366" r:id="rId15"/>
    <p:sldId id="367" r:id="rId16"/>
    <p:sldId id="389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</p:sldIdLst>
  <p:sldSz cx="10287000" cy="6858000" type="35mm"/>
  <p:notesSz cx="6858000" cy="9144000"/>
  <p:defaultTextStyle>
    <a:defPPr>
      <a:defRPr lang="en-US"/>
    </a:defPPr>
    <a:lvl1pPr marL="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35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71001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06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41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6774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12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48498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683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9" autoAdjust="0"/>
  </p:normalViewPr>
  <p:slideViewPr>
    <p:cSldViewPr>
      <p:cViewPr varScale="1">
        <p:scale>
          <a:sx n="111" d="100"/>
          <a:sy n="111" d="100"/>
        </p:scale>
        <p:origin x="-1176" y="-78"/>
      </p:cViewPr>
      <p:guideLst>
        <p:guide orient="horz" pos="2161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290D9-3010-4711-9A79-536C2FEFF62D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B81D1-87DC-4B64-9889-01AFB32511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3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F8CDA7-E52B-494C-B389-F38CB4400DB8}" type="slidenum">
              <a:rPr lang="en-GB"/>
              <a:pPr/>
              <a:t>4</a:t>
            </a:fld>
            <a:endParaRPr lang="en-GB"/>
          </a:p>
        </p:txBody>
      </p:sp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1232731" y="719887"/>
            <a:ext cx="4851394" cy="360106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855" tIns="47428" rIns="94855" bIns="47428" anchor="ctr"/>
          <a:lstStyle/>
          <a:p>
            <a:endParaRPr lang="en-US"/>
          </a:p>
        </p:txBody>
      </p:sp>
      <p:sp>
        <p:nvSpPr>
          <p:cNvPr id="399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732348" y="4562007"/>
            <a:ext cx="5852160" cy="4320951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8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8" y="1371606"/>
            <a:ext cx="8829674" cy="1927225"/>
          </a:xfrm>
        </p:spPr>
        <p:txBody>
          <a:bodyPr anchor="b">
            <a:noAutofit/>
          </a:bodyPr>
          <a:lstStyle>
            <a:lvl1pPr>
              <a:defRPr sz="4400" cap="all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66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32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98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6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30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96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62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28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771528" y="3398521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5412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181600"/>
          </a:xfrm>
        </p:spPr>
        <p:txBody>
          <a:bodyPr/>
          <a:lstStyle>
            <a:lvl2pPr>
              <a:defRPr b="1"/>
            </a:lvl2pPr>
            <a:lvl4pPr>
              <a:defRPr b="1"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01" y="2362203"/>
            <a:ext cx="8743951" cy="2200275"/>
          </a:xfrm>
        </p:spPr>
        <p:txBody>
          <a:bodyPr anchor="b">
            <a:normAutofit/>
          </a:bodyPr>
          <a:lstStyle>
            <a:lvl1pPr algn="l">
              <a:defRPr sz="3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601" y="4626870"/>
            <a:ext cx="8743951" cy="1500187"/>
          </a:xfrm>
        </p:spPr>
        <p:txBody>
          <a:bodyPr anchor="t">
            <a:normAutofit/>
          </a:bodyPr>
          <a:lstStyle>
            <a:lvl1pPr marL="0" indent="0">
              <a:buNone/>
              <a:defRPr sz="1900">
                <a:solidFill>
                  <a:schemeClr val="tx2"/>
                </a:solidFill>
              </a:defRPr>
            </a:lvl1pPr>
            <a:lvl2pPr marL="3660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321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9826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64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3043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965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6260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286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22962" y="4599434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9227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1500" b="0">
                <a:solidFill>
                  <a:schemeClr val="tx2"/>
                </a:solidFill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9241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9241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789366" y="4045774"/>
            <a:ext cx="4709161" cy="8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081"/>
            <a:ext cx="2407158" cy="1261872"/>
          </a:xfrm>
        </p:spPr>
        <p:txBody>
          <a:bodyPr anchor="b">
            <a:noAutofit/>
          </a:bodyPr>
          <a:lstStyle>
            <a:lvl1pPr algn="l">
              <a:defRPr sz="19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3278" y="792080"/>
            <a:ext cx="6429375" cy="557784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3" y="2130558"/>
            <a:ext cx="2407158" cy="4243615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33860" y="3580111"/>
            <a:ext cx="5577840" cy="178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480"/>
            <a:ext cx="2410516" cy="1264921"/>
          </a:xfrm>
        </p:spPr>
        <p:txBody>
          <a:bodyPr anchor="b">
            <a:normAutofit/>
          </a:bodyPr>
          <a:lstStyle>
            <a:lvl1pPr algn="l">
              <a:defRPr sz="19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5938" y="838203"/>
            <a:ext cx="6642439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2600"/>
            </a:lvl1pPr>
            <a:lvl2pPr marL="366087" indent="0">
              <a:buNone/>
              <a:defRPr sz="2200"/>
            </a:lvl2pPr>
            <a:lvl3pPr marL="732173" indent="0">
              <a:buNone/>
              <a:defRPr sz="1900"/>
            </a:lvl3pPr>
            <a:lvl4pPr marL="1098262" indent="0">
              <a:buNone/>
              <a:defRPr sz="1500"/>
            </a:lvl4pPr>
            <a:lvl5pPr marL="1464348" indent="0">
              <a:buNone/>
              <a:defRPr sz="1500"/>
            </a:lvl5pPr>
            <a:lvl6pPr marL="1830434" indent="0">
              <a:buNone/>
              <a:defRPr sz="1500"/>
            </a:lvl6pPr>
            <a:lvl7pPr marL="2196520" indent="0">
              <a:buNone/>
              <a:defRPr sz="1500"/>
            </a:lvl7pPr>
            <a:lvl8pPr marL="2562608" indent="0">
              <a:buNone/>
              <a:defRPr sz="1500"/>
            </a:lvl8pPr>
            <a:lvl9pPr marL="2928695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133600"/>
            <a:ext cx="2407158" cy="4242816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8" y="609600"/>
            <a:ext cx="2314575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2" y="609600"/>
            <a:ext cx="6772274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130425"/>
            <a:ext cx="874395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3050" y="3886200"/>
            <a:ext cx="72009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20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49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406900"/>
            <a:ext cx="87439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906713"/>
            <a:ext cx="87439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970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3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535113"/>
            <a:ext cx="454501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174875"/>
            <a:ext cx="45450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6050" y="1535113"/>
            <a:ext cx="454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6050" y="2174875"/>
            <a:ext cx="4546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55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00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0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73050"/>
            <a:ext cx="33845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725" y="273050"/>
            <a:ext cx="574992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1435100"/>
            <a:ext cx="3384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6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25" y="4800600"/>
            <a:ext cx="6172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6125" y="612775"/>
            <a:ext cx="6172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125" y="5367338"/>
            <a:ext cx="6172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22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3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5" y="274638"/>
            <a:ext cx="231457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74638"/>
            <a:ext cx="679132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9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0287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449386"/>
            <a:ext cx="9258300" cy="685801"/>
          </a:xfrm>
          <a:prstGeom prst="rect">
            <a:avLst/>
          </a:prstGeom>
        </p:spPr>
        <p:txBody>
          <a:bodyPr vert="horz" lIns="73218" tIns="36609" rIns="73218" bIns="3660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0200"/>
            <a:ext cx="9258300" cy="4876800"/>
          </a:xfrm>
          <a:prstGeom prst="rect">
            <a:avLst/>
          </a:prstGeom>
        </p:spPr>
        <p:txBody>
          <a:bodyPr vert="horz" lIns="73218" tIns="36609" rIns="73218" bIns="3660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 Third level</a:t>
            </a:r>
          </a:p>
          <a:p>
            <a:pPr lvl="6"/>
            <a:r>
              <a:rPr lang="en-US" dirty="0" smtClean="0"/>
              <a:t>Fourth level</a:t>
            </a:r>
          </a:p>
          <a:p>
            <a:pPr lvl="8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287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18290"/>
            <a:ext cx="32575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7625" y="18290"/>
            <a:ext cx="4629151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72501" y="18290"/>
            <a:ext cx="12001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1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732173" rtl="0" eaLnBrk="1" latinLnBrk="0" hangingPunct="1">
        <a:spcBef>
          <a:spcPct val="0"/>
        </a:spcBef>
        <a:buNone/>
        <a:defRPr sz="3000" b="1" kern="1200" spc="-81" baseline="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46436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1pPr>
      <a:lvl2pPr marL="366087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2pPr>
      <a:lvl3pPr marL="585739" indent="-146436" algn="l" defTabSz="732173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3pPr>
      <a:lvl4pPr marL="80539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4pPr>
      <a:lvl5pPr marL="951826" indent="-109826" algn="l" defTabSz="732173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600" b="1" kern="1200" baseline="0">
          <a:solidFill>
            <a:srgbClr val="002060"/>
          </a:solidFill>
          <a:latin typeface="Microsoft JhengHei" pitchFamily="34" charset="-120"/>
          <a:ea typeface="+mn-ea"/>
          <a:cs typeface="+mn-cs"/>
        </a:defRPr>
      </a:lvl5pPr>
      <a:lvl6pPr marL="1098262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96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7pPr>
      <a:lvl8pPr marL="139113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537565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b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6087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2173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98262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6434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30434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9652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260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28695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00200"/>
            <a:ext cx="92583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64F2-A34D-4C6A-B49A-705D20FD2AC9}" type="datetimeFigureOut">
              <a:rPr lang="en-US" smtClean="0"/>
              <a:pPr/>
              <a:t>18-Mar-17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4725" y="6356350"/>
            <a:ext cx="3257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5785" y="1371606"/>
            <a:ext cx="9065418" cy="1371599"/>
          </a:xfrm>
        </p:spPr>
        <p:txBody>
          <a:bodyPr/>
          <a:lstStyle/>
          <a:p>
            <a:r>
              <a:rPr lang="en-US" sz="2900" dirty="0"/>
              <a:t>  </a:t>
            </a:r>
            <a:r>
              <a:rPr lang="en-US" sz="2900" dirty="0" smtClean="0"/>
              <a:t>Introduction to map-reduce</a:t>
            </a:r>
            <a:endParaRPr lang="en-US" sz="29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447799"/>
          </a:xfrm>
        </p:spPr>
        <p:txBody>
          <a:bodyPr/>
          <a:lstStyle/>
          <a:p>
            <a:r>
              <a:rPr lang="en-US" dirty="0" err="1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Jiaul</a:t>
            </a:r>
            <a:r>
              <a:rPr lang="en-US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 Paik</a:t>
            </a:r>
          </a:p>
          <a:p>
            <a:endParaRPr lang="en-US" dirty="0" smtClean="0">
              <a:solidFill>
                <a:srgbClr val="002060"/>
              </a:solidFill>
              <a:latin typeface="+mj-lt"/>
              <a:ea typeface="Adobe Gothic Std B" pitchFamily="34" charset="-128"/>
            </a:endParaRPr>
          </a:p>
          <a:p>
            <a:r>
              <a:rPr lang="en-US" sz="1400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Email:</a:t>
            </a:r>
            <a:r>
              <a:rPr lang="en-US" sz="1600" dirty="0" smtClean="0">
                <a:solidFill>
                  <a:srgbClr val="002060"/>
                </a:solidFill>
                <a:latin typeface="+mj-lt"/>
                <a:ea typeface="Adobe Gothic Std B" pitchFamily="34" charset="-128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Aparajita" pitchFamily="34" charset="0"/>
                <a:ea typeface="Adobe Gothic Std B" pitchFamily="34" charset="-128"/>
                <a:cs typeface="Aparajita" pitchFamily="34" charset="0"/>
              </a:rPr>
              <a:t>jia.paik@gmail.com</a:t>
            </a:r>
            <a:endParaRPr lang="en-US" sz="1600" dirty="0">
              <a:solidFill>
                <a:srgbClr val="002060"/>
              </a:solidFill>
              <a:latin typeface="Aparajita" pitchFamily="34" charset="0"/>
              <a:ea typeface="Adobe Gothic Std B" pitchFamily="34" charset="-128"/>
              <a:cs typeface="Aparajita" pitchFamily="34" charset="0"/>
            </a:endParaRPr>
          </a:p>
          <a:p>
            <a:endParaRPr lang="en-US" dirty="0" smtClean="0">
              <a:solidFill>
                <a:srgbClr val="002060"/>
              </a:solidFill>
              <a:latin typeface="+mj-lt"/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91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Map-reduce: Additional Details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Inverted Index using Map-reduce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Introduction to Spark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Spark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971800"/>
            <a:ext cx="7219950" cy="541214"/>
          </a:xfrm>
        </p:spPr>
        <p:txBody>
          <a:bodyPr/>
          <a:lstStyle/>
          <a:p>
            <a:r>
              <a:rPr lang="en-US" dirty="0" smtClean="0"/>
              <a:t>Map-reduce Internals: Additional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3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419100" y="381000"/>
            <a:ext cx="9258300" cy="541214"/>
          </a:xfrm>
        </p:spPr>
        <p:txBody>
          <a:bodyPr>
            <a:normAutofit/>
          </a:bodyPr>
          <a:lstStyle/>
          <a:p>
            <a:r>
              <a:rPr lang="en-GB" sz="2800" dirty="0" smtClean="0"/>
              <a:t>What Map-Reduce Framework Does for You?</a:t>
            </a:r>
            <a:endParaRPr lang="en-GB" sz="2800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1" y="1295400"/>
            <a:ext cx="9258300" cy="4724400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GB" sz="2200" b="1" dirty="0" smtClean="0"/>
              <a:t>Map-Reduce environment handles the following things</a:t>
            </a:r>
          </a:p>
          <a:p>
            <a:pPr marL="118872" indent="0">
              <a:buNone/>
            </a:pPr>
            <a:endParaRPr lang="en-GB" b="1" dirty="0" smtClean="0">
              <a:solidFill>
                <a:srgbClr val="0000FF"/>
              </a:solidFill>
            </a:endParaRPr>
          </a:p>
          <a:p>
            <a:pPr marL="562551" lvl="1" indent="-342900">
              <a:buFont typeface="+mj-lt"/>
              <a:buAutoNum type="arabicPeriod"/>
            </a:pPr>
            <a:r>
              <a:rPr lang="en-GB" dirty="0" smtClean="0"/>
              <a:t>Partitioning the input data</a:t>
            </a:r>
          </a:p>
          <a:p>
            <a:pPr marL="562551" lvl="1" indent="-342900">
              <a:buFont typeface="+mj-lt"/>
              <a:buAutoNum type="arabicPeriod"/>
            </a:pPr>
            <a:endParaRPr lang="en-GB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GB" dirty="0" smtClean="0"/>
              <a:t>Scheduling the program`s execution across a set of machines</a:t>
            </a:r>
          </a:p>
          <a:p>
            <a:pPr marL="562551" lvl="1" indent="-342900">
              <a:buFont typeface="+mj-lt"/>
              <a:buAutoNum type="arabicPeriod"/>
            </a:pPr>
            <a:endParaRPr lang="en-GB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GB" dirty="0" smtClean="0"/>
              <a:t>Performing the </a:t>
            </a:r>
            <a:r>
              <a:rPr lang="en-GB" b="1" dirty="0" smtClean="0"/>
              <a:t>group by key</a:t>
            </a:r>
            <a:r>
              <a:rPr lang="en-GB" dirty="0" smtClean="0"/>
              <a:t> step</a:t>
            </a:r>
          </a:p>
          <a:p>
            <a:pPr marL="562551" lvl="1" indent="-342900">
              <a:buFont typeface="+mj-lt"/>
              <a:buAutoNum type="arabicPeriod"/>
            </a:pPr>
            <a:endParaRPr lang="en-GB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GB" dirty="0" smtClean="0"/>
              <a:t>Handling machine failures</a:t>
            </a:r>
          </a:p>
          <a:p>
            <a:pPr marL="562551" lvl="1" indent="-342900">
              <a:buFont typeface="+mj-lt"/>
              <a:buAutoNum type="arabicPeriod"/>
            </a:pPr>
            <a:endParaRPr lang="en-GB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GB" dirty="0" smtClean="0"/>
              <a:t>Inter-machine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40989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449387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</a:t>
            </a:r>
            <a:r>
              <a:rPr lang="en-US" dirty="0" smtClean="0"/>
              <a:t>Flow</a:t>
            </a:r>
            <a:endParaRPr lang="en-US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1066800"/>
            <a:ext cx="9582149" cy="5410200"/>
          </a:xfrm>
        </p:spPr>
        <p:txBody>
          <a:bodyPr/>
          <a:lstStyle/>
          <a:p>
            <a:r>
              <a:rPr lang="en-US" sz="2000" b="1" dirty="0" smtClean="0"/>
              <a:t>Input and final </a:t>
            </a:r>
            <a:r>
              <a:rPr lang="en-US" sz="2000" b="1" dirty="0"/>
              <a:t>output are stored on a distributed file </a:t>
            </a:r>
            <a:r>
              <a:rPr lang="en-US" sz="2000" b="1" dirty="0" smtClean="0"/>
              <a:t>system</a:t>
            </a:r>
          </a:p>
          <a:p>
            <a:pPr lvl="1"/>
            <a:r>
              <a:rPr lang="en-US" sz="1400" dirty="0" smtClean="0"/>
              <a:t>Scheduler tries to schedule map tasks “close” to physical storage location of input data</a:t>
            </a:r>
          </a:p>
          <a:p>
            <a:pPr lvl="2"/>
            <a:r>
              <a:rPr lang="en-US" sz="1400" dirty="0" smtClean="0"/>
              <a:t>This minimizes data movement through the network</a:t>
            </a: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C00000"/>
                </a:solidFill>
              </a:rPr>
              <a:t>Intermediate </a:t>
            </a:r>
            <a:r>
              <a:rPr lang="en-US" sz="2000" dirty="0">
                <a:solidFill>
                  <a:srgbClr val="C00000"/>
                </a:solidFill>
              </a:rPr>
              <a:t>results </a:t>
            </a:r>
            <a:r>
              <a:rPr lang="en-US" sz="2000" dirty="0"/>
              <a:t>are stored on </a:t>
            </a:r>
            <a:r>
              <a:rPr lang="en-US" sz="2000" dirty="0">
                <a:solidFill>
                  <a:srgbClr val="C00000"/>
                </a:solidFill>
              </a:rPr>
              <a:t>local FS </a:t>
            </a:r>
            <a:r>
              <a:rPr lang="en-US" sz="2000" dirty="0" smtClean="0"/>
              <a:t>of Map </a:t>
            </a:r>
            <a:r>
              <a:rPr lang="en-US" sz="2000" dirty="0"/>
              <a:t>and </a:t>
            </a:r>
            <a:r>
              <a:rPr lang="en-US" sz="2000" dirty="0" smtClean="0"/>
              <a:t>Reduce </a:t>
            </a:r>
            <a:r>
              <a:rPr lang="en-US" sz="2000" dirty="0"/>
              <a:t>workers</a:t>
            </a: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pPr lvl="8"/>
            <a:endParaRPr lang="en-US" dirty="0" smtClean="0">
              <a:solidFill>
                <a:srgbClr val="002060"/>
              </a:solidFill>
            </a:endParaRPr>
          </a:p>
          <a:p>
            <a:r>
              <a:rPr lang="en-US" sz="2000" b="1" dirty="0" smtClean="0"/>
              <a:t>Output </a:t>
            </a:r>
            <a:r>
              <a:rPr lang="en-US" sz="2000" b="1" dirty="0"/>
              <a:t>is often input to another </a:t>
            </a:r>
            <a:r>
              <a:rPr lang="en-US" sz="2000" b="1" dirty="0" smtClean="0"/>
              <a:t> Map-reduce </a:t>
            </a:r>
            <a:r>
              <a:rPr lang="en-US" sz="2000" b="1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9745972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449387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Coordination by Master</a:t>
            </a:r>
            <a:endParaRPr lang="en-US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514351" y="1143000"/>
            <a:ext cx="9258300" cy="5334000"/>
          </a:xfrm>
        </p:spPr>
        <p:txBody>
          <a:bodyPr>
            <a:normAutofit/>
          </a:bodyPr>
          <a:lstStyle/>
          <a:p>
            <a:r>
              <a:rPr lang="en-US" b="1" dirty="0"/>
              <a:t>Master </a:t>
            </a:r>
            <a:r>
              <a:rPr lang="en-US" b="1" dirty="0" smtClean="0"/>
              <a:t>node takes care of coordination:</a:t>
            </a:r>
            <a:endParaRPr lang="en-US" b="1" dirty="0"/>
          </a:p>
          <a:p>
            <a:pPr lvl="1"/>
            <a:r>
              <a:rPr lang="en-US" b="1" dirty="0"/>
              <a:t>Task status:</a:t>
            </a:r>
            <a:r>
              <a:rPr lang="en-US" dirty="0"/>
              <a:t> (idle, in-progress, completed)</a:t>
            </a:r>
          </a:p>
          <a:p>
            <a:pPr lvl="1"/>
            <a:r>
              <a:rPr lang="en-US" b="1" dirty="0"/>
              <a:t>Idle tasks</a:t>
            </a:r>
            <a:r>
              <a:rPr lang="en-US" dirty="0"/>
              <a:t> get scheduled as workers become available</a:t>
            </a:r>
          </a:p>
          <a:p>
            <a:pPr lvl="1"/>
            <a:r>
              <a:rPr lang="en-US" dirty="0"/>
              <a:t>When a map task completes, it sends the master the location and sizes of its </a:t>
            </a:r>
            <a:r>
              <a:rPr lang="en-US" i="1" dirty="0"/>
              <a:t>R</a:t>
            </a:r>
            <a:r>
              <a:rPr lang="en-US" dirty="0"/>
              <a:t> intermediate </a:t>
            </a:r>
            <a:r>
              <a:rPr lang="en-US" dirty="0" smtClean="0"/>
              <a:t>files</a:t>
            </a:r>
            <a:endParaRPr lang="en-US" dirty="0"/>
          </a:p>
          <a:p>
            <a:pPr lvl="1"/>
            <a:r>
              <a:rPr lang="en-US" dirty="0"/>
              <a:t>Master pushes this info to </a:t>
            </a:r>
            <a:r>
              <a:rPr lang="en-US" dirty="0" smtClean="0"/>
              <a:t>reducers</a:t>
            </a:r>
          </a:p>
          <a:p>
            <a:pPr lvl="1"/>
            <a:endParaRPr lang="en-US" dirty="0" smtClean="0"/>
          </a:p>
          <a:p>
            <a:pPr lvl="7"/>
            <a:endParaRPr lang="en-US" dirty="0" smtClean="0"/>
          </a:p>
          <a:p>
            <a:pPr lvl="7"/>
            <a:endParaRPr lang="en-US" dirty="0"/>
          </a:p>
          <a:p>
            <a:pPr lvl="7"/>
            <a:endParaRPr lang="en-US" dirty="0"/>
          </a:p>
          <a:p>
            <a:r>
              <a:rPr lang="en-US" dirty="0"/>
              <a:t>Master pings workers periodically </a:t>
            </a:r>
            <a:r>
              <a:rPr lang="en-US" dirty="0" smtClean="0"/>
              <a:t>to </a:t>
            </a:r>
            <a:r>
              <a:rPr lang="en-US" dirty="0"/>
              <a:t>detect failures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355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Failures</a:t>
            </a:r>
            <a:endParaRPr lang="en-US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Map worker failure</a:t>
            </a:r>
          </a:p>
          <a:p>
            <a:pPr lvl="1"/>
            <a:r>
              <a:rPr lang="en-US" dirty="0"/>
              <a:t>Map tasks completed or in-progress at </a:t>
            </a:r>
            <a:r>
              <a:rPr lang="en-US" dirty="0" smtClean="0"/>
              <a:t>worker </a:t>
            </a:r>
            <a:r>
              <a:rPr lang="en-US" dirty="0"/>
              <a:t>are reset to idle</a:t>
            </a:r>
          </a:p>
          <a:p>
            <a:pPr lvl="1"/>
            <a:r>
              <a:rPr lang="en-US" dirty="0"/>
              <a:t>Reduce workers are notified when task is rescheduled on another </a:t>
            </a:r>
            <a:r>
              <a:rPr lang="en-US" dirty="0" smtClean="0"/>
              <a:t>worker</a:t>
            </a:r>
          </a:p>
          <a:p>
            <a:pPr lvl="1"/>
            <a:endParaRPr lang="en-US" dirty="0"/>
          </a:p>
          <a:p>
            <a:r>
              <a:rPr lang="en-US" b="1" dirty="0"/>
              <a:t>Reduce worker failure</a:t>
            </a:r>
          </a:p>
          <a:p>
            <a:pPr lvl="1"/>
            <a:r>
              <a:rPr lang="en-US" dirty="0"/>
              <a:t>Only in-progress tasks are reset to </a:t>
            </a:r>
            <a:r>
              <a:rPr lang="en-US" dirty="0" smtClean="0"/>
              <a:t>idle </a:t>
            </a:r>
          </a:p>
          <a:p>
            <a:pPr lvl="1"/>
            <a:r>
              <a:rPr lang="en-US" dirty="0" smtClean="0"/>
              <a:t>Reduce task is restarted</a:t>
            </a:r>
          </a:p>
          <a:p>
            <a:pPr lvl="1"/>
            <a:endParaRPr lang="en-US" dirty="0"/>
          </a:p>
          <a:p>
            <a:r>
              <a:rPr lang="en-US" b="1" dirty="0"/>
              <a:t>Master failure</a:t>
            </a:r>
          </a:p>
          <a:p>
            <a:pPr lvl="1"/>
            <a:r>
              <a:rPr lang="en-US" dirty="0" smtClean="0"/>
              <a:t>Map-reduce </a:t>
            </a:r>
            <a:r>
              <a:rPr lang="en-US" dirty="0"/>
              <a:t>task is aborted and client is notified</a:t>
            </a:r>
          </a:p>
        </p:txBody>
      </p:sp>
    </p:spTree>
    <p:extLst>
      <p:ext uri="{BB962C8B-B14F-4D97-AF65-F5344CB8AC3E}">
        <p14:creationId xmlns:p14="http://schemas.microsoft.com/office/powerpoint/2010/main" val="2421101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81000"/>
            <a:ext cx="9258300" cy="541214"/>
          </a:xfrm>
        </p:spPr>
        <p:txBody>
          <a:bodyPr>
            <a:normAutofit/>
          </a:bodyPr>
          <a:lstStyle/>
          <a:p>
            <a:r>
              <a:rPr lang="en-US" sz="2800" dirty="0"/>
              <a:t>How many Map and Reduce jobs?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4351" y="1219200"/>
                <a:ext cx="9258300" cy="5257800"/>
              </a:xfrm>
            </p:spPr>
            <p:txBody>
              <a:bodyPr/>
              <a:lstStyle/>
              <a:p>
                <a:r>
                  <a:rPr lang="en-US" i="1" dirty="0" smtClean="0"/>
                  <a:t> </a:t>
                </a:r>
                <a:r>
                  <a:rPr lang="en-US" dirty="0" smtClean="0"/>
                  <a:t>Say we have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𝑴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map </a:t>
                </a:r>
                <a:r>
                  <a:rPr lang="en-US" dirty="0"/>
                  <a:t>tasks,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𝑹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reduce </a:t>
                </a:r>
                <a:r>
                  <a:rPr lang="en-US" dirty="0"/>
                  <a:t>tasks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General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Rule: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/>
                  <a:t>Make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</a:rPr>
                      <m:t>𝑴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much larger than the number of nodes in the cluster</a:t>
                </a:r>
              </a:p>
              <a:p>
                <a:pPr lvl="1"/>
                <a:r>
                  <a:rPr lang="en-US" dirty="0"/>
                  <a:t>One DFS chunk per map is common</a:t>
                </a:r>
              </a:p>
              <a:p>
                <a:pPr lvl="1"/>
                <a:r>
                  <a:rPr lang="en-US" dirty="0"/>
                  <a:t>Improves dynamic load balancing and speeds up recovery from worker failures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/>
                  <a:t>Usually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smaller than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</a:rPr>
                      <m:t>𝑴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351" y="1219200"/>
                <a:ext cx="9258300" cy="5257800"/>
              </a:xfrm>
              <a:blipFill rotWithShape="1">
                <a:blip r:embed="rId2"/>
                <a:stretch>
                  <a:fillRect l="-724"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90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0" y="3048000"/>
            <a:ext cx="3181350" cy="541214"/>
          </a:xfrm>
        </p:spPr>
        <p:txBody>
          <a:bodyPr/>
          <a:lstStyle/>
          <a:p>
            <a:pPr algn="ctr"/>
            <a:r>
              <a:rPr lang="en-US" dirty="0" smtClean="0"/>
              <a:t>Inverted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81001"/>
            <a:ext cx="9258300" cy="381000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</a:t>
            </a:r>
            <a:r>
              <a:rPr lang="en-US" dirty="0" smtClean="0"/>
              <a:t>Index: 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ea typeface="ＭＳ Ｐゴシック" pitchFamily="34" charset="-128"/>
              </a:rPr>
              <a:t>Input</a:t>
            </a:r>
            <a:r>
              <a:rPr lang="en-US" sz="1800" dirty="0" smtClean="0">
                <a:ea typeface="ＭＳ Ｐゴシック" pitchFamily="34" charset="-128"/>
              </a:rPr>
              <a:t>:   A set of documents</a:t>
            </a:r>
          </a:p>
          <a:p>
            <a:r>
              <a:rPr lang="en-US" sz="2000" dirty="0" smtClean="0">
                <a:ea typeface="ＭＳ Ｐゴシック" pitchFamily="34" charset="-128"/>
              </a:rPr>
              <a:t>Output</a:t>
            </a:r>
            <a:r>
              <a:rPr lang="en-US" sz="1800" dirty="0" smtClean="0">
                <a:ea typeface="ＭＳ Ｐゴシック" pitchFamily="34" charset="-128"/>
              </a:rPr>
              <a:t>:  For </a:t>
            </a:r>
            <a:r>
              <a:rPr lang="en-US" sz="1800" dirty="0">
                <a:ea typeface="ＭＳ Ｐゴシック" pitchFamily="34" charset="-128"/>
              </a:rPr>
              <a:t>each term </a:t>
            </a:r>
            <a:r>
              <a:rPr lang="en-US" sz="1800" dirty="0" smtClean="0">
                <a:solidFill>
                  <a:srgbClr val="C00000"/>
                </a:solidFill>
                <a:ea typeface="ＭＳ Ｐゴシック" pitchFamily="34" charset="-128"/>
              </a:rPr>
              <a:t>t</a:t>
            </a:r>
            <a:r>
              <a:rPr lang="en-US" sz="1800" dirty="0" smtClean="0">
                <a:ea typeface="ＭＳ Ｐゴシック" pitchFamily="34" charset="-128"/>
              </a:rPr>
              <a:t>,  store </a:t>
            </a:r>
            <a:r>
              <a:rPr lang="en-US" sz="1800" dirty="0">
                <a:ea typeface="ＭＳ Ｐゴシック" pitchFamily="34" charset="-128"/>
              </a:rPr>
              <a:t>a list of all documents that contain </a:t>
            </a:r>
            <a:r>
              <a:rPr lang="en-US" sz="1800" dirty="0" smtClean="0">
                <a:solidFill>
                  <a:srgbClr val="C00000"/>
                </a:solidFill>
                <a:ea typeface="ＭＳ Ｐゴシック" pitchFamily="34" charset="-128"/>
              </a:rPr>
              <a:t>t</a:t>
            </a:r>
            <a:r>
              <a:rPr lang="en-US" sz="1800" dirty="0" smtClean="0">
                <a:ea typeface="ＭＳ Ｐゴシック" pitchFamily="34" charset="-128"/>
              </a:rPr>
              <a:t> along with its frequency</a:t>
            </a:r>
          </a:p>
          <a:p>
            <a:pPr marL="0" indent="0">
              <a:buNone/>
            </a:pPr>
            <a:r>
              <a:rPr lang="en-US" sz="1800" dirty="0">
                <a:ea typeface="ＭＳ Ｐゴシック" pitchFamily="34" charset="-128"/>
              </a:rPr>
              <a:t> </a:t>
            </a:r>
            <a:r>
              <a:rPr lang="en-US" sz="1800" dirty="0" smtClean="0">
                <a:ea typeface="ＭＳ Ｐゴシック" pitchFamily="34" charset="-128"/>
              </a:rPr>
              <a:t>  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028700" y="2743200"/>
            <a:ext cx="6858000" cy="2362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086100" y="2743200"/>
            <a:ext cx="0" cy="2362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28700" y="3200400"/>
            <a:ext cx="685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85900" y="2823819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vocabulary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6541" y="2823819"/>
            <a:ext cx="3201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</a:t>
            </a:r>
            <a:r>
              <a:rPr lang="en-US" b="1" dirty="0" smtClean="0">
                <a:solidFill>
                  <a:srgbClr val="002060"/>
                </a:solidFill>
              </a:rPr>
              <a:t>osting lists (doc id and frequency)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6971" y="35052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countrymen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562100" y="4114800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french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576754" y="471998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roman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3238500" y="3505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1           2</a:t>
            </a:r>
            <a:endParaRPr lang="en-US" dirty="0"/>
          </a:p>
        </p:txBody>
      </p:sp>
      <p:cxnSp>
        <p:nvCxnSpPr>
          <p:cNvPr id="20" name="Straight Connector 19"/>
          <p:cNvCxnSpPr>
            <a:stCxn id="18" idx="0"/>
            <a:endCxn id="18" idx="2"/>
          </p:cNvCxnSpPr>
          <p:nvPr/>
        </p:nvCxnSpPr>
        <p:spPr>
          <a:xfrm>
            <a:off x="3733800" y="3505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05300" y="3505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5          3</a:t>
            </a:r>
            <a:endParaRPr lang="en-US" dirty="0"/>
          </a:p>
        </p:txBody>
      </p:sp>
      <p:cxnSp>
        <p:nvCxnSpPr>
          <p:cNvPr id="25" name="Straight Connector 24"/>
          <p:cNvCxnSpPr>
            <a:stCxn id="24" idx="0"/>
            <a:endCxn id="24" idx="2"/>
          </p:cNvCxnSpPr>
          <p:nvPr/>
        </p:nvCxnSpPr>
        <p:spPr>
          <a:xfrm>
            <a:off x="4800600" y="3505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72100" y="3505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11          5</a:t>
            </a:r>
            <a:endParaRPr lang="en-US" dirty="0"/>
          </a:p>
        </p:txBody>
      </p:sp>
      <p:cxnSp>
        <p:nvCxnSpPr>
          <p:cNvPr id="28" name="Straight Connector 27"/>
          <p:cNvCxnSpPr>
            <a:stCxn id="27" idx="0"/>
            <a:endCxn id="27" idx="2"/>
          </p:cNvCxnSpPr>
          <p:nvPr/>
        </p:nvCxnSpPr>
        <p:spPr>
          <a:xfrm>
            <a:off x="5867400" y="3505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15100" y="3505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13        6</a:t>
            </a:r>
            <a:endParaRPr lang="en-US" dirty="0"/>
          </a:p>
        </p:txBody>
      </p:sp>
      <p:cxnSp>
        <p:nvCxnSpPr>
          <p:cNvPr id="30" name="Straight Connector 29"/>
          <p:cNvCxnSpPr>
            <a:stCxn id="29" idx="0"/>
            <a:endCxn id="29" idx="2"/>
          </p:cNvCxnSpPr>
          <p:nvPr/>
        </p:nvCxnSpPr>
        <p:spPr>
          <a:xfrm>
            <a:off x="7010400" y="3505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38500" y="40386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5          3</a:t>
            </a:r>
            <a:endParaRPr lang="en-US" dirty="0"/>
          </a:p>
        </p:txBody>
      </p:sp>
      <p:cxnSp>
        <p:nvCxnSpPr>
          <p:cNvPr id="38" name="Straight Connector 37"/>
          <p:cNvCxnSpPr>
            <a:stCxn id="37" idx="0"/>
            <a:endCxn id="37" idx="2"/>
          </p:cNvCxnSpPr>
          <p:nvPr/>
        </p:nvCxnSpPr>
        <p:spPr>
          <a:xfrm>
            <a:off x="3733800" y="40386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381500" y="40386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10        6</a:t>
            </a:r>
            <a:endParaRPr lang="en-US" dirty="0"/>
          </a:p>
        </p:txBody>
      </p:sp>
      <p:cxnSp>
        <p:nvCxnSpPr>
          <p:cNvPr id="40" name="Straight Connector 39"/>
          <p:cNvCxnSpPr>
            <a:stCxn id="39" idx="0"/>
            <a:endCxn id="39" idx="2"/>
          </p:cNvCxnSpPr>
          <p:nvPr/>
        </p:nvCxnSpPr>
        <p:spPr>
          <a:xfrm>
            <a:off x="4876800" y="40386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600700" y="40386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17        6</a:t>
            </a:r>
            <a:endParaRPr lang="en-US" dirty="0"/>
          </a:p>
        </p:txBody>
      </p:sp>
      <p:cxnSp>
        <p:nvCxnSpPr>
          <p:cNvPr id="42" name="Straight Connector 41"/>
          <p:cNvCxnSpPr>
            <a:stCxn id="41" idx="0"/>
            <a:endCxn id="41" idx="2"/>
          </p:cNvCxnSpPr>
          <p:nvPr/>
        </p:nvCxnSpPr>
        <p:spPr>
          <a:xfrm>
            <a:off x="6096000" y="40386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38500" y="4648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17        </a:t>
            </a:r>
            <a:r>
              <a:rPr lang="en-US" dirty="0"/>
              <a:t>3</a:t>
            </a:r>
          </a:p>
        </p:txBody>
      </p:sp>
      <p:cxnSp>
        <p:nvCxnSpPr>
          <p:cNvPr id="44" name="Straight Connector 43"/>
          <p:cNvCxnSpPr>
            <a:stCxn id="43" idx="0"/>
            <a:endCxn id="43" idx="2"/>
          </p:cNvCxnSpPr>
          <p:nvPr/>
        </p:nvCxnSpPr>
        <p:spPr>
          <a:xfrm>
            <a:off x="3733800" y="4648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381500" y="4648200"/>
            <a:ext cx="990600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19        6</a:t>
            </a:r>
            <a:endParaRPr lang="en-US" dirty="0"/>
          </a:p>
        </p:txBody>
      </p:sp>
      <p:cxnSp>
        <p:nvCxnSpPr>
          <p:cNvPr id="46" name="Straight Connector 45"/>
          <p:cNvCxnSpPr>
            <a:stCxn id="45" idx="0"/>
            <a:endCxn id="45" idx="2"/>
          </p:cNvCxnSpPr>
          <p:nvPr/>
        </p:nvCxnSpPr>
        <p:spPr>
          <a:xfrm>
            <a:off x="4876800" y="4648200"/>
            <a:ext cx="0" cy="30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04900" y="5410200"/>
            <a:ext cx="716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800" dirty="0" smtClean="0"/>
              <a:t>Doc ids are unique integers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 smtClean="0"/>
              <a:t>The posting lists are sorted by doc id for list merging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76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381000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</a:t>
            </a:r>
            <a:r>
              <a:rPr lang="en-US" dirty="0" smtClean="0"/>
              <a:t>Index Construction</a:t>
            </a:r>
            <a:endParaRPr lang="en-US" dirty="0"/>
          </a:p>
        </p:txBody>
      </p:sp>
      <p:sp>
        <p:nvSpPr>
          <p:cNvPr id="6" name="Folded Corner 5"/>
          <p:cNvSpPr/>
          <p:nvPr/>
        </p:nvSpPr>
        <p:spPr>
          <a:xfrm>
            <a:off x="495300" y="2536398"/>
            <a:ext cx="13716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am what I am</a:t>
            </a:r>
            <a:endParaRPr lang="en-US" dirty="0"/>
          </a:p>
        </p:txBody>
      </p:sp>
      <p:sp>
        <p:nvSpPr>
          <p:cNvPr id="7" name="Folded Corner 6"/>
          <p:cNvSpPr/>
          <p:nvPr/>
        </p:nvSpPr>
        <p:spPr>
          <a:xfrm>
            <a:off x="495300" y="3526998"/>
            <a:ext cx="12954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do what I do</a:t>
            </a:r>
            <a:endParaRPr lang="en-US" dirty="0"/>
          </a:p>
        </p:txBody>
      </p:sp>
      <p:sp>
        <p:nvSpPr>
          <p:cNvPr id="8" name="Folded Corner 7"/>
          <p:cNvSpPr/>
          <p:nvPr/>
        </p:nvSpPr>
        <p:spPr>
          <a:xfrm>
            <a:off x="571500" y="4441398"/>
            <a:ext cx="12192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en-US" dirty="0" smtClean="0"/>
              <a:t>o it now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628900" y="2536398"/>
            <a:ext cx="1295400" cy="2370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20267" y="2527606"/>
            <a:ext cx="10791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(am, 1, 2)</a:t>
            </a:r>
          </a:p>
          <a:p>
            <a:r>
              <a:rPr lang="en-US" dirty="0" smtClean="0"/>
              <a:t>(i, 1, 2)</a:t>
            </a:r>
          </a:p>
          <a:p>
            <a:r>
              <a:rPr lang="en-US" dirty="0" smtClean="0"/>
              <a:t>(what, 1, 1)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720267" y="3386266"/>
            <a:ext cx="11288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(do, 2, 2)</a:t>
            </a:r>
          </a:p>
          <a:p>
            <a:r>
              <a:rPr lang="en-US" dirty="0" smtClean="0"/>
              <a:t>(i, 2, 2)</a:t>
            </a:r>
          </a:p>
          <a:p>
            <a:r>
              <a:rPr lang="en-US" dirty="0" smtClean="0"/>
              <a:t>(what, 2, 1)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731990" y="4159934"/>
            <a:ext cx="10195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(do, 3, 1)</a:t>
            </a:r>
          </a:p>
          <a:p>
            <a:r>
              <a:rPr lang="en-US" dirty="0" smtClean="0"/>
              <a:t>(it, 3, 1)</a:t>
            </a:r>
          </a:p>
          <a:p>
            <a:r>
              <a:rPr lang="en-US" dirty="0" smtClean="0"/>
              <a:t>(now, 3, 1)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838700" y="2527606"/>
            <a:ext cx="1371600" cy="2370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991100" y="2627261"/>
            <a:ext cx="10791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(am, 1, 2)</a:t>
            </a:r>
          </a:p>
          <a:p>
            <a:r>
              <a:rPr lang="en-US" dirty="0" smtClean="0"/>
              <a:t>(do, 2, 2)</a:t>
            </a:r>
          </a:p>
          <a:p>
            <a:r>
              <a:rPr lang="en-US" dirty="0" smtClean="0"/>
              <a:t>(do, 3, 1)</a:t>
            </a:r>
          </a:p>
          <a:p>
            <a:r>
              <a:rPr lang="en-US" dirty="0" smtClean="0"/>
              <a:t>(i, 1, 2)</a:t>
            </a:r>
          </a:p>
          <a:p>
            <a:r>
              <a:rPr lang="en-US" dirty="0" smtClean="0"/>
              <a:t>(i, 2, 2)</a:t>
            </a:r>
          </a:p>
          <a:p>
            <a:r>
              <a:rPr lang="en-US" dirty="0" smtClean="0"/>
              <a:t>(it, 3, 1)</a:t>
            </a:r>
          </a:p>
          <a:p>
            <a:r>
              <a:rPr lang="en-US" dirty="0"/>
              <a:t>(now, 3, 1)</a:t>
            </a:r>
          </a:p>
          <a:p>
            <a:r>
              <a:rPr lang="en-US" dirty="0" smtClean="0"/>
              <a:t>(what, 1, 1)</a:t>
            </a:r>
          </a:p>
          <a:p>
            <a:r>
              <a:rPr lang="en-US" dirty="0" smtClean="0"/>
              <a:t>(what, 2,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900" y="2490787"/>
            <a:ext cx="1828800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429500" y="2651273"/>
            <a:ext cx="135646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am:   (1, 2)</a:t>
            </a:r>
          </a:p>
          <a:p>
            <a:endParaRPr lang="en-US" sz="1200" dirty="0" smtClean="0"/>
          </a:p>
          <a:p>
            <a:r>
              <a:rPr lang="en-US" sz="1200" dirty="0"/>
              <a:t>d</a:t>
            </a:r>
            <a:r>
              <a:rPr lang="en-US" sz="1200" dirty="0" smtClean="0"/>
              <a:t>o:    (2, 2) (3, 1)</a:t>
            </a:r>
          </a:p>
          <a:p>
            <a:endParaRPr lang="en-US" sz="1200" dirty="0" smtClean="0"/>
          </a:p>
          <a:p>
            <a:r>
              <a:rPr lang="en-US" sz="1200" dirty="0" smtClean="0"/>
              <a:t>i:       (1, 2) (2,2)</a:t>
            </a:r>
          </a:p>
          <a:p>
            <a:endParaRPr lang="en-US" sz="1200" dirty="0" smtClean="0"/>
          </a:p>
          <a:p>
            <a:r>
              <a:rPr lang="en-US" sz="1200" dirty="0"/>
              <a:t>i</a:t>
            </a:r>
            <a:r>
              <a:rPr lang="en-US" sz="1200" dirty="0" smtClean="0"/>
              <a:t>t:      (3, 1)</a:t>
            </a:r>
          </a:p>
          <a:p>
            <a:endParaRPr lang="en-US" sz="1200" dirty="0" smtClean="0"/>
          </a:p>
          <a:p>
            <a:r>
              <a:rPr lang="en-US" sz="1200" dirty="0" smtClean="0"/>
              <a:t>now:  (3, 1)  </a:t>
            </a:r>
          </a:p>
          <a:p>
            <a:endParaRPr lang="en-US" sz="1200" dirty="0"/>
          </a:p>
          <a:p>
            <a:r>
              <a:rPr lang="en-US" sz="1200" dirty="0"/>
              <a:t>what: (1, 1) (2, 1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2200186" y="1497686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Tokenize</a:t>
            </a:r>
            <a:r>
              <a:rPr lang="en-US" sz="1200" dirty="0" smtClean="0"/>
              <a:t> the documents into </a:t>
            </a:r>
          </a:p>
          <a:p>
            <a:r>
              <a:rPr lang="en-US" sz="1200" dirty="0" smtClean="0"/>
              <a:t>(word, </a:t>
            </a:r>
            <a:r>
              <a:rPr lang="en-US" sz="1200" dirty="0" err="1" smtClean="0"/>
              <a:t>docid</a:t>
            </a:r>
            <a:r>
              <a:rPr lang="en-US" sz="1200" dirty="0" smtClean="0"/>
              <a:t>, frequency)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6300" y="1492760"/>
            <a:ext cx="189026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Sort</a:t>
            </a:r>
          </a:p>
          <a:p>
            <a:r>
              <a:rPr lang="en-US" sz="1200" dirty="0" smtClean="0"/>
              <a:t>(word as primary key)</a:t>
            </a:r>
          </a:p>
          <a:p>
            <a:r>
              <a:rPr lang="en-US" sz="1200" dirty="0" smtClean="0"/>
              <a:t>(</a:t>
            </a:r>
            <a:r>
              <a:rPr lang="en-US" sz="1200" dirty="0" err="1" smtClean="0"/>
              <a:t>docid</a:t>
            </a:r>
            <a:r>
              <a:rPr lang="en-US" sz="1200" dirty="0" smtClean="0"/>
              <a:t> as secondary 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461" y="1600200"/>
            <a:ext cx="1843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Create posting lists</a:t>
            </a:r>
          </a:p>
          <a:p>
            <a:r>
              <a:rPr lang="en-US" dirty="0" smtClean="0"/>
              <a:t>in a single pass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6" idx="3"/>
            <a:endCxn id="10" idx="1"/>
          </p:cNvCxnSpPr>
          <p:nvPr/>
        </p:nvCxnSpPr>
        <p:spPr>
          <a:xfrm>
            <a:off x="1866900" y="2764998"/>
            <a:ext cx="853367" cy="131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>
            <a:off x="1790700" y="3755598"/>
            <a:ext cx="92956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12" idx="1"/>
          </p:cNvCxnSpPr>
          <p:nvPr/>
        </p:nvCxnSpPr>
        <p:spPr>
          <a:xfrm flipV="1">
            <a:off x="1790700" y="4529266"/>
            <a:ext cx="941290" cy="1407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3789" y="1600200"/>
            <a:ext cx="115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Documents</a:t>
            </a:r>
          </a:p>
          <a:p>
            <a:r>
              <a:rPr lang="en-US" b="1" dirty="0" smtClean="0"/>
              <a:t>(id, text)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50764" y="25997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19737" y="36429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" y="450469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4000500" y="3431072"/>
            <a:ext cx="762000" cy="42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6350461" y="3431072"/>
            <a:ext cx="762000" cy="42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6" grpId="0" animBg="1"/>
      <p:bldP spid="17" grpId="0"/>
      <p:bldP spid="18" grpId="0"/>
      <p:bldP spid="19" grpId="0"/>
      <p:bldP spid="20" grpId="0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381000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Index Construction: Map-reduce Equivalence</a:t>
            </a:r>
          </a:p>
        </p:txBody>
      </p:sp>
      <p:sp>
        <p:nvSpPr>
          <p:cNvPr id="6" name="Folded Corner 5"/>
          <p:cNvSpPr/>
          <p:nvPr/>
        </p:nvSpPr>
        <p:spPr>
          <a:xfrm>
            <a:off x="495300" y="2536398"/>
            <a:ext cx="13716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am what I am</a:t>
            </a:r>
            <a:endParaRPr lang="en-US" dirty="0"/>
          </a:p>
        </p:txBody>
      </p:sp>
      <p:sp>
        <p:nvSpPr>
          <p:cNvPr id="7" name="Folded Corner 6"/>
          <p:cNvSpPr/>
          <p:nvPr/>
        </p:nvSpPr>
        <p:spPr>
          <a:xfrm>
            <a:off x="495300" y="3526998"/>
            <a:ext cx="12954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 do what I do</a:t>
            </a:r>
            <a:endParaRPr lang="en-US" dirty="0"/>
          </a:p>
        </p:txBody>
      </p:sp>
      <p:sp>
        <p:nvSpPr>
          <p:cNvPr id="8" name="Folded Corner 7"/>
          <p:cNvSpPr/>
          <p:nvPr/>
        </p:nvSpPr>
        <p:spPr>
          <a:xfrm>
            <a:off x="571500" y="4441398"/>
            <a:ext cx="1219200" cy="457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r>
              <a:rPr lang="en-US" dirty="0" smtClean="0"/>
              <a:t>o it now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628900" y="2536398"/>
            <a:ext cx="1295400" cy="2370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720267" y="2527606"/>
            <a:ext cx="10791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(am, 1, 2)</a:t>
            </a:r>
          </a:p>
          <a:p>
            <a:r>
              <a:rPr lang="en-US" dirty="0" smtClean="0"/>
              <a:t>(i, 1, 2)</a:t>
            </a:r>
          </a:p>
          <a:p>
            <a:r>
              <a:rPr lang="en-US" dirty="0" smtClean="0"/>
              <a:t>(what, 1, 1)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720267" y="3386266"/>
            <a:ext cx="11288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(do, 2, 2)</a:t>
            </a:r>
          </a:p>
          <a:p>
            <a:r>
              <a:rPr lang="en-US" dirty="0" smtClean="0"/>
              <a:t>(i, 2, 2)</a:t>
            </a:r>
          </a:p>
          <a:p>
            <a:r>
              <a:rPr lang="en-US" dirty="0" smtClean="0"/>
              <a:t>(what, 2, 1)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731990" y="4159934"/>
            <a:ext cx="10195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(do, 3, 1)</a:t>
            </a:r>
          </a:p>
          <a:p>
            <a:r>
              <a:rPr lang="en-US" dirty="0" smtClean="0"/>
              <a:t>(it, 3, 1)</a:t>
            </a:r>
          </a:p>
          <a:p>
            <a:r>
              <a:rPr lang="en-US" dirty="0" smtClean="0"/>
              <a:t>(now, 3, 1)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838700" y="2527606"/>
            <a:ext cx="1371600" cy="2370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991100" y="2627261"/>
            <a:ext cx="10791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(am, 1, 2)</a:t>
            </a:r>
          </a:p>
          <a:p>
            <a:r>
              <a:rPr lang="en-US" dirty="0" smtClean="0"/>
              <a:t>(do, 2, 2)</a:t>
            </a:r>
          </a:p>
          <a:p>
            <a:r>
              <a:rPr lang="en-US" dirty="0" smtClean="0"/>
              <a:t>(do, 3, 1)</a:t>
            </a:r>
          </a:p>
          <a:p>
            <a:r>
              <a:rPr lang="en-US" dirty="0" smtClean="0"/>
              <a:t>(i, 1, 2)</a:t>
            </a:r>
          </a:p>
          <a:p>
            <a:r>
              <a:rPr lang="en-US" dirty="0" smtClean="0"/>
              <a:t>(i, 2, 2)</a:t>
            </a:r>
          </a:p>
          <a:p>
            <a:r>
              <a:rPr lang="en-US" dirty="0" smtClean="0"/>
              <a:t>(it, 3, 1)</a:t>
            </a:r>
          </a:p>
          <a:p>
            <a:r>
              <a:rPr lang="en-US" dirty="0"/>
              <a:t>(now, 3, 1)</a:t>
            </a:r>
          </a:p>
          <a:p>
            <a:r>
              <a:rPr lang="en-US" dirty="0" smtClean="0"/>
              <a:t>(what, 1, 1)</a:t>
            </a:r>
          </a:p>
          <a:p>
            <a:r>
              <a:rPr lang="en-US" dirty="0" smtClean="0"/>
              <a:t>(what, 2,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900" y="2490787"/>
            <a:ext cx="1828800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429500" y="2651273"/>
            <a:ext cx="135646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am:   (1, 2)</a:t>
            </a:r>
          </a:p>
          <a:p>
            <a:endParaRPr lang="en-US" sz="1200" dirty="0" smtClean="0"/>
          </a:p>
          <a:p>
            <a:r>
              <a:rPr lang="en-US" sz="1200" dirty="0"/>
              <a:t>d</a:t>
            </a:r>
            <a:r>
              <a:rPr lang="en-US" sz="1200" dirty="0" smtClean="0"/>
              <a:t>o:    (2, 2) (3, 1)</a:t>
            </a:r>
          </a:p>
          <a:p>
            <a:endParaRPr lang="en-US" sz="1200" dirty="0" smtClean="0"/>
          </a:p>
          <a:p>
            <a:r>
              <a:rPr lang="en-US" sz="1200" dirty="0" smtClean="0"/>
              <a:t>i:       (1, 2) (2,2)</a:t>
            </a:r>
          </a:p>
          <a:p>
            <a:endParaRPr lang="en-US" sz="1200" dirty="0" smtClean="0"/>
          </a:p>
          <a:p>
            <a:r>
              <a:rPr lang="en-US" sz="1200" dirty="0"/>
              <a:t>i</a:t>
            </a:r>
            <a:r>
              <a:rPr lang="en-US" sz="1200" dirty="0" smtClean="0"/>
              <a:t>t:      (3, 1)</a:t>
            </a:r>
          </a:p>
          <a:p>
            <a:endParaRPr lang="en-US" sz="1200" dirty="0" smtClean="0"/>
          </a:p>
          <a:p>
            <a:r>
              <a:rPr lang="en-US" sz="1200" dirty="0" smtClean="0"/>
              <a:t>now:  (3, 1)  </a:t>
            </a:r>
          </a:p>
          <a:p>
            <a:endParaRPr lang="en-US" sz="1200" dirty="0"/>
          </a:p>
          <a:p>
            <a:r>
              <a:rPr lang="en-US" sz="1200" dirty="0"/>
              <a:t>what: (1, 1) (2, 1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2200186" y="1497686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Tokenize</a:t>
            </a:r>
            <a:r>
              <a:rPr lang="en-US" sz="1200" dirty="0" smtClean="0"/>
              <a:t> the documents into </a:t>
            </a:r>
          </a:p>
          <a:p>
            <a:r>
              <a:rPr lang="en-US" sz="1200" dirty="0" smtClean="0"/>
              <a:t>(word, </a:t>
            </a:r>
            <a:r>
              <a:rPr lang="en-US" sz="1200" dirty="0" err="1" smtClean="0"/>
              <a:t>docid</a:t>
            </a:r>
            <a:r>
              <a:rPr lang="en-US" sz="1200" dirty="0" smtClean="0"/>
              <a:t>, frequency)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6300" y="1492760"/>
            <a:ext cx="189026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Sort</a:t>
            </a:r>
          </a:p>
          <a:p>
            <a:r>
              <a:rPr lang="en-US" sz="1200" dirty="0" smtClean="0"/>
              <a:t>(word as primary key)</a:t>
            </a:r>
          </a:p>
          <a:p>
            <a:r>
              <a:rPr lang="en-US" sz="1200" dirty="0" smtClean="0"/>
              <a:t>(</a:t>
            </a:r>
            <a:r>
              <a:rPr lang="en-US" sz="1200" dirty="0" err="1" smtClean="0"/>
              <a:t>docid</a:t>
            </a:r>
            <a:r>
              <a:rPr lang="en-US" sz="1200" dirty="0" smtClean="0"/>
              <a:t> as secondary 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461" y="1600200"/>
            <a:ext cx="1843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Create posting lists</a:t>
            </a:r>
          </a:p>
          <a:p>
            <a:r>
              <a:rPr lang="en-US" dirty="0" smtClean="0"/>
              <a:t>in a single pass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6" idx="3"/>
            <a:endCxn id="10" idx="1"/>
          </p:cNvCxnSpPr>
          <p:nvPr/>
        </p:nvCxnSpPr>
        <p:spPr>
          <a:xfrm>
            <a:off x="1866900" y="2764998"/>
            <a:ext cx="853367" cy="131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>
            <a:off x="1790700" y="3755598"/>
            <a:ext cx="92956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12" idx="1"/>
          </p:cNvCxnSpPr>
          <p:nvPr/>
        </p:nvCxnSpPr>
        <p:spPr>
          <a:xfrm flipV="1">
            <a:off x="1790700" y="4529266"/>
            <a:ext cx="941290" cy="1407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3789" y="1600200"/>
            <a:ext cx="115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Documents</a:t>
            </a:r>
          </a:p>
          <a:p>
            <a:r>
              <a:rPr lang="en-US" b="1" dirty="0" smtClean="0"/>
              <a:t>(id, text)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50764" y="25997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19737" y="36429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" y="450469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4000500" y="3431072"/>
            <a:ext cx="762000" cy="42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6350461" y="3431072"/>
            <a:ext cx="762000" cy="42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702664" y="5702182"/>
            <a:ext cx="13716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Map function</a:t>
            </a:r>
          </a:p>
          <a:p>
            <a:pPr algn="ctr"/>
            <a:r>
              <a:rPr lang="en-US" dirty="0" smtClean="0"/>
              <a:t>(you define)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3771900" y="5702182"/>
            <a:ext cx="17526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Sort and Shuffle</a:t>
            </a:r>
          </a:p>
          <a:p>
            <a:pPr algn="ctr"/>
            <a:r>
              <a:rPr lang="en-US" dirty="0" smtClean="0"/>
              <a:t>(system does this)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6197125" y="5678695"/>
            <a:ext cx="1613375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Reduce function</a:t>
            </a:r>
          </a:p>
          <a:p>
            <a:pPr algn="ctr"/>
            <a:r>
              <a:rPr lang="en-US" dirty="0" smtClean="0"/>
              <a:t>(your define)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200186" y="2764998"/>
            <a:ext cx="55297" cy="27976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305300" y="3796811"/>
            <a:ext cx="0" cy="17657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731461" y="3854774"/>
            <a:ext cx="0" cy="17078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0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810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Index </a:t>
            </a:r>
            <a:r>
              <a:rPr lang="en-US" dirty="0" smtClean="0"/>
              <a:t>Construction: Map-reduce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/>
          <a:lstStyle/>
          <a:p>
            <a:r>
              <a:rPr lang="en-US" sz="2000" dirty="0" smtClean="0"/>
              <a:t>The anatomy of </a:t>
            </a:r>
            <a:r>
              <a:rPr lang="en-US" sz="2000" dirty="0" smtClean="0">
                <a:solidFill>
                  <a:srgbClr val="C00000"/>
                </a:solidFill>
              </a:rPr>
              <a:t>Map</a:t>
            </a:r>
            <a:r>
              <a:rPr lang="en-US" sz="2000" dirty="0" smtClean="0"/>
              <a:t> function</a:t>
            </a:r>
          </a:p>
          <a:p>
            <a:pPr lvl="1"/>
            <a:r>
              <a:rPr lang="en-US" sz="1600" dirty="0" smtClean="0"/>
              <a:t>Input:    </a:t>
            </a:r>
            <a:r>
              <a:rPr lang="en-US" sz="1600" b="0" dirty="0" smtClean="0"/>
              <a:t>document id (key) and its content (value)</a:t>
            </a:r>
          </a:p>
          <a:p>
            <a:pPr lvl="1"/>
            <a:r>
              <a:rPr lang="en-US" sz="1600" dirty="0" smtClean="0"/>
              <a:t>Body:     </a:t>
            </a:r>
            <a:r>
              <a:rPr lang="en-US" sz="1600" b="0" dirty="0" smtClean="0"/>
              <a:t>tokenization code</a:t>
            </a:r>
          </a:p>
          <a:p>
            <a:pPr lvl="1"/>
            <a:r>
              <a:rPr lang="en-US" sz="1600" dirty="0" smtClean="0"/>
              <a:t>Output</a:t>
            </a:r>
            <a:r>
              <a:rPr lang="en-US" sz="1600" b="0" dirty="0" smtClean="0"/>
              <a:t>:  list </a:t>
            </a:r>
            <a:r>
              <a:rPr lang="en-US" sz="1600" b="0" dirty="0"/>
              <a:t>of (word, </a:t>
            </a:r>
            <a:r>
              <a:rPr lang="en-US" sz="1600" b="0" dirty="0" err="1" smtClean="0"/>
              <a:t>docid</a:t>
            </a:r>
            <a:r>
              <a:rPr lang="en-US" sz="1600" b="0" dirty="0" smtClean="0"/>
              <a:t>, </a:t>
            </a:r>
            <a:r>
              <a:rPr lang="en-US" sz="1600" b="0" dirty="0"/>
              <a:t>frequency) </a:t>
            </a:r>
            <a:r>
              <a:rPr lang="en-US" sz="1600" b="0" dirty="0" smtClean="0"/>
              <a:t>triplet</a:t>
            </a:r>
          </a:p>
          <a:p>
            <a:pPr marL="219651" lvl="1" indent="0">
              <a:buNone/>
            </a:pPr>
            <a:r>
              <a:rPr lang="en-US" sz="1600" b="0" dirty="0"/>
              <a:t> </a:t>
            </a:r>
            <a:r>
              <a:rPr lang="en-US" sz="1600" b="0" dirty="0" smtClean="0"/>
              <a:t>                   key:      word</a:t>
            </a:r>
          </a:p>
          <a:p>
            <a:pPr marL="219651" lvl="1" indent="0">
              <a:buNone/>
            </a:pPr>
            <a:r>
              <a:rPr lang="en-US" sz="1600" b="0" dirty="0"/>
              <a:t> </a:t>
            </a:r>
            <a:r>
              <a:rPr lang="en-US" sz="1600" b="0" dirty="0" smtClean="0"/>
              <a:t>                   value:  (</a:t>
            </a:r>
            <a:r>
              <a:rPr lang="en-US" sz="1600" b="0" dirty="0" err="1" smtClean="0"/>
              <a:t>docid</a:t>
            </a:r>
            <a:r>
              <a:rPr lang="en-US" sz="1600" b="0" dirty="0" smtClean="0"/>
              <a:t>, frequency)</a:t>
            </a:r>
          </a:p>
          <a:p>
            <a:pPr lvl="1"/>
            <a:endParaRPr lang="en-US" sz="1600" b="0" dirty="0"/>
          </a:p>
          <a:p>
            <a:pPr lvl="1"/>
            <a:endParaRPr lang="en-US" sz="16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04900" y="4191000"/>
                <a:ext cx="4813947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Map pseudo-code</a:t>
                </a:r>
              </a:p>
              <a:p>
                <a:endParaRPr lang="en-US" b="1" dirty="0" smtClean="0"/>
              </a:p>
              <a:p>
                <a:r>
                  <a:rPr lang="en-US" b="1" dirty="0" smtClean="0"/>
                  <a:t>Map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docid</a:t>
                </a:r>
                <a:r>
                  <a:rPr lang="en-US" dirty="0" smtClean="0"/>
                  <a:t> n, </a:t>
                </a:r>
                <a:r>
                  <a:rPr lang="en-US" dirty="0" err="1" smtClean="0"/>
                  <a:t>docText</a:t>
                </a:r>
                <a:r>
                  <a:rPr lang="en-US" dirty="0" smtClean="0"/>
                  <a:t> d)</a:t>
                </a:r>
              </a:p>
              <a:p>
                <a:pPr marL="678400" lvl="1" indent="-342900">
                  <a:buFont typeface="+mj-lt"/>
                  <a:buAutoNum type="arabicPeriod"/>
                </a:pPr>
                <a:r>
                  <a:rPr lang="en-US" dirty="0"/>
                  <a:t>Create a </a:t>
                </a:r>
                <a:r>
                  <a:rPr lang="en-US" dirty="0" err="1"/>
                  <a:t>hashtable</a:t>
                </a:r>
                <a:r>
                  <a:rPr lang="en-US" dirty="0"/>
                  <a:t> </a:t>
                </a:r>
                <a:r>
                  <a:rPr lang="en-US" b="1" dirty="0" smtClean="0"/>
                  <a:t>H</a:t>
                </a:r>
                <a:r>
                  <a:rPr lang="en-US" dirty="0" smtClean="0"/>
                  <a:t> (term as key, freq. as value)</a:t>
                </a:r>
                <a:endParaRPr lang="en-US" dirty="0"/>
              </a:p>
              <a:p>
                <a:pPr marL="678400" lvl="1" indent="-342900">
                  <a:buFont typeface="+mj-lt"/>
                  <a:buAutoNum type="arabicPeriod"/>
                </a:pPr>
                <a:r>
                  <a:rPr lang="en-US" dirty="0"/>
                  <a:t>f</a:t>
                </a:r>
                <a:r>
                  <a:rPr lang="en-US" dirty="0" smtClean="0"/>
                  <a:t>or all term </a:t>
                </a:r>
                <a:r>
                  <a:rPr lang="en-US" b="1" dirty="0" smtClean="0"/>
                  <a:t>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b="1" dirty="0" smtClean="0"/>
                  <a:t> d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         </a:t>
                </a:r>
                <a:r>
                  <a:rPr lang="en-US" b="1" dirty="0" smtClean="0"/>
                  <a:t>Insert t </a:t>
                </a:r>
                <a:r>
                  <a:rPr lang="en-US" dirty="0" smtClean="0"/>
                  <a:t>into </a:t>
                </a:r>
                <a:r>
                  <a:rPr lang="en-US" b="1" dirty="0" smtClean="0"/>
                  <a:t>H</a:t>
                </a:r>
              </a:p>
              <a:p>
                <a:pPr marL="678400" lvl="1" indent="-342900">
                  <a:buAutoNum type="arabicPeriod" startAt="3"/>
                </a:pPr>
                <a:r>
                  <a:rPr lang="en-US" dirty="0" smtClean="0"/>
                  <a:t>for all term </a:t>
                </a:r>
                <a:r>
                  <a:rPr lang="en-US" b="1" dirty="0" smtClean="0"/>
                  <a:t>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∈</m:t>
                    </m:r>
                  </m:oMath>
                </a14:m>
                <a:r>
                  <a:rPr lang="en-US" b="1" dirty="0" smtClean="0"/>
                  <a:t> H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         </a:t>
                </a:r>
                <a:r>
                  <a:rPr lang="en-US" b="1" dirty="0" smtClean="0"/>
                  <a:t>EMIT</a:t>
                </a:r>
                <a:r>
                  <a:rPr lang="en-US" dirty="0" smtClean="0"/>
                  <a:t> (t, (n, </a:t>
                </a:r>
                <a:r>
                  <a:rPr lang="en-US" dirty="0" err="1" smtClean="0"/>
                  <a:t>freq</a:t>
                </a:r>
                <a:r>
                  <a:rPr lang="en-US" dirty="0" smtClean="0"/>
                  <a:t>))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4191000"/>
                <a:ext cx="4813947" cy="1815882"/>
              </a:xfrm>
              <a:prstGeom prst="rect">
                <a:avLst/>
              </a:prstGeom>
              <a:blipFill rotWithShape="1">
                <a:blip r:embed="rId2"/>
                <a:stretch>
                  <a:fillRect l="-253" t="-337" b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46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/>
              <a:t>Inverted Index Construction: </a:t>
            </a:r>
            <a:r>
              <a:rPr lang="en-US" dirty="0" smtClean="0"/>
              <a:t>Map-reduce </a:t>
            </a:r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/>
          <a:lstStyle/>
          <a:p>
            <a:r>
              <a:rPr lang="en-US" sz="2000" dirty="0"/>
              <a:t>The anatomy of </a:t>
            </a:r>
            <a:r>
              <a:rPr lang="en-US" sz="2000" dirty="0" smtClean="0">
                <a:solidFill>
                  <a:srgbClr val="C00000"/>
                </a:solidFill>
              </a:rPr>
              <a:t>Reduce</a:t>
            </a:r>
            <a:r>
              <a:rPr lang="en-US" sz="2000" dirty="0" smtClean="0"/>
              <a:t> </a:t>
            </a:r>
            <a:r>
              <a:rPr lang="en-US" sz="2000" dirty="0"/>
              <a:t>function</a:t>
            </a:r>
          </a:p>
          <a:p>
            <a:pPr lvl="1"/>
            <a:r>
              <a:rPr lang="en-US" sz="1600" dirty="0" smtClean="0"/>
              <a:t>Input:  </a:t>
            </a:r>
            <a:r>
              <a:rPr lang="en-US" sz="1600" b="0" dirty="0" smtClean="0"/>
              <a:t>a term and a list of (</a:t>
            </a:r>
            <a:r>
              <a:rPr lang="en-US" sz="1600" b="0" dirty="0" err="1" smtClean="0"/>
              <a:t>docid</a:t>
            </a:r>
            <a:r>
              <a:rPr lang="en-US" sz="1600" b="0" dirty="0" smtClean="0"/>
              <a:t>, frequency) pairs</a:t>
            </a:r>
          </a:p>
          <a:p>
            <a:pPr lvl="1"/>
            <a:r>
              <a:rPr lang="en-US" sz="1600" dirty="0" smtClean="0"/>
              <a:t>Body:</a:t>
            </a:r>
            <a:r>
              <a:rPr lang="en-US" sz="1600" b="0" dirty="0" smtClean="0"/>
              <a:t>   concatenate list of </a:t>
            </a:r>
            <a:r>
              <a:rPr lang="en-US" sz="1600" b="0" dirty="0"/>
              <a:t>(</a:t>
            </a:r>
            <a:r>
              <a:rPr lang="en-US" sz="1600" b="0" dirty="0" err="1"/>
              <a:t>docid</a:t>
            </a:r>
            <a:r>
              <a:rPr lang="en-US" sz="1600" b="0" dirty="0"/>
              <a:t>, frequency) </a:t>
            </a:r>
            <a:r>
              <a:rPr lang="en-US" sz="1600" b="0" dirty="0" smtClean="0"/>
              <a:t>pairs in ascending order of </a:t>
            </a:r>
            <a:r>
              <a:rPr lang="en-US" sz="1600" b="0" dirty="0" err="1" smtClean="0"/>
              <a:t>docid</a:t>
            </a:r>
            <a:endParaRPr lang="en-US" sz="1600" b="0" dirty="0" smtClean="0"/>
          </a:p>
          <a:p>
            <a:pPr lvl="1"/>
            <a:r>
              <a:rPr lang="en-US" sz="1600" dirty="0" smtClean="0"/>
              <a:t>Output:</a:t>
            </a:r>
            <a:r>
              <a:rPr lang="en-US" sz="1600" b="0" dirty="0" smtClean="0"/>
              <a:t>  a term and its posting list</a:t>
            </a:r>
            <a:endParaRPr lang="en-US" sz="16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81100" y="3581400"/>
                <a:ext cx="5821978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Reduce pseudo-code</a:t>
                </a:r>
              </a:p>
              <a:p>
                <a:endParaRPr lang="en-US" b="1" dirty="0"/>
              </a:p>
              <a:p>
                <a:r>
                  <a:rPr lang="en-US" b="1" dirty="0" smtClean="0"/>
                  <a:t>Reduce</a:t>
                </a:r>
                <a:r>
                  <a:rPr lang="en-US" dirty="0" smtClean="0"/>
                  <a:t>(term t,  List (&lt;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&gt;, &lt;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&gt;, </a:t>
                </a:r>
                <a:r>
                  <a:rPr lang="en-US" dirty="0" smtClean="0"/>
                  <a:t>…, &lt;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  <a:r>
                  <a:rPr lang="en-US" dirty="0" smtClean="0"/>
                  <a:t>))</a:t>
                </a:r>
              </a:p>
              <a:p>
                <a:pPr marL="678400" lvl="1" indent="-342900">
                  <a:buFont typeface="+mj-lt"/>
                  <a:buAutoNum type="arabicPeriod"/>
                </a:pPr>
                <a:r>
                  <a:rPr lang="en-US" dirty="0" smtClean="0"/>
                  <a:t>Create a new list </a:t>
                </a:r>
                <a:r>
                  <a:rPr lang="en-US" b="1" dirty="0" smtClean="0"/>
                  <a:t>P</a:t>
                </a:r>
                <a:r>
                  <a:rPr lang="en-US" dirty="0" smtClean="0"/>
                  <a:t> for holding posting</a:t>
                </a:r>
              </a:p>
              <a:p>
                <a:pPr marL="678400" lvl="1" indent="-342900">
                  <a:buFont typeface="+mj-lt"/>
                  <a:buAutoNum type="arabicPeriod"/>
                </a:pPr>
                <a:r>
                  <a:rPr lang="en-US" dirty="0"/>
                  <a:t>f</a:t>
                </a:r>
                <a:r>
                  <a:rPr lang="en-US" dirty="0" smtClean="0"/>
                  <a:t>or all pairs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id</m:t>
                    </m:r>
                    <m:r>
                      <a:rPr lang="en-US" b="0" i="0" dirty="0" smtClean="0">
                        <a:latin typeface="Cambria Math"/>
                      </a:rPr>
                      <m:t>, 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f</m:t>
                    </m:r>
                    <m:r>
                      <a:rPr lang="en-US" b="0" i="0" dirty="0" smtClean="0">
                        <a:latin typeface="Cambria Math"/>
                      </a:rPr>
                      <m:t>&gt; </m:t>
                    </m:r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a:rPr lang="en-US" b="0" i="1" dirty="0" smtClean="0">
                        <a:latin typeface="Cambria Math"/>
                      </a:rPr>
                      <m:t>𝐿𝑖𝑠𝑡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0" dirty="0" smtClean="0">
                        <a:latin typeface="Cambria Math"/>
                      </a:rPr>
                      <m:t>(</m:t>
                    </m:r>
                    <m:r>
                      <a:rPr lang="en-US" dirty="0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&gt;, &lt;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&gt;, …, &lt;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&gt;)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            APPEND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/>
                      </a:rPr>
                      <m:t>&lt;</m:t>
                    </m:r>
                    <m:r>
                      <m:rPr>
                        <m:sty m:val="p"/>
                      </m:rPr>
                      <a:rPr lang="en-US" dirty="0">
                        <a:latin typeface="Cambria Math"/>
                      </a:rPr>
                      <m:t>id</m:t>
                    </m:r>
                    <m:r>
                      <a:rPr lang="en-US" dirty="0">
                        <a:latin typeface="Cambria Math"/>
                      </a:rPr>
                      <m:t>,  </m:t>
                    </m:r>
                    <m:r>
                      <m:rPr>
                        <m:sty m:val="p"/>
                      </m:rPr>
                      <a:rPr lang="en-US" dirty="0">
                        <a:latin typeface="Cambria Math"/>
                      </a:rPr>
                      <m:t>f</m:t>
                    </m:r>
                    <m:r>
                      <a:rPr lang="en-US" dirty="0">
                        <a:latin typeface="Cambria Math"/>
                      </a:rPr>
                      <m:t>&gt;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into</m:t>
                    </m:r>
                    <m:r>
                      <a:rPr lang="en-US" b="0" i="0" dirty="0" smtClean="0">
                        <a:latin typeface="Cambria Math"/>
                      </a:rPr>
                      <m:t> </m:t>
                    </m:r>
                    <m:r>
                      <a:rPr lang="en-US" b="1" i="0" dirty="0" smtClean="0">
                        <a:latin typeface="Cambria Math"/>
                      </a:rPr>
                      <m:t>𝐏</m:t>
                    </m:r>
                  </m:oMath>
                </a14:m>
                <a:endParaRPr lang="en-US" b="1" dirty="0" smtClean="0"/>
              </a:p>
              <a:p>
                <a:pPr marL="678400" lvl="1" indent="-342900">
                  <a:buAutoNum type="arabicPeriod" startAt="3"/>
                </a:pPr>
                <a:r>
                  <a:rPr lang="en-US" dirty="0" smtClean="0"/>
                  <a:t>SORT(P) based on </a:t>
                </a:r>
                <a:r>
                  <a:rPr lang="en-US" dirty="0" err="1" smtClean="0"/>
                  <a:t>docid</a:t>
                </a:r>
                <a:endParaRPr lang="en-US" dirty="0" smtClean="0"/>
              </a:p>
              <a:p>
                <a:pPr marL="678400" lvl="1" indent="-342900">
                  <a:buAutoNum type="arabicPeriod" startAt="3"/>
                </a:pPr>
                <a:r>
                  <a:rPr lang="en-US" dirty="0" smtClean="0"/>
                  <a:t>EMIT (t, P)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581400"/>
                <a:ext cx="5821978" cy="1815882"/>
              </a:xfrm>
              <a:prstGeom prst="rect">
                <a:avLst/>
              </a:prstGeom>
              <a:blipFill rotWithShape="1">
                <a:blip r:embed="rId2"/>
                <a:stretch>
                  <a:fillRect l="-314" t="-337" b="-2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81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81000"/>
            <a:ext cx="92583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Distributed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066800"/>
            <a:ext cx="9258300" cy="5410200"/>
          </a:xfrm>
        </p:spPr>
        <p:txBody>
          <a:bodyPr/>
          <a:lstStyle/>
          <a:p>
            <a:r>
              <a:rPr lang="en-US" sz="2000" dirty="0" smtClean="0"/>
              <a:t>Why?</a:t>
            </a:r>
          </a:p>
          <a:p>
            <a:pPr lvl="1"/>
            <a:r>
              <a:rPr lang="en-US" sz="1600" dirty="0" smtClean="0"/>
              <a:t>For fast response, index needs to be kept in RAM</a:t>
            </a:r>
          </a:p>
          <a:p>
            <a:pPr lvl="1"/>
            <a:r>
              <a:rPr lang="en-US" sz="1600" dirty="0" smtClean="0"/>
              <a:t>For large collection, one machine cannot store entire index</a:t>
            </a:r>
          </a:p>
          <a:p>
            <a:pPr marL="219651" lvl="1" indent="0">
              <a:buNone/>
            </a:pPr>
            <a:endParaRPr lang="en-US" dirty="0" smtClean="0"/>
          </a:p>
          <a:p>
            <a:r>
              <a:rPr lang="en-US" sz="2000" dirty="0" smtClean="0"/>
              <a:t>Types of Distributed Index</a:t>
            </a:r>
          </a:p>
          <a:p>
            <a:pPr lvl="1"/>
            <a:r>
              <a:rPr lang="en-US" dirty="0" smtClean="0"/>
              <a:t>Document partitioned</a:t>
            </a:r>
          </a:p>
          <a:p>
            <a:pPr lvl="2"/>
            <a:r>
              <a:rPr lang="en-US" sz="1400" dirty="0" smtClean="0"/>
              <a:t>Split a document collection into n equal-sized subsets (preferably)</a:t>
            </a:r>
          </a:p>
          <a:p>
            <a:pPr lvl="2"/>
            <a:r>
              <a:rPr lang="en-US" sz="1400" dirty="0" smtClean="0"/>
              <a:t>Create one index from one split and keep in different machines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Term partitioned</a:t>
            </a:r>
          </a:p>
          <a:p>
            <a:pPr lvl="2"/>
            <a:r>
              <a:rPr lang="en-US" sz="1400" dirty="0" smtClean="0"/>
              <a:t>Terms are split and one index in created for one split</a:t>
            </a:r>
          </a:p>
          <a:p>
            <a:pPr lvl="2"/>
            <a:r>
              <a:rPr lang="en-US" sz="1400" dirty="0" smtClean="0"/>
              <a:t>Example</a:t>
            </a:r>
          </a:p>
          <a:p>
            <a:pPr lvl="3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index: terms starting with ‘a’; 2</a:t>
            </a:r>
            <a:r>
              <a:rPr lang="en-US" baseline="30000" dirty="0" smtClean="0"/>
              <a:t>nd</a:t>
            </a:r>
            <a:r>
              <a:rPr lang="en-US" dirty="0" smtClean="0"/>
              <a:t> index: terms starting with ‘b’;  and so on</a:t>
            </a:r>
            <a:endParaRPr lang="en-US" dirty="0"/>
          </a:p>
          <a:p>
            <a:pPr lvl="1"/>
            <a:endParaRPr lang="en-US" dirty="0" smtClean="0"/>
          </a:p>
          <a:p>
            <a:pPr marL="219651" lvl="1" indent="0">
              <a:buNone/>
            </a:pPr>
            <a:endParaRPr lang="en-US" dirty="0" smtClean="0"/>
          </a:p>
          <a:p>
            <a:pPr marL="219651" lvl="1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35764" y="5201155"/>
            <a:ext cx="4665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Document partitioned index is widely used approach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8286" y="5867400"/>
            <a:ext cx="5086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Quiz</a:t>
            </a:r>
            <a:r>
              <a:rPr lang="en-US" dirty="0" smtClean="0"/>
              <a:t>: what kind of index our map-reduce algorithm produces?</a:t>
            </a:r>
          </a:p>
          <a:p>
            <a:pPr marL="0" lvl="1"/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b="1" dirty="0" err="1" smtClean="0">
                <a:solidFill>
                  <a:srgbClr val="C00000"/>
                </a:solidFill>
              </a:rPr>
              <a:t>Ans</a:t>
            </a:r>
            <a:r>
              <a:rPr lang="en-US" b="1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Term partitioned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0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900" y="2971800"/>
            <a:ext cx="1352550" cy="541214"/>
          </a:xfrm>
        </p:spPr>
        <p:txBody>
          <a:bodyPr/>
          <a:lstStyle/>
          <a:p>
            <a:r>
              <a:rPr lang="en-US" dirty="0" smtClean="0"/>
              <a:t>Spark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3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of basic map-reduce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 smtClean="0">
                <a:latin typeface="+mj-lt"/>
              </a:rPr>
              <a:t>Standard Map-reduce </a:t>
            </a:r>
            <a:r>
              <a:rPr lang="en-US" sz="2000" b="0" dirty="0">
                <a:latin typeface="+mj-lt"/>
              </a:rPr>
              <a:t>is great at one-pass computation</a:t>
            </a:r>
            <a:r>
              <a:rPr lang="en-US" sz="2000" b="0" dirty="0" smtClean="0">
                <a:latin typeface="+mj-lt"/>
              </a:rPr>
              <a:t>, but </a:t>
            </a:r>
            <a:r>
              <a:rPr lang="en-US" sz="2000" b="0" dirty="0">
                <a:latin typeface="+mj-lt"/>
              </a:rPr>
              <a:t>inefficient for </a:t>
            </a:r>
            <a:r>
              <a:rPr lang="en-US" sz="2000" b="0" i="1" dirty="0">
                <a:latin typeface="+mj-lt"/>
              </a:rPr>
              <a:t>multi-pass </a:t>
            </a:r>
            <a:r>
              <a:rPr lang="en-US" sz="2000" b="0" dirty="0" smtClean="0">
                <a:latin typeface="+mj-lt"/>
              </a:rPr>
              <a:t>algorithms</a:t>
            </a:r>
          </a:p>
          <a:p>
            <a:pPr lvl="1"/>
            <a:r>
              <a:rPr lang="en-US" b="0" dirty="0" smtClean="0">
                <a:latin typeface="+mj-lt"/>
              </a:rPr>
              <a:t>Examples: k-means, PageRank</a:t>
            </a:r>
          </a:p>
          <a:p>
            <a:pPr lvl="1"/>
            <a:endParaRPr lang="en-US" b="0" dirty="0" smtClean="0">
              <a:latin typeface="+mj-lt"/>
            </a:endParaRPr>
          </a:p>
          <a:p>
            <a:pPr lvl="1"/>
            <a:endParaRPr lang="en-US" b="0" dirty="0">
              <a:latin typeface="+mj-lt"/>
            </a:endParaRPr>
          </a:p>
          <a:p>
            <a:endParaRPr lang="en-US" b="0" dirty="0" smtClean="0">
              <a:latin typeface="+mj-lt"/>
            </a:endParaRPr>
          </a:p>
          <a:p>
            <a:endParaRPr lang="en-US" b="0" dirty="0" smtClean="0">
              <a:latin typeface="+mj-lt"/>
            </a:endParaRPr>
          </a:p>
          <a:p>
            <a:endParaRPr lang="en-US" b="0" dirty="0">
              <a:latin typeface="+mj-lt"/>
            </a:endParaRPr>
          </a:p>
          <a:p>
            <a:r>
              <a:rPr lang="en-US" sz="2000" b="0" dirty="0" smtClean="0">
                <a:latin typeface="+mj-lt"/>
              </a:rPr>
              <a:t>No </a:t>
            </a:r>
            <a:r>
              <a:rPr lang="en-US" sz="2000" b="0" dirty="0">
                <a:latin typeface="+mj-lt"/>
              </a:rPr>
              <a:t>efficient </a:t>
            </a:r>
            <a:r>
              <a:rPr lang="en-US" sz="2000" b="0" dirty="0" smtClean="0">
                <a:latin typeface="+mj-lt"/>
              </a:rPr>
              <a:t>mechanism </a:t>
            </a:r>
            <a:r>
              <a:rPr lang="en-US" sz="2000" b="0" dirty="0">
                <a:latin typeface="+mj-lt"/>
              </a:rPr>
              <a:t>for data </a:t>
            </a:r>
            <a:r>
              <a:rPr lang="en-US" sz="2000" b="0" dirty="0" smtClean="0">
                <a:latin typeface="+mj-lt"/>
              </a:rPr>
              <a:t>sharing</a:t>
            </a:r>
          </a:p>
          <a:p>
            <a:pPr lvl="1"/>
            <a:r>
              <a:rPr lang="en-US" b="0" dirty="0" smtClean="0">
                <a:latin typeface="+mj-lt"/>
              </a:rPr>
              <a:t>State </a:t>
            </a:r>
            <a:r>
              <a:rPr lang="en-US" b="0" dirty="0">
                <a:latin typeface="+mj-lt"/>
              </a:rPr>
              <a:t>between steps goes to distributed file </a:t>
            </a:r>
            <a:r>
              <a:rPr lang="en-US" b="0" dirty="0" smtClean="0">
                <a:latin typeface="+mj-lt"/>
              </a:rPr>
              <a:t>system</a:t>
            </a:r>
          </a:p>
          <a:p>
            <a:pPr lvl="1"/>
            <a:r>
              <a:rPr lang="en-US" b="0" dirty="0" smtClean="0">
                <a:latin typeface="+mj-lt"/>
              </a:rPr>
              <a:t>Slow </a:t>
            </a:r>
            <a:r>
              <a:rPr lang="en-US" b="0" dirty="0">
                <a:latin typeface="+mj-lt"/>
              </a:rPr>
              <a:t>due to replication &amp; disk </a:t>
            </a:r>
            <a:r>
              <a:rPr lang="en-US" b="0" dirty="0" smtClean="0">
                <a:latin typeface="+mj-lt"/>
              </a:rPr>
              <a:t>storage</a:t>
            </a:r>
          </a:p>
          <a:p>
            <a:pPr lvl="1"/>
            <a:endParaRPr lang="en-US" b="0" dirty="0" smtClean="0">
              <a:latin typeface="+mj-lt"/>
            </a:endParaRPr>
          </a:p>
          <a:p>
            <a:pPr lvl="1"/>
            <a:endParaRPr lang="en-US" b="0" dirty="0">
              <a:latin typeface="+mj-lt"/>
            </a:endParaRPr>
          </a:p>
          <a:p>
            <a:r>
              <a:rPr lang="en-US" sz="2000" b="0" dirty="0">
                <a:latin typeface="+mj-lt"/>
              </a:rPr>
              <a:t>Commonly spend 90% of time doing I/O</a:t>
            </a:r>
            <a:endParaRPr lang="en-US" sz="20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4525" y="2514600"/>
            <a:ext cx="64579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Spark: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fast and general purpose cluster computing framework </a:t>
            </a:r>
          </a:p>
          <a:p>
            <a:pPr lvl="1"/>
            <a:r>
              <a:rPr lang="en-US" dirty="0" smtClean="0"/>
              <a:t>Up to 20 times faster than Hadoop map-reduce for certain job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Basic map-reduce + many inbuilt functions + rich library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Can run on </a:t>
            </a:r>
          </a:p>
          <a:p>
            <a:pPr lvl="1"/>
            <a:r>
              <a:rPr lang="en-US" dirty="0" smtClean="0"/>
              <a:t>Distributed file system (HDFS)</a:t>
            </a:r>
          </a:p>
          <a:p>
            <a:pPr lvl="1"/>
            <a:r>
              <a:rPr lang="en-US" dirty="0" smtClean="0"/>
              <a:t>local file systems (</a:t>
            </a:r>
            <a:r>
              <a:rPr lang="en-US" dirty="0" err="1" smtClean="0"/>
              <a:t>unix</a:t>
            </a:r>
            <a:r>
              <a:rPr lang="en-US" dirty="0" smtClean="0"/>
              <a:t>/</a:t>
            </a:r>
            <a:r>
              <a:rPr lang="en-US" dirty="0" err="1" smtClean="0"/>
              <a:t>linux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2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Stack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09700" y="2133600"/>
            <a:ext cx="6629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53100" y="5975121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Cluster managers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781300" y="5181600"/>
            <a:ext cx="3810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19268" y="5759678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Single machine</a:t>
            </a:r>
          </a:p>
          <a:p>
            <a:r>
              <a:rPr lang="en-US" dirty="0" smtClean="0"/>
              <a:t>(Multithreaded applications)</a:t>
            </a:r>
            <a:endParaRPr lang="en-US" dirty="0"/>
          </a:p>
        </p:txBody>
      </p:sp>
      <p:cxnSp>
        <p:nvCxnSpPr>
          <p:cNvPr id="14" name="Straight Arrow Connector 13"/>
          <p:cNvCxnSpPr>
            <a:endCxn id="9" idx="0"/>
          </p:cNvCxnSpPr>
          <p:nvPr/>
        </p:nvCxnSpPr>
        <p:spPr>
          <a:xfrm>
            <a:off x="5600700" y="5181600"/>
            <a:ext cx="950856" cy="793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9" idx="0"/>
          </p:cNvCxnSpPr>
          <p:nvPr/>
        </p:nvCxnSpPr>
        <p:spPr>
          <a:xfrm flipH="1">
            <a:off x="6551556" y="5181600"/>
            <a:ext cx="496944" cy="793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7734300" y="28194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72500" y="2647643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Spark libraries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8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Spark: Components of Distributed Execution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62100" y="1828800"/>
            <a:ext cx="617219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4351" y="1143000"/>
            <a:ext cx="9258300" cy="5334000"/>
          </a:xfrm>
        </p:spPr>
        <p:txBody>
          <a:bodyPr/>
          <a:lstStyle/>
          <a:p>
            <a:r>
              <a:rPr lang="en-US" dirty="0" smtClean="0"/>
              <a:t>In-memory data distribution</a:t>
            </a:r>
          </a:p>
          <a:p>
            <a:endParaRPr lang="en-US" dirty="0" smtClean="0"/>
          </a:p>
          <a:p>
            <a:r>
              <a:rPr lang="en-US" dirty="0" smtClean="0"/>
              <a:t>Lineage Graph for data loss recovery</a:t>
            </a:r>
          </a:p>
          <a:p>
            <a:endParaRPr lang="en-US" dirty="0" smtClean="0"/>
          </a:p>
          <a:p>
            <a:r>
              <a:rPr lang="en-US" dirty="0" smtClean="0"/>
              <a:t>Rich Library</a:t>
            </a:r>
          </a:p>
          <a:p>
            <a:pPr lvl="1"/>
            <a:r>
              <a:rPr lang="en-US" dirty="0" smtClean="0"/>
              <a:t>Graph, ML, SQL, Streaming data</a:t>
            </a:r>
          </a:p>
          <a:p>
            <a:endParaRPr lang="en-US" dirty="0" smtClean="0"/>
          </a:p>
          <a:p>
            <a:r>
              <a:rPr lang="en-US" dirty="0" smtClean="0"/>
              <a:t>Multiple Programming language support</a:t>
            </a:r>
          </a:p>
          <a:p>
            <a:pPr lvl="1"/>
            <a:r>
              <a:rPr lang="en-US" dirty="0" smtClean="0"/>
              <a:t>Java, Scala, Python</a:t>
            </a:r>
          </a:p>
          <a:p>
            <a:endParaRPr lang="en-US" dirty="0" smtClean="0"/>
          </a:p>
          <a:p>
            <a:r>
              <a:rPr lang="en-US" dirty="0" smtClean="0"/>
              <a:t>Interactive</a:t>
            </a:r>
          </a:p>
          <a:p>
            <a:pPr lvl="1"/>
            <a:r>
              <a:rPr lang="en-US" dirty="0" smtClean="0"/>
              <a:t>Can run one line of code at a time and see the intermediate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572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Core Abstraction for Working with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143000"/>
            <a:ext cx="9258300" cy="5334000"/>
          </a:xfrm>
        </p:spPr>
        <p:txBody>
          <a:bodyPr/>
          <a:lstStyle/>
          <a:p>
            <a:r>
              <a:rPr lang="en-US" dirty="0" smtClean="0"/>
              <a:t>Resilient Distributed Dataset (RDD)</a:t>
            </a:r>
          </a:p>
          <a:p>
            <a:pPr lvl="1"/>
            <a:r>
              <a:rPr lang="en-US" dirty="0" smtClean="0"/>
              <a:t>Distributed Collection of records or objects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Immutable (can not be changed/modified)</a:t>
            </a:r>
          </a:p>
          <a:p>
            <a:pPr lvl="1"/>
            <a:endParaRPr lang="en-US" dirty="0" smtClean="0"/>
          </a:p>
          <a:p>
            <a:pPr lvl="1"/>
            <a:r>
              <a:rPr lang="en-US" dirty="0"/>
              <a:t>Each </a:t>
            </a:r>
            <a:r>
              <a:rPr lang="en-US" dirty="0" smtClean="0"/>
              <a:t>RDD is </a:t>
            </a:r>
            <a:r>
              <a:rPr lang="en-US" dirty="0"/>
              <a:t>split into multiple </a:t>
            </a:r>
            <a:r>
              <a:rPr lang="en-US" i="1" dirty="0"/>
              <a:t>partitions</a:t>
            </a:r>
            <a:r>
              <a:rPr lang="en-US" dirty="0"/>
              <a:t>, which may be computed on different nodes of </a:t>
            </a:r>
            <a:r>
              <a:rPr lang="en-US" dirty="0" smtClean="0"/>
              <a:t>the cluster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RDDs can contain any type of Java, Python and Scala objects</a:t>
            </a:r>
          </a:p>
        </p:txBody>
      </p:sp>
    </p:spTree>
    <p:extLst>
      <p:ext uri="{BB962C8B-B14F-4D97-AF65-F5344CB8AC3E}">
        <p14:creationId xmlns:p14="http://schemas.microsoft.com/office/powerpoint/2010/main" val="96345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Steps of a Spark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Create </a:t>
            </a:r>
            <a:r>
              <a:rPr lang="en-US" sz="1800" dirty="0"/>
              <a:t>some input RDDs from external </a:t>
            </a:r>
            <a:r>
              <a:rPr lang="en-US" sz="1800" dirty="0" smtClean="0"/>
              <a:t>data</a:t>
            </a:r>
            <a:r>
              <a:rPr lang="en-US" sz="1800" dirty="0"/>
              <a:t> </a:t>
            </a:r>
            <a:r>
              <a:rPr lang="en-US" sz="1800" dirty="0" smtClean="0"/>
              <a:t>(HDFS or Local FS)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Transform </a:t>
            </a:r>
            <a:r>
              <a:rPr lang="en-US" sz="1800" dirty="0"/>
              <a:t>them to define new RDDs using transformations like </a:t>
            </a:r>
            <a:r>
              <a:rPr lang="en-US" sz="1800" dirty="0" smtClean="0"/>
              <a:t>(</a:t>
            </a:r>
            <a:r>
              <a:rPr lang="en-US" sz="1800" dirty="0" err="1" smtClean="0"/>
              <a:t>e.g</a:t>
            </a:r>
            <a:r>
              <a:rPr lang="en-US" sz="1800" dirty="0" smtClean="0"/>
              <a:t>, </a:t>
            </a:r>
            <a:r>
              <a:rPr lang="en-US" sz="1800" dirty="0" smtClean="0">
                <a:solidFill>
                  <a:srgbClr val="FF0000"/>
                </a:solidFill>
              </a:rPr>
              <a:t>filter()</a:t>
            </a:r>
            <a:r>
              <a:rPr lang="en-US" sz="18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Ask </a:t>
            </a:r>
            <a:r>
              <a:rPr lang="en-US" sz="1800" dirty="0"/>
              <a:t>Spark to </a:t>
            </a:r>
            <a:r>
              <a:rPr lang="en-US" sz="1800" dirty="0">
                <a:solidFill>
                  <a:srgbClr val="FF0000"/>
                </a:solidFill>
              </a:rPr>
              <a:t>persist() </a:t>
            </a:r>
            <a:r>
              <a:rPr lang="en-US" sz="1800" dirty="0" smtClean="0"/>
              <a:t>(keep in memory)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any </a:t>
            </a:r>
            <a:r>
              <a:rPr lang="en-US" sz="1800" dirty="0"/>
              <a:t>intermediate RDDs that will need to be reused</a:t>
            </a:r>
            <a:r>
              <a:rPr lang="en-US" sz="18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 smtClean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smtClean="0"/>
              <a:t>Launch </a:t>
            </a:r>
            <a:r>
              <a:rPr lang="en-US" sz="1800" dirty="0"/>
              <a:t>actions </a:t>
            </a:r>
            <a:r>
              <a:rPr lang="en-US" sz="1800" dirty="0" smtClean="0"/>
              <a:t>(</a:t>
            </a:r>
            <a:r>
              <a:rPr lang="en-US" sz="1800" dirty="0" err="1" smtClean="0"/>
              <a:t>e.g</a:t>
            </a:r>
            <a:r>
              <a:rPr lang="en-US" sz="1800" dirty="0" smtClean="0"/>
              <a:t>, </a:t>
            </a:r>
            <a:r>
              <a:rPr lang="en-US" sz="1800" dirty="0">
                <a:solidFill>
                  <a:srgbClr val="FF0000"/>
                </a:solidFill>
              </a:rPr>
              <a:t>count</a:t>
            </a:r>
            <a:r>
              <a:rPr lang="en-US" sz="1800" dirty="0" smtClean="0">
                <a:solidFill>
                  <a:srgbClr val="FF0000"/>
                </a:solidFill>
              </a:rPr>
              <a:t>()</a:t>
            </a:r>
            <a:r>
              <a:rPr lang="en-US" sz="1800" dirty="0" smtClean="0"/>
              <a:t>) </a:t>
            </a:r>
            <a:r>
              <a:rPr lang="en-US" sz="1800" dirty="0"/>
              <a:t>to kick off a parallel computation</a:t>
            </a:r>
            <a:r>
              <a:rPr lang="en-US" sz="1800" dirty="0" smtClean="0"/>
              <a:t>, which </a:t>
            </a:r>
            <a:r>
              <a:rPr lang="en-US" sz="1800" dirty="0"/>
              <a:t>is then optimized and executed by Spark.</a:t>
            </a:r>
          </a:p>
        </p:txBody>
      </p:sp>
    </p:spTree>
    <p:extLst>
      <p:ext uri="{BB962C8B-B14F-4D97-AF65-F5344CB8AC3E}">
        <p14:creationId xmlns:p14="http://schemas.microsoft.com/office/powerpoint/2010/main" val="154616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an RDD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ways to do it</a:t>
            </a:r>
          </a:p>
          <a:p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By loading an external dataset from disk</a:t>
            </a:r>
          </a:p>
          <a:p>
            <a:pPr marL="439303" lvl="2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 smtClean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 smtClean="0"/>
              <a:t>Parallelizing a </a:t>
            </a:r>
            <a:r>
              <a:rPr lang="en-US" dirty="0"/>
              <a:t>collection in your driver </a:t>
            </a:r>
            <a:r>
              <a:rPr lang="en-US" dirty="0" smtClean="0"/>
              <a:t>(main) program</a:t>
            </a:r>
          </a:p>
          <a:p>
            <a:pPr marL="439303" lvl="2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33500" y="2667000"/>
            <a:ext cx="33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/>
              <a:t>val</a:t>
            </a:r>
            <a:r>
              <a:rPr lang="en-US" sz="1800" dirty="0" smtClean="0"/>
              <a:t> </a:t>
            </a:r>
            <a:r>
              <a:rPr lang="en-US" sz="1800" dirty="0" err="1" smtClean="0"/>
              <a:t>rdd</a:t>
            </a:r>
            <a:r>
              <a:rPr lang="en-US" sz="1800" dirty="0" smtClean="0"/>
              <a:t> = </a:t>
            </a:r>
            <a:r>
              <a:rPr lang="en-US" sz="1800" dirty="0" err="1" smtClean="0"/>
              <a:t>sc.textFile</a:t>
            </a:r>
            <a:r>
              <a:rPr lang="en-US" sz="1800" dirty="0" smtClean="0"/>
              <a:t>(“</a:t>
            </a:r>
            <a:r>
              <a:rPr lang="en-US" sz="1800" dirty="0" err="1" smtClean="0"/>
              <a:t>inputFile</a:t>
            </a:r>
            <a:r>
              <a:rPr lang="en-US" sz="1800" dirty="0" smtClean="0"/>
              <a:t>”)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333500" y="4085144"/>
            <a:ext cx="5221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sz="1600" b="1" dirty="0"/>
              <a:t>val </a:t>
            </a:r>
            <a:r>
              <a:rPr lang="nn-NO" sz="1600" dirty="0"/>
              <a:t>lines </a:t>
            </a:r>
            <a:r>
              <a:rPr lang="nn-NO" sz="1600" b="1" dirty="0"/>
              <a:t>= </a:t>
            </a:r>
            <a:r>
              <a:rPr lang="nn-NO" sz="1600" dirty="0"/>
              <a:t>sc.parallelize(</a:t>
            </a:r>
            <a:r>
              <a:rPr lang="nn-NO" sz="1600" b="1" dirty="0"/>
              <a:t>List</a:t>
            </a:r>
            <a:r>
              <a:rPr lang="nn-NO" sz="1600" dirty="0"/>
              <a:t>("pandas", "i like pandas"))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333500" y="5672187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FF0000"/>
                </a:solidFill>
              </a:rPr>
              <a:t>s</a:t>
            </a:r>
            <a:r>
              <a:rPr lang="en-US" sz="1800" b="1" dirty="0" err="1" smtClean="0">
                <a:solidFill>
                  <a:srgbClr val="FF0000"/>
                </a:solidFill>
              </a:rPr>
              <a:t>c</a:t>
            </a:r>
            <a:r>
              <a:rPr lang="en-US" sz="1800" dirty="0" smtClean="0"/>
              <a:t> denotes the spark context that manages the cluster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169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9258300" cy="465013"/>
          </a:xfrm>
        </p:spPr>
        <p:txBody>
          <a:bodyPr>
            <a:noAutofit/>
          </a:bodyPr>
          <a:lstStyle/>
          <a:p>
            <a:r>
              <a:rPr lang="en-US" sz="2800" dirty="0" smtClean="0"/>
              <a:t>RDD Operations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066800"/>
            <a:ext cx="9258300" cy="5410200"/>
          </a:xfrm>
        </p:spPr>
        <p:txBody>
          <a:bodyPr/>
          <a:lstStyle/>
          <a:p>
            <a:r>
              <a:rPr lang="en-US" dirty="0" smtClean="0"/>
              <a:t>Two types of Operations</a:t>
            </a:r>
          </a:p>
          <a:p>
            <a:pPr lvl="1"/>
            <a:r>
              <a:rPr lang="en-US" dirty="0" smtClean="0"/>
              <a:t>Transformations </a:t>
            </a:r>
          </a:p>
          <a:p>
            <a:pPr lvl="2"/>
            <a:r>
              <a:rPr lang="en-US" b="0" dirty="0"/>
              <a:t>Transformations are operations on RDDs that return a new </a:t>
            </a:r>
            <a:r>
              <a:rPr lang="en-US" b="0" dirty="0" smtClean="0"/>
              <a:t>RDD</a:t>
            </a:r>
          </a:p>
          <a:p>
            <a:pPr lvl="2"/>
            <a:r>
              <a:rPr lang="en-US" b="0" dirty="0" smtClean="0"/>
              <a:t>Example:  </a:t>
            </a:r>
            <a:r>
              <a:rPr lang="en-US" b="0" dirty="0" smtClean="0">
                <a:solidFill>
                  <a:srgbClr val="FF0000"/>
                </a:solidFill>
              </a:rPr>
              <a:t>map(), filter()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Actions</a:t>
            </a:r>
          </a:p>
          <a:p>
            <a:pPr lvl="2"/>
            <a:r>
              <a:rPr lang="en-US" b="0" dirty="0" smtClean="0"/>
              <a:t>operations </a:t>
            </a:r>
            <a:r>
              <a:rPr lang="en-US" b="0" dirty="0"/>
              <a:t>that return a result to the driver </a:t>
            </a:r>
            <a:r>
              <a:rPr lang="en-US" b="0" dirty="0" smtClean="0"/>
              <a:t>program </a:t>
            </a:r>
            <a:r>
              <a:rPr lang="en-US" dirty="0" smtClean="0"/>
              <a:t>OR</a:t>
            </a:r>
            <a:r>
              <a:rPr lang="en-US" b="0" dirty="0" smtClean="0"/>
              <a:t> </a:t>
            </a:r>
            <a:r>
              <a:rPr lang="en-US" b="0" dirty="0"/>
              <a:t>write it to </a:t>
            </a:r>
            <a:r>
              <a:rPr lang="en-US" b="0" dirty="0" smtClean="0"/>
              <a:t>storage</a:t>
            </a:r>
          </a:p>
          <a:p>
            <a:pPr lvl="2"/>
            <a:r>
              <a:rPr lang="en-US" b="0" dirty="0" smtClean="0"/>
              <a:t>It kicks </a:t>
            </a:r>
            <a:r>
              <a:rPr lang="en-US" b="0" dirty="0"/>
              <a:t>off a </a:t>
            </a:r>
            <a:r>
              <a:rPr lang="en-US" b="0" dirty="0" smtClean="0"/>
              <a:t>computation</a:t>
            </a:r>
          </a:p>
          <a:p>
            <a:pPr lvl="2"/>
            <a:r>
              <a:rPr lang="en-US" b="0" dirty="0" smtClean="0"/>
              <a:t>Example: </a:t>
            </a:r>
            <a:r>
              <a:rPr lang="en-US" b="0" dirty="0" smtClean="0">
                <a:solidFill>
                  <a:srgbClr val="FF0000"/>
                </a:solidFill>
              </a:rPr>
              <a:t>count(), </a:t>
            </a:r>
            <a:r>
              <a:rPr lang="en-US" b="0" dirty="0" err="1" smtClean="0">
                <a:solidFill>
                  <a:srgbClr val="FF0000"/>
                </a:solidFill>
              </a:rPr>
              <a:t>saveAsTextFile</a:t>
            </a:r>
            <a:r>
              <a:rPr lang="en-US" b="0" dirty="0" smtClean="0">
                <a:solidFill>
                  <a:srgbClr val="FF0000"/>
                </a:solidFill>
              </a:rPr>
              <a:t>()</a:t>
            </a:r>
          </a:p>
          <a:p>
            <a:pPr lvl="2"/>
            <a:endParaRPr lang="en-US" b="0" dirty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Syntax (</a:t>
            </a:r>
            <a:r>
              <a:rPr lang="en-US" dirty="0" err="1" smtClean="0"/>
              <a:t>scala</a:t>
            </a:r>
            <a:r>
              <a:rPr lang="en-US" dirty="0" smtClean="0"/>
              <a:t> example)</a:t>
            </a:r>
          </a:p>
          <a:p>
            <a:pPr marL="439303" lvl="2" indent="0">
              <a:buNone/>
            </a:pPr>
            <a:r>
              <a:rPr lang="en-US" b="0" dirty="0" smtClean="0"/>
              <a:t> </a:t>
            </a:r>
            <a:r>
              <a:rPr lang="en-US" b="0" dirty="0" err="1" smtClean="0"/>
              <a:t>val</a:t>
            </a:r>
            <a:r>
              <a:rPr lang="en-US" b="0" dirty="0" smtClean="0"/>
              <a:t> </a:t>
            </a:r>
            <a:r>
              <a:rPr lang="en-US" b="0" dirty="0" err="1" smtClean="0"/>
              <a:t>newRdd</a:t>
            </a:r>
            <a:r>
              <a:rPr lang="en-US" b="0" dirty="0" smtClean="0"/>
              <a:t> = </a:t>
            </a:r>
            <a:r>
              <a:rPr lang="en-US" b="0" dirty="0" err="1" smtClean="0"/>
              <a:t>oldRdd.map</a:t>
            </a:r>
            <a:r>
              <a:rPr lang="en-US" b="0" dirty="0" smtClean="0"/>
              <a:t>(….)</a:t>
            </a:r>
            <a:r>
              <a:rPr lang="en-US" dirty="0" smtClean="0"/>
              <a:t> </a:t>
            </a:r>
          </a:p>
          <a:p>
            <a:pPr marL="439303" lvl="2" indent="0">
              <a:buNone/>
            </a:pPr>
            <a:endParaRPr lang="en-US" dirty="0" smtClean="0"/>
          </a:p>
          <a:p>
            <a:pPr marL="439303" lvl="2" indent="0">
              <a:buNone/>
            </a:pPr>
            <a:r>
              <a:rPr lang="en-US" dirty="0"/>
              <a:t> </a:t>
            </a:r>
            <a:r>
              <a:rPr lang="en-US" sz="1400" b="0" dirty="0" smtClean="0"/>
              <a:t>(creates new </a:t>
            </a:r>
            <a:r>
              <a:rPr lang="en-US" sz="1400" b="0" dirty="0" err="1" smtClean="0"/>
              <a:t>rdd</a:t>
            </a:r>
            <a:r>
              <a:rPr lang="en-US" sz="1400" b="0" dirty="0" smtClean="0"/>
              <a:t> from </a:t>
            </a:r>
            <a:r>
              <a:rPr lang="en-US" sz="1400" dirty="0" err="1" smtClean="0"/>
              <a:t>oldRdd</a:t>
            </a:r>
            <a:r>
              <a:rPr lang="en-US" sz="1400" dirty="0" smtClean="0"/>
              <a:t> </a:t>
            </a:r>
            <a:r>
              <a:rPr lang="en-US" sz="1400" b="0" dirty="0" smtClean="0"/>
              <a:t>and saves in </a:t>
            </a:r>
            <a:r>
              <a:rPr lang="en-US" sz="1400" dirty="0" err="1" smtClean="0"/>
              <a:t>newRdd</a:t>
            </a:r>
            <a:r>
              <a:rPr lang="en-US" sz="1400" b="0" dirty="0" smtClean="0"/>
              <a:t>)</a:t>
            </a:r>
            <a:endParaRPr lang="en-US" sz="1400" b="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124770" y="5139874"/>
            <a:ext cx="175260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07900" y="5254174"/>
            <a:ext cx="24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User defined code/function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89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04800"/>
            <a:ext cx="9258300" cy="541214"/>
          </a:xfrm>
        </p:spPr>
        <p:txBody>
          <a:bodyPr/>
          <a:lstStyle/>
          <a:p>
            <a:r>
              <a:rPr lang="en-US" dirty="0" smtClean="0"/>
              <a:t>Example of Basic RDD Transformations: Single RDD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/>
          <a:lstStyle/>
          <a:p>
            <a:r>
              <a:rPr lang="en-US" dirty="0" smtClean="0"/>
              <a:t>RDD containing {1,2,3,3}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676400"/>
            <a:ext cx="7239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4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Basic </a:t>
            </a:r>
            <a:r>
              <a:rPr lang="en-US" dirty="0"/>
              <a:t>RDD </a:t>
            </a:r>
            <a:r>
              <a:rPr lang="en-US" dirty="0" smtClean="0"/>
              <a:t>Transformations: Two RDD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Two-RDD transformations on RDDs containing {1, 2, 3} and {3, 4, 5}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2500" y="1981200"/>
            <a:ext cx="7848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Basic RDD </a:t>
            </a:r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RDD containing {1, 2, 3, 3</a:t>
            </a:r>
            <a:r>
              <a:rPr lang="en-US" dirty="0" smtClean="0"/>
              <a:t>}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" y="4487917"/>
            <a:ext cx="6824662" cy="1185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100" y="2057400"/>
            <a:ext cx="682466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6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Persistence (Caching)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143000"/>
            <a:ext cx="92583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Goal is to keep </a:t>
            </a:r>
            <a:r>
              <a:rPr lang="en-US" dirty="0" err="1" smtClean="0"/>
              <a:t>rdd</a:t>
            </a:r>
            <a:r>
              <a:rPr lang="en-US" dirty="0" smtClean="0"/>
              <a:t> in memory, distributed across machines</a:t>
            </a:r>
          </a:p>
          <a:p>
            <a:pPr lvl="1"/>
            <a:r>
              <a:rPr lang="en-US" dirty="0" smtClean="0"/>
              <a:t>Very effective for iterative computation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Syntax</a:t>
            </a:r>
          </a:p>
          <a:p>
            <a:pPr marL="439303" lvl="2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pPr marL="219651" lvl="1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2500" y="2057400"/>
            <a:ext cx="6324600" cy="3124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1100" y="5691001"/>
            <a:ext cx="235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yourRdd.MEMORY_ONLY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446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Paired RDD: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990601"/>
            <a:ext cx="9582149" cy="5638798"/>
          </a:xfrm>
        </p:spPr>
        <p:txBody>
          <a:bodyPr/>
          <a:lstStyle/>
          <a:p>
            <a:r>
              <a:rPr lang="en-US" sz="1800" dirty="0" smtClean="0"/>
              <a:t>RDD containing key-value pairs</a:t>
            </a:r>
          </a:p>
          <a:p>
            <a:endParaRPr lang="en-US" sz="1800" dirty="0" smtClean="0"/>
          </a:p>
          <a:p>
            <a:r>
              <a:rPr lang="en-US" sz="1800" dirty="0" smtClean="0"/>
              <a:t>The fundamental concept behind original map-reduce model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2000" dirty="0" smtClean="0"/>
              <a:t>Transformations </a:t>
            </a:r>
            <a:r>
              <a:rPr lang="en-US" sz="2000" dirty="0"/>
              <a:t>on one </a:t>
            </a:r>
            <a:r>
              <a:rPr lang="en-US" sz="2000" dirty="0" smtClean="0"/>
              <a:t>paired </a:t>
            </a:r>
            <a:r>
              <a:rPr lang="en-US" sz="2000" dirty="0"/>
              <a:t>RDD </a:t>
            </a:r>
            <a:r>
              <a:rPr lang="en-US" sz="2000" dirty="0" smtClean="0"/>
              <a:t>containing </a:t>
            </a:r>
            <a:r>
              <a:rPr lang="en-US" sz="2000" dirty="0"/>
              <a:t>{(1, 2), (3, 4), (3, 6</a:t>
            </a:r>
            <a:r>
              <a:rPr lang="en-US" sz="2000" dirty="0" smtClean="0"/>
              <a:t>)}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1100" y="2900854"/>
            <a:ext cx="7772400" cy="20592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98014" y="5118468"/>
            <a:ext cx="7887685" cy="151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4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Paired RDD: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Transformations on two </a:t>
            </a:r>
            <a:r>
              <a:rPr lang="en-US" sz="1800" dirty="0" smtClean="0"/>
              <a:t>paired </a:t>
            </a:r>
            <a:r>
              <a:rPr lang="en-US" sz="1800" dirty="0"/>
              <a:t>RDDs (</a:t>
            </a:r>
            <a:r>
              <a:rPr lang="en-US" sz="1800" dirty="0" err="1">
                <a:solidFill>
                  <a:srgbClr val="C00000"/>
                </a:solidFill>
              </a:rPr>
              <a:t>rdd</a:t>
            </a:r>
            <a:r>
              <a:rPr lang="en-US" sz="1800" dirty="0"/>
              <a:t> = {(1, 2), (3, 4</a:t>
            </a:r>
            <a:r>
              <a:rPr lang="en-US" sz="1800" dirty="0" smtClean="0"/>
              <a:t>), </a:t>
            </a:r>
            <a:r>
              <a:rPr lang="en-US" sz="1800" dirty="0"/>
              <a:t>(3, 6</a:t>
            </a:r>
            <a:r>
              <a:rPr lang="en-US" sz="1800" dirty="0" smtClean="0"/>
              <a:t>)}, </a:t>
            </a:r>
            <a:r>
              <a:rPr lang="en-US" sz="1800" dirty="0" smtClean="0">
                <a:solidFill>
                  <a:srgbClr val="C00000"/>
                </a:solidFill>
              </a:rPr>
              <a:t>other</a:t>
            </a:r>
            <a:r>
              <a:rPr lang="en-US" sz="1800" dirty="0" smtClean="0"/>
              <a:t> </a:t>
            </a:r>
            <a:r>
              <a:rPr lang="en-US" sz="1800" dirty="0"/>
              <a:t>= {(3, 9</a:t>
            </a:r>
            <a:r>
              <a:rPr lang="en-US" sz="1800" dirty="0" smtClean="0"/>
              <a:t>)})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  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2500" y="2209800"/>
            <a:ext cx="8382000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4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 Library: </a:t>
            </a:r>
            <a:r>
              <a:rPr lang="en-US" dirty="0" err="1" smtClean="0"/>
              <a:t>MLib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L</a:t>
            </a:r>
            <a:r>
              <a:rPr lang="en-US" sz="1600" dirty="0" smtClean="0"/>
              <a:t>ogistic regression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Linear SVM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G</a:t>
            </a:r>
            <a:r>
              <a:rPr lang="en-US" sz="1600" dirty="0" smtClean="0"/>
              <a:t>eneralized </a:t>
            </a:r>
            <a:r>
              <a:rPr lang="en-US" sz="1600" dirty="0"/>
              <a:t>linear models (GLMs</a:t>
            </a:r>
            <a:r>
              <a:rPr lang="en-US" sz="1600" dirty="0" smtClean="0"/>
              <a:t>)</a:t>
            </a:r>
          </a:p>
          <a:p>
            <a:endParaRPr lang="en-US" sz="1600" dirty="0"/>
          </a:p>
          <a:p>
            <a:r>
              <a:rPr lang="en-US" sz="1600" dirty="0"/>
              <a:t>R</a:t>
            </a:r>
            <a:r>
              <a:rPr lang="en-US" sz="1600" dirty="0" smtClean="0"/>
              <a:t>egression tree</a:t>
            </a:r>
          </a:p>
          <a:p>
            <a:endParaRPr lang="en-US" sz="1600" dirty="0"/>
          </a:p>
          <a:p>
            <a:r>
              <a:rPr lang="en-US" sz="1600" dirty="0"/>
              <a:t>C</a:t>
            </a:r>
            <a:r>
              <a:rPr lang="en-US" sz="1600" dirty="0" smtClean="0"/>
              <a:t>ollaborative </a:t>
            </a:r>
            <a:r>
              <a:rPr lang="en-US" sz="1600" dirty="0"/>
              <a:t>filtering: alternating least squares (ALS</a:t>
            </a:r>
            <a:r>
              <a:rPr lang="en-US" sz="1600" dirty="0" smtClean="0"/>
              <a:t>)</a:t>
            </a:r>
          </a:p>
          <a:p>
            <a:endParaRPr lang="en-US" sz="1600" dirty="0"/>
          </a:p>
          <a:p>
            <a:r>
              <a:rPr lang="en-US" sz="1600" dirty="0"/>
              <a:t>N</a:t>
            </a:r>
            <a:r>
              <a:rPr lang="en-US" sz="1600" dirty="0" smtClean="0"/>
              <a:t>on-negative </a:t>
            </a:r>
            <a:r>
              <a:rPr lang="en-US" sz="1600" dirty="0"/>
              <a:t>matrix factorization (NMF</a:t>
            </a:r>
            <a:r>
              <a:rPr lang="en-US" sz="1600" dirty="0" smtClean="0"/>
              <a:t>)</a:t>
            </a:r>
          </a:p>
          <a:p>
            <a:endParaRPr lang="en-US" sz="1600" dirty="0"/>
          </a:p>
          <a:p>
            <a:r>
              <a:rPr lang="en-US" sz="1600" dirty="0" smtClean="0"/>
              <a:t>k-means</a:t>
            </a:r>
          </a:p>
          <a:p>
            <a:endParaRPr lang="en-US" sz="1600" dirty="0"/>
          </a:p>
          <a:p>
            <a:r>
              <a:rPr lang="en-US" sz="1600" dirty="0" smtClean="0"/>
              <a:t>SVD</a:t>
            </a:r>
          </a:p>
          <a:p>
            <a:endParaRPr lang="en-US" sz="1600" dirty="0"/>
          </a:p>
          <a:p>
            <a:r>
              <a:rPr lang="en-US" sz="1600" dirty="0" smtClean="0"/>
              <a:t>PCA</a:t>
            </a:r>
          </a:p>
          <a:p>
            <a:endParaRPr lang="en-US" sz="1600" dirty="0"/>
          </a:p>
          <a:p>
            <a:r>
              <a:rPr lang="en-US" sz="1600" dirty="0" smtClean="0"/>
              <a:t>Stochastic </a:t>
            </a:r>
            <a:r>
              <a:rPr lang="en-US" sz="1600" dirty="0"/>
              <a:t>gradient </a:t>
            </a:r>
            <a:r>
              <a:rPr lang="en-US" sz="1600" dirty="0" smtClean="0"/>
              <a:t>descent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73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Library: </a:t>
            </a:r>
            <a:r>
              <a:rPr lang="en-US" dirty="0" err="1" smtClean="0"/>
              <a:t>GraphX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Triangle-counting</a:t>
            </a:r>
          </a:p>
          <a:p>
            <a:endParaRPr lang="en-US" sz="1600" dirty="0" smtClean="0"/>
          </a:p>
          <a:p>
            <a:r>
              <a:rPr lang="en-US" sz="1600" dirty="0"/>
              <a:t>Belief </a:t>
            </a:r>
            <a:r>
              <a:rPr lang="en-US" sz="1600" dirty="0" smtClean="0"/>
              <a:t>Propagation</a:t>
            </a:r>
          </a:p>
          <a:p>
            <a:endParaRPr lang="en-US" sz="1600" dirty="0" smtClean="0"/>
          </a:p>
          <a:p>
            <a:r>
              <a:rPr lang="en-US" sz="1600" dirty="0" smtClean="0"/>
              <a:t>PageRank</a:t>
            </a:r>
          </a:p>
          <a:p>
            <a:endParaRPr lang="en-US" sz="1600" dirty="0" smtClean="0"/>
          </a:p>
          <a:p>
            <a:r>
              <a:rPr lang="en-US" sz="1600" dirty="0"/>
              <a:t>Personalized </a:t>
            </a:r>
            <a:r>
              <a:rPr lang="en-US" sz="1600" dirty="0" smtClean="0"/>
              <a:t>PageRank</a:t>
            </a:r>
          </a:p>
          <a:p>
            <a:endParaRPr lang="en-US" sz="1600" dirty="0" smtClean="0"/>
          </a:p>
          <a:p>
            <a:r>
              <a:rPr lang="en-US" sz="1600" dirty="0"/>
              <a:t>Shortest </a:t>
            </a:r>
            <a:r>
              <a:rPr lang="en-US" sz="1600" dirty="0" smtClean="0"/>
              <a:t>Path</a:t>
            </a:r>
          </a:p>
          <a:p>
            <a:endParaRPr lang="en-US" sz="1600" dirty="0" smtClean="0"/>
          </a:p>
          <a:p>
            <a:r>
              <a:rPr lang="en-US" sz="1600" dirty="0"/>
              <a:t>Graph </a:t>
            </a:r>
            <a:r>
              <a:rPr lang="en-US" sz="1600" dirty="0" smtClean="0"/>
              <a:t>Coloring</a:t>
            </a:r>
          </a:p>
          <a:p>
            <a:endParaRPr lang="en-US" sz="1600" dirty="0" smtClean="0"/>
          </a:p>
          <a:p>
            <a:r>
              <a:rPr lang="en-US" sz="1600" dirty="0"/>
              <a:t>Neural </a:t>
            </a:r>
            <a:r>
              <a:rPr lang="en-US" sz="1600" dirty="0" smtClean="0"/>
              <a:t>Networks</a:t>
            </a:r>
          </a:p>
          <a:p>
            <a:endParaRPr lang="en-US" sz="1600" dirty="0" smtClean="0"/>
          </a:p>
          <a:p>
            <a:r>
              <a:rPr lang="en-US" sz="1600" dirty="0"/>
              <a:t>Graph </a:t>
            </a:r>
            <a:r>
              <a:rPr lang="en-US" sz="1600" dirty="0" smtClean="0"/>
              <a:t>Semi-supervised learning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4172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35" y="381000"/>
            <a:ext cx="9258300" cy="541214"/>
          </a:xfrm>
        </p:spPr>
        <p:txBody>
          <a:bodyPr/>
          <a:lstStyle/>
          <a:p>
            <a:r>
              <a:rPr lang="en-US" dirty="0" smtClean="0"/>
              <a:t>Spark Streaming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295400"/>
            <a:ext cx="9658349" cy="5181600"/>
          </a:xfrm>
        </p:spPr>
        <p:txBody>
          <a:bodyPr>
            <a:normAutofit/>
          </a:bodyPr>
          <a:lstStyle/>
          <a:p>
            <a:r>
              <a:rPr lang="en-US" sz="2000" dirty="0"/>
              <a:t>Run a streaming computation as a </a:t>
            </a:r>
            <a:r>
              <a:rPr lang="en-US" sz="2000" dirty="0" smtClean="0"/>
              <a:t>series of </a:t>
            </a:r>
            <a:r>
              <a:rPr lang="en-US" sz="2000" dirty="0"/>
              <a:t>very small, </a:t>
            </a:r>
            <a:r>
              <a:rPr lang="en-US" sz="2000" dirty="0" smtClean="0"/>
              <a:t>batch jobs</a:t>
            </a:r>
          </a:p>
          <a:p>
            <a:endParaRPr lang="en-US" b="0" dirty="0" smtClean="0"/>
          </a:p>
          <a:p>
            <a:pPr lvl="1"/>
            <a:r>
              <a:rPr lang="en-US" sz="1600" dirty="0" smtClean="0"/>
              <a:t>Chop up the live</a:t>
            </a:r>
            <a:r>
              <a:rPr lang="en-US" sz="1600" dirty="0"/>
              <a:t> </a:t>
            </a:r>
            <a:r>
              <a:rPr lang="en-US" sz="1600" dirty="0" smtClean="0"/>
              <a:t>stream into batches of t seconds</a:t>
            </a:r>
          </a:p>
          <a:p>
            <a:pPr lvl="1"/>
            <a:endParaRPr lang="en-US" sz="1600" dirty="0" smtClean="0"/>
          </a:p>
          <a:p>
            <a:pPr lvl="1"/>
            <a:r>
              <a:rPr lang="en-US" sz="1600" dirty="0" smtClean="0"/>
              <a:t>Spark treats each batch of data as RDDs and process them using RDD operations</a:t>
            </a:r>
          </a:p>
          <a:p>
            <a:pPr lvl="1"/>
            <a:endParaRPr lang="en-US" sz="1600" dirty="0" smtClean="0"/>
          </a:p>
          <a:p>
            <a:pPr lvl="1"/>
            <a:r>
              <a:rPr lang="en-US" sz="1600" dirty="0" smtClean="0"/>
              <a:t>The processed results are returned as batches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2615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457200"/>
            <a:ext cx="9258300" cy="541214"/>
          </a:xfrm>
        </p:spPr>
        <p:txBody>
          <a:bodyPr/>
          <a:lstStyle/>
          <a:p>
            <a:r>
              <a:rPr lang="en-US" dirty="0" smtClean="0"/>
              <a:t>Spark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295400"/>
            <a:ext cx="9944100" cy="5181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2667000"/>
            <a:ext cx="982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/>
              <a:t>val</a:t>
            </a:r>
            <a:r>
              <a:rPr lang="en-US" sz="1800" b="1" dirty="0"/>
              <a:t> </a:t>
            </a:r>
            <a:r>
              <a:rPr lang="en-US" sz="1800" b="1" dirty="0" smtClean="0"/>
              <a:t>teens </a:t>
            </a:r>
            <a:r>
              <a:rPr lang="en-US" sz="1800" b="1" dirty="0"/>
              <a:t>= </a:t>
            </a:r>
            <a:r>
              <a:rPr lang="en-US" sz="1800" b="1" dirty="0" err="1"/>
              <a:t>context.sql</a:t>
            </a:r>
            <a:r>
              <a:rPr lang="en-US" sz="1800" b="1" dirty="0" smtClean="0"/>
              <a:t>("</a:t>
            </a:r>
            <a:r>
              <a:rPr lang="en-US" sz="1800" b="1" dirty="0"/>
              <a:t>SELECT name FROM </a:t>
            </a:r>
            <a:r>
              <a:rPr lang="en-US" sz="1800" b="1" dirty="0">
                <a:solidFill>
                  <a:srgbClr val="C00000"/>
                </a:solidFill>
              </a:rPr>
              <a:t>people</a:t>
            </a:r>
            <a:r>
              <a:rPr lang="en-US" sz="1800" b="1" dirty="0"/>
              <a:t> WHERE age &gt;= 13 AND age &lt;= 19")</a:t>
            </a:r>
          </a:p>
        </p:txBody>
      </p:sp>
    </p:spTree>
    <p:extLst>
      <p:ext uri="{BB962C8B-B14F-4D97-AF65-F5344CB8AC3E}">
        <p14:creationId xmlns:p14="http://schemas.microsoft.com/office/powerpoint/2010/main" val="129831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Running Spark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257800"/>
          </a:xfrm>
        </p:spPr>
        <p:txBody>
          <a:bodyPr/>
          <a:lstStyle/>
          <a:p>
            <a:r>
              <a:rPr lang="en-US" dirty="0" smtClean="0"/>
              <a:t>On local machine</a:t>
            </a:r>
          </a:p>
          <a:p>
            <a:pPr marL="219651" lvl="1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Interactive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219651" lvl="1" indent="0">
              <a:buNone/>
            </a:pPr>
            <a:endParaRPr lang="en-US" dirty="0"/>
          </a:p>
          <a:p>
            <a:r>
              <a:rPr lang="en-US" dirty="0"/>
              <a:t>On a cluster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3899" y="1726854"/>
            <a:ext cx="848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spark-submit –class &lt;main class&gt; --master local[# thread] &lt;jar file&gt; [main class arguments]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723899" y="2954060"/>
            <a:ext cx="1175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</a:t>
            </a:r>
            <a:r>
              <a:rPr lang="en-US" sz="1600" dirty="0" smtClean="0"/>
              <a:t>park-shell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07348" y="4495800"/>
            <a:ext cx="906530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spark-submit –class &lt;main class&gt; --master yarn-cluster [options] &lt;jar file&gt; [main class arguments]</a:t>
            </a:r>
          </a:p>
          <a:p>
            <a:endParaRPr lang="en-US" sz="1600" dirty="0" smtClean="0"/>
          </a:p>
          <a:p>
            <a:r>
              <a:rPr lang="en-US" sz="1600" dirty="0" smtClean="0"/>
              <a:t>where the </a:t>
            </a:r>
            <a:r>
              <a:rPr lang="en-US" sz="1600" b="1" dirty="0" smtClean="0"/>
              <a:t>options</a:t>
            </a:r>
            <a:r>
              <a:rPr lang="en-US" sz="1600" dirty="0" smtClean="0"/>
              <a:t> can be  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--</a:t>
            </a:r>
            <a:r>
              <a:rPr lang="en-US" sz="1600" dirty="0" err="1" smtClean="0"/>
              <a:t>num</a:t>
            </a:r>
            <a:r>
              <a:rPr lang="en-US" sz="1600" dirty="0" smtClean="0"/>
              <a:t>-executors 10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--driver-memory 4g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--executor-memory 2g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--executor-cores 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687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9894</TotalTime>
  <Words>2021</Words>
  <Application>Microsoft Office PowerPoint</Application>
  <PresentationFormat>35mm Slides</PresentationFormat>
  <Paragraphs>443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Clarity</vt:lpstr>
      <vt:lpstr>Custom Design</vt:lpstr>
      <vt:lpstr>  Introduction to map-reduce</vt:lpstr>
      <vt:lpstr>Today’s Topics</vt:lpstr>
      <vt:lpstr>Map-reduce Internals: Additional Details</vt:lpstr>
      <vt:lpstr>What Map-Reduce Framework Does for You?</vt:lpstr>
      <vt:lpstr>Data Flow</vt:lpstr>
      <vt:lpstr>Coordination by Master</vt:lpstr>
      <vt:lpstr>Dealing with Failures</vt:lpstr>
      <vt:lpstr>How many Map and Reduce jobs?</vt:lpstr>
      <vt:lpstr>Inverted Index</vt:lpstr>
      <vt:lpstr>Inverted Index: Recap</vt:lpstr>
      <vt:lpstr>Inverted Index Construction</vt:lpstr>
      <vt:lpstr>Inverted Index Construction: Map-reduce Equivalence</vt:lpstr>
      <vt:lpstr>Inverted Index Construction: Map-reduce Algorithm</vt:lpstr>
      <vt:lpstr>Inverted Index Construction: Map-reduce Algorithm</vt:lpstr>
      <vt:lpstr>Distributed Index</vt:lpstr>
      <vt:lpstr>Spark</vt:lpstr>
      <vt:lpstr>Limitations of basic map-reduce</vt:lpstr>
      <vt:lpstr>Spark: Overview</vt:lpstr>
      <vt:lpstr>Spark Stack</vt:lpstr>
      <vt:lpstr>Spark: Components of Distributed Execution</vt:lpstr>
      <vt:lpstr>Key Features</vt:lpstr>
      <vt:lpstr>Core Abstraction for Working with Data</vt:lpstr>
      <vt:lpstr>Main Steps of a Spark Program</vt:lpstr>
      <vt:lpstr>Creating an RDD</vt:lpstr>
      <vt:lpstr>RDD Operations</vt:lpstr>
      <vt:lpstr>Example of Basic RDD Transformations: Single RDD</vt:lpstr>
      <vt:lpstr>Example of Basic RDD Transformations: Two RDD</vt:lpstr>
      <vt:lpstr>Example of Basic RDD Actions</vt:lpstr>
      <vt:lpstr>Persistence (Caching)</vt:lpstr>
      <vt:lpstr>Paired RDD: Example</vt:lpstr>
      <vt:lpstr>Paired RDD: Example</vt:lpstr>
      <vt:lpstr>ML Library: MLib</vt:lpstr>
      <vt:lpstr>Graph Library: GraphX</vt:lpstr>
      <vt:lpstr>Spark Streaming</vt:lpstr>
      <vt:lpstr>Spark SQL</vt:lpstr>
      <vt:lpstr>Running Spark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1547</cp:revision>
  <dcterms:created xsi:type="dcterms:W3CDTF">2006-08-16T00:00:00Z</dcterms:created>
  <dcterms:modified xsi:type="dcterms:W3CDTF">2017-03-18T12:00:34Z</dcterms:modified>
</cp:coreProperties>
</file>