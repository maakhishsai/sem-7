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59" r:id="rId7"/>
    <p:sldId id="268" r:id="rId8"/>
    <p:sldId id="260" r:id="rId9"/>
    <p:sldId id="269" r:id="rId10"/>
    <p:sldId id="261" r:id="rId11"/>
    <p:sldId id="270" r:id="rId12"/>
    <p:sldId id="262" r:id="rId13"/>
    <p:sldId id="271" r:id="rId14"/>
    <p:sldId id="272" r:id="rId15"/>
    <p:sldId id="273" r:id="rId16"/>
    <p:sldId id="264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164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69227"/>
            <a:ext cx="7772400" cy="1470025"/>
          </a:xfrm>
        </p:spPr>
        <p:txBody>
          <a:bodyPr/>
          <a:lstStyle/>
          <a:p>
            <a:r>
              <a:rPr b="1" dirty="0"/>
              <a:t>3-SAT Problem Solving using AI Search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147238"/>
            <a:ext cx="7772400" cy="2325131"/>
          </a:xfrm>
        </p:spPr>
        <p:txBody>
          <a:bodyPr>
            <a:normAutofit/>
          </a:bodyPr>
          <a:lstStyle/>
          <a:p>
            <a:pPr algn="l"/>
            <a:r>
              <a:rPr lang="en-US" sz="2000" b="1" u="sng" dirty="0"/>
              <a:t>Members : </a:t>
            </a:r>
          </a:p>
          <a:p>
            <a:r>
              <a:rPr lang="en-US" sz="2000" dirty="0" err="1"/>
              <a:t>Punnam</a:t>
            </a:r>
            <a:r>
              <a:rPr lang="en-US" sz="2000" dirty="0"/>
              <a:t> Maakhish Sai                  B221135CS</a:t>
            </a:r>
          </a:p>
          <a:p>
            <a:r>
              <a:rPr lang="en-US" sz="2000" dirty="0" err="1"/>
              <a:t>Bavusani</a:t>
            </a:r>
            <a:r>
              <a:rPr lang="en-US" sz="2000" dirty="0"/>
              <a:t> Mithilesh Reddy            B220768CS</a:t>
            </a:r>
          </a:p>
          <a:p>
            <a:r>
              <a:rPr lang="en-US" sz="2000" dirty="0"/>
              <a:t>Kranti Sambhav                              B220970CS</a:t>
            </a:r>
          </a:p>
          <a:p>
            <a:r>
              <a:rPr lang="en-US" sz="2000" dirty="0"/>
              <a:t>Hande Rajat Santosh                     B220891CS</a:t>
            </a:r>
            <a:endParaRPr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F9918-9C33-4315-CF13-C51CAF818B42}"/>
              </a:ext>
            </a:extLst>
          </p:cNvPr>
          <p:cNvSpPr txBox="1"/>
          <p:nvPr/>
        </p:nvSpPr>
        <p:spPr>
          <a:xfrm>
            <a:off x="2743200" y="2924191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MindMesh</a:t>
            </a: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3-SAT (3-Satisfiability) </a:t>
            </a:r>
            <a:r>
              <a:rPr lang="en-US" sz="2200" dirty="0"/>
              <a:t>is a classic </a:t>
            </a:r>
            <a:r>
              <a:rPr lang="en-US" sz="2200" b="1" dirty="0"/>
              <a:t>NP-Complete</a:t>
            </a:r>
            <a:r>
              <a:rPr lang="en-US" sz="2200" dirty="0"/>
              <a:t> problem in computational complexity. It is a special case of the </a:t>
            </a:r>
            <a:r>
              <a:rPr lang="en-US" sz="2200" b="1" dirty="0"/>
              <a:t>Boolean Satisfiability (SAT)</a:t>
            </a:r>
            <a:r>
              <a:rPr lang="en-US" sz="2200" dirty="0"/>
              <a:t> problem, where the goal is to determine if a Boolean formula can be satisfied by some assignment of truth values. </a:t>
            </a:r>
          </a:p>
          <a:p>
            <a:r>
              <a:rPr lang="en-US" sz="2200" dirty="0"/>
              <a:t>The formula is expressed in </a:t>
            </a:r>
            <a:r>
              <a:rPr lang="en-US" sz="2200" b="1" dirty="0"/>
              <a:t>Conjunctive Normal Form (CNF)</a:t>
            </a:r>
            <a:r>
              <a:rPr lang="en-US" sz="2200" dirty="0"/>
              <a:t>, i.e., an </a:t>
            </a:r>
            <a:r>
              <a:rPr lang="en-US" sz="2200" b="1" dirty="0"/>
              <a:t>AND of clauses</a:t>
            </a:r>
            <a:r>
              <a:rPr lang="en-US" sz="2200" dirty="0"/>
              <a:t>, where each clause is an </a:t>
            </a:r>
            <a:r>
              <a:rPr lang="en-US" sz="2200" b="1" dirty="0"/>
              <a:t>OR of literals</a:t>
            </a:r>
            <a:r>
              <a:rPr lang="en-US" sz="2200" dirty="0"/>
              <a:t>. In </a:t>
            </a:r>
            <a:r>
              <a:rPr lang="en-US" sz="2200" b="1" dirty="0"/>
              <a:t>3-SAT</a:t>
            </a:r>
            <a:r>
              <a:rPr lang="en-US" sz="2200" dirty="0"/>
              <a:t>, each clause contains exactly three literals. </a:t>
            </a:r>
          </a:p>
          <a:p>
            <a:r>
              <a:rPr lang="en-US" sz="2200" dirty="0"/>
              <a:t>The task is to check whether there exists an assignment of true/false values to the variables such that the entire </a:t>
            </a:r>
            <a:r>
              <a:rPr lang="en-US" sz="2200" b="1" dirty="0"/>
              <a:t>3-CNF</a:t>
            </a:r>
            <a:r>
              <a:rPr lang="en-US" sz="2200" dirty="0"/>
              <a:t> formula evaluates to true.</a:t>
            </a:r>
            <a:endParaRPr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200" dirty="0"/>
              <a:t>• Implement multiple AI search algorithms to solve 3-SAT.</a:t>
            </a:r>
            <a:endParaRPr lang="en-US" sz="2200" dirty="0"/>
          </a:p>
          <a:p>
            <a:pPr marL="0" indent="0">
              <a:buNone/>
            </a:pPr>
            <a:endParaRPr sz="2200" dirty="0"/>
          </a:p>
          <a:p>
            <a:pPr marL="0" indent="0">
              <a:buNone/>
            </a:pPr>
            <a:r>
              <a:rPr sz="2200" dirty="0"/>
              <a:t>• Compare performance of uninformed (BFS) vs informed (</a:t>
            </a:r>
            <a:r>
              <a:rPr lang="en-IN" sz="2200" dirty="0"/>
              <a:t>Best-FS, </a:t>
            </a:r>
            <a:r>
              <a:rPr sz="2200" dirty="0"/>
              <a:t>A*, Hill Climbing).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sz="2200" dirty="0"/>
              <a:t>• Analyze trade-offs in speed, completeness, and memory usage.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F7A56-DE26-06DF-DDB6-B61E8F1E8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7642-BB06-6711-8CBC-7BFC41FA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State Space Representation</a:t>
            </a:r>
            <a:endParaRPr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FC5C5B5-1A63-3974-5D43-89F4E322639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57200" y="1521970"/>
                <a:ext cx="8229600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000" b="1" dirty="0"/>
                  <a:t>State Space Representation: (N, A, S, GD)</a:t>
                </a:r>
              </a:p>
              <a:p>
                <a:r>
                  <a:rPr lang="en-IN" sz="2000" b="1" dirty="0"/>
                  <a:t>N (States):</a:t>
                </a:r>
                <a:br>
                  <a:rPr lang="en-IN" sz="2000" dirty="0"/>
                </a:br>
                <a14:m>
                  <m:oMath xmlns:m="http://schemas.openxmlformats.org/officeDocument/2006/math">
                    <m:r>
                      <a:rPr lang="en-IN" sz="1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1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sepChr m:val=","/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ar-AE" sz="1800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sepChr m:val=","/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</m:d>
                      </m:e>
                    </m:d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 			             0 </a:t>
                </a:r>
                <a:r>
                  <a:rPr lang="ar-AE" sz="1800" dirty="0"/>
                  <a:t> → </a:t>
                </a:r>
                <a:r>
                  <a:rPr lang="en-IN" sz="1800" dirty="0"/>
                  <a:t>false, 1 → true, – → unassigned</a:t>
                </a:r>
              </a:p>
              <a:p>
                <a:r>
                  <a:rPr lang="en-IN" sz="2000" b="1" dirty="0"/>
                  <a:t>A (Actions):</a:t>
                </a:r>
                <a:endParaRPr lang="en-IN" sz="2000" dirty="0"/>
              </a:p>
              <a:p>
                <a:pPr marL="2228850" lvl="5" indent="0">
                  <a:buNone/>
                </a:pPr>
                <a:r>
                  <a:rPr lang="en-IN" sz="1800" dirty="0"/>
                  <a:t>Pick unassigned literal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sz="1800" dirty="0"/>
              </a:p>
              <a:p>
                <a:pPr marL="2228850" lvl="5" indent="0">
                  <a:buNone/>
                </a:pPr>
                <a:r>
                  <a:rPr lang="en-IN" sz="1800" dirty="0"/>
                  <a:t>Assign </a:t>
                </a:r>
                <a:r>
                  <a:rPr lang="en-IN" sz="1800" b="1" dirty="0"/>
                  <a:t>1 (true)</a:t>
                </a:r>
                <a:r>
                  <a:rPr lang="en-IN" sz="1800" dirty="0"/>
                  <a:t> or </a:t>
                </a:r>
                <a:r>
                  <a:rPr lang="en-IN" sz="1800" b="1" dirty="0"/>
                  <a:t>0 (false)</a:t>
                </a:r>
                <a:endParaRPr lang="en-IN" sz="1800" dirty="0"/>
              </a:p>
              <a:p>
                <a:pPr marL="2228850" lvl="5" indent="0">
                  <a:buNone/>
                </a:pPr>
                <a:r>
                  <a:rPr lang="en-IN" sz="1800" dirty="0"/>
                  <a:t>Example: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ar-AE" sz="180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sepChr m:val=","/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lang="en-IN" sz="1400" dirty="0"/>
                  <a:t> or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r>
                          <a:rPr lang="ar-AE" sz="14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40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endParaRPr lang="ar-AE" sz="1400" dirty="0"/>
              </a:p>
              <a:p>
                <a:r>
                  <a:rPr lang="en-IN" sz="2000" b="1" dirty="0"/>
                  <a:t>S (Start State):</a:t>
                </a:r>
                <a:br>
                  <a:rPr lang="en-IN" sz="2000" dirty="0"/>
                </a:br>
                <a14:m>
                  <m:oMath xmlns:m="http://schemas.openxmlformats.org/officeDocument/2006/math">
                    <m:r>
                      <a:rPr lang="en-IN" sz="1800" b="0" i="0" smtClean="0">
                        <a:latin typeface="Cambria Math" panose="02040503050406030204" pitchFamily="18" charset="0"/>
                      </a:rPr>
                      <m:t>                               </m:t>
                    </m:r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      </m:t>
                    </m:r>
                    <m:d>
                      <m:dPr>
                        <m:sepChr m:val=","/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ar-AE" sz="18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1800" i="1"/>
                      <m:t> </m:t>
                    </m:r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−  </m:t>
                    </m:r>
                  </m:oMath>
                </a14:m>
                <a:r>
                  <a:rPr lang="en-IN" sz="1800" dirty="0"/>
                  <a:t>(all unassigned)</a:t>
                </a:r>
              </a:p>
              <a:p>
                <a:r>
                  <a:rPr lang="en-IN" sz="2000" b="1" dirty="0"/>
                  <a:t>GD (Goal States):</a:t>
                </a:r>
                <a:br>
                  <a:rPr lang="en-IN" sz="2000" dirty="0"/>
                </a:b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sepChr m:val=","/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∀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sepChr m:val=","/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ar-AE" sz="1800" i="1"/>
                          <m:t>  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∀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nor/>
                          </m:rPr>
                          <a:rPr lang="ar-AE" sz="1800" i="1"/>
                          <m:t>  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IN" sz="1800" i="1"/>
                          <m:t>true</m:t>
                        </m:r>
                      </m:e>
                    </m:d>
                  </m:oMath>
                </a14:m>
                <a:br>
                  <a:rPr lang="ar-AE" sz="1800" dirty="0"/>
                </a:br>
                <a:r>
                  <a:rPr lang="en-US" sz="1800" dirty="0"/>
                  <a:t>                                         (</a:t>
                </a:r>
                <a:r>
                  <a:rPr lang="en-IN" sz="1800" dirty="0"/>
                  <a:t>Assignment satisfies all clauses)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FC5C5B5-1A63-3974-5D43-89F4E32263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21970"/>
                <a:ext cx="8229600" cy="4525963"/>
              </a:xfrm>
              <a:prstGeom prst="rect">
                <a:avLst/>
              </a:prstGeom>
              <a:blipFill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148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54583-04A7-8BD6-10A0-66FD40947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86107-F2A8-F4C4-9ACF-DDDD58E00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Algorithm Overview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09635-8D9B-32E5-A8D1-EBAEE7560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BFS</a:t>
            </a:r>
            <a:r>
              <a:rPr lang="en-US" sz="2200" dirty="0"/>
              <a:t> – Explores level by level, complete but slow, very high space/time.</a:t>
            </a:r>
          </a:p>
          <a:p>
            <a:r>
              <a:rPr lang="en-US" sz="2200" b="1" dirty="0"/>
              <a:t>Best-First Search</a:t>
            </a:r>
            <a:r>
              <a:rPr lang="en-US" sz="2200" dirty="0"/>
              <a:t> – Uses heuristic (unsatisfied clauses), faster but may get stuck in local minima.</a:t>
            </a:r>
          </a:p>
          <a:p>
            <a:r>
              <a:rPr lang="en-US" sz="2200" b="1" dirty="0"/>
              <a:t>Hill Climbing</a:t>
            </a:r>
            <a:r>
              <a:rPr lang="en-US" sz="2200" dirty="0"/>
              <a:t> – Local search with iterative improvement, simple but incomplete without random restarts.</a:t>
            </a:r>
          </a:p>
          <a:p>
            <a:r>
              <a:rPr lang="en-US" sz="2200" b="1" dirty="0"/>
              <a:t>A*</a:t>
            </a:r>
            <a:r>
              <a:rPr lang="en-US" sz="2200" dirty="0"/>
              <a:t> – Cost = g(n) + h(n); combines optimality with heuristics, efficient but memory-intensive.</a:t>
            </a:r>
          </a:p>
          <a:p>
            <a:pPr marL="0" indent="0">
              <a:buNone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3926863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/>
              <a:t>BFS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802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Algorithm Behavior</a:t>
            </a:r>
          </a:p>
          <a:p>
            <a:pPr lvl="1">
              <a:buFontTx/>
              <a:buChar char="-"/>
            </a:pPr>
            <a:r>
              <a:rPr lang="en-US" sz="2400" dirty="0"/>
              <a:t>Explores the </a:t>
            </a:r>
            <a:r>
              <a:rPr lang="en-US" sz="2400" b="1" dirty="0"/>
              <a:t>search tree level by level</a:t>
            </a:r>
            <a:r>
              <a:rPr lang="en-US" sz="2400" dirty="0"/>
              <a:t>.</a:t>
            </a:r>
          </a:p>
          <a:p>
            <a:pPr lvl="1">
              <a:buFontTx/>
              <a:buChar char="-"/>
            </a:pPr>
            <a:r>
              <a:rPr lang="en-US" sz="2400" dirty="0"/>
              <a:t>Starts with an empty assignment, then branches by assigning each unassigned variable → {True, False}.</a:t>
            </a:r>
          </a:p>
          <a:p>
            <a:pPr lvl="1">
              <a:buFontTx/>
              <a:buChar char="-"/>
            </a:pPr>
            <a:r>
              <a:rPr lang="en-US" sz="2400" dirty="0"/>
              <a:t>Uses a </a:t>
            </a:r>
            <a:r>
              <a:rPr lang="en-US" sz="2400" b="1" dirty="0"/>
              <a:t>queue</a:t>
            </a:r>
            <a:r>
              <a:rPr lang="en-US" sz="2400" dirty="0"/>
              <a:t> to manage states → ensures completeness.</a:t>
            </a:r>
          </a:p>
          <a:p>
            <a:pPr lvl="1">
              <a:buFontTx/>
              <a:buChar char="-"/>
            </a:pPr>
            <a:r>
              <a:rPr lang="en-US" sz="2400" dirty="0"/>
              <a:t>Returns the first satisfying assignment found.</a:t>
            </a:r>
          </a:p>
          <a:p>
            <a:pPr>
              <a:buFontTx/>
              <a:buChar char="-"/>
            </a:pPr>
            <a:endParaRPr lang="en-US" sz="2000" b="1" dirty="0"/>
          </a:p>
          <a:p>
            <a:pPr marL="0" indent="0">
              <a:buNone/>
            </a:pPr>
            <a:endParaRPr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0D446-16AF-0D2B-321C-A543CF5D8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F9DA-5D70-4342-CEB3-9BB6B8DF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/>
              <a:t>BFS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ABD17-2241-BB36-1E7C-E8C5BEE13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70038"/>
            <a:ext cx="8229600" cy="5046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Time</a:t>
            </a:r>
            <a:r>
              <a:rPr lang="en-US" sz="2000" b="1" dirty="0"/>
              <a:t> </a:t>
            </a:r>
            <a:r>
              <a:rPr lang="en-US" sz="2400" b="1" dirty="0"/>
              <a:t>Complexity : O(2^n)</a:t>
            </a:r>
          </a:p>
          <a:p>
            <a:pPr lvl="1">
              <a:buFont typeface="Calibri" panose="020F0502020204030204" pitchFamily="34" charset="0"/>
              <a:buChar char="⁻"/>
            </a:pPr>
            <a:r>
              <a:rPr lang="en-US" sz="2000" dirty="0"/>
              <a:t>All possible assignments of </a:t>
            </a:r>
            <a:r>
              <a:rPr lang="en-US" sz="2000" i="1" dirty="0"/>
              <a:t>n</a:t>
            </a:r>
            <a:r>
              <a:rPr lang="en-US" sz="2000" dirty="0"/>
              <a:t> variables may be generated</a:t>
            </a:r>
            <a:r>
              <a:rPr lang="en-US" sz="1600" dirty="0"/>
              <a:t>.</a:t>
            </a:r>
          </a:p>
          <a:p>
            <a:pPr marL="0" indent="0" algn="ctr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400" b="1" dirty="0"/>
              <a:t>Space Complexity : O(2^n)</a:t>
            </a:r>
          </a:p>
          <a:p>
            <a:pPr algn="ctr">
              <a:buFont typeface="Calibri" panose="020F0502020204030204" pitchFamily="34" charset="0"/>
              <a:buChar char="₋"/>
            </a:pPr>
            <a:r>
              <a:rPr lang="en-US" sz="2000" dirty="0"/>
              <a:t>Because BFS stores </a:t>
            </a:r>
            <a:r>
              <a:rPr lang="en-US" sz="2000" b="1" dirty="0"/>
              <a:t>all frontier nodes</a:t>
            </a:r>
            <a:r>
              <a:rPr lang="en-US" sz="2000" dirty="0"/>
              <a:t> (assignments at each level).</a:t>
            </a:r>
          </a:p>
          <a:p>
            <a:pPr marL="0" indent="0" algn="ctr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400" b="1" dirty="0"/>
              <a:t>Performance :</a:t>
            </a:r>
          </a:p>
          <a:p>
            <a:pPr lvl="1">
              <a:buFontTx/>
              <a:buChar char="-"/>
            </a:pPr>
            <a:r>
              <a:rPr lang="en-US" sz="2000" dirty="0"/>
              <a:t>BFS does </a:t>
            </a:r>
            <a:r>
              <a:rPr lang="en-US" sz="2000" b="1" dirty="0"/>
              <a:t>not use heuristics</a:t>
            </a:r>
            <a:r>
              <a:rPr lang="en-US" sz="2000" dirty="0"/>
              <a:t> → explores all states systematically.</a:t>
            </a:r>
          </a:p>
          <a:p>
            <a:pPr lvl="1">
              <a:buFontTx/>
              <a:buChar char="-"/>
            </a:pPr>
            <a:r>
              <a:rPr lang="en-US" sz="2000" b="1" dirty="0"/>
              <a:t>Strength</a:t>
            </a:r>
            <a:r>
              <a:rPr lang="en-US" sz="2000" dirty="0"/>
              <a:t>: Guarantees finding a solution if one exists (complete).</a:t>
            </a:r>
          </a:p>
          <a:p>
            <a:pPr lvl="1">
              <a:buFontTx/>
              <a:buChar char="-"/>
            </a:pPr>
            <a:r>
              <a:rPr lang="en-US" sz="2000" b="1" dirty="0"/>
              <a:t>Weakness</a:t>
            </a:r>
            <a:r>
              <a:rPr lang="en-US" sz="2000" dirty="0"/>
              <a:t>: Memory blow-up, exponential runtime.</a:t>
            </a:r>
            <a:endParaRPr lang="en-US" sz="20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2219968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Best First Search</a:t>
            </a:r>
            <a:r>
              <a:rPr b="1" dirty="0"/>
              <a:t>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Algorithm Behavior</a:t>
            </a:r>
          </a:p>
          <a:p>
            <a:pPr lvl="1">
              <a:buFontTx/>
              <a:buChar char="-"/>
            </a:pPr>
            <a:r>
              <a:rPr lang="en-US" sz="2200" dirty="0"/>
              <a:t>Uses a </a:t>
            </a:r>
            <a:r>
              <a:rPr lang="en-US" sz="2200" b="1" dirty="0"/>
              <a:t>priority queue</a:t>
            </a:r>
            <a:r>
              <a:rPr lang="en-US" sz="2200" dirty="0"/>
              <a:t> to expand the node with the </a:t>
            </a:r>
            <a:r>
              <a:rPr lang="en-US" sz="2200" b="1" dirty="0"/>
              <a:t>lowest heuristic cost</a:t>
            </a:r>
            <a:r>
              <a:rPr lang="en-US" sz="2200" dirty="0"/>
              <a:t> first.</a:t>
            </a:r>
          </a:p>
          <a:p>
            <a:pPr lvl="1">
              <a:buFontTx/>
              <a:buChar char="-"/>
            </a:pPr>
            <a:r>
              <a:rPr lang="en-US" sz="2200" dirty="0"/>
              <a:t>Heuristic = number of </a:t>
            </a:r>
            <a:r>
              <a:rPr lang="en-US" sz="2200" b="1" dirty="0"/>
              <a:t>unsatisfied clauses</a:t>
            </a:r>
            <a:r>
              <a:rPr lang="en-US" sz="2200" dirty="0"/>
              <a:t> (lower is better).</a:t>
            </a:r>
          </a:p>
          <a:p>
            <a:pPr lvl="1">
              <a:buFontTx/>
              <a:buChar char="-"/>
            </a:pPr>
            <a:r>
              <a:rPr lang="en-US" sz="2200" dirty="0"/>
              <a:t>Expands assignments that “look promising” instead of exploring level by level.</a:t>
            </a:r>
          </a:p>
          <a:p>
            <a:pPr lvl="1">
              <a:buFontTx/>
              <a:buChar char="-"/>
            </a:pPr>
            <a:r>
              <a:rPr lang="en-US" sz="2200" dirty="0"/>
              <a:t>Stops once a complete satisfying assignment is found.</a:t>
            </a:r>
            <a:endParaRPr sz="2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A2C07-4C79-81D2-7A9E-0166D3F5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7BAEA-5F81-0DE3-2C80-1109243D9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Best First Search</a:t>
            </a:r>
            <a:r>
              <a:rPr b="1" dirty="0"/>
              <a:t>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11203-AB82-B044-960F-5881A4FEC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1269"/>
            <a:ext cx="8229600" cy="50199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Time Complexity</a:t>
            </a:r>
          </a:p>
          <a:p>
            <a:pPr lvl="1">
              <a:buFontTx/>
              <a:buChar char="-"/>
            </a:pPr>
            <a:r>
              <a:rPr lang="en-US" sz="2000" dirty="0"/>
              <a:t>Worst case : O(2^n)</a:t>
            </a:r>
          </a:p>
          <a:p>
            <a:pPr lvl="1">
              <a:buFontTx/>
              <a:buChar char="-"/>
            </a:pPr>
            <a:r>
              <a:rPr lang="en-US" sz="2000" dirty="0"/>
              <a:t>Average case : O(</a:t>
            </a:r>
            <a:r>
              <a:rPr lang="en-US" sz="2000" dirty="0" err="1"/>
              <a:t>b^d</a:t>
            </a:r>
            <a:r>
              <a:rPr lang="en-US" sz="2000" dirty="0"/>
              <a:t>), where b is branching factor (</a:t>
            </a:r>
            <a:r>
              <a:rPr lang="en-IN" sz="2000" dirty="0"/>
              <a:t>≈ 2) and d is solution depth. Much faster than BFS.</a:t>
            </a:r>
          </a:p>
          <a:p>
            <a:pPr marL="0" indent="0">
              <a:buNone/>
            </a:pPr>
            <a:endParaRPr lang="en-IN" sz="2200" dirty="0"/>
          </a:p>
          <a:p>
            <a:pPr marL="0" indent="0">
              <a:buNone/>
            </a:pPr>
            <a:r>
              <a:rPr lang="en-IN" sz="2400" b="1" dirty="0"/>
              <a:t>Space Complexity</a:t>
            </a:r>
          </a:p>
          <a:p>
            <a:pPr lvl="1">
              <a:buFontTx/>
              <a:buChar char="-"/>
            </a:pPr>
            <a:r>
              <a:rPr lang="en-IN" sz="2000" dirty="0"/>
              <a:t>Average case : O(2^n)</a:t>
            </a:r>
          </a:p>
          <a:p>
            <a:pPr>
              <a:buFontTx/>
              <a:buChar char="-"/>
            </a:pPr>
            <a:endParaRPr lang="en-IN" sz="2200" dirty="0"/>
          </a:p>
          <a:p>
            <a:pPr marL="0" indent="0">
              <a:buNone/>
            </a:pPr>
            <a:r>
              <a:rPr lang="en-IN" sz="2400" b="1" dirty="0"/>
              <a:t>Performance vs Heuristics</a:t>
            </a:r>
          </a:p>
          <a:p>
            <a:pPr lvl="1">
              <a:buFontTx/>
              <a:buChar char="-"/>
            </a:pPr>
            <a:r>
              <a:rPr lang="en-US" sz="2000" b="1" dirty="0"/>
              <a:t>Heuristic-driven </a:t>
            </a:r>
            <a:r>
              <a:rPr lang="en-US" sz="2000" dirty="0"/>
              <a:t>: Faster than BFS if heuristic is accurate. </a:t>
            </a:r>
          </a:p>
          <a:p>
            <a:pPr lvl="1">
              <a:buFontTx/>
              <a:buChar char="-"/>
            </a:pPr>
            <a:r>
              <a:rPr lang="en-US" sz="2000" b="1" dirty="0"/>
              <a:t>Strength </a:t>
            </a:r>
            <a:r>
              <a:rPr lang="en-US" sz="2000" dirty="0"/>
              <a:t>:</a:t>
            </a:r>
            <a:r>
              <a:rPr lang="en-US" sz="2000" b="1" dirty="0"/>
              <a:t> </a:t>
            </a:r>
            <a:r>
              <a:rPr lang="en-US" sz="2000" dirty="0"/>
              <a:t>Prioritizes promising assignments → efficient search.</a:t>
            </a:r>
          </a:p>
          <a:p>
            <a:pPr lvl="1">
              <a:buFontTx/>
              <a:buChar char="-"/>
            </a:pPr>
            <a:r>
              <a:rPr lang="en-US" sz="2000" b="1" dirty="0"/>
              <a:t>Weakness </a:t>
            </a:r>
            <a:r>
              <a:rPr lang="en-US" sz="2000" dirty="0"/>
              <a:t>: Not guaranteed optimal in terms of solution depth.</a:t>
            </a:r>
            <a:r>
              <a:rPr lang="en-US" sz="2000" b="1" dirty="0"/>
              <a:t> </a:t>
            </a:r>
            <a:endParaRPr lang="en-IN" sz="2000" b="1" dirty="0"/>
          </a:p>
          <a:p>
            <a:pPr marL="0" indent="0">
              <a:buNone/>
            </a:pPr>
            <a:endParaRPr lang="en-IN" sz="2200" dirty="0"/>
          </a:p>
          <a:p>
            <a:pPr marL="0" indent="0">
              <a:buNone/>
            </a:pPr>
            <a:endParaRPr lang="en-IN" sz="22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2288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/>
              <a:t>Hill Climbing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Algorithm </a:t>
            </a:r>
            <a:r>
              <a:rPr lang="en-IN" sz="2400" b="1" dirty="0" err="1"/>
              <a:t>Behavior</a:t>
            </a:r>
            <a:endParaRPr lang="en-IN" sz="2400" b="1" dirty="0"/>
          </a:p>
          <a:p>
            <a:pPr lvl="1">
              <a:buFontTx/>
              <a:buChar char="-"/>
            </a:pPr>
            <a:r>
              <a:rPr lang="en-US" sz="2200" dirty="0"/>
              <a:t>Starts with a </a:t>
            </a:r>
            <a:r>
              <a:rPr lang="en-US" sz="2200" b="1" dirty="0"/>
              <a:t>random assignment</a:t>
            </a:r>
            <a:r>
              <a:rPr lang="en-US" sz="2200" dirty="0"/>
              <a:t> of variables.</a:t>
            </a:r>
          </a:p>
          <a:p>
            <a:pPr lvl="1">
              <a:buFontTx/>
              <a:buChar char="-"/>
            </a:pPr>
            <a:r>
              <a:rPr lang="en-US" sz="2200" dirty="0"/>
              <a:t>Iteratively flips a variable that </a:t>
            </a:r>
            <a:r>
              <a:rPr lang="en-US" sz="2200" b="1" dirty="0"/>
              <a:t>reduces the number of unsatisfied clauses</a:t>
            </a:r>
            <a:r>
              <a:rPr lang="en-US" sz="2200" dirty="0"/>
              <a:t>.</a:t>
            </a:r>
          </a:p>
          <a:p>
            <a:pPr lvl="1">
              <a:buFontTx/>
              <a:buChar char="-"/>
            </a:pPr>
            <a:r>
              <a:rPr lang="en-US" sz="2200" dirty="0"/>
              <a:t>Stops if no improvement is possible (local maximum) or a satisfying assignment is found. </a:t>
            </a:r>
          </a:p>
          <a:p>
            <a:pPr lvl="1">
              <a:buFontTx/>
              <a:buChar char="-"/>
            </a:pPr>
            <a:r>
              <a:rPr lang="en-US" sz="2200" dirty="0"/>
              <a:t>Uses </a:t>
            </a:r>
            <a:r>
              <a:rPr lang="en-US" sz="2200" b="1" dirty="0"/>
              <a:t>random restarts</a:t>
            </a:r>
            <a:r>
              <a:rPr lang="en-US" sz="2200" dirty="0"/>
              <a:t> to escape local maxima.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CF7D5-0E8F-60DE-6C2E-E896BD53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A2289-AD49-2896-D5D5-70F59C02C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/>
              <a:t>Hill Climbing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7FB1C-6692-510C-CA62-42FA89605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0651"/>
            <a:ext cx="82296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Time Complexity</a:t>
            </a:r>
          </a:p>
          <a:p>
            <a:pPr lvl="1">
              <a:buFontTx/>
              <a:buChar char="-"/>
            </a:pPr>
            <a:r>
              <a:rPr lang="en-US" sz="2000" dirty="0"/>
              <a:t>With up to </a:t>
            </a:r>
            <a:r>
              <a:rPr lang="en-US" sz="2000" i="1" dirty="0"/>
              <a:t>R</a:t>
            </a:r>
            <a:r>
              <a:rPr lang="en-US" sz="2000" dirty="0"/>
              <a:t> random restarts: </a:t>
            </a:r>
            <a:r>
              <a:rPr lang="en-IN" sz="2000" dirty="0"/>
              <a:t>O(</a:t>
            </a:r>
            <a:r>
              <a:rPr lang="en-IN" sz="2000" i="1" dirty="0" err="1"/>
              <a:t>R</a:t>
            </a:r>
            <a:r>
              <a:rPr lang="en-IN" sz="2000" dirty="0" err="1"/>
              <a:t>⋅n⋅k</a:t>
            </a:r>
            <a:r>
              <a:rPr lang="en-IN" sz="2000" dirty="0"/>
              <a:t>), </a:t>
            </a:r>
            <a:r>
              <a:rPr lang="en-US" sz="2000" dirty="0"/>
              <a:t>where </a:t>
            </a:r>
            <a:r>
              <a:rPr lang="en-US" sz="2000" i="1" dirty="0"/>
              <a:t>k</a:t>
            </a:r>
            <a:r>
              <a:rPr lang="en-US" sz="2000" dirty="0"/>
              <a:t> = iterations per restart.</a:t>
            </a:r>
          </a:p>
          <a:p>
            <a:pPr lvl="1">
              <a:buFontTx/>
              <a:buChar char="-"/>
            </a:pPr>
            <a:r>
              <a:rPr lang="en-US" sz="2000" dirty="0"/>
              <a:t>Worst Case: Exponential (if unlucky restarts). In our case, </a:t>
            </a:r>
            <a:r>
              <a:rPr lang="en-US" sz="2000" i="1" dirty="0"/>
              <a:t>R</a:t>
            </a:r>
            <a:r>
              <a:rPr lang="en-US" sz="2000" dirty="0"/>
              <a:t> = 10, which limits the restarts.</a:t>
            </a:r>
          </a:p>
          <a:p>
            <a:pPr marL="0" indent="0">
              <a:buNone/>
            </a:pPr>
            <a:r>
              <a:rPr lang="en-US" sz="2400" b="1" dirty="0"/>
              <a:t>Space Complexity</a:t>
            </a:r>
          </a:p>
          <a:p>
            <a:pPr lvl="1">
              <a:buFontTx/>
              <a:buChar char="-"/>
            </a:pPr>
            <a:r>
              <a:rPr lang="en-US" sz="2000" dirty="0"/>
              <a:t>Stores only the </a:t>
            </a:r>
            <a:r>
              <a:rPr lang="en-US" sz="2000" b="1" dirty="0"/>
              <a:t>current assignment</a:t>
            </a:r>
            <a:r>
              <a:rPr lang="en-US" sz="2000" dirty="0"/>
              <a:t> : O(n)</a:t>
            </a:r>
          </a:p>
          <a:p>
            <a:pPr marL="0" indent="0">
              <a:buNone/>
            </a:pPr>
            <a:r>
              <a:rPr lang="en-US" sz="2400" b="1" dirty="0"/>
              <a:t>Performance</a:t>
            </a:r>
          </a:p>
          <a:p>
            <a:pPr marL="400050" lvl="1" indent="0">
              <a:buNone/>
            </a:pPr>
            <a:r>
              <a:rPr lang="en-US" sz="2400" b="1" dirty="0"/>
              <a:t>Strengths:</a:t>
            </a:r>
          </a:p>
          <a:p>
            <a:pPr lvl="2">
              <a:buFontTx/>
              <a:buChar char="-"/>
            </a:pPr>
            <a:r>
              <a:rPr lang="en-IN" sz="2000" dirty="0"/>
              <a:t>Very low memory usage and fast with random restarts</a:t>
            </a:r>
            <a:r>
              <a:rPr lang="en-IN" sz="1600" dirty="0"/>
              <a:t>.</a:t>
            </a:r>
          </a:p>
          <a:p>
            <a:pPr marL="400050" lvl="1" indent="0">
              <a:buNone/>
            </a:pPr>
            <a:r>
              <a:rPr lang="en-IN" sz="2400" b="1" dirty="0"/>
              <a:t>Weaknesses:</a:t>
            </a:r>
          </a:p>
          <a:p>
            <a:pPr lvl="2">
              <a:buFontTx/>
              <a:buChar char="-"/>
            </a:pPr>
            <a:r>
              <a:rPr lang="en-US" sz="2000" dirty="0"/>
              <a:t>Can get stuck in </a:t>
            </a:r>
            <a:r>
              <a:rPr lang="en-US" sz="2000" b="1" dirty="0"/>
              <a:t>local minima / plateaus</a:t>
            </a:r>
            <a:r>
              <a:rPr lang="en-US" sz="2000" dirty="0"/>
              <a:t>.</a:t>
            </a:r>
          </a:p>
          <a:p>
            <a:pPr lvl="2">
              <a:buFontTx/>
              <a:buChar char="-"/>
            </a:pPr>
            <a:r>
              <a:rPr lang="en-US" sz="2000" dirty="0"/>
              <a:t>May fail even if solution exists.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94018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/>
              <a:t>A* Search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Algorithm Behaviour</a:t>
            </a:r>
          </a:p>
          <a:p>
            <a:pPr marL="400050" lvl="1" indent="0">
              <a:buNone/>
            </a:pPr>
            <a:r>
              <a:rPr lang="en-US" sz="2200" dirty="0"/>
              <a:t>-    Maintains states with </a:t>
            </a:r>
            <a:r>
              <a:rPr lang="en-US" sz="2200" b="1" dirty="0"/>
              <a:t>g(n) + h(n)</a:t>
            </a:r>
            <a:r>
              <a:rPr lang="en-US" sz="2200" dirty="0"/>
              <a:t> where:</a:t>
            </a:r>
          </a:p>
          <a:p>
            <a:pPr marL="400050" lvl="1" indent="0" algn="ctr">
              <a:buNone/>
            </a:pPr>
            <a:r>
              <a:rPr lang="en-US" sz="2200" b="1" dirty="0"/>
              <a:t>g(n) </a:t>
            </a:r>
            <a:r>
              <a:rPr lang="en-US" sz="2200" dirty="0"/>
              <a:t>= cost so far (assigned variables).</a:t>
            </a:r>
          </a:p>
          <a:p>
            <a:pPr marL="400050" lvl="1" indent="0" algn="ctr">
              <a:buNone/>
            </a:pPr>
            <a:r>
              <a:rPr lang="en-US" sz="2200" b="1" dirty="0"/>
              <a:t> h(n) </a:t>
            </a:r>
            <a:r>
              <a:rPr lang="en-US" sz="2200" dirty="0"/>
              <a:t>= heuristic (# unsatisfied clauses).</a:t>
            </a:r>
          </a:p>
          <a:p>
            <a:pPr lvl="1">
              <a:buFontTx/>
              <a:buChar char="-"/>
            </a:pPr>
            <a:r>
              <a:rPr lang="en-US" sz="2200" dirty="0"/>
              <a:t>Expands the state with the </a:t>
            </a:r>
            <a:r>
              <a:rPr lang="en-US" sz="2200" b="1" dirty="0"/>
              <a:t>lowest f(n)</a:t>
            </a:r>
            <a:r>
              <a:rPr lang="en-US" sz="2200" dirty="0"/>
              <a:t> first.</a:t>
            </a:r>
          </a:p>
          <a:p>
            <a:pPr lvl="1">
              <a:buFontTx/>
              <a:buChar char="-"/>
            </a:pPr>
            <a:r>
              <a:rPr lang="en-US" sz="2200" dirty="0"/>
              <a:t>Guarantees optimal solution if heuristic is </a:t>
            </a:r>
            <a:r>
              <a:rPr lang="en-US" sz="2200" b="1" dirty="0"/>
              <a:t>admissible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9EF5B-ACE8-88DD-13AF-D8253281B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5611-2712-0AF2-5665-E23BB8F1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7800"/>
            <a:ext cx="8229600" cy="1143000"/>
          </a:xfrm>
        </p:spPr>
        <p:txBody>
          <a:bodyPr/>
          <a:lstStyle/>
          <a:p>
            <a:pPr algn="l"/>
            <a:r>
              <a:rPr b="1" dirty="0"/>
              <a:t>A* Search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E9601-64EE-6D98-EEFA-934A9238D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44967"/>
            <a:ext cx="8229600" cy="50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Time Complexity</a:t>
            </a:r>
          </a:p>
          <a:p>
            <a:pPr lvl="1">
              <a:buFontTx/>
              <a:buChar char="-"/>
            </a:pPr>
            <a:r>
              <a:rPr lang="en-US" sz="2000" dirty="0"/>
              <a:t>At most explores all possible assignments : O(2^n)</a:t>
            </a:r>
          </a:p>
          <a:p>
            <a:pPr lvl="1">
              <a:buFontTx/>
              <a:buChar char="-"/>
            </a:pPr>
            <a:r>
              <a:rPr lang="en-US" sz="2000" dirty="0"/>
              <a:t>With a good heuristic, prunes large parts of the search space.</a:t>
            </a:r>
          </a:p>
          <a:p>
            <a:pPr marL="0" indent="0">
              <a:buNone/>
            </a:pPr>
            <a:r>
              <a:rPr lang="en-US" sz="2400" b="1" dirty="0"/>
              <a:t>Space Complexity</a:t>
            </a:r>
          </a:p>
          <a:p>
            <a:pPr lvl="1">
              <a:buFontTx/>
              <a:buChar char="-"/>
            </a:pPr>
            <a:r>
              <a:rPr lang="en-US" sz="2000" dirty="0"/>
              <a:t>Must store all frontier nodes in </a:t>
            </a:r>
            <a:r>
              <a:rPr lang="en-US" sz="2000" b="1" dirty="0"/>
              <a:t>priority queue</a:t>
            </a:r>
            <a:r>
              <a:rPr lang="en-US" sz="2000" dirty="0"/>
              <a:t>.</a:t>
            </a:r>
          </a:p>
          <a:p>
            <a:pPr lvl="1">
              <a:buFontTx/>
              <a:buChar char="-"/>
            </a:pPr>
            <a:r>
              <a:rPr lang="en-US" sz="2000" dirty="0"/>
              <a:t>Complexity is potential exponential : O(2^n)</a:t>
            </a:r>
          </a:p>
          <a:p>
            <a:pPr marL="0" indent="0">
              <a:buNone/>
            </a:pPr>
            <a:r>
              <a:rPr lang="en-US" sz="2400" b="1" dirty="0"/>
              <a:t>Performance</a:t>
            </a:r>
          </a:p>
          <a:p>
            <a:pPr marL="400050" lvl="1" indent="0">
              <a:buNone/>
            </a:pPr>
            <a:r>
              <a:rPr lang="en-US" sz="2400" b="1" dirty="0"/>
              <a:t>Strengths:</a:t>
            </a:r>
          </a:p>
          <a:p>
            <a:pPr lvl="2">
              <a:buFontTx/>
              <a:buChar char="-"/>
            </a:pPr>
            <a:r>
              <a:rPr lang="en-US" sz="2000" dirty="0"/>
              <a:t>Complete and Optimal (with admissible heuristic).</a:t>
            </a:r>
          </a:p>
          <a:p>
            <a:pPr marL="400050" lvl="1" indent="0">
              <a:buNone/>
            </a:pPr>
            <a:r>
              <a:rPr lang="en-US" sz="2400" b="1" dirty="0"/>
              <a:t>Weaknesses:</a:t>
            </a:r>
          </a:p>
          <a:p>
            <a:pPr lvl="2">
              <a:buFontTx/>
              <a:buChar char="-"/>
            </a:pPr>
            <a:r>
              <a:rPr lang="en-US" sz="2000" dirty="0"/>
              <a:t>Memory-intensive due to large frontier.</a:t>
            </a:r>
          </a:p>
          <a:p>
            <a:pPr lvl="2">
              <a:buFontTx/>
              <a:buChar char="-"/>
            </a:pPr>
            <a:r>
              <a:rPr lang="en-US" sz="2000" dirty="0"/>
              <a:t>Slower for large </a:t>
            </a:r>
            <a:r>
              <a:rPr lang="en-US" sz="2000" i="1" dirty="0"/>
              <a:t>n</a:t>
            </a:r>
            <a:r>
              <a:rPr lang="en-US" sz="2000" dirty="0"/>
              <a:t> if heuristic is weak.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167388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7C15C-F868-2DFC-8532-0CB4ADBF3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Performance Metrics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757FC-5B91-9821-944C-140BBC406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18500" cy="4525963"/>
          </a:xfrm>
        </p:spPr>
        <p:txBody>
          <a:bodyPr/>
          <a:lstStyle/>
          <a:p>
            <a:r>
              <a:rPr lang="en-US" sz="2200" b="1" dirty="0"/>
              <a:t>Formula to be evaluated </a:t>
            </a:r>
            <a:r>
              <a:rPr lang="en-US" sz="2200" dirty="0"/>
              <a:t>: </a:t>
            </a:r>
          </a:p>
          <a:p>
            <a:pPr marL="457200" lvl="1" indent="0">
              <a:buNone/>
            </a:pPr>
            <a:r>
              <a:rPr lang="en-IN" sz="2000" dirty="0"/>
              <a:t>( x</a:t>
            </a:r>
            <a:r>
              <a:rPr lang="en-IN" sz="2000" baseline="-25000" dirty="0"/>
              <a:t>1</a:t>
            </a:r>
            <a:r>
              <a:rPr lang="en-IN" sz="2000" dirty="0"/>
              <a:t> V ¬x</a:t>
            </a:r>
            <a:r>
              <a:rPr lang="en-IN" sz="2000" baseline="-25000" dirty="0"/>
              <a:t>2</a:t>
            </a:r>
            <a:r>
              <a:rPr lang="en-IN" sz="2000" dirty="0"/>
              <a:t> V x</a:t>
            </a:r>
            <a:r>
              <a:rPr lang="en-IN" sz="2000" baseline="-25000" dirty="0"/>
              <a:t>3</a:t>
            </a:r>
            <a:r>
              <a:rPr lang="en-IN" sz="2000" dirty="0"/>
              <a:t> ) ^ ( ¬x</a:t>
            </a:r>
            <a:r>
              <a:rPr lang="en-IN" sz="2000" baseline="-25000" dirty="0"/>
              <a:t>1</a:t>
            </a:r>
            <a:r>
              <a:rPr lang="en-IN" sz="2000" dirty="0"/>
              <a:t> V x</a:t>
            </a:r>
            <a:r>
              <a:rPr lang="en-IN" sz="2000" baseline="-25000" dirty="0"/>
              <a:t>4</a:t>
            </a:r>
            <a:r>
              <a:rPr lang="en-IN" sz="2000" dirty="0"/>
              <a:t> V ¬x</a:t>
            </a:r>
            <a:r>
              <a:rPr lang="en-IN" sz="2000" baseline="-25000" dirty="0"/>
              <a:t>5</a:t>
            </a:r>
            <a:r>
              <a:rPr lang="en-IN" sz="2000" dirty="0"/>
              <a:t> ) ^ ( x</a:t>
            </a:r>
            <a:r>
              <a:rPr lang="en-IN" sz="2000" baseline="-25000" dirty="0"/>
              <a:t>2</a:t>
            </a:r>
            <a:r>
              <a:rPr lang="en-IN" sz="2000" dirty="0"/>
              <a:t> V ¬x</a:t>
            </a:r>
            <a:r>
              <a:rPr lang="en-IN" sz="2000" baseline="-25000" dirty="0"/>
              <a:t>3</a:t>
            </a:r>
            <a:r>
              <a:rPr lang="en-IN" sz="2000" dirty="0"/>
              <a:t> V x</a:t>
            </a:r>
            <a:r>
              <a:rPr lang="en-IN" sz="2000" baseline="-25000" dirty="0"/>
              <a:t>6</a:t>
            </a:r>
            <a:r>
              <a:rPr lang="en-IN" sz="2000" dirty="0"/>
              <a:t> ) ^ ( ¬x</a:t>
            </a:r>
            <a:r>
              <a:rPr lang="en-IN" sz="2000" baseline="-25000" dirty="0"/>
              <a:t>4</a:t>
            </a:r>
            <a:r>
              <a:rPr lang="en-IN" sz="2000" dirty="0"/>
              <a:t> V x</a:t>
            </a:r>
            <a:r>
              <a:rPr lang="en-IN" sz="2000" baseline="-25000" dirty="0"/>
              <a:t>5</a:t>
            </a:r>
            <a:r>
              <a:rPr lang="en-IN" sz="2000" dirty="0"/>
              <a:t> V ¬x</a:t>
            </a:r>
            <a:r>
              <a:rPr lang="en-IN" sz="2000" baseline="-25000" dirty="0"/>
              <a:t>6</a:t>
            </a:r>
            <a:r>
              <a:rPr lang="en-IN" sz="2000" dirty="0"/>
              <a:t> ) ^ </a:t>
            </a:r>
          </a:p>
          <a:p>
            <a:pPr marL="457200" lvl="1" indent="0">
              <a:buNone/>
            </a:pPr>
            <a:r>
              <a:rPr lang="en-IN" sz="2000" dirty="0"/>
              <a:t>( x</a:t>
            </a:r>
            <a:r>
              <a:rPr lang="en-IN" sz="2000" baseline="-25000" dirty="0"/>
              <a:t>1</a:t>
            </a:r>
            <a:r>
              <a:rPr lang="en-IN" sz="2000" dirty="0"/>
              <a:t> V ¬x</a:t>
            </a:r>
            <a:r>
              <a:rPr lang="en-IN" sz="2000" baseline="-25000" dirty="0"/>
              <a:t>3</a:t>
            </a:r>
            <a:r>
              <a:rPr lang="en-IN" sz="2000" dirty="0"/>
              <a:t> V x</a:t>
            </a:r>
            <a:r>
              <a:rPr lang="en-IN" sz="2000" baseline="-25000" dirty="0"/>
              <a:t>5</a:t>
            </a:r>
            <a:r>
              <a:rPr lang="en-IN" sz="2000" dirty="0"/>
              <a:t> ) ^ ( ¬x</a:t>
            </a:r>
            <a:r>
              <a:rPr lang="en-IN" sz="2000" baseline="-25000" dirty="0"/>
              <a:t>2</a:t>
            </a:r>
            <a:r>
              <a:rPr lang="en-IN" sz="2000" dirty="0"/>
              <a:t> V x</a:t>
            </a:r>
            <a:r>
              <a:rPr lang="en-IN" sz="2000" baseline="-25000" dirty="0"/>
              <a:t>4</a:t>
            </a:r>
            <a:r>
              <a:rPr lang="en-IN" sz="2000" dirty="0"/>
              <a:t> V x</a:t>
            </a:r>
            <a:r>
              <a:rPr lang="en-IN" sz="2000" baseline="-25000" dirty="0"/>
              <a:t>6</a:t>
            </a:r>
            <a:r>
              <a:rPr lang="en-IN" sz="2000" dirty="0"/>
              <a:t> ) ^ ( x</a:t>
            </a:r>
            <a:r>
              <a:rPr lang="en-IN" sz="2000" baseline="-25000" dirty="0"/>
              <a:t>3</a:t>
            </a:r>
            <a:r>
              <a:rPr lang="en-IN" sz="2000" dirty="0"/>
              <a:t> V ¬x</a:t>
            </a:r>
            <a:r>
              <a:rPr lang="en-IN" sz="2000" baseline="-25000" dirty="0"/>
              <a:t>5</a:t>
            </a:r>
            <a:r>
              <a:rPr lang="en-IN" sz="2000" dirty="0"/>
              <a:t> V ¬x</a:t>
            </a:r>
            <a:r>
              <a:rPr lang="en-IN" sz="2000" baseline="-25000" dirty="0"/>
              <a:t>1</a:t>
            </a:r>
            <a:r>
              <a:rPr lang="en-IN" sz="2000" dirty="0"/>
              <a:t> ) ^ ( x</a:t>
            </a:r>
            <a:r>
              <a:rPr lang="en-IN" sz="2000" baseline="-25000" dirty="0"/>
              <a:t>6</a:t>
            </a:r>
            <a:r>
              <a:rPr lang="en-IN" sz="2000" dirty="0"/>
              <a:t> V ¬x</a:t>
            </a:r>
            <a:r>
              <a:rPr lang="en-IN" sz="2000" baseline="-25000" dirty="0"/>
              <a:t>2</a:t>
            </a:r>
            <a:r>
              <a:rPr lang="en-IN" sz="2000" dirty="0"/>
              <a:t> V x</a:t>
            </a:r>
            <a:r>
              <a:rPr lang="en-IN" sz="2000" baseline="-25000" dirty="0"/>
              <a:t>4</a:t>
            </a:r>
            <a:r>
              <a:rPr lang="en-IN" sz="2000" dirty="0"/>
              <a:t> ) ^ </a:t>
            </a:r>
          </a:p>
          <a:p>
            <a:pPr marL="457200" lvl="1" indent="0">
              <a:buNone/>
            </a:pPr>
            <a:r>
              <a:rPr lang="en-IN" sz="2000" dirty="0"/>
              <a:t>( ¬x</a:t>
            </a:r>
            <a:r>
              <a:rPr lang="en-IN" sz="2000" baseline="-25000" dirty="0"/>
              <a:t>1</a:t>
            </a:r>
            <a:r>
              <a:rPr lang="en-IN" sz="2000" dirty="0"/>
              <a:t> V x</a:t>
            </a:r>
            <a:r>
              <a:rPr lang="en-IN" sz="2000" baseline="-25000" dirty="0"/>
              <a:t>5</a:t>
            </a:r>
            <a:r>
              <a:rPr lang="en-IN" sz="2000" dirty="0"/>
              <a:t> V ¬x</a:t>
            </a:r>
            <a:r>
              <a:rPr lang="en-IN" sz="2000" baseline="-25000" dirty="0"/>
              <a:t>6</a:t>
            </a:r>
            <a:r>
              <a:rPr lang="en-IN" sz="2000" dirty="0"/>
              <a:t> ) ^ ( x</a:t>
            </a:r>
            <a:r>
              <a:rPr lang="en-IN" sz="2000" baseline="-25000" dirty="0"/>
              <a:t>2</a:t>
            </a:r>
            <a:r>
              <a:rPr lang="en-IN" sz="2000" dirty="0"/>
              <a:t> V ¬x</a:t>
            </a:r>
            <a:r>
              <a:rPr lang="en-IN" sz="2000" baseline="-25000" dirty="0"/>
              <a:t>4</a:t>
            </a:r>
            <a:r>
              <a:rPr lang="en-IN" sz="2000" dirty="0"/>
              <a:t> V x</a:t>
            </a:r>
            <a:r>
              <a:rPr lang="en-IN" sz="2000" baseline="-25000" dirty="0"/>
              <a:t>3</a:t>
            </a:r>
            <a:r>
              <a:rPr lang="en-IN" sz="2000" dirty="0"/>
              <a:t> )</a:t>
            </a:r>
          </a:p>
          <a:p>
            <a:endParaRPr lang="en-IN" sz="2200" dirty="0"/>
          </a:p>
          <a:p>
            <a:r>
              <a:rPr lang="en-IN" sz="2200" dirty="0"/>
              <a:t>Metrics used for performance analysis of algorithms :</a:t>
            </a:r>
          </a:p>
          <a:p>
            <a:pPr lvl="1">
              <a:buFontTx/>
              <a:buChar char="-"/>
            </a:pPr>
            <a:r>
              <a:rPr lang="en-IN" sz="2000" dirty="0"/>
              <a:t>Time complexity</a:t>
            </a:r>
          </a:p>
          <a:p>
            <a:pPr lvl="1">
              <a:buFontTx/>
              <a:buChar char="-"/>
            </a:pPr>
            <a:r>
              <a:rPr lang="en-IN" sz="2000" dirty="0"/>
              <a:t>Space complexity</a:t>
            </a:r>
          </a:p>
          <a:p>
            <a:pPr lvl="1">
              <a:buFontTx/>
              <a:buChar char="-"/>
            </a:pPr>
            <a:r>
              <a:rPr lang="en-IN" sz="2000" dirty="0"/>
              <a:t>Nodes explored</a:t>
            </a:r>
          </a:p>
          <a:p>
            <a:pPr lvl="1">
              <a:buFontTx/>
              <a:buChar char="-"/>
            </a:pPr>
            <a:r>
              <a:rPr lang="en-IN" sz="2000" dirty="0"/>
              <a:t>Time taken to run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8069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135AE-BDBD-C3FD-DFA2-A5B29568D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Heuristics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50ED3-E308-3C79-7613-7211BA1FF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Tried </a:t>
            </a:r>
            <a:r>
              <a:rPr lang="en-US" sz="2200" b="1" dirty="0"/>
              <a:t>h1(n): #unsatisfied clauses</a:t>
            </a:r>
            <a:r>
              <a:rPr lang="en-US" sz="2200" dirty="0"/>
              <a:t> → simple but weak.</a:t>
            </a:r>
          </a:p>
          <a:p>
            <a:r>
              <a:rPr lang="en-US" sz="2200" dirty="0"/>
              <a:t>Adopted </a:t>
            </a:r>
            <a:r>
              <a:rPr lang="en-US" sz="2200" b="1" dirty="0"/>
              <a:t>h2(n): Minimum extra assignments needed to satisfy all clauses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200" b="1" dirty="0"/>
              <a:t>Why h2 works better:</a:t>
            </a:r>
            <a:endParaRPr lang="en-US" sz="2200" dirty="0"/>
          </a:p>
          <a:p>
            <a:pPr lvl="1"/>
            <a:r>
              <a:rPr lang="en-US" sz="2000" dirty="0"/>
              <a:t>Tighter lower bound on cost.</a:t>
            </a:r>
          </a:p>
          <a:p>
            <a:pPr lvl="1"/>
            <a:r>
              <a:rPr lang="en-US" sz="2000" dirty="0"/>
              <a:t>Detects dead-ends earlier.</a:t>
            </a:r>
          </a:p>
          <a:p>
            <a:pPr lvl="1"/>
            <a:r>
              <a:rPr lang="en-US" sz="2000" dirty="0"/>
              <a:t>Reduces node expansions → faster overall.</a:t>
            </a:r>
          </a:p>
          <a:p>
            <a:pPr marL="0" indent="0">
              <a:buNone/>
            </a:pPr>
            <a:r>
              <a:rPr lang="en-US" sz="2200" b="1" dirty="0"/>
              <a:t>Trade-off:</a:t>
            </a:r>
            <a:endParaRPr lang="en-US" sz="2200" dirty="0"/>
          </a:p>
          <a:p>
            <a:pPr lvl="1"/>
            <a:r>
              <a:rPr lang="en-US" sz="2000" dirty="0"/>
              <a:t>Slightly higher per-node cost, but outweighed by big search-space reduction.</a:t>
            </a:r>
          </a:p>
          <a:p>
            <a:pPr lvl="1"/>
            <a:r>
              <a:rPr lang="en-US" sz="2000" dirty="0"/>
              <a:t>Gave best balance between worst-case </a:t>
            </a:r>
            <a:r>
              <a:rPr lang="en-US" sz="2000" b="1" dirty="0"/>
              <a:t>O(2^n)</a:t>
            </a:r>
            <a:r>
              <a:rPr lang="en-US" sz="2000" dirty="0"/>
              <a:t> and practical runtime.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91131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260" y="274638"/>
            <a:ext cx="8229600" cy="1143000"/>
          </a:xfrm>
        </p:spPr>
        <p:txBody>
          <a:bodyPr/>
          <a:lstStyle/>
          <a:p>
            <a:pPr algn="l"/>
            <a:r>
              <a:rPr lang="en-US" b="1" dirty="0"/>
              <a:t>Performance Analysis</a:t>
            </a:r>
            <a:endParaRPr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EA7199-4022-1390-AB91-155B0F304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600" y="1417638"/>
            <a:ext cx="8420100" cy="481806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BB262-6808-B007-BC47-6F944BE8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7BE91-51C9-5F87-4F2D-F9E2D76AC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2200"/>
          </a:xfrm>
        </p:spPr>
        <p:txBody>
          <a:bodyPr>
            <a:normAutofit/>
          </a:bodyPr>
          <a:lstStyle/>
          <a:p>
            <a:r>
              <a:rPr lang="en-US" sz="2200" b="1" dirty="0"/>
              <a:t>Brute-force BFS</a:t>
            </a:r>
            <a:r>
              <a:rPr lang="en-US" sz="2200" dirty="0"/>
              <a:t> is infeasible — huge search space and time.</a:t>
            </a:r>
          </a:p>
          <a:p>
            <a:r>
              <a:rPr lang="en-US" sz="2200" b="1" dirty="0"/>
              <a:t>Hill Climbing</a:t>
            </a:r>
            <a:r>
              <a:rPr lang="en-US" sz="2200" dirty="0"/>
              <a:t> is efficient in space/time but risks </a:t>
            </a:r>
            <a:r>
              <a:rPr lang="en-US" sz="2200" b="1" dirty="0"/>
              <a:t>local optima</a:t>
            </a:r>
            <a:r>
              <a:rPr lang="en-US" sz="2200" dirty="0"/>
              <a:t>.</a:t>
            </a:r>
          </a:p>
          <a:p>
            <a:r>
              <a:rPr lang="en-US" sz="2200" b="1" dirty="0"/>
              <a:t>Best-First Search</a:t>
            </a:r>
            <a:r>
              <a:rPr lang="en-US" sz="2200" dirty="0"/>
              <a:t> is faster but shortsighted (ignores path cost).</a:t>
            </a:r>
          </a:p>
          <a:p>
            <a:r>
              <a:rPr lang="en-US" sz="2200" b="1" dirty="0"/>
              <a:t>A*</a:t>
            </a:r>
            <a:r>
              <a:rPr lang="en-US" sz="2200" dirty="0"/>
              <a:t> with a well-chosen </a:t>
            </a:r>
            <a:r>
              <a:rPr lang="en-US" sz="2200" b="1" dirty="0"/>
              <a:t>admissible heuristic (h2)</a:t>
            </a:r>
            <a:r>
              <a:rPr lang="en-US" sz="2200" dirty="0"/>
              <a:t> balances exploration and pruning:</a:t>
            </a:r>
          </a:p>
          <a:p>
            <a:pPr marL="0" indent="0">
              <a:buNone/>
            </a:pPr>
            <a:r>
              <a:rPr lang="en-US" sz="2200" dirty="0"/>
              <a:t>	- </a:t>
            </a:r>
            <a:r>
              <a:rPr lang="en-IN" sz="2200" dirty="0"/>
              <a:t>Cuts down unnecessary expansions.</a:t>
            </a:r>
          </a:p>
          <a:p>
            <a:pPr marL="0" indent="0">
              <a:buNone/>
            </a:pPr>
            <a:r>
              <a:rPr lang="en-IN" sz="2200" dirty="0"/>
              <a:t>	- </a:t>
            </a:r>
            <a:r>
              <a:rPr lang="en-US" sz="2200" dirty="0"/>
              <a:t>Achieves near-optimal runtime without excessive overhead.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Takeaway:</a:t>
            </a:r>
            <a:br>
              <a:rPr lang="en-US" sz="2200" dirty="0"/>
            </a:br>
            <a:r>
              <a:rPr lang="en-US" sz="2200" dirty="0"/>
              <a:t>	Heuristics make all the difference — with the right design, </a:t>
            </a:r>
            <a:r>
              <a:rPr lang="en-US" sz="2200" b="1" dirty="0"/>
              <a:t>A*</a:t>
            </a:r>
            <a:r>
              <a:rPr lang="en-US" sz="2200" dirty="0"/>
              <a:t> delivers the best practical performance on SAT search.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6962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1018</TotalTime>
  <Words>1200</Words>
  <Application>Microsoft Office PowerPoint</Application>
  <PresentationFormat>On-screen Show (4:3)</PresentationFormat>
  <Paragraphs>137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Book Antiqua</vt:lpstr>
      <vt:lpstr>Calibri</vt:lpstr>
      <vt:lpstr>Cambria Math</vt:lpstr>
      <vt:lpstr>Office Theme</vt:lpstr>
      <vt:lpstr>3-SAT Problem Solving using AI Search Algorithms</vt:lpstr>
      <vt:lpstr>Problem Statement</vt:lpstr>
      <vt:lpstr>Objectives</vt:lpstr>
      <vt:lpstr>State Space Representation</vt:lpstr>
      <vt:lpstr>Algorithm Overview</vt:lpstr>
      <vt:lpstr>BFS Approach</vt:lpstr>
      <vt:lpstr>BFS Approach</vt:lpstr>
      <vt:lpstr>Best First Search Approach</vt:lpstr>
      <vt:lpstr>Best First Search Approach</vt:lpstr>
      <vt:lpstr>Hill Climbing Approach</vt:lpstr>
      <vt:lpstr>Hill Climbing Approach</vt:lpstr>
      <vt:lpstr>A* Search Approach</vt:lpstr>
      <vt:lpstr>A* Search Approach</vt:lpstr>
      <vt:lpstr>Performance Metrics</vt:lpstr>
      <vt:lpstr>Heuristics</vt:lpstr>
      <vt:lpstr>Performance Analysis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Rajat Hande</dc:creator>
  <cp:keywords/>
  <dc:description>generated using python-pptx</dc:description>
  <cp:lastModifiedBy>Maakhish Sai</cp:lastModifiedBy>
  <cp:revision>13</cp:revision>
  <dcterms:created xsi:type="dcterms:W3CDTF">2013-01-27T09:14:16Z</dcterms:created>
  <dcterms:modified xsi:type="dcterms:W3CDTF">2025-08-31T15:52:21Z</dcterms:modified>
  <cp:category/>
</cp:coreProperties>
</file>